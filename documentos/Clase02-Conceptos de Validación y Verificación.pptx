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11" r:id="rId2"/>
    <p:sldId id="292" r:id="rId3"/>
    <p:sldId id="323" r:id="rId4"/>
    <p:sldId id="325" r:id="rId5"/>
    <p:sldId id="327" r:id="rId6"/>
    <p:sldId id="328" r:id="rId7"/>
    <p:sldId id="331" r:id="rId8"/>
    <p:sldId id="329" r:id="rId9"/>
    <p:sldId id="333" r:id="rId10"/>
    <p:sldId id="332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257" r:id="rId22"/>
    <p:sldId id="258" r:id="rId23"/>
    <p:sldId id="344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313" r:id="rId34"/>
    <p:sldId id="259" r:id="rId35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077"/>
    <p:restoredTop sz="94628"/>
  </p:normalViewPr>
  <p:slideViewPr>
    <p:cSldViewPr>
      <p:cViewPr varScale="1">
        <p:scale>
          <a:sx n="90" d="100"/>
          <a:sy n="90" d="100"/>
        </p:scale>
        <p:origin x="65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39FE1-158E-45EC-B581-84D0C075B0A5}" type="datetimeFigureOut">
              <a:rPr lang="es-CO" smtClean="0"/>
              <a:pPr/>
              <a:t>28/07/2025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BD412-B683-424A-B022-9DBF11AF83D1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5180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ADE16FA2-9656-BF4A-9875-F571C12792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23D1283B-10B7-064E-AAFB-4EC586450B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ES_tradnl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853ADA2E-09BF-6548-B1E6-80BD2EA9B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13BA33E-0F4B-7847-A712-6A2FA6CCD335}" type="slidenum">
              <a:rPr lang="es-ES_tradnl" altLang="es-ES_tradnl" smtClean="0"/>
              <a:pPr/>
              <a:t>1</a:t>
            </a:fld>
            <a:endParaRPr lang="es-ES_tradnl" altLang="es-ES_trad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Marcador de imagen de diapositiva 1">
            <a:extLst>
              <a:ext uri="{FF2B5EF4-FFF2-40B4-BE49-F238E27FC236}">
                <a16:creationId xmlns:a16="http://schemas.microsoft.com/office/drawing/2014/main" id="{CE90DCEB-298A-1746-9278-5339E634A6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Marcador de notas 2">
            <a:extLst>
              <a:ext uri="{FF2B5EF4-FFF2-40B4-BE49-F238E27FC236}">
                <a16:creationId xmlns:a16="http://schemas.microsoft.com/office/drawing/2014/main" id="{89002B4B-99B6-A24A-B825-05D91CAC2C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ES_tradnl"/>
          </a:p>
        </p:txBody>
      </p:sp>
      <p:sp>
        <p:nvSpPr>
          <p:cNvPr id="66564" name="Marcador de número de diapositiva 3">
            <a:extLst>
              <a:ext uri="{FF2B5EF4-FFF2-40B4-BE49-F238E27FC236}">
                <a16:creationId xmlns:a16="http://schemas.microsoft.com/office/drawing/2014/main" id="{2D99B1CF-B6BA-9249-B101-2D7AD5896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3196263-AE03-6E47-A8AC-E779F8F58C11}" type="slidenum">
              <a:rPr lang="es-ES_tradnl" altLang="es-ES_tradnl" smtClean="0"/>
              <a:pPr/>
              <a:t>33</a:t>
            </a:fld>
            <a:endParaRPr lang="es-ES_tradnl" altLang="es-ES_tradn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Marcador de imagen de diapositiva 1">
            <a:extLst>
              <a:ext uri="{FF2B5EF4-FFF2-40B4-BE49-F238E27FC236}">
                <a16:creationId xmlns:a16="http://schemas.microsoft.com/office/drawing/2014/main" id="{82BD881E-150D-4B49-9283-85CE434FA9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Marcador de notas 2">
            <a:extLst>
              <a:ext uri="{FF2B5EF4-FFF2-40B4-BE49-F238E27FC236}">
                <a16:creationId xmlns:a16="http://schemas.microsoft.com/office/drawing/2014/main" id="{88054687-5C54-9D43-8334-4CF54F6E0C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ES_tradnl"/>
          </a:p>
        </p:txBody>
      </p:sp>
      <p:sp>
        <p:nvSpPr>
          <p:cNvPr id="68612" name="Marcador de número de diapositiva 3">
            <a:extLst>
              <a:ext uri="{FF2B5EF4-FFF2-40B4-BE49-F238E27FC236}">
                <a16:creationId xmlns:a16="http://schemas.microsoft.com/office/drawing/2014/main" id="{FB407F55-1150-C847-920B-292070AEA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4C73578-01C6-6D4B-B299-89C8470C66EB}" type="slidenum">
              <a:rPr lang="es-ES_tradnl" altLang="es-ES_tradnl" smtClean="0"/>
              <a:pPr/>
              <a:t>34</a:t>
            </a:fld>
            <a:endParaRPr lang="es-ES_tradnl" altLang="es-ES_trad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28/07/2025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441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28/07/2025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171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28/07/2025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926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28/07/2025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134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28/07/2025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2797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28/07/2025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12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28/07/2025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656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28/07/2025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129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28/07/2025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022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28/07/2025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6993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28/07/2025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661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41AD4-6AD6-47D3-AF00-9057D02D0A5E}" type="datetimeFigureOut">
              <a:rPr lang="es-CO" smtClean="0"/>
              <a:pPr/>
              <a:t>28/07/2025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07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login-password-log-sign-on-turn-on-1203603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n 8">
            <a:extLst>
              <a:ext uri="{FF2B5EF4-FFF2-40B4-BE49-F238E27FC236}">
                <a16:creationId xmlns:a16="http://schemas.microsoft.com/office/drawing/2014/main" id="{A395BFF2-624B-5B43-9CEE-2F8593F63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6775"/>
            <a:ext cx="9144000" cy="5111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erificación versus validación en pruebas de software: conozca los  conceptos básicos - Geekflare">
            <a:extLst>
              <a:ext uri="{FF2B5EF4-FFF2-40B4-BE49-F238E27FC236}">
                <a16:creationId xmlns:a16="http://schemas.microsoft.com/office/drawing/2014/main" id="{CB7B7490-88E1-749B-4364-ABDBA9DD4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241" y="1700808"/>
            <a:ext cx="9156830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277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Perspectivas de la Calidad de Software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0AF0C6-96B1-56A8-B6AF-FD53BF99925D}"/>
              </a:ext>
            </a:extLst>
          </p:cNvPr>
          <p:cNvSpPr txBox="1"/>
          <p:nvPr/>
        </p:nvSpPr>
        <p:spPr>
          <a:xfrm>
            <a:off x="755577" y="1675739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effectLst/>
                <a:latin typeface="Helvetica" pitchFamily="2" charset="0"/>
              </a:rPr>
              <a:t>Usuario </a:t>
            </a:r>
          </a:p>
          <a:p>
            <a:r>
              <a:rPr lang="es-CO" b="1" dirty="0">
                <a:latin typeface="Helvetica" pitchFamily="2" charset="0"/>
              </a:rPr>
              <a:t>Grado de satisfacción</a:t>
            </a:r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pic>
        <p:nvPicPr>
          <p:cNvPr id="2050" name="Picture 2" descr="Usuario - Concepto, tipos y ejemplos">
            <a:extLst>
              <a:ext uri="{FF2B5EF4-FFF2-40B4-BE49-F238E27FC236}">
                <a16:creationId xmlns:a16="http://schemas.microsoft.com/office/drawing/2014/main" id="{9AD2322E-25AA-D511-AE04-E422C9043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85" y="2332874"/>
            <a:ext cx="3635897" cy="246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0691153-13FA-066A-02A0-E9002132AC7F}"/>
              </a:ext>
            </a:extLst>
          </p:cNvPr>
          <p:cNvSpPr txBox="1"/>
          <p:nvPr/>
        </p:nvSpPr>
        <p:spPr>
          <a:xfrm>
            <a:off x="5142486" y="1653306"/>
            <a:ext cx="3842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Helvetica" pitchFamily="2" charset="0"/>
              </a:rPr>
              <a:t>Desarrollador</a:t>
            </a:r>
            <a:endParaRPr lang="en-US" b="1" dirty="0">
              <a:latin typeface="Helvetica" pitchFamily="2" charset="0"/>
            </a:endParaRPr>
          </a:p>
          <a:p>
            <a:r>
              <a:rPr lang="en-US" b="1" dirty="0" err="1">
                <a:effectLst/>
                <a:latin typeface="Helvetica" pitchFamily="2" charset="0"/>
              </a:rPr>
              <a:t>Cumplimiento</a:t>
            </a:r>
            <a:r>
              <a:rPr lang="en-US" b="1" dirty="0">
                <a:effectLst/>
                <a:latin typeface="Helvetica" pitchFamily="2" charset="0"/>
              </a:rPr>
              <a:t> de </a:t>
            </a:r>
            <a:r>
              <a:rPr lang="en-US" b="1" dirty="0" err="1">
                <a:effectLst/>
                <a:latin typeface="Helvetica" pitchFamily="2" charset="0"/>
              </a:rPr>
              <a:t>requisitos</a:t>
            </a:r>
            <a:endParaRPr lang="es-CO" b="1" dirty="0">
              <a:effectLst/>
              <a:latin typeface="Helvetica" pitchFamily="2" charset="0"/>
            </a:endParaRPr>
          </a:p>
        </p:txBody>
      </p:sp>
      <p:pic>
        <p:nvPicPr>
          <p:cNvPr id="2052" name="Picture 4" descr="Tareas de un Desarrollador de Software | Tiffin University">
            <a:extLst>
              <a:ext uri="{FF2B5EF4-FFF2-40B4-BE49-F238E27FC236}">
                <a16:creationId xmlns:a16="http://schemas.microsoft.com/office/drawing/2014/main" id="{48D65C8A-260E-88AE-F18A-8D99FF41A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322069"/>
            <a:ext cx="3635897" cy="247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CD9A209-B51D-29C5-CC5A-0CA1DF38FEB9}"/>
              </a:ext>
            </a:extLst>
          </p:cNvPr>
          <p:cNvSpPr txBox="1"/>
          <p:nvPr/>
        </p:nvSpPr>
        <p:spPr>
          <a:xfrm>
            <a:off x="4573472" y="3237315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846816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Determinar la Calidad de Software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0AF0C6-96B1-56A8-B6AF-FD53BF99925D}"/>
              </a:ext>
            </a:extLst>
          </p:cNvPr>
          <p:cNvSpPr txBox="1"/>
          <p:nvPr/>
        </p:nvSpPr>
        <p:spPr>
          <a:xfrm>
            <a:off x="755576" y="1735941"/>
            <a:ext cx="78488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effectLst/>
                <a:latin typeface="Helvetica" pitchFamily="2" charset="0"/>
              </a:rPr>
              <a:t>Se mide o estima en función de dos aspectos: El producto que se elabora y el proceso que se emplea para elaborarlo.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dirty="0">
                <a:effectLst/>
                <a:latin typeface="Helvetica" pitchFamily="2" charset="0"/>
              </a:rPr>
              <a:t>Entonces la calidad del software depende del producto de software elaborado y de la calidad del proceso de desarrollo de software.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75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Validación y Verificación (</a:t>
            </a:r>
            <a:r>
              <a:rPr lang="es-CO" sz="2800" b="1" dirty="0" err="1"/>
              <a:t>VyV</a:t>
            </a:r>
            <a:r>
              <a:rPr lang="es-CO" sz="2800" b="1" dirty="0"/>
              <a:t>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0AF0C6-96B1-56A8-B6AF-FD53BF99925D}"/>
              </a:ext>
            </a:extLst>
          </p:cNvPr>
          <p:cNvSpPr txBox="1"/>
          <p:nvPr/>
        </p:nvSpPr>
        <p:spPr>
          <a:xfrm>
            <a:off x="755576" y="1399084"/>
            <a:ext cx="78488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Helvetica" pitchFamily="2" charset="0"/>
              </a:rPr>
              <a:t>Los proceso V y V se encargan de evaluar los productos intermedios y finales (entregables) que se generan durante el desarrollo del software. Su finalidad es asegurar que estos productos satisfagan a sus usuarios y cumplan con sus requerimientos y necesidades funcionales y no funcionales.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dirty="0">
                <a:latin typeface="Helvetica" pitchFamily="2" charset="0"/>
              </a:rPr>
              <a:t>Validación: Es el conjunto de actividades que garantiza que el producto de software satisfaga los requisitos y necesidades de sus usuarios. Responde a la pregunta ¿Estamos construyendo el producto correcto?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dirty="0">
                <a:latin typeface="Helvetica" pitchFamily="2" charset="0"/>
              </a:rPr>
              <a:t>Verificación: Es el conjunto de actividades que asegura que el producto implemente contantemente y correctamente sus especificaciones. Responde a la pregunta ¿Estamos desarrollando el producto correctamente?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908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Validación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pic>
        <p:nvPicPr>
          <p:cNvPr id="4098" name="Picture 2" descr="Software Engineering | Verification and Validation - GeeksforGeeks">
            <a:extLst>
              <a:ext uri="{FF2B5EF4-FFF2-40B4-BE49-F238E27FC236}">
                <a16:creationId xmlns:a16="http://schemas.microsoft.com/office/drawing/2014/main" id="{F49232D8-145F-0162-E18B-2D05DA1D4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56791"/>
            <a:ext cx="7894219" cy="444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05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Validación y Verificación Flujo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2CB8AE-9567-C821-32C1-DEC13AA5FFDB}"/>
              </a:ext>
            </a:extLst>
          </p:cNvPr>
          <p:cNvSpPr txBox="1"/>
          <p:nvPr/>
        </p:nvSpPr>
        <p:spPr>
          <a:xfrm>
            <a:off x="755576" y="1399084"/>
            <a:ext cx="78488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Helvetica" pitchFamily="2" charset="0"/>
              </a:rPr>
              <a:t>Los proceso V y V son procesos de la calidad del software porque son procesos que, por lo general, los realizan equipos de trabajo separados o independientes del equipo de desarrollo. De esta manera se garantiza la efectividad de las revisiones y se lleva un mejor control de la calidad de los productos evaluados.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dirty="0">
                <a:latin typeface="Helvetica" pitchFamily="2" charset="0"/>
              </a:rPr>
              <a:t>Estos procesos se realizan por separado y la conformación de los equipos también se realiza de esta forma.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En la validación se hace necesaria la presencia del cliente y usuarios para evaluar el producto.</a:t>
            </a:r>
          </a:p>
          <a:p>
            <a:endParaRPr lang="es-CO" b="1" dirty="0">
              <a:solidFill>
                <a:srgbClr val="FF0000"/>
              </a:solidFill>
              <a:latin typeface="Helvetica" pitchFamily="2" charset="0"/>
            </a:endParaRPr>
          </a:p>
          <a:p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En la verificación se lleva a cabo con los miembros del equipo de desarrollo.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233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7" y="-261973"/>
            <a:ext cx="8229600" cy="1143000"/>
          </a:xfrm>
        </p:spPr>
        <p:txBody>
          <a:bodyPr>
            <a:normAutofit/>
          </a:bodyPr>
          <a:lstStyle/>
          <a:p>
            <a:r>
              <a:rPr lang="es-CO" sz="3200" b="1" dirty="0"/>
              <a:t>Flujo de  Trabajo Validación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1876116" y="165154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0BA2B0D-D099-B836-C568-5EAA0764BA90}"/>
              </a:ext>
            </a:extLst>
          </p:cNvPr>
          <p:cNvGrpSpPr/>
          <p:nvPr/>
        </p:nvGrpSpPr>
        <p:grpSpPr>
          <a:xfrm>
            <a:off x="189445" y="1419565"/>
            <a:ext cx="1500489" cy="648228"/>
            <a:chOff x="5357" y="1551582"/>
            <a:chExt cx="1601390" cy="960834"/>
          </a:xfrm>
        </p:grpSpPr>
        <p:sp>
          <p:nvSpPr>
            <p:cNvPr id="10" name="Rectángulo redondeado 9">
              <a:extLst>
                <a:ext uri="{FF2B5EF4-FFF2-40B4-BE49-F238E27FC236}">
                  <a16:creationId xmlns:a16="http://schemas.microsoft.com/office/drawing/2014/main" id="{8A012B86-0B74-A604-0B1A-23CCF2BD24D3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54A0872D-EF88-E6A2-3224-CDB3E8775359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400" kern="1200" dirty="0"/>
                <a:t>Producto a</a:t>
              </a:r>
            </a:p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400" kern="1200" dirty="0"/>
                <a:t> V y V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940665A7-2E58-00D2-3B5A-78364E52AEC7}"/>
              </a:ext>
            </a:extLst>
          </p:cNvPr>
          <p:cNvGrpSpPr/>
          <p:nvPr/>
        </p:nvGrpSpPr>
        <p:grpSpPr>
          <a:xfrm>
            <a:off x="934991" y="3008212"/>
            <a:ext cx="1152015" cy="694016"/>
            <a:chOff x="5357" y="1551582"/>
            <a:chExt cx="1601390" cy="960834"/>
          </a:xfrm>
        </p:grpSpPr>
        <p:sp>
          <p:nvSpPr>
            <p:cNvPr id="19" name="Rectángulo redondeado 18">
              <a:extLst>
                <a:ext uri="{FF2B5EF4-FFF2-40B4-BE49-F238E27FC236}">
                  <a16:creationId xmlns:a16="http://schemas.microsoft.com/office/drawing/2014/main" id="{470FAD6D-2D72-7934-F7C1-522E4C2EB9CF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201C77FE-94A0-6DE7-2A59-1BFDEACA1AD5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400" dirty="0"/>
                <a:t>Planificar </a:t>
              </a:r>
            </a:p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400" dirty="0"/>
                <a:t>V y V</a:t>
              </a:r>
              <a:endParaRPr lang="es-MX" sz="1400" kern="1200" dirty="0"/>
            </a:p>
          </p:txBody>
        </p:sp>
      </p:grp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FFBEEA73-2703-5D54-DF45-CE4683187748}"/>
              </a:ext>
            </a:extLst>
          </p:cNvPr>
          <p:cNvSpPr/>
          <p:nvPr/>
        </p:nvSpPr>
        <p:spPr>
          <a:xfrm>
            <a:off x="5133194" y="625613"/>
            <a:ext cx="2121603" cy="916589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400" dirty="0" err="1"/>
              <a:t>Objetivo</a:t>
            </a:r>
            <a:r>
              <a:rPr lang="en-US" sz="1400" dirty="0"/>
              <a:t> </a:t>
            </a:r>
          </a:p>
          <a:p>
            <a:pPr algn="ctr"/>
            <a:r>
              <a:rPr lang="en-US" sz="1400" dirty="0" err="1"/>
              <a:t>Asegurar</a:t>
            </a:r>
            <a:r>
              <a:rPr lang="en-US" sz="1400" dirty="0"/>
              <a:t> la Calidad del </a:t>
            </a:r>
            <a:r>
              <a:rPr lang="en-US" sz="1400" dirty="0" err="1"/>
              <a:t>producto</a:t>
            </a:r>
            <a:endParaRPr lang="en-US" sz="1400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E5EB9D3B-F80E-41A1-BFA1-2A6E86F86FD4}"/>
              </a:ext>
            </a:extLst>
          </p:cNvPr>
          <p:cNvSpPr/>
          <p:nvPr/>
        </p:nvSpPr>
        <p:spPr>
          <a:xfrm>
            <a:off x="7628499" y="4293096"/>
            <a:ext cx="1191973" cy="837802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400" dirty="0" err="1"/>
              <a:t>Entrega</a:t>
            </a:r>
            <a:r>
              <a:rPr lang="en-US" sz="1400" dirty="0"/>
              <a:t> </a:t>
            </a:r>
            <a:r>
              <a:rPr lang="en-US" sz="1400" dirty="0" err="1"/>
              <a:t>Producto</a:t>
            </a:r>
            <a:r>
              <a:rPr lang="en-US" sz="1400" dirty="0"/>
              <a:t> de Calidad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8008F3AB-3C75-004A-6272-093268D82DE7}"/>
              </a:ext>
            </a:extLst>
          </p:cNvPr>
          <p:cNvGrpSpPr/>
          <p:nvPr/>
        </p:nvGrpSpPr>
        <p:grpSpPr>
          <a:xfrm>
            <a:off x="3635897" y="4073507"/>
            <a:ext cx="1497298" cy="867661"/>
            <a:chOff x="5357" y="1551582"/>
            <a:chExt cx="1601390" cy="960834"/>
          </a:xfrm>
        </p:grpSpPr>
        <p:sp>
          <p:nvSpPr>
            <p:cNvPr id="33" name="Rectángulo redondeado 32">
              <a:extLst>
                <a:ext uri="{FF2B5EF4-FFF2-40B4-BE49-F238E27FC236}">
                  <a16:creationId xmlns:a16="http://schemas.microsoft.com/office/drawing/2014/main" id="{014F734C-ACD2-3182-9110-475830BB76FB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A4AFF665-DD24-B3EC-F6F0-D636BF469060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400" kern="1200" dirty="0"/>
                <a:t>Distribución en el Equipo V y V</a:t>
              </a:r>
            </a:p>
          </p:txBody>
        </p:sp>
      </p:grp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6071D658-EC0F-E0D4-17E5-B982AF0CA9D5}"/>
              </a:ext>
            </a:extLst>
          </p:cNvPr>
          <p:cNvCxnSpPr>
            <a:cxnSpLocks/>
          </p:cNvCxnSpPr>
          <p:nvPr/>
        </p:nvCxnSpPr>
        <p:spPr>
          <a:xfrm>
            <a:off x="547765" y="3367490"/>
            <a:ext cx="379525" cy="1503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7" name="Elipse 66">
            <a:extLst>
              <a:ext uri="{FF2B5EF4-FFF2-40B4-BE49-F238E27FC236}">
                <a16:creationId xmlns:a16="http://schemas.microsoft.com/office/drawing/2014/main" id="{76364D7C-1578-56B4-51DE-E99EE46BED6A}"/>
              </a:ext>
            </a:extLst>
          </p:cNvPr>
          <p:cNvSpPr/>
          <p:nvPr/>
        </p:nvSpPr>
        <p:spPr>
          <a:xfrm>
            <a:off x="57643" y="3101209"/>
            <a:ext cx="467544" cy="53256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FEB98A7A-1244-7D01-3592-2B315004EE8C}"/>
              </a:ext>
            </a:extLst>
          </p:cNvPr>
          <p:cNvGrpSpPr/>
          <p:nvPr/>
        </p:nvGrpSpPr>
        <p:grpSpPr>
          <a:xfrm>
            <a:off x="2411760" y="2951588"/>
            <a:ext cx="1203244" cy="778643"/>
            <a:chOff x="5357" y="1551582"/>
            <a:chExt cx="1601390" cy="960834"/>
          </a:xfrm>
        </p:grpSpPr>
        <p:sp>
          <p:nvSpPr>
            <p:cNvPr id="69" name="Rectángulo redondeado 68">
              <a:extLst>
                <a:ext uri="{FF2B5EF4-FFF2-40B4-BE49-F238E27FC236}">
                  <a16:creationId xmlns:a16="http://schemas.microsoft.com/office/drawing/2014/main" id="{608B9B6C-F0C1-CE69-84C7-E992A6CA45E0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BF58D1DC-0338-B115-905E-D70FC9498980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400" dirty="0"/>
                <a:t>Organizar Equipo </a:t>
              </a:r>
            </a:p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400" dirty="0"/>
                <a:t>V y V</a:t>
              </a:r>
              <a:endParaRPr lang="es-MX" sz="1400" kern="1200" dirty="0"/>
            </a:p>
          </p:txBody>
        </p:sp>
      </p:grpSp>
      <p:sp>
        <p:nvSpPr>
          <p:cNvPr id="72" name="CuadroTexto 71">
            <a:extLst>
              <a:ext uri="{FF2B5EF4-FFF2-40B4-BE49-F238E27FC236}">
                <a16:creationId xmlns:a16="http://schemas.microsoft.com/office/drawing/2014/main" id="{46FD16AA-5FD0-AD98-00D5-BEE3CF502B1B}"/>
              </a:ext>
            </a:extLst>
          </p:cNvPr>
          <p:cNvSpPr txBox="1"/>
          <p:nvPr/>
        </p:nvSpPr>
        <p:spPr>
          <a:xfrm>
            <a:off x="-21663" y="3582840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Inicio</a:t>
            </a:r>
            <a:endParaRPr lang="en-US" dirty="0"/>
          </a:p>
        </p:txBody>
      </p: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9E97EB74-9D93-1F9D-8BB9-E9C402B3FF20}"/>
              </a:ext>
            </a:extLst>
          </p:cNvPr>
          <p:cNvCxnSpPr>
            <a:cxnSpLocks/>
          </p:cNvCxnSpPr>
          <p:nvPr/>
        </p:nvCxnSpPr>
        <p:spPr>
          <a:xfrm>
            <a:off x="2074824" y="3368993"/>
            <a:ext cx="387226" cy="0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6" name="Elipse 75">
            <a:extLst>
              <a:ext uri="{FF2B5EF4-FFF2-40B4-BE49-F238E27FC236}">
                <a16:creationId xmlns:a16="http://schemas.microsoft.com/office/drawing/2014/main" id="{8F82E460-9998-B607-3910-8EA7C83B96EE}"/>
              </a:ext>
            </a:extLst>
          </p:cNvPr>
          <p:cNvSpPr/>
          <p:nvPr/>
        </p:nvSpPr>
        <p:spPr>
          <a:xfrm>
            <a:off x="7992888" y="5632742"/>
            <a:ext cx="467544" cy="53256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ADAD9447-3C0B-8100-8AC1-5B807C76623F}"/>
              </a:ext>
            </a:extLst>
          </p:cNvPr>
          <p:cNvSpPr txBox="1"/>
          <p:nvPr/>
        </p:nvSpPr>
        <p:spPr>
          <a:xfrm>
            <a:off x="7964578" y="6181263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</a:t>
            </a:r>
          </a:p>
        </p:txBody>
      </p:sp>
      <p:grpSp>
        <p:nvGrpSpPr>
          <p:cNvPr id="78" name="Grupo 77">
            <a:extLst>
              <a:ext uri="{FF2B5EF4-FFF2-40B4-BE49-F238E27FC236}">
                <a16:creationId xmlns:a16="http://schemas.microsoft.com/office/drawing/2014/main" id="{6320F41F-0F1E-1366-B6BD-CF9742919495}"/>
              </a:ext>
            </a:extLst>
          </p:cNvPr>
          <p:cNvGrpSpPr/>
          <p:nvPr/>
        </p:nvGrpSpPr>
        <p:grpSpPr>
          <a:xfrm>
            <a:off x="3661391" y="1969810"/>
            <a:ext cx="1245823" cy="652849"/>
            <a:chOff x="5357" y="1551582"/>
            <a:chExt cx="1601390" cy="960834"/>
          </a:xfrm>
        </p:grpSpPr>
        <p:sp>
          <p:nvSpPr>
            <p:cNvPr id="79" name="Rectángulo redondeado 78">
              <a:extLst>
                <a:ext uri="{FF2B5EF4-FFF2-40B4-BE49-F238E27FC236}">
                  <a16:creationId xmlns:a16="http://schemas.microsoft.com/office/drawing/2014/main" id="{7A009E46-F3D5-7381-63B5-1884E00E0D27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B200A8E7-4594-17BD-F2D6-C1CAC5D70C89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400" kern="1200" dirty="0"/>
                <a:t>Inspección Lista de Chequeo</a:t>
              </a:r>
            </a:p>
          </p:txBody>
        </p:sp>
      </p:grp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3E66FC02-E300-4208-F7D6-3FF6BFE76651}"/>
              </a:ext>
            </a:extLst>
          </p:cNvPr>
          <p:cNvCxnSpPr>
            <a:cxnSpLocks/>
          </p:cNvCxnSpPr>
          <p:nvPr/>
        </p:nvCxnSpPr>
        <p:spPr>
          <a:xfrm>
            <a:off x="3419872" y="3734151"/>
            <a:ext cx="396099" cy="369332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0C53DDFF-2160-E5E4-AC1D-1AF8E509BAD9}"/>
              </a:ext>
            </a:extLst>
          </p:cNvPr>
          <p:cNvCxnSpPr>
            <a:cxnSpLocks/>
          </p:cNvCxnSpPr>
          <p:nvPr/>
        </p:nvCxnSpPr>
        <p:spPr>
          <a:xfrm flipV="1">
            <a:off x="3463279" y="2622659"/>
            <a:ext cx="396099" cy="369332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AABEBDD8-2CC2-CD82-5A4B-2EF56CF0B2AB}"/>
              </a:ext>
            </a:extLst>
          </p:cNvPr>
          <p:cNvCxnSpPr>
            <a:cxnSpLocks/>
          </p:cNvCxnSpPr>
          <p:nvPr/>
        </p:nvCxnSpPr>
        <p:spPr>
          <a:xfrm>
            <a:off x="4885320" y="2622659"/>
            <a:ext cx="265865" cy="385553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7363C0C3-00FE-F2C5-6504-F01AB7EFC395}"/>
              </a:ext>
            </a:extLst>
          </p:cNvPr>
          <p:cNvCxnSpPr>
            <a:cxnSpLocks/>
          </p:cNvCxnSpPr>
          <p:nvPr/>
        </p:nvCxnSpPr>
        <p:spPr>
          <a:xfrm flipV="1">
            <a:off x="5040544" y="3678418"/>
            <a:ext cx="188657" cy="421311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2" name="Rectángulo redondeado 101">
            <a:extLst>
              <a:ext uri="{FF2B5EF4-FFF2-40B4-BE49-F238E27FC236}">
                <a16:creationId xmlns:a16="http://schemas.microsoft.com/office/drawing/2014/main" id="{07E2034D-B79E-1C1C-F753-8D1826F6A457}"/>
              </a:ext>
            </a:extLst>
          </p:cNvPr>
          <p:cNvSpPr/>
          <p:nvPr/>
        </p:nvSpPr>
        <p:spPr>
          <a:xfrm>
            <a:off x="6453128" y="3035190"/>
            <a:ext cx="872532" cy="619034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400" dirty="0" err="1"/>
              <a:t>Corregir</a:t>
            </a:r>
            <a:r>
              <a:rPr lang="en-US" sz="1400" dirty="0"/>
              <a:t> </a:t>
            </a:r>
            <a:r>
              <a:rPr lang="en-US" sz="1400" dirty="0" err="1"/>
              <a:t>errores</a:t>
            </a:r>
            <a:endParaRPr lang="en-US" sz="1400" dirty="0"/>
          </a:p>
        </p:txBody>
      </p:sp>
      <p:sp>
        <p:nvSpPr>
          <p:cNvPr id="103" name="Rectángulo redondeado 102">
            <a:extLst>
              <a:ext uri="{FF2B5EF4-FFF2-40B4-BE49-F238E27FC236}">
                <a16:creationId xmlns:a16="http://schemas.microsoft.com/office/drawing/2014/main" id="{EFC4529D-268F-A712-CD0A-3D00B9D2109C}"/>
              </a:ext>
            </a:extLst>
          </p:cNvPr>
          <p:cNvSpPr/>
          <p:nvPr/>
        </p:nvSpPr>
        <p:spPr>
          <a:xfrm>
            <a:off x="5106883" y="3038566"/>
            <a:ext cx="1059683" cy="619034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400" dirty="0" err="1"/>
              <a:t>Revisión</a:t>
            </a:r>
            <a:r>
              <a:rPr lang="en-US" sz="1400" dirty="0"/>
              <a:t> de </a:t>
            </a:r>
            <a:r>
              <a:rPr lang="en-US" sz="1400" dirty="0" err="1"/>
              <a:t>Inspección</a:t>
            </a:r>
            <a:endParaRPr lang="en-US" sz="1400" dirty="0"/>
          </a:p>
        </p:txBody>
      </p: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1074B154-4433-331F-7A27-B98B575F3870}"/>
              </a:ext>
            </a:extLst>
          </p:cNvPr>
          <p:cNvCxnSpPr>
            <a:cxnSpLocks/>
          </p:cNvCxnSpPr>
          <p:nvPr/>
        </p:nvCxnSpPr>
        <p:spPr>
          <a:xfrm>
            <a:off x="6149962" y="3384233"/>
            <a:ext cx="294246" cy="0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9C387014-EF85-1490-DAD2-24E419079E39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39690" y="2067793"/>
            <a:ext cx="319942" cy="836838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4" name="Rombo 123">
            <a:extLst>
              <a:ext uri="{FF2B5EF4-FFF2-40B4-BE49-F238E27FC236}">
                <a16:creationId xmlns:a16="http://schemas.microsoft.com/office/drawing/2014/main" id="{254642E3-4CD7-3104-15D2-408BBADE1645}"/>
              </a:ext>
            </a:extLst>
          </p:cNvPr>
          <p:cNvSpPr/>
          <p:nvPr/>
        </p:nvSpPr>
        <p:spPr>
          <a:xfrm>
            <a:off x="7964578" y="3138526"/>
            <a:ext cx="508389" cy="457928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Conector recto de flecha 124">
            <a:extLst>
              <a:ext uri="{FF2B5EF4-FFF2-40B4-BE49-F238E27FC236}">
                <a16:creationId xmlns:a16="http://schemas.microsoft.com/office/drawing/2014/main" id="{25E63C4A-4B79-63CF-A9DA-594546F125DA}"/>
              </a:ext>
            </a:extLst>
          </p:cNvPr>
          <p:cNvCxnSpPr>
            <a:cxnSpLocks/>
            <a:stCxn id="102" idx="3"/>
            <a:endCxn id="124" idx="1"/>
          </p:cNvCxnSpPr>
          <p:nvPr/>
        </p:nvCxnSpPr>
        <p:spPr>
          <a:xfrm>
            <a:off x="7325660" y="3344707"/>
            <a:ext cx="638918" cy="22783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0CC74422-A71D-B7F8-9917-3065264DCDE0}"/>
              </a:ext>
            </a:extLst>
          </p:cNvPr>
          <p:cNvSpPr txBox="1"/>
          <p:nvPr/>
        </p:nvSpPr>
        <p:spPr>
          <a:xfrm>
            <a:off x="7213900" y="2411642"/>
            <a:ext cx="889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¿Se require</a:t>
            </a:r>
          </a:p>
          <a:p>
            <a:r>
              <a:rPr lang="en-US" sz="1200" dirty="0" err="1"/>
              <a:t>Revisión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adicional</a:t>
            </a:r>
            <a:r>
              <a:rPr lang="en-US" sz="1200" dirty="0"/>
              <a:t>?</a:t>
            </a:r>
          </a:p>
        </p:txBody>
      </p:sp>
      <p:cxnSp>
        <p:nvCxnSpPr>
          <p:cNvPr id="131" name="Conector recto 130">
            <a:extLst>
              <a:ext uri="{FF2B5EF4-FFF2-40B4-BE49-F238E27FC236}">
                <a16:creationId xmlns:a16="http://schemas.microsoft.com/office/drawing/2014/main" id="{F38E462B-1C4B-AD98-831B-20BBC3BCADC9}"/>
              </a:ext>
            </a:extLst>
          </p:cNvPr>
          <p:cNvCxnSpPr/>
          <p:nvPr/>
        </p:nvCxnSpPr>
        <p:spPr>
          <a:xfrm flipV="1">
            <a:off x="8218772" y="1824232"/>
            <a:ext cx="0" cy="1314294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F365018E-9797-F48C-5C18-AF93AF8D284B}"/>
              </a:ext>
            </a:extLst>
          </p:cNvPr>
          <p:cNvCxnSpPr>
            <a:cxnSpLocks/>
          </p:cNvCxnSpPr>
          <p:nvPr/>
        </p:nvCxnSpPr>
        <p:spPr>
          <a:xfrm>
            <a:off x="1828885" y="1781427"/>
            <a:ext cx="6389887" cy="4280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recto 134">
            <a:extLst>
              <a:ext uri="{FF2B5EF4-FFF2-40B4-BE49-F238E27FC236}">
                <a16:creationId xmlns:a16="http://schemas.microsoft.com/office/drawing/2014/main" id="{D926DFDC-C709-CCFA-8C90-D7F54A8DBDBD}"/>
              </a:ext>
            </a:extLst>
          </p:cNvPr>
          <p:cNvCxnSpPr>
            <a:cxnSpLocks/>
          </p:cNvCxnSpPr>
          <p:nvPr/>
        </p:nvCxnSpPr>
        <p:spPr>
          <a:xfrm flipV="1">
            <a:off x="1828885" y="1772816"/>
            <a:ext cx="0" cy="1190386"/>
          </a:xfrm>
          <a:prstGeom prst="line">
            <a:avLst/>
          </a:prstGeom>
          <a:ln w="57150">
            <a:solidFill>
              <a:schemeClr val="accent3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25923079-D608-052E-615E-1BA802EB2AA8}"/>
              </a:ext>
            </a:extLst>
          </p:cNvPr>
          <p:cNvCxnSpPr>
            <a:cxnSpLocks/>
          </p:cNvCxnSpPr>
          <p:nvPr/>
        </p:nvCxnSpPr>
        <p:spPr>
          <a:xfrm flipV="1">
            <a:off x="8218772" y="3540016"/>
            <a:ext cx="0" cy="828000"/>
          </a:xfrm>
          <a:prstGeom prst="line">
            <a:avLst/>
          </a:prstGeom>
          <a:ln w="57150">
            <a:solidFill>
              <a:schemeClr val="accent3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recto 138">
            <a:extLst>
              <a:ext uri="{FF2B5EF4-FFF2-40B4-BE49-F238E27FC236}">
                <a16:creationId xmlns:a16="http://schemas.microsoft.com/office/drawing/2014/main" id="{DC2E8F90-5BD4-A34B-462B-F5E6DD22F50E}"/>
              </a:ext>
            </a:extLst>
          </p:cNvPr>
          <p:cNvCxnSpPr>
            <a:cxnSpLocks/>
          </p:cNvCxnSpPr>
          <p:nvPr/>
        </p:nvCxnSpPr>
        <p:spPr>
          <a:xfrm flipV="1">
            <a:off x="8218772" y="5130898"/>
            <a:ext cx="0" cy="468000"/>
          </a:xfrm>
          <a:prstGeom prst="line">
            <a:avLst/>
          </a:prstGeom>
          <a:ln w="57150">
            <a:solidFill>
              <a:schemeClr val="accent3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B931ACD6-7B74-F907-C1BB-CA191313EC43}"/>
              </a:ext>
            </a:extLst>
          </p:cNvPr>
          <p:cNvSpPr txBox="1"/>
          <p:nvPr/>
        </p:nvSpPr>
        <p:spPr>
          <a:xfrm>
            <a:off x="7692850" y="3589611"/>
            <a:ext cx="285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9C566408-575B-E693-8E45-4404043C50C5}"/>
              </a:ext>
            </a:extLst>
          </p:cNvPr>
          <p:cNvSpPr txBox="1"/>
          <p:nvPr/>
        </p:nvSpPr>
        <p:spPr>
          <a:xfrm>
            <a:off x="8272843" y="2790010"/>
            <a:ext cx="285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635C0D13-8F91-337F-F4E9-B0900CF90F25}"/>
              </a:ext>
            </a:extLst>
          </p:cNvPr>
          <p:cNvGrpSpPr/>
          <p:nvPr/>
        </p:nvGrpSpPr>
        <p:grpSpPr>
          <a:xfrm>
            <a:off x="4584694" y="4981893"/>
            <a:ext cx="1217346" cy="650849"/>
            <a:chOff x="5357" y="1551582"/>
            <a:chExt cx="1601390" cy="960834"/>
          </a:xfrm>
        </p:grpSpPr>
        <p:sp>
          <p:nvSpPr>
            <p:cNvPr id="143" name="Rectángulo redondeado 142">
              <a:extLst>
                <a:ext uri="{FF2B5EF4-FFF2-40B4-BE49-F238E27FC236}">
                  <a16:creationId xmlns:a16="http://schemas.microsoft.com/office/drawing/2014/main" id="{7B439606-F5DA-449D-4240-411AB51C19EE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44" name="CuadroTexto 143">
              <a:extLst>
                <a:ext uri="{FF2B5EF4-FFF2-40B4-BE49-F238E27FC236}">
                  <a16:creationId xmlns:a16="http://schemas.microsoft.com/office/drawing/2014/main" id="{126678EC-15A4-2510-45FE-0BCAF4D9489F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200" kern="1200" dirty="0"/>
                <a:t>Requsitos e historias de usuario</a:t>
              </a:r>
            </a:p>
          </p:txBody>
        </p:sp>
      </p:grpSp>
      <p:grpSp>
        <p:nvGrpSpPr>
          <p:cNvPr id="145" name="Grupo 144">
            <a:extLst>
              <a:ext uri="{FF2B5EF4-FFF2-40B4-BE49-F238E27FC236}">
                <a16:creationId xmlns:a16="http://schemas.microsoft.com/office/drawing/2014/main" id="{95728B07-EA94-8BB9-4B3B-319E5678493D}"/>
              </a:ext>
            </a:extLst>
          </p:cNvPr>
          <p:cNvGrpSpPr/>
          <p:nvPr/>
        </p:nvGrpSpPr>
        <p:grpSpPr>
          <a:xfrm>
            <a:off x="5923287" y="5013708"/>
            <a:ext cx="1059682" cy="619034"/>
            <a:chOff x="5357" y="1551582"/>
            <a:chExt cx="1601390" cy="960834"/>
          </a:xfrm>
        </p:grpSpPr>
        <p:sp>
          <p:nvSpPr>
            <p:cNvPr id="146" name="Rectángulo redondeado 145">
              <a:extLst>
                <a:ext uri="{FF2B5EF4-FFF2-40B4-BE49-F238E27FC236}">
                  <a16:creationId xmlns:a16="http://schemas.microsoft.com/office/drawing/2014/main" id="{6C91650B-AF84-94EB-E8D0-1974BC756FDA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47" name="CuadroTexto 146">
              <a:extLst>
                <a:ext uri="{FF2B5EF4-FFF2-40B4-BE49-F238E27FC236}">
                  <a16:creationId xmlns:a16="http://schemas.microsoft.com/office/drawing/2014/main" id="{34B86AC1-B783-CC50-EC9B-8F40B8DB93EE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200" kern="1200" dirty="0"/>
                <a:t>Documento Diseño</a:t>
              </a:r>
            </a:p>
          </p:txBody>
        </p:sp>
      </p:grpSp>
      <p:cxnSp>
        <p:nvCxnSpPr>
          <p:cNvPr id="148" name="Conector recto de flecha 147">
            <a:extLst>
              <a:ext uri="{FF2B5EF4-FFF2-40B4-BE49-F238E27FC236}">
                <a16:creationId xmlns:a16="http://schemas.microsoft.com/office/drawing/2014/main" id="{22D25489-735B-83AB-6938-248F7355BA7D}"/>
              </a:ext>
            </a:extLst>
          </p:cNvPr>
          <p:cNvCxnSpPr>
            <a:cxnSpLocks/>
          </p:cNvCxnSpPr>
          <p:nvPr/>
        </p:nvCxnSpPr>
        <p:spPr>
          <a:xfrm flipV="1">
            <a:off x="5365984" y="3596454"/>
            <a:ext cx="142120" cy="1319301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1" name="Conector recto de flecha 150">
            <a:extLst>
              <a:ext uri="{FF2B5EF4-FFF2-40B4-BE49-F238E27FC236}">
                <a16:creationId xmlns:a16="http://schemas.microsoft.com/office/drawing/2014/main" id="{60F67566-9753-7C32-FF7F-422F82A22EDE}"/>
              </a:ext>
            </a:extLst>
          </p:cNvPr>
          <p:cNvCxnSpPr>
            <a:cxnSpLocks/>
            <a:endCxn id="103" idx="2"/>
          </p:cNvCxnSpPr>
          <p:nvPr/>
        </p:nvCxnSpPr>
        <p:spPr>
          <a:xfrm flipH="1" flipV="1">
            <a:off x="5636725" y="3657600"/>
            <a:ext cx="730202" cy="1283568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24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Validación y Verificación Proceso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2CB8AE-9567-C821-32C1-DEC13AA5FFDB}"/>
              </a:ext>
            </a:extLst>
          </p:cNvPr>
          <p:cNvSpPr txBox="1"/>
          <p:nvPr/>
        </p:nvSpPr>
        <p:spPr>
          <a:xfrm>
            <a:off x="755576" y="1399084"/>
            <a:ext cx="78488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>
              <a:latin typeface="Helvetica" pitchFamily="2" charset="0"/>
            </a:endParaRPr>
          </a:p>
          <a:p>
            <a:r>
              <a:rPr lang="es-CO" dirty="0">
                <a:latin typeface="Helvetica" pitchFamily="2" charset="0"/>
              </a:rPr>
              <a:t>V y V son procesos similares en cuanto a la forma como se ejecutan, pero difieren en los objetivos que tienen, por esta razón se ejecutan por separado.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dirty="0">
                <a:latin typeface="Helvetica" pitchFamily="2" charset="0"/>
              </a:rPr>
              <a:t>Se evalúan con los clientes, usuarios y los miembros del equipo para evaluar si el producto es correcto o no, y si el desarrollo fue realizado correctamente, de acuerdo a los planes, especificaciones, métodos, normas, estándares, leyes, normas.</a:t>
            </a:r>
          </a:p>
          <a:p>
            <a:endParaRPr lang="es-CO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569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7" y="-261973"/>
            <a:ext cx="8229600" cy="1143000"/>
          </a:xfrm>
        </p:spPr>
        <p:txBody>
          <a:bodyPr>
            <a:normAutofit/>
          </a:bodyPr>
          <a:lstStyle/>
          <a:p>
            <a:r>
              <a:rPr lang="es-CO" sz="3200" b="1" dirty="0"/>
              <a:t>Proceso Validación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65A1C59-170E-0474-0695-A2E30C50433D}"/>
              </a:ext>
            </a:extLst>
          </p:cNvPr>
          <p:cNvGrpSpPr/>
          <p:nvPr/>
        </p:nvGrpSpPr>
        <p:grpSpPr>
          <a:xfrm>
            <a:off x="36606" y="3990384"/>
            <a:ext cx="1601390" cy="960834"/>
            <a:chOff x="5357" y="1551582"/>
            <a:chExt cx="1601390" cy="960834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D317E007-C5B4-5E7B-937E-8E790987410E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BA9780F2-0D8C-0489-F8FD-AE7E737B694E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600" kern="1200" dirty="0"/>
                <a:t>Producto de Software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10BA2B0D-D099-B836-C568-5EAA0764BA90}"/>
              </a:ext>
            </a:extLst>
          </p:cNvPr>
          <p:cNvGrpSpPr/>
          <p:nvPr/>
        </p:nvGrpSpPr>
        <p:grpSpPr>
          <a:xfrm>
            <a:off x="57134" y="1747680"/>
            <a:ext cx="1601390" cy="960834"/>
            <a:chOff x="5357" y="1551582"/>
            <a:chExt cx="1601390" cy="960834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0" name="Rectángulo redondeado 9">
              <a:extLst>
                <a:ext uri="{FF2B5EF4-FFF2-40B4-BE49-F238E27FC236}">
                  <a16:creationId xmlns:a16="http://schemas.microsoft.com/office/drawing/2014/main" id="{8A012B86-0B74-A604-0B1A-23CCF2BD24D3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54A0872D-EF88-E6A2-3224-CDB3E8775359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600" kern="1200" dirty="0"/>
                <a:t>Documento de Requisitos / Historias de Usuario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CE880D6-77E7-FE4F-1A9A-BBA891A6909C}"/>
              </a:ext>
            </a:extLst>
          </p:cNvPr>
          <p:cNvGrpSpPr/>
          <p:nvPr/>
        </p:nvGrpSpPr>
        <p:grpSpPr>
          <a:xfrm>
            <a:off x="944740" y="699599"/>
            <a:ext cx="1330227" cy="675933"/>
            <a:chOff x="5357" y="1551582"/>
            <a:chExt cx="1601390" cy="960834"/>
          </a:xfrm>
          <a:solidFill>
            <a:schemeClr val="accent3"/>
          </a:solidFill>
        </p:grpSpPr>
        <p:sp>
          <p:nvSpPr>
            <p:cNvPr id="13" name="Rectángulo redondeado 12">
              <a:extLst>
                <a:ext uri="{FF2B5EF4-FFF2-40B4-BE49-F238E27FC236}">
                  <a16:creationId xmlns:a16="http://schemas.microsoft.com/office/drawing/2014/main" id="{D182F452-2062-43BD-FC45-DC70CE4E9F7A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7900C627-0F6D-0978-1463-2573F58A64D4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600" kern="1200" dirty="0"/>
                <a:t>Plan de Proyecto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410D851-FBCC-F2B4-66DD-5664F15EB163}"/>
              </a:ext>
            </a:extLst>
          </p:cNvPr>
          <p:cNvGrpSpPr/>
          <p:nvPr/>
        </p:nvGrpSpPr>
        <p:grpSpPr>
          <a:xfrm>
            <a:off x="2393730" y="699599"/>
            <a:ext cx="1330227" cy="675933"/>
            <a:chOff x="5357" y="1551582"/>
            <a:chExt cx="1601390" cy="960834"/>
          </a:xfrm>
          <a:solidFill>
            <a:schemeClr val="accent3"/>
          </a:solidFill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8F61AE44-BFB9-799F-B81B-BF88C61C7A85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0BDA1801-03D3-0258-3417-341596042390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600" kern="1200" dirty="0"/>
                <a:t>Reglas de Negocio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940665A7-2E58-00D2-3B5A-78364E52AEC7}"/>
              </a:ext>
            </a:extLst>
          </p:cNvPr>
          <p:cNvGrpSpPr/>
          <p:nvPr/>
        </p:nvGrpSpPr>
        <p:grpSpPr>
          <a:xfrm>
            <a:off x="28992" y="2867132"/>
            <a:ext cx="1601390" cy="960834"/>
            <a:chOff x="5357" y="1551582"/>
            <a:chExt cx="1601390" cy="960834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9" name="Rectángulo redondeado 18">
              <a:extLst>
                <a:ext uri="{FF2B5EF4-FFF2-40B4-BE49-F238E27FC236}">
                  <a16:creationId xmlns:a16="http://schemas.microsoft.com/office/drawing/2014/main" id="{470FAD6D-2D72-7934-F7C1-522E4C2EB9CF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201C77FE-94A0-6DE7-2A59-1BFDEACA1AD5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600" kern="1200" dirty="0"/>
                <a:t>Documento de Diseño</a:t>
              </a:r>
            </a:p>
          </p:txBody>
        </p:sp>
      </p:grp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FFBEEA73-2703-5D54-DF45-CE4683187748}"/>
              </a:ext>
            </a:extLst>
          </p:cNvPr>
          <p:cNvSpPr/>
          <p:nvPr/>
        </p:nvSpPr>
        <p:spPr>
          <a:xfrm>
            <a:off x="5133194" y="625613"/>
            <a:ext cx="2265341" cy="948999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err="1"/>
              <a:t>Objetivo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Asegurar</a:t>
            </a:r>
            <a:r>
              <a:rPr lang="en-US" dirty="0"/>
              <a:t> la Calidad del </a:t>
            </a:r>
            <a:r>
              <a:rPr lang="en-US" dirty="0" err="1"/>
              <a:t>producto</a:t>
            </a:r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E5EB9D3B-F80E-41A1-BFA1-2A6E86F86FD4}"/>
              </a:ext>
            </a:extLst>
          </p:cNvPr>
          <p:cNvSpPr/>
          <p:nvPr/>
        </p:nvSpPr>
        <p:spPr>
          <a:xfrm>
            <a:off x="7308304" y="2892361"/>
            <a:ext cx="1473253" cy="748628"/>
          </a:xfrm>
          <a:prstGeom prst="roundRect">
            <a:avLst>
              <a:gd name="adj" fmla="val 1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err="1"/>
              <a:t>Producto</a:t>
            </a:r>
            <a:r>
              <a:rPr lang="en-US" dirty="0"/>
              <a:t> de Calidad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16E03A0-BBDC-70C5-A847-B2E9A69D7F58}"/>
              </a:ext>
            </a:extLst>
          </p:cNvPr>
          <p:cNvGrpSpPr/>
          <p:nvPr/>
        </p:nvGrpSpPr>
        <p:grpSpPr>
          <a:xfrm>
            <a:off x="2735796" y="2383133"/>
            <a:ext cx="3672408" cy="2200180"/>
            <a:chOff x="5357" y="1551582"/>
            <a:chExt cx="1601390" cy="960834"/>
          </a:xfrm>
        </p:grpSpPr>
        <p:sp>
          <p:nvSpPr>
            <p:cNvPr id="24" name="Rectángulo redondeado 23">
              <a:extLst>
                <a:ext uri="{FF2B5EF4-FFF2-40B4-BE49-F238E27FC236}">
                  <a16:creationId xmlns:a16="http://schemas.microsoft.com/office/drawing/2014/main" id="{5EF8A018-E3E2-DFE6-4D41-FD120DDBCFAC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8EAB9EF7-DF2F-25C8-C753-AB0150572099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  <a:solidFill>
              <a:schemeClr val="tx2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8000" b="1" kern="1200" dirty="0"/>
                <a:t>V y V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416D7EB1-6401-C4B6-5E65-CEEC4CD1F15B}"/>
              </a:ext>
            </a:extLst>
          </p:cNvPr>
          <p:cNvGrpSpPr/>
          <p:nvPr/>
        </p:nvGrpSpPr>
        <p:grpSpPr>
          <a:xfrm>
            <a:off x="2302774" y="5444340"/>
            <a:ext cx="1330227" cy="675933"/>
            <a:chOff x="5357" y="1551582"/>
            <a:chExt cx="1601390" cy="960834"/>
          </a:xfrm>
          <a:solidFill>
            <a:schemeClr val="bg2">
              <a:lumMod val="50000"/>
            </a:schemeClr>
          </a:solidFill>
        </p:grpSpPr>
        <p:sp>
          <p:nvSpPr>
            <p:cNvPr id="27" name="Rectángulo redondeado 26">
              <a:extLst>
                <a:ext uri="{FF2B5EF4-FFF2-40B4-BE49-F238E27FC236}">
                  <a16:creationId xmlns:a16="http://schemas.microsoft.com/office/drawing/2014/main" id="{9D91720E-94D3-8DDE-9C54-1FC1E7D6B1D6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BE2BC2B6-D2B3-647E-39A5-FA0C7F0D29CA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600" kern="1200" dirty="0"/>
                <a:t>Recursos de Software</a:t>
              </a: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F414F14-A0DC-B8C4-3B16-A130757BB42E}"/>
              </a:ext>
            </a:extLst>
          </p:cNvPr>
          <p:cNvGrpSpPr/>
          <p:nvPr/>
        </p:nvGrpSpPr>
        <p:grpSpPr>
          <a:xfrm>
            <a:off x="3853952" y="5168319"/>
            <a:ext cx="1657049" cy="1225020"/>
            <a:chOff x="5357" y="1551582"/>
            <a:chExt cx="1601390" cy="960834"/>
          </a:xfrm>
          <a:solidFill>
            <a:schemeClr val="bg2">
              <a:lumMod val="50000"/>
            </a:schemeClr>
          </a:solidFill>
        </p:grpSpPr>
        <p:sp>
          <p:nvSpPr>
            <p:cNvPr id="30" name="Rectángulo redondeado 29">
              <a:extLst>
                <a:ext uri="{FF2B5EF4-FFF2-40B4-BE49-F238E27FC236}">
                  <a16:creationId xmlns:a16="http://schemas.microsoft.com/office/drawing/2014/main" id="{8B06FAC6-D33E-852C-55FE-8AACFB419419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03DD2F25-D985-78F9-C9F2-D839FCEFB0F9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600" kern="1200" dirty="0"/>
                <a:t>Recursos de Métodos, Modelos, Metodologías, etc</a:t>
              </a: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8008F3AB-3C75-004A-6272-093268D82DE7}"/>
              </a:ext>
            </a:extLst>
          </p:cNvPr>
          <p:cNvGrpSpPr/>
          <p:nvPr/>
        </p:nvGrpSpPr>
        <p:grpSpPr>
          <a:xfrm>
            <a:off x="5978077" y="5444340"/>
            <a:ext cx="1330227" cy="675933"/>
            <a:chOff x="5357" y="1551582"/>
            <a:chExt cx="1601390" cy="960834"/>
          </a:xfrm>
          <a:solidFill>
            <a:schemeClr val="bg2">
              <a:lumMod val="50000"/>
            </a:schemeClr>
          </a:solidFill>
        </p:grpSpPr>
        <p:sp>
          <p:nvSpPr>
            <p:cNvPr id="33" name="Rectángulo redondeado 32">
              <a:extLst>
                <a:ext uri="{FF2B5EF4-FFF2-40B4-BE49-F238E27FC236}">
                  <a16:creationId xmlns:a16="http://schemas.microsoft.com/office/drawing/2014/main" id="{014F734C-ACD2-3182-9110-475830BB76FB}"/>
                </a:ext>
              </a:extLst>
            </p:cNvPr>
            <p:cNvSpPr/>
            <p:nvPr/>
          </p:nvSpPr>
          <p:spPr>
            <a:xfrm>
              <a:off x="5357" y="1551582"/>
              <a:ext cx="1601390" cy="960834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A4AFF665-DD24-B3EC-F6F0-D636BF469060}"/>
                </a:ext>
              </a:extLst>
            </p:cNvPr>
            <p:cNvSpPr txBox="1"/>
            <p:nvPr/>
          </p:nvSpPr>
          <p:spPr>
            <a:xfrm>
              <a:off x="33499" y="1579724"/>
              <a:ext cx="1545106" cy="90455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600" kern="1200" dirty="0"/>
                <a:t>Recursos de Infraestructura</a:t>
              </a:r>
            </a:p>
          </p:txBody>
        </p:sp>
      </p:grpSp>
      <p:sp>
        <p:nvSpPr>
          <p:cNvPr id="37" name="Flecha derecha 36">
            <a:extLst>
              <a:ext uri="{FF2B5EF4-FFF2-40B4-BE49-F238E27FC236}">
                <a16:creationId xmlns:a16="http://schemas.microsoft.com/office/drawing/2014/main" id="{B18B0ED0-0ED2-28F3-E835-3EF7FEBDB2CF}"/>
              </a:ext>
            </a:extLst>
          </p:cNvPr>
          <p:cNvSpPr/>
          <p:nvPr/>
        </p:nvSpPr>
        <p:spPr>
          <a:xfrm>
            <a:off x="1730687" y="3234077"/>
            <a:ext cx="799795" cy="406911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echa derecha 37">
            <a:extLst>
              <a:ext uri="{FF2B5EF4-FFF2-40B4-BE49-F238E27FC236}">
                <a16:creationId xmlns:a16="http://schemas.microsoft.com/office/drawing/2014/main" id="{B1BF7672-DF9A-E823-DDD4-30B46E0EF79A}"/>
              </a:ext>
            </a:extLst>
          </p:cNvPr>
          <p:cNvSpPr/>
          <p:nvPr/>
        </p:nvSpPr>
        <p:spPr>
          <a:xfrm rot="20461619">
            <a:off x="1746278" y="4137489"/>
            <a:ext cx="799795" cy="406911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echa derecha 38">
            <a:extLst>
              <a:ext uri="{FF2B5EF4-FFF2-40B4-BE49-F238E27FC236}">
                <a16:creationId xmlns:a16="http://schemas.microsoft.com/office/drawing/2014/main" id="{7621503B-EFD6-6C71-84BF-5CFDF7CBA492}"/>
              </a:ext>
            </a:extLst>
          </p:cNvPr>
          <p:cNvSpPr/>
          <p:nvPr/>
        </p:nvSpPr>
        <p:spPr>
          <a:xfrm rot="2382681">
            <a:off x="1783190" y="2276889"/>
            <a:ext cx="799795" cy="406911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lecha derecha 39">
            <a:extLst>
              <a:ext uri="{FF2B5EF4-FFF2-40B4-BE49-F238E27FC236}">
                <a16:creationId xmlns:a16="http://schemas.microsoft.com/office/drawing/2014/main" id="{BB4B9218-180E-F633-5513-790D6AF64816}"/>
              </a:ext>
            </a:extLst>
          </p:cNvPr>
          <p:cNvSpPr/>
          <p:nvPr/>
        </p:nvSpPr>
        <p:spPr>
          <a:xfrm>
            <a:off x="6472741" y="3144093"/>
            <a:ext cx="799795" cy="406911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21FD9C90-96D4-56CB-433D-6827F781E052}"/>
              </a:ext>
            </a:extLst>
          </p:cNvPr>
          <p:cNvCxnSpPr>
            <a:cxnSpLocks/>
            <a:stCxn id="3" idx="0"/>
          </p:cNvCxnSpPr>
          <p:nvPr/>
        </p:nvCxnSpPr>
        <p:spPr>
          <a:xfrm>
            <a:off x="2195737" y="1412776"/>
            <a:ext cx="813093" cy="894095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229A6C59-8E10-44CD-3634-EE5F04D4D614}"/>
              </a:ext>
            </a:extLst>
          </p:cNvPr>
          <p:cNvCxnSpPr>
            <a:cxnSpLocks/>
          </p:cNvCxnSpPr>
          <p:nvPr/>
        </p:nvCxnSpPr>
        <p:spPr>
          <a:xfrm>
            <a:off x="3078464" y="1352506"/>
            <a:ext cx="380638" cy="1010829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11B25ABA-27BB-DC8B-7BDB-63AB46435768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5576593" y="1574612"/>
            <a:ext cx="689272" cy="871068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A0856664-DE38-5A55-E7DB-74224B944DDE}"/>
              </a:ext>
            </a:extLst>
          </p:cNvPr>
          <p:cNvCxnSpPr>
            <a:cxnSpLocks/>
          </p:cNvCxnSpPr>
          <p:nvPr/>
        </p:nvCxnSpPr>
        <p:spPr>
          <a:xfrm flipV="1">
            <a:off x="1979712" y="4566779"/>
            <a:ext cx="1234156" cy="797511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3" name="Imagen 52">
            <a:extLst>
              <a:ext uri="{FF2B5EF4-FFF2-40B4-BE49-F238E27FC236}">
                <a16:creationId xmlns:a16="http://schemas.microsoft.com/office/drawing/2014/main" id="{E5B8D444-C6F5-B8D6-4C41-3434716102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2409" t="25871" r="31411" b="17188"/>
          <a:stretch/>
        </p:blipFill>
        <p:spPr>
          <a:xfrm>
            <a:off x="1218409" y="5216681"/>
            <a:ext cx="559576" cy="828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152746A4-D22B-9B0C-D352-81ABA79FC2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2409" t="25871" r="31411" b="17188"/>
          <a:stretch/>
        </p:blipFill>
        <p:spPr>
          <a:xfrm>
            <a:off x="4082150" y="628207"/>
            <a:ext cx="559576" cy="82881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BD7EC4AE-E374-B262-B66D-9D1D5881C2AE}"/>
              </a:ext>
            </a:extLst>
          </p:cNvPr>
          <p:cNvSpPr txBox="1"/>
          <p:nvPr/>
        </p:nvSpPr>
        <p:spPr>
          <a:xfrm>
            <a:off x="3508309" y="1521460"/>
            <a:ext cx="1822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Líder</a:t>
            </a:r>
            <a:r>
              <a:rPr lang="en-US" dirty="0"/>
              <a:t> de Proyecto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EB75B4D1-4BBA-2453-6A23-8C353BDACF99}"/>
              </a:ext>
            </a:extLst>
          </p:cNvPr>
          <p:cNvSpPr txBox="1"/>
          <p:nvPr/>
        </p:nvSpPr>
        <p:spPr>
          <a:xfrm>
            <a:off x="884192" y="6095974"/>
            <a:ext cx="1359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Equipo</a:t>
            </a:r>
            <a:r>
              <a:rPr lang="en-US" dirty="0"/>
              <a:t> V y V</a:t>
            </a:r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F5F913A8-2092-4FE0-816E-991F40D9B7AE}"/>
              </a:ext>
            </a:extLst>
          </p:cNvPr>
          <p:cNvCxnSpPr>
            <a:cxnSpLocks/>
          </p:cNvCxnSpPr>
          <p:nvPr/>
        </p:nvCxnSpPr>
        <p:spPr>
          <a:xfrm flipH="1">
            <a:off x="3213868" y="4663363"/>
            <a:ext cx="419133" cy="748835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1361719A-1C55-D382-2A61-FCFBC8A8FC9E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4256373" y="4598921"/>
            <a:ext cx="426104" cy="605278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6071D658-EC0F-E0D4-17E5-B982AF0CA9D5}"/>
              </a:ext>
            </a:extLst>
          </p:cNvPr>
          <p:cNvCxnSpPr>
            <a:cxnSpLocks/>
          </p:cNvCxnSpPr>
          <p:nvPr/>
        </p:nvCxnSpPr>
        <p:spPr>
          <a:xfrm>
            <a:off x="5765025" y="4614568"/>
            <a:ext cx="643179" cy="797630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5" name="Imagen 64">
            <a:extLst>
              <a:ext uri="{FF2B5EF4-FFF2-40B4-BE49-F238E27FC236}">
                <a16:creationId xmlns:a16="http://schemas.microsoft.com/office/drawing/2014/main" id="{F3B72031-C8B3-4CAE-978B-148A012BA7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2409" t="25871" r="31411" b="17188"/>
          <a:stretch/>
        </p:blipFill>
        <p:spPr>
          <a:xfrm>
            <a:off x="7738408" y="5049731"/>
            <a:ext cx="559576" cy="8288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CuadroTexto 65">
            <a:extLst>
              <a:ext uri="{FF2B5EF4-FFF2-40B4-BE49-F238E27FC236}">
                <a16:creationId xmlns:a16="http://schemas.microsoft.com/office/drawing/2014/main" id="{2DFF50CF-BF4F-0D3D-C05F-FC2B77A3F89D}"/>
              </a:ext>
            </a:extLst>
          </p:cNvPr>
          <p:cNvSpPr txBox="1"/>
          <p:nvPr/>
        </p:nvSpPr>
        <p:spPr>
          <a:xfrm>
            <a:off x="7470349" y="5957474"/>
            <a:ext cx="1149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Equipo</a:t>
            </a:r>
            <a:r>
              <a:rPr lang="en-US" dirty="0"/>
              <a:t> </a:t>
            </a:r>
          </a:p>
          <a:p>
            <a:r>
              <a:rPr lang="en-US" dirty="0"/>
              <a:t>Desarrollo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31BAFCC1-55B3-5132-FBD2-D82E8CC1B67B}"/>
              </a:ext>
            </a:extLst>
          </p:cNvPr>
          <p:cNvCxnSpPr>
            <a:cxnSpLocks/>
          </p:cNvCxnSpPr>
          <p:nvPr/>
        </p:nvCxnSpPr>
        <p:spPr>
          <a:xfrm flipH="1" flipV="1">
            <a:off x="6343667" y="4518871"/>
            <a:ext cx="1252669" cy="649448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003D7685-636A-7E62-B0B0-241182C3068A}"/>
              </a:ext>
            </a:extLst>
          </p:cNvPr>
          <p:cNvCxnSpPr>
            <a:cxnSpLocks/>
          </p:cNvCxnSpPr>
          <p:nvPr/>
        </p:nvCxnSpPr>
        <p:spPr>
          <a:xfrm>
            <a:off x="4256373" y="1890792"/>
            <a:ext cx="0" cy="416079"/>
          </a:xfrm>
          <a:prstGeom prst="straightConnector1">
            <a:avLst/>
          </a:prstGeom>
          <a:ln w="53975">
            <a:solidFill>
              <a:schemeClr val="accent3">
                <a:shade val="95000"/>
                <a:satMod val="105000"/>
              </a:schemeClr>
            </a:solidFill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931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Estrategias de Validación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2CB8AE-9567-C821-32C1-DEC13AA5FFDB}"/>
              </a:ext>
            </a:extLst>
          </p:cNvPr>
          <p:cNvSpPr txBox="1"/>
          <p:nvPr/>
        </p:nvSpPr>
        <p:spPr>
          <a:xfrm>
            <a:off x="755576" y="1399084"/>
            <a:ext cx="78488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>
              <a:latin typeface="Helvetica" pitchFamily="2" charset="0"/>
            </a:endParaRPr>
          </a:p>
          <a:p>
            <a:r>
              <a:rPr lang="es-CO" dirty="0">
                <a:latin typeface="Helvetica" pitchFamily="2" charset="0"/>
              </a:rPr>
              <a:t>Existen diferentes estrategias para V y V los productos y servicios de software. Se revisaran dos tipos de estrategias diferentes: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b="1" dirty="0">
                <a:latin typeface="Helvetica" pitchFamily="2" charset="0"/>
              </a:rPr>
              <a:t>Estrategia manual: </a:t>
            </a:r>
            <a:r>
              <a:rPr lang="es-CO" dirty="0">
                <a:latin typeface="Helvetica" pitchFamily="2" charset="0"/>
              </a:rPr>
              <a:t>Se realiza de forma manual de modo sistemático y organizado con estrategias estáticas.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b="1" dirty="0">
                <a:latin typeface="Helvetica" pitchFamily="2" charset="0"/>
              </a:rPr>
              <a:t>Estrategias dinámicas: </a:t>
            </a:r>
            <a:r>
              <a:rPr lang="es-CO" dirty="0">
                <a:latin typeface="Helvetica" pitchFamily="2" charset="0"/>
              </a:rPr>
              <a:t>Se realizan por medio de ejecución de herramientas, programas, entre otros.</a:t>
            </a:r>
          </a:p>
          <a:p>
            <a:endParaRPr lang="es-CO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114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Estrategias Estáticas de Validación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2CB8AE-9567-C821-32C1-DEC13AA5FFDB}"/>
              </a:ext>
            </a:extLst>
          </p:cNvPr>
          <p:cNvSpPr txBox="1"/>
          <p:nvPr/>
        </p:nvSpPr>
        <p:spPr>
          <a:xfrm>
            <a:off x="755576" y="1143000"/>
            <a:ext cx="78488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>
              <a:latin typeface="Helvetica" pitchFamily="2" charset="0"/>
            </a:endParaRPr>
          </a:p>
          <a:p>
            <a:r>
              <a:rPr lang="es-CO" dirty="0">
                <a:latin typeface="Helvetica" pitchFamily="2" charset="0"/>
              </a:rPr>
              <a:t>Estas estrategias para V y V tienen </a:t>
            </a:r>
            <a:r>
              <a:rPr lang="es-CO" b="1" dirty="0">
                <a:latin typeface="Helvetica" pitchFamily="2" charset="0"/>
              </a:rPr>
              <a:t>como objetivo asegurar la calidad de los productos elaborados durante el desarrollo de software</a:t>
            </a:r>
            <a:r>
              <a:rPr lang="es-CO" dirty="0">
                <a:latin typeface="Helvetica" pitchFamily="2" charset="0"/>
              </a:rPr>
              <a:t>. Consisten en la revisión o análisis sistemático de los productos técnicos y de gestión que se producen durante el desarrollo y mantenimiento de software.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dirty="0">
                <a:latin typeface="Helvetica" pitchFamily="2" charset="0"/>
              </a:rPr>
              <a:t>Se encarga de verificar la correspondencia entre los productos y sus especificaciones, o de validar que el producto sea lo que el cliente/usuario necesita.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dirty="0">
                <a:latin typeface="Helvetica" pitchFamily="2" charset="0"/>
              </a:rPr>
              <a:t>No necesitan ejecución de herramientas de software y se basan en la evaluación manual de los productos intermedios y entregables tanto técnicos como de gestión.</a:t>
            </a:r>
          </a:p>
          <a:p>
            <a:endParaRPr lang="es-CO" b="1" dirty="0">
              <a:solidFill>
                <a:srgbClr val="FF0000"/>
              </a:solidFill>
              <a:latin typeface="Helvetica" pitchFamily="2" charset="0"/>
            </a:endParaRPr>
          </a:p>
          <a:p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Su objetivo es decretar a tiempo errores en los productos antes de su entrega a los clientes y usuarios finales.</a:t>
            </a:r>
          </a:p>
        </p:txBody>
      </p:sp>
    </p:spTree>
    <p:extLst>
      <p:ext uri="{BB962C8B-B14F-4D97-AF65-F5344CB8AC3E}">
        <p14:creationId xmlns:p14="http://schemas.microsoft.com/office/powerpoint/2010/main" val="310657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Estrategias Estáticas de Validación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2CB8AE-9567-C821-32C1-DEC13AA5FFDB}"/>
              </a:ext>
            </a:extLst>
          </p:cNvPr>
          <p:cNvSpPr txBox="1"/>
          <p:nvPr/>
        </p:nvSpPr>
        <p:spPr>
          <a:xfrm>
            <a:off x="755576" y="908720"/>
            <a:ext cx="7848872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>
              <a:latin typeface="Helvetica" pitchFamily="2" charset="0"/>
            </a:endParaRPr>
          </a:p>
          <a:p>
            <a:r>
              <a:rPr lang="es-CO" b="1" dirty="0">
                <a:latin typeface="Helvetica" pitchFamily="2" charset="0"/>
              </a:rPr>
              <a:t>Revisiones de alto nivel: </a:t>
            </a:r>
            <a:r>
              <a:rPr lang="es-CO" dirty="0">
                <a:latin typeface="Helvetica" pitchFamily="2" charset="0"/>
              </a:rPr>
              <a:t>Son procesos de evaluación manual de los productos de gestión, o sea, aquellos producidos durante la ejecución de los procesos de soporte y apoyo o apoyo (métodos, estándares, normas y procedimientos para el desarrollo y mantenimiento del software)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Monitorear planes y avances de proyectos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Evaluar la efectividad de los procesos de gestión (IEEE CS, 20014)</a:t>
            </a:r>
          </a:p>
          <a:p>
            <a:pPr lvl="1"/>
            <a:endParaRPr lang="es-CO" dirty="0">
              <a:latin typeface="Helvetica" pitchFamily="2" charset="0"/>
            </a:endParaRPr>
          </a:p>
          <a:p>
            <a:r>
              <a:rPr lang="es-CO" b="1" dirty="0">
                <a:latin typeface="Helvetica" pitchFamily="2" charset="0"/>
              </a:rPr>
              <a:t>Revisiones técnicas: </a:t>
            </a:r>
            <a:r>
              <a:rPr lang="es-CO" dirty="0">
                <a:latin typeface="Helvetica" pitchFamily="2" charset="0"/>
              </a:rPr>
              <a:t>Se encarga de evaluar los productos de los procesos técnicos, tales como: SRS, HU, Análisis, Diseño, código fuente y manuales de uso, operación y mantenimiento. Errores entre los productos de desarrollo y los productos finales con las necesidades de los usuarios.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b="1" dirty="0">
                <a:latin typeface="Helvetica" pitchFamily="2" charset="0"/>
              </a:rPr>
              <a:t>Inspecciones: </a:t>
            </a:r>
            <a:r>
              <a:rPr lang="es-CO" dirty="0">
                <a:latin typeface="Helvetica" pitchFamily="2" charset="0"/>
              </a:rPr>
              <a:t>Es un tipo particular de revisión técnica con una lista de chequeo para hacer la evaluación, con un conjunto de criterios establecidos previamente, para detectar errores o anomalías.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b="1" dirty="0">
                <a:latin typeface="Helvetica" pitchFamily="2" charset="0"/>
              </a:rPr>
              <a:t>Recorridos estructurados:  </a:t>
            </a:r>
            <a:r>
              <a:rPr lang="es-CO" dirty="0">
                <a:latin typeface="Helvetica" pitchFamily="2" charset="0"/>
              </a:rPr>
              <a:t>Es una evaluación de todo el proceso de desarrollado hasta el producto final para identificar errores o inconsistencias.</a:t>
            </a: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890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Estrategias Dinámicas de Validación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2CB8AE-9567-C821-32C1-DEC13AA5FFDB}"/>
              </a:ext>
            </a:extLst>
          </p:cNvPr>
          <p:cNvSpPr txBox="1"/>
          <p:nvPr/>
        </p:nvSpPr>
        <p:spPr>
          <a:xfrm>
            <a:off x="755576" y="908720"/>
            <a:ext cx="784887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>
              <a:latin typeface="Helvetica" pitchFamily="2" charset="0"/>
            </a:endParaRPr>
          </a:p>
          <a:p>
            <a:r>
              <a:rPr lang="es-CO" dirty="0">
                <a:latin typeface="Helvetica" pitchFamily="2" charset="0"/>
              </a:rPr>
              <a:t>Las estrategias dinámicas</a:t>
            </a:r>
            <a:r>
              <a:rPr lang="es-CO" b="1" dirty="0">
                <a:latin typeface="Helvetica" pitchFamily="2" charset="0"/>
              </a:rPr>
              <a:t> </a:t>
            </a:r>
            <a:r>
              <a:rPr lang="es-CO" dirty="0">
                <a:latin typeface="Helvetica" pitchFamily="2" charset="0"/>
              </a:rPr>
              <a:t>de V y V requieren ejecución de herramientas de software, se aplican código fuente, herramientas automatizadas, herramientas de comportamiento performance, seguridad, etc.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b="1" dirty="0">
                <a:latin typeface="Helvetica" pitchFamily="2" charset="0"/>
              </a:rPr>
              <a:t>Consejo Internacional de Certificación de Pruebas de Software – ISTQB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dirty="0">
                <a:latin typeface="Helvetica" pitchFamily="2" charset="0"/>
              </a:rPr>
              <a:t>La calidad de un software esta relacionado con la cantidad de errores, fallas y defectos que presenta un software.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Un error es una acción humana que produce un resultado incorrecto. El resultado es producto de un defecto. Un defecto es un desperfecto en un componente o en todo el software que produce que falle al ser ejecutado. Una falla es una desviación que de un componente o el software con respecto a lo que se espera del software. Por lo tanto es un comportamiento inesperado.</a:t>
            </a:r>
          </a:p>
          <a:p>
            <a:endParaRPr lang="es-CO" dirty="0">
              <a:solidFill>
                <a:srgbClr val="FF0000"/>
              </a:solidFill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619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Estrategias Dinámicas de Validación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2CB8AE-9567-C821-32C1-DEC13AA5FFDB}"/>
              </a:ext>
            </a:extLst>
          </p:cNvPr>
          <p:cNvSpPr txBox="1"/>
          <p:nvPr/>
        </p:nvSpPr>
        <p:spPr>
          <a:xfrm>
            <a:off x="755576" y="1193264"/>
            <a:ext cx="784887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>
              <a:latin typeface="Helvetica" pitchFamily="2" charset="0"/>
            </a:endParaRPr>
          </a:p>
          <a:p>
            <a:r>
              <a:rPr lang="es-CO" dirty="0">
                <a:latin typeface="Helvetica" pitchFamily="2" charset="0"/>
              </a:rPr>
              <a:t>La falta ocurre cuando algún componente del software es incompleto, inconsistente o incorrecto:</a:t>
            </a:r>
          </a:p>
          <a:p>
            <a:endParaRPr lang="es-CO" dirty="0"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El software no tiene mecanismo de seguridad y por lo tanto puede fallar ante acciones indebidas.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Se implemento un algoritmo indebido, inapropiado o incorrecto, lo que ocasiona un bajo performance o caída del sistema.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Los requisitos son incompletos, por lo que el sistema no tiene todas las funciones que el usuario o cliente espera.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El software no ejecuta correctamente, problemas en el código fuente.</a:t>
            </a: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407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Estrategias Dinámicas de Validación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2CB8AE-9567-C821-32C1-DEC13AA5FFDB}"/>
              </a:ext>
            </a:extLst>
          </p:cNvPr>
          <p:cNvSpPr txBox="1"/>
          <p:nvPr/>
        </p:nvSpPr>
        <p:spPr>
          <a:xfrm>
            <a:off x="755576" y="1193264"/>
            <a:ext cx="784887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>
              <a:latin typeface="Helvetica" pitchFamily="2" charset="0"/>
            </a:endParaRPr>
          </a:p>
          <a:p>
            <a:r>
              <a:rPr lang="es-CO" b="1" dirty="0">
                <a:latin typeface="Helvetica" pitchFamily="2" charset="0"/>
              </a:rPr>
              <a:t>Principios de las pruebas</a:t>
            </a:r>
          </a:p>
          <a:p>
            <a:endParaRPr lang="es-CO" b="1" dirty="0">
              <a:solidFill>
                <a:srgbClr val="FF0000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Se parte de que el software tiene problemas, errores, defectos, fallas y comportamientos inesperados.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El objetivos de las pruebas es encontrar la mayor cantidad de defectos.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Una prueba es exitosa, si es capaz de detectar, problemas, errores, fallas, defectos y comportamientos inesperados.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Las pruebas son procesos destructivos orientados a hacer fallar el software.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>
              <a:latin typeface="Helvetica" pitchFamily="2" charset="0"/>
            </a:endParaRPr>
          </a:p>
          <a:p>
            <a:r>
              <a:rPr lang="es-CO" dirty="0">
                <a:latin typeface="Helvetica" pitchFamily="2" charset="0"/>
              </a:rPr>
              <a:t>Según SWEBOOK (IEEE CS 2014) las pruebas contienen un conjunto de  propiedades que las caracterizan como un proceso particular en el ciclo de desarrollo de software.</a:t>
            </a: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809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Estrategias Dinámicas de Validación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2CB8AE-9567-C821-32C1-DEC13AA5FFDB}"/>
              </a:ext>
            </a:extLst>
          </p:cNvPr>
          <p:cNvSpPr txBox="1"/>
          <p:nvPr/>
        </p:nvSpPr>
        <p:spPr>
          <a:xfrm>
            <a:off x="539552" y="836712"/>
            <a:ext cx="82296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>
              <a:latin typeface="Helvetica" pitchFamily="2" charset="0"/>
            </a:endParaRPr>
          </a:p>
          <a:p>
            <a:r>
              <a:rPr lang="es-CO" b="1" dirty="0">
                <a:latin typeface="Helvetica" pitchFamily="2" charset="0"/>
              </a:rPr>
              <a:t>Propiedades de las pruebas</a:t>
            </a:r>
          </a:p>
          <a:p>
            <a:endParaRPr lang="es-CO" dirty="0">
              <a:latin typeface="Helvetica" pitchFamily="2" charset="0"/>
            </a:endParaRPr>
          </a:p>
          <a:p>
            <a:r>
              <a:rPr lang="es-CO" b="1" dirty="0">
                <a:latin typeface="Helvetica" pitchFamily="2" charset="0"/>
              </a:rPr>
              <a:t>Dinámicas: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Requiere un conjunto de datos preseleccionados denominado caso de prueba.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Se debe revisar el comportamiento del conjunto de datos durante el proceso de pruebas en el software.</a:t>
            </a:r>
          </a:p>
          <a:p>
            <a:r>
              <a:rPr lang="es-CO" b="1" dirty="0">
                <a:latin typeface="Helvetica" pitchFamily="2" charset="0"/>
              </a:rPr>
              <a:t>Finitas: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Se debe seleccionar un subconjunto de datos representativos para las pruebas no pueden ser infinitas.</a:t>
            </a:r>
          </a:p>
          <a:p>
            <a:r>
              <a:rPr lang="es-CO" b="1" dirty="0">
                <a:latin typeface="Helvetica" pitchFamily="2" charset="0"/>
              </a:rPr>
              <a:t>Seleccionadas: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Se seleccionan los casos de prueba de un conjunto de casos de pruebas para que sean ejecutadas, conociendo los datos de entrada y salida, y en otros casos la lógica del software.</a:t>
            </a:r>
          </a:p>
          <a:p>
            <a:r>
              <a:rPr lang="es-CO" b="1" dirty="0">
                <a:latin typeface="Helvetica" pitchFamily="2" charset="0"/>
              </a:rPr>
              <a:t>Son esperadas: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Las pruebas requieren el comportamiento esperado del software, con base en este comportamiento se realizan las pruebas.</a:t>
            </a: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572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Estrategias Dinámicas de Validación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2CB8AE-9567-C821-32C1-DEC13AA5FFDB}"/>
              </a:ext>
            </a:extLst>
          </p:cNvPr>
          <p:cNvSpPr txBox="1"/>
          <p:nvPr/>
        </p:nvSpPr>
        <p:spPr>
          <a:xfrm>
            <a:off x="611560" y="1757253"/>
            <a:ext cx="8229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En resumen: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Las pruebas muestran la presencia de defectos.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Las pruebas exhaustivas son imposibles (Nota: IA puede cambiar esto)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Las pruebas tempranas ahorran tiempo y dinero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Agrupamiento de defectos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La paradoja del pesticida, actualizar pruebas.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Las pruebas dependen del contexto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rgbClr val="FF0000"/>
                </a:solidFill>
                <a:latin typeface="Helvetica" pitchFamily="2" charset="0"/>
              </a:rPr>
              <a:t>La falacia de la ausencia de errores</a:t>
            </a: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800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Estrategias Dinámicas de Validación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2CB8AE-9567-C821-32C1-DEC13AA5FFDB}"/>
              </a:ext>
            </a:extLst>
          </p:cNvPr>
          <p:cNvSpPr txBox="1"/>
          <p:nvPr/>
        </p:nvSpPr>
        <p:spPr>
          <a:xfrm>
            <a:off x="457200" y="1143000"/>
            <a:ext cx="82296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Helvetica" pitchFamily="2" charset="0"/>
              </a:rPr>
              <a:t>Niveles de pruebas en función de la arquitectura</a:t>
            </a:r>
          </a:p>
          <a:p>
            <a:endParaRPr lang="es-CO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latin typeface="Helvetica" pitchFamily="2" charset="0"/>
              </a:rPr>
              <a:t>Nivel de componente o unidad: </a:t>
            </a:r>
            <a:r>
              <a:rPr lang="es-CO" dirty="0">
                <a:latin typeface="Helvetica" pitchFamily="2" charset="0"/>
              </a:rPr>
              <a:t>El componente de un sistema es la unidad más pequeña que se puede probar, puede ser un método, clase, función, sub programa, función web, módulo o cualquier otra pieza de código funcional.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latin typeface="Helvetica" pitchFamily="2" charset="0"/>
              </a:rPr>
              <a:t>Nivel de integración: </a:t>
            </a:r>
            <a:r>
              <a:rPr lang="es-CO" dirty="0">
                <a:latin typeface="Helvetica" pitchFamily="2" charset="0"/>
              </a:rPr>
              <a:t>Verifica las interrelaciones entre los componentes de un subsistema o del sistema completo, integración de componentes.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latin typeface="Helvetica" pitchFamily="2" charset="0"/>
              </a:rPr>
              <a:t>Nivel de sistema: </a:t>
            </a:r>
            <a:r>
              <a:rPr lang="es-CO" dirty="0">
                <a:latin typeface="Helvetica" pitchFamily="2" charset="0"/>
              </a:rPr>
              <a:t>Verifica el comportamiento como un todo, su funcionalidad, interfaz gráfica de usuario, operatividad, cumplimientos, requisitos, rendimiento, seguridad, confiabilidad, portabilidad,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latin typeface="Helvetica" pitchFamily="2" charset="0"/>
              </a:rPr>
              <a:t>Nivel de aceptación: </a:t>
            </a:r>
            <a:r>
              <a:rPr lang="es-CO" dirty="0">
                <a:latin typeface="Helvetica" pitchFamily="2" charset="0"/>
              </a:rPr>
              <a:t>Verifica si el sistema como un todo con la finalidad de determinar si este satisface las necesidades de los usuarios, los requisitos a lo largo del desarrollo de software.</a:t>
            </a: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730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0"/>
            <a:ext cx="8229600" cy="1143000"/>
          </a:xfrm>
        </p:spPr>
        <p:txBody>
          <a:bodyPr>
            <a:normAutofit/>
          </a:bodyPr>
          <a:lstStyle/>
          <a:p>
            <a:r>
              <a:rPr lang="es-CO" sz="2800" b="1" dirty="0"/>
              <a:t>Estrategias Dinámicas de Validación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D4F7B-CCF2-2470-0DCF-2A8120F86B5E}"/>
              </a:ext>
            </a:extLst>
          </p:cNvPr>
          <p:cNvSpPr txBox="1"/>
          <p:nvPr/>
        </p:nvSpPr>
        <p:spPr>
          <a:xfrm>
            <a:off x="755577" y="14127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2CB8AE-9567-C821-32C1-DEC13AA5FFDB}"/>
              </a:ext>
            </a:extLst>
          </p:cNvPr>
          <p:cNvSpPr txBox="1"/>
          <p:nvPr/>
        </p:nvSpPr>
        <p:spPr>
          <a:xfrm>
            <a:off x="457200" y="1143000"/>
            <a:ext cx="8229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Helvetica" pitchFamily="2" charset="0"/>
              </a:rPr>
              <a:t>Cada uno de los niveles define los siguientes aspectos de una prueba:</a:t>
            </a:r>
          </a:p>
          <a:p>
            <a:endParaRPr lang="es-CO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El alcance de la prueba, qué elementos y partes se deben probar.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Como llevar a cabo la prueba, estrategias y técnicas que se pueden aplicar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Qué artefactos o herramientas se requieren para ejecutar la prueba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latin typeface="Helvetica" pitchFamily="2" charset="0"/>
              </a:rPr>
              <a:t>Donde se diseña y ejecuta la prueba</a:t>
            </a: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  <a:p>
            <a:endParaRPr lang="es-CO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817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068" y="457205"/>
            <a:ext cx="7992531" cy="1143000"/>
          </a:xfrm>
        </p:spPr>
        <p:txBody>
          <a:bodyPr>
            <a:noAutofit/>
          </a:bodyPr>
          <a:lstStyle/>
          <a:p>
            <a:r>
              <a:rPr lang="es-CO" sz="4800" b="1" dirty="0"/>
              <a:t>Recordemos….</a:t>
            </a:r>
            <a:endParaRPr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94" y="2362206"/>
            <a:ext cx="8267611" cy="3141128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b="1" dirty="0"/>
              <a:t>La </a:t>
            </a:r>
            <a:r>
              <a:rPr b="1" dirty="0" err="1"/>
              <a:t>calidad</a:t>
            </a:r>
            <a:r>
              <a:rPr b="1" dirty="0"/>
              <a:t> del software es </a:t>
            </a:r>
            <a:r>
              <a:rPr b="1" dirty="0" err="1"/>
              <a:t>el</a:t>
            </a:r>
            <a:r>
              <a:rPr b="1" dirty="0"/>
              <a:t> </a:t>
            </a:r>
            <a:r>
              <a:rPr b="1" dirty="0" err="1"/>
              <a:t>grado</a:t>
            </a:r>
            <a:r>
              <a:rPr b="1" dirty="0"/>
              <a:t> en que un </a:t>
            </a:r>
            <a:r>
              <a:rPr b="1" dirty="0" err="1"/>
              <a:t>sistema</a:t>
            </a:r>
            <a:r>
              <a:rPr b="1" dirty="0"/>
              <a:t>, </a:t>
            </a:r>
            <a:r>
              <a:rPr b="1" dirty="0" err="1"/>
              <a:t>componente</a:t>
            </a:r>
            <a:r>
              <a:rPr b="1" dirty="0"/>
              <a:t> o </a:t>
            </a:r>
            <a:r>
              <a:rPr b="1" dirty="0" err="1"/>
              <a:t>proceso</a:t>
            </a:r>
            <a:r>
              <a:rPr b="1" dirty="0"/>
              <a:t> </a:t>
            </a:r>
            <a:r>
              <a:rPr b="1" dirty="0" err="1"/>
              <a:t>cumple</a:t>
            </a:r>
            <a:r>
              <a:rPr b="1" dirty="0"/>
              <a:t> con </a:t>
            </a:r>
            <a:r>
              <a:rPr b="1" dirty="0" err="1"/>
              <a:t>los</a:t>
            </a:r>
            <a:r>
              <a:rPr b="1" dirty="0"/>
              <a:t> </a:t>
            </a:r>
            <a:r>
              <a:rPr b="1" dirty="0" err="1"/>
              <a:t>requisitos</a:t>
            </a:r>
            <a:r>
              <a:rPr b="1" dirty="0"/>
              <a:t> </a:t>
            </a:r>
            <a:r>
              <a:rPr b="1" dirty="0" err="1"/>
              <a:t>funcionales</a:t>
            </a:r>
            <a:r>
              <a:rPr b="1" dirty="0"/>
              <a:t> y no </a:t>
            </a:r>
            <a:r>
              <a:rPr b="1" dirty="0" err="1"/>
              <a:t>funcionales</a:t>
            </a:r>
            <a:r>
              <a:rPr b="1" dirty="0"/>
              <a:t> </a:t>
            </a:r>
            <a:r>
              <a:rPr b="1" dirty="0" err="1"/>
              <a:t>establecidos</a:t>
            </a:r>
            <a:r>
              <a:rPr b="1" dirty="0"/>
              <a:t> y las </a:t>
            </a:r>
            <a:r>
              <a:rPr b="1" dirty="0" err="1"/>
              <a:t>expectativas</a:t>
            </a:r>
            <a:r>
              <a:rPr b="1" dirty="0"/>
              <a:t> del </a:t>
            </a:r>
            <a:r>
              <a:rPr b="1" dirty="0" err="1"/>
              <a:t>usuario</a:t>
            </a:r>
            <a:r>
              <a:rPr b="1" dirty="0"/>
              <a:t>.</a:t>
            </a:r>
          </a:p>
          <a:p>
            <a:pPr>
              <a:defRPr sz="1800"/>
            </a:pPr>
            <a:endParaRPr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r>
              <a:rPr dirty="0"/>
              <a:t>Fuente: ISO/IEC 25010:2011.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486310"/>
            <a:ext cx="8445411" cy="1143000"/>
          </a:xfrm>
        </p:spPr>
        <p:txBody>
          <a:bodyPr>
            <a:noAutofit/>
          </a:bodyPr>
          <a:lstStyle/>
          <a:p>
            <a:r>
              <a:rPr sz="4400" b="1" dirty="0" err="1"/>
              <a:t>Factores</a:t>
            </a:r>
            <a:r>
              <a:rPr sz="4400" b="1" dirty="0"/>
              <a:t> que </a:t>
            </a:r>
            <a:r>
              <a:rPr sz="4400" b="1" dirty="0" err="1"/>
              <a:t>afectan</a:t>
            </a:r>
            <a:r>
              <a:rPr sz="4400" b="1" dirty="0"/>
              <a:t> la </a:t>
            </a:r>
            <a:r>
              <a:rPr sz="4400" b="1" dirty="0" err="1"/>
              <a:t>calidad</a:t>
            </a:r>
            <a:r>
              <a:rPr sz="4400" b="1" dirty="0"/>
              <a:t> del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128" y="2015072"/>
            <a:ext cx="7979744" cy="4525963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 err="1"/>
              <a:t>Requisitos</a:t>
            </a:r>
            <a:r>
              <a:rPr dirty="0"/>
              <a:t> mal </a:t>
            </a:r>
            <a:r>
              <a:rPr dirty="0" err="1"/>
              <a:t>definidos</a:t>
            </a:r>
            <a:endParaRPr dirty="0"/>
          </a:p>
          <a:p>
            <a:pPr>
              <a:defRPr sz="1800"/>
            </a:pPr>
            <a:r>
              <a:rPr dirty="0" err="1"/>
              <a:t>Cambios</a:t>
            </a:r>
            <a:r>
              <a:rPr dirty="0"/>
              <a:t> no </a:t>
            </a:r>
            <a:r>
              <a:rPr dirty="0" err="1"/>
              <a:t>gestionados</a:t>
            </a:r>
            <a:endParaRPr dirty="0"/>
          </a:p>
          <a:p>
            <a:pPr>
              <a:defRPr sz="1800"/>
            </a:pPr>
            <a:r>
              <a:rPr dirty="0"/>
              <a:t>Falta de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sistemáticas</a:t>
            </a:r>
            <a:endParaRPr dirty="0"/>
          </a:p>
          <a:p>
            <a:pPr>
              <a:defRPr sz="1800"/>
            </a:pPr>
            <a:r>
              <a:rPr dirty="0"/>
              <a:t>Poca </a:t>
            </a:r>
            <a:r>
              <a:rPr dirty="0" err="1"/>
              <a:t>participación</a:t>
            </a:r>
            <a:r>
              <a:rPr dirty="0"/>
              <a:t> del </a:t>
            </a:r>
            <a:r>
              <a:rPr dirty="0" err="1"/>
              <a:t>cliente</a:t>
            </a:r>
            <a:endParaRPr dirty="0"/>
          </a:p>
          <a:p>
            <a:pPr>
              <a:defRPr sz="1800"/>
            </a:pPr>
            <a:r>
              <a:rPr dirty="0" err="1"/>
              <a:t>Deficiente</a:t>
            </a:r>
            <a:r>
              <a:rPr dirty="0"/>
              <a:t>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configuración</a:t>
            </a:r>
            <a:endParaRPr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r>
              <a:rPr dirty="0"/>
              <a:t>Fuente: Sommerville, 2016.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2925" y="427038"/>
            <a:ext cx="7134864" cy="1143000"/>
          </a:xfrm>
        </p:spPr>
        <p:txBody>
          <a:bodyPr>
            <a:noAutofit/>
          </a:bodyPr>
          <a:lstStyle/>
          <a:p>
            <a:r>
              <a:rPr sz="4400" b="1" dirty="0" err="1"/>
              <a:t>Principales</a:t>
            </a:r>
            <a:r>
              <a:rPr sz="4400" b="1" dirty="0"/>
              <a:t> </a:t>
            </a:r>
            <a:r>
              <a:rPr sz="4400" b="1" dirty="0" err="1"/>
              <a:t>estándares</a:t>
            </a:r>
            <a:r>
              <a:rPr sz="4400" b="1" dirty="0"/>
              <a:t> de </a:t>
            </a:r>
            <a:r>
              <a:rPr sz="4400" b="1" dirty="0" err="1"/>
              <a:t>calidad</a:t>
            </a:r>
            <a:r>
              <a:rPr sz="4400" b="1" dirty="0"/>
              <a:t> de software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2991" y="2331435"/>
          <a:ext cx="8574732" cy="219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8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8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8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55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1600"/>
                        <a:t>Estándar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1600"/>
                        <a:t>Enfoque principal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1600" dirty="0" err="1"/>
                        <a:t>Organismo</a:t>
                      </a:r>
                      <a:endParaRPr sz="16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5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ISO/IEC 25010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Modelo de calidad del producto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ISO</a:t>
                      </a: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5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ISO/IEC 12207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 dirty="0" err="1"/>
                        <a:t>Procesos</a:t>
                      </a:r>
                      <a:r>
                        <a:rPr sz="1100" dirty="0"/>
                        <a:t> del </a:t>
                      </a:r>
                      <a:r>
                        <a:rPr sz="1100" dirty="0" err="1"/>
                        <a:t>ciclo</a:t>
                      </a:r>
                      <a:r>
                        <a:rPr sz="1100" dirty="0"/>
                        <a:t> de </a:t>
                      </a:r>
                      <a:r>
                        <a:rPr sz="1100" dirty="0" err="1"/>
                        <a:t>vida</a:t>
                      </a:r>
                      <a:r>
                        <a:rPr sz="1100" dirty="0"/>
                        <a:t> del software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ISO/IEC</a:t>
                      </a: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5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IEEE 1012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Planificación y ejecución de V&amp;V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IEEE</a:t>
                      </a: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5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CMMI-DEV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Madurez de procesos de desarrollo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CMMI Institute</a:t>
                      </a: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5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ISO/IEC 33001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Evaluación del proceso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 dirty="0"/>
                        <a:t>ISO/IEC</a:t>
                      </a: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167" y="473081"/>
            <a:ext cx="7831666" cy="1143000"/>
          </a:xfrm>
        </p:spPr>
        <p:txBody>
          <a:bodyPr>
            <a:noAutofit/>
          </a:bodyPr>
          <a:lstStyle/>
          <a:p>
            <a:r>
              <a:rPr sz="4800" b="1" dirty="0" err="1"/>
              <a:t>Métricas</a:t>
            </a:r>
            <a:r>
              <a:rPr sz="4800" b="1" dirty="0"/>
              <a:t> de </a:t>
            </a:r>
            <a:r>
              <a:rPr sz="4800" b="1" dirty="0" err="1"/>
              <a:t>calidad</a:t>
            </a:r>
            <a:r>
              <a:rPr sz="4800" b="1" dirty="0"/>
              <a:t>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88" y="1600205"/>
            <a:ext cx="8191411" cy="4525963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 err="1"/>
              <a:t>Producto</a:t>
            </a:r>
            <a:r>
              <a:rPr dirty="0"/>
              <a:t>: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defectos</a:t>
            </a:r>
            <a:r>
              <a:rPr dirty="0"/>
              <a:t>, </a:t>
            </a:r>
            <a:r>
              <a:rPr dirty="0" err="1"/>
              <a:t>cobertura</a:t>
            </a:r>
            <a:r>
              <a:rPr dirty="0"/>
              <a:t> de </a:t>
            </a:r>
            <a:r>
              <a:rPr dirty="0" err="1"/>
              <a:t>pruebas</a:t>
            </a:r>
            <a:r>
              <a:rPr dirty="0"/>
              <a:t>, </a:t>
            </a:r>
            <a:r>
              <a:rPr dirty="0" err="1"/>
              <a:t>complejidad</a:t>
            </a:r>
            <a:r>
              <a:rPr dirty="0"/>
              <a:t> </a:t>
            </a:r>
            <a:r>
              <a:rPr dirty="0" err="1"/>
              <a:t>ciclomática</a:t>
            </a:r>
            <a:endParaRPr dirty="0"/>
          </a:p>
          <a:p>
            <a:pPr>
              <a:defRPr sz="1800"/>
            </a:pPr>
            <a:r>
              <a:rPr dirty="0" err="1"/>
              <a:t>Proceso</a:t>
            </a:r>
            <a:r>
              <a:rPr dirty="0"/>
              <a:t>: </a:t>
            </a:r>
            <a:r>
              <a:rPr dirty="0" err="1"/>
              <a:t>tasa</a:t>
            </a:r>
            <a:r>
              <a:rPr dirty="0"/>
              <a:t> de </a:t>
            </a:r>
            <a:r>
              <a:rPr dirty="0" err="1"/>
              <a:t>defectos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fase</a:t>
            </a:r>
            <a:r>
              <a:rPr dirty="0"/>
              <a:t>, </a:t>
            </a:r>
            <a:r>
              <a:rPr dirty="0" err="1"/>
              <a:t>productividad</a:t>
            </a:r>
            <a:endParaRPr dirty="0"/>
          </a:p>
          <a:p>
            <a:pPr>
              <a:defRPr sz="1800"/>
            </a:pPr>
            <a:r>
              <a:rPr dirty="0" err="1"/>
              <a:t>Cliente</a:t>
            </a:r>
            <a:r>
              <a:rPr dirty="0"/>
              <a:t>/</a:t>
            </a:r>
            <a:r>
              <a:rPr dirty="0" err="1"/>
              <a:t>usuario</a:t>
            </a:r>
            <a:r>
              <a:rPr dirty="0"/>
              <a:t>: </a:t>
            </a:r>
            <a:r>
              <a:rPr dirty="0" err="1"/>
              <a:t>satisfacción</a:t>
            </a:r>
            <a:r>
              <a:rPr dirty="0"/>
              <a:t>, </a:t>
            </a:r>
            <a:r>
              <a:rPr dirty="0" err="1"/>
              <a:t>tasa</a:t>
            </a:r>
            <a:r>
              <a:rPr dirty="0"/>
              <a:t> de </a:t>
            </a:r>
            <a:r>
              <a:rPr dirty="0" err="1"/>
              <a:t>adopción</a:t>
            </a:r>
            <a:endParaRPr dirty="0"/>
          </a:p>
          <a:p>
            <a:pPr>
              <a:defRPr sz="1800"/>
            </a:pPr>
            <a:endParaRPr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r>
              <a:rPr dirty="0"/>
              <a:t>Fuente: Fenton &amp; Bieman, 2014.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532" y="457205"/>
            <a:ext cx="7095067" cy="1143000"/>
          </a:xfrm>
        </p:spPr>
        <p:txBody>
          <a:bodyPr>
            <a:noAutofit/>
          </a:bodyPr>
          <a:lstStyle/>
          <a:p>
            <a:r>
              <a:rPr sz="4400" b="1" dirty="0" err="1"/>
              <a:t>Modelos</a:t>
            </a:r>
            <a:r>
              <a:rPr sz="4400" b="1" dirty="0"/>
              <a:t> de </a:t>
            </a:r>
            <a:r>
              <a:rPr sz="4400" b="1" dirty="0" err="1"/>
              <a:t>calidad</a:t>
            </a:r>
            <a:r>
              <a:rPr sz="4400" b="1" dirty="0"/>
              <a:t>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88" y="2353740"/>
            <a:ext cx="8343811" cy="3369728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 err="1"/>
              <a:t>Modelo</a:t>
            </a:r>
            <a:r>
              <a:rPr dirty="0"/>
              <a:t> McCall (1977): </a:t>
            </a:r>
            <a:r>
              <a:rPr dirty="0" err="1"/>
              <a:t>corrección</a:t>
            </a:r>
            <a:r>
              <a:rPr dirty="0"/>
              <a:t>, </a:t>
            </a:r>
            <a:r>
              <a:rPr dirty="0" err="1"/>
              <a:t>fiabilidad</a:t>
            </a:r>
            <a:r>
              <a:rPr dirty="0"/>
              <a:t>, </a:t>
            </a:r>
            <a:r>
              <a:rPr dirty="0" err="1"/>
              <a:t>eficiencia</a:t>
            </a:r>
            <a:endParaRPr dirty="0"/>
          </a:p>
          <a:p>
            <a:pPr>
              <a:defRPr sz="1800"/>
            </a:pPr>
            <a:r>
              <a:rPr dirty="0" err="1"/>
              <a:t>Modelo</a:t>
            </a:r>
            <a:r>
              <a:rPr dirty="0"/>
              <a:t> Boehm (1978): </a:t>
            </a:r>
            <a:r>
              <a:rPr dirty="0" err="1"/>
              <a:t>enfoque</a:t>
            </a:r>
            <a:r>
              <a:rPr dirty="0"/>
              <a:t> en </a:t>
            </a:r>
            <a:r>
              <a:rPr dirty="0" err="1"/>
              <a:t>atributos</a:t>
            </a:r>
            <a:r>
              <a:rPr dirty="0"/>
              <a:t> </a:t>
            </a:r>
            <a:r>
              <a:rPr dirty="0" err="1"/>
              <a:t>técnicos</a:t>
            </a:r>
            <a:r>
              <a:rPr dirty="0"/>
              <a:t> y del </a:t>
            </a:r>
            <a:r>
              <a:rPr dirty="0" err="1"/>
              <a:t>usuario</a:t>
            </a:r>
            <a:endParaRPr dirty="0"/>
          </a:p>
          <a:p>
            <a:pPr>
              <a:defRPr sz="1800"/>
            </a:pPr>
            <a:r>
              <a:rPr dirty="0"/>
              <a:t>ISO/IEC 25010: </a:t>
            </a:r>
            <a:r>
              <a:rPr dirty="0" err="1"/>
              <a:t>funcionalidades</a:t>
            </a:r>
            <a:r>
              <a:rPr dirty="0"/>
              <a:t>, </a:t>
            </a:r>
            <a:r>
              <a:rPr dirty="0" err="1"/>
              <a:t>seguridad</a:t>
            </a:r>
            <a:r>
              <a:rPr dirty="0"/>
              <a:t>, </a:t>
            </a:r>
            <a:r>
              <a:rPr dirty="0" err="1"/>
              <a:t>mantenibilidad</a:t>
            </a:r>
            <a:r>
              <a:rPr dirty="0"/>
              <a:t>, </a:t>
            </a:r>
            <a:r>
              <a:rPr dirty="0" err="1"/>
              <a:t>usabilidad</a:t>
            </a:r>
            <a:endParaRPr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r>
              <a:rPr dirty="0"/>
              <a:t>Fuente: ISO/IEC 25010:2011.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89" y="274638"/>
            <a:ext cx="8411544" cy="1143000"/>
          </a:xfrm>
        </p:spPr>
        <p:txBody>
          <a:bodyPr>
            <a:noAutofit/>
          </a:bodyPr>
          <a:lstStyle/>
          <a:p>
            <a:r>
              <a:rPr sz="4400" b="1" dirty="0" err="1"/>
              <a:t>Técnicas</a:t>
            </a:r>
            <a:r>
              <a:rPr sz="4400" b="1" dirty="0"/>
              <a:t> de </a:t>
            </a:r>
            <a:r>
              <a:rPr sz="4400" b="1" dirty="0" err="1"/>
              <a:t>aseguramiento</a:t>
            </a:r>
            <a:r>
              <a:rPr sz="4400" b="1" dirty="0"/>
              <a:t> de </a:t>
            </a:r>
            <a:r>
              <a:rPr sz="4400" b="1" dirty="0" err="1"/>
              <a:t>calidad</a:t>
            </a:r>
            <a:r>
              <a:rPr sz="4400" b="1" dirty="0"/>
              <a:t> (SQA)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89" y="2264837"/>
            <a:ext cx="8411544" cy="361526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 err="1"/>
              <a:t>Revisiones</a:t>
            </a:r>
            <a:r>
              <a:rPr dirty="0"/>
              <a:t> e </a:t>
            </a:r>
            <a:r>
              <a:rPr dirty="0" err="1"/>
              <a:t>inspecciones</a:t>
            </a:r>
            <a:endParaRPr dirty="0"/>
          </a:p>
          <a:p>
            <a:pPr>
              <a:defRPr sz="1800"/>
            </a:pP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estático</a:t>
            </a:r>
            <a:r>
              <a:rPr dirty="0"/>
              <a:t> y </a:t>
            </a:r>
            <a:r>
              <a:rPr dirty="0" err="1"/>
              <a:t>dinámico</a:t>
            </a:r>
            <a:endParaRPr dirty="0"/>
          </a:p>
          <a:p>
            <a:pPr>
              <a:defRPr sz="1800"/>
            </a:pP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automatizadas</a:t>
            </a:r>
            <a:endParaRPr dirty="0"/>
          </a:p>
          <a:p>
            <a:pPr>
              <a:defRPr sz="1800"/>
            </a:pPr>
            <a:r>
              <a:rPr dirty="0"/>
              <a:t>Control de </a:t>
            </a:r>
            <a:r>
              <a:rPr dirty="0" err="1"/>
              <a:t>cambios</a:t>
            </a:r>
            <a:endParaRPr dirty="0"/>
          </a:p>
          <a:p>
            <a:pPr>
              <a:defRPr sz="1800"/>
            </a:pP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riesgos</a:t>
            </a:r>
            <a:endParaRPr dirty="0"/>
          </a:p>
          <a:p>
            <a:pPr>
              <a:defRPr sz="1800"/>
            </a:pPr>
            <a:r>
              <a:rPr dirty="0" err="1"/>
              <a:t>Evaluación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pares</a:t>
            </a:r>
          </a:p>
          <a:p>
            <a:pPr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Fuente: Galin, 2018.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94" y="303743"/>
            <a:ext cx="7708811" cy="1143000"/>
          </a:xfrm>
        </p:spPr>
        <p:txBody>
          <a:bodyPr>
            <a:noAutofit/>
          </a:bodyPr>
          <a:lstStyle/>
          <a:p>
            <a:r>
              <a:rPr sz="4400" b="1" dirty="0" err="1"/>
              <a:t>Verificación</a:t>
            </a:r>
            <a:r>
              <a:rPr sz="4400" b="1" dirty="0"/>
              <a:t> y </a:t>
            </a:r>
            <a:r>
              <a:rPr sz="4400" b="1" dirty="0" err="1"/>
              <a:t>Validación</a:t>
            </a:r>
            <a:r>
              <a:rPr sz="4400" b="1" dirty="0"/>
              <a:t> (V&amp;V)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lang="es-CO" dirty="0"/>
              <a:t>V</a:t>
            </a:r>
            <a:r>
              <a:rPr dirty="0" err="1"/>
              <a:t>erificación</a:t>
            </a:r>
            <a:r>
              <a:rPr dirty="0"/>
              <a:t>: ¿Estamos </a:t>
            </a:r>
            <a:r>
              <a:rPr dirty="0" err="1"/>
              <a:t>construyendo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producto</a:t>
            </a:r>
            <a:r>
              <a:rPr dirty="0"/>
              <a:t> </a:t>
            </a:r>
            <a:r>
              <a:rPr dirty="0" err="1"/>
              <a:t>correctamente</a:t>
            </a:r>
            <a:r>
              <a:rPr dirty="0"/>
              <a:t>?</a:t>
            </a:r>
          </a:p>
          <a:p>
            <a:pPr>
              <a:defRPr sz="1800"/>
            </a:pPr>
            <a:r>
              <a:rPr dirty="0" err="1"/>
              <a:t>Validación</a:t>
            </a:r>
            <a:r>
              <a:rPr dirty="0"/>
              <a:t>: ¿Estamos </a:t>
            </a:r>
            <a:r>
              <a:rPr dirty="0" err="1"/>
              <a:t>construyendo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producto</a:t>
            </a:r>
            <a:r>
              <a:rPr dirty="0"/>
              <a:t> </a:t>
            </a:r>
            <a:r>
              <a:rPr dirty="0" err="1"/>
              <a:t>correcto</a:t>
            </a:r>
            <a:r>
              <a:rPr dirty="0"/>
              <a:t>?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 err="1"/>
              <a:t>Técnicas</a:t>
            </a:r>
            <a:r>
              <a:rPr dirty="0"/>
              <a:t>:</a:t>
            </a:r>
          </a:p>
          <a:p>
            <a:pPr lvl="1">
              <a:defRPr sz="1800"/>
            </a:pPr>
            <a:r>
              <a:rPr dirty="0" err="1"/>
              <a:t>Revisión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pares</a:t>
            </a:r>
          </a:p>
          <a:p>
            <a:pPr lvl="1">
              <a:defRPr sz="1800"/>
            </a:pP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unitarias</a:t>
            </a:r>
            <a:r>
              <a:rPr dirty="0"/>
              <a:t>, </a:t>
            </a:r>
            <a:r>
              <a:rPr dirty="0" err="1"/>
              <a:t>integración</a:t>
            </a:r>
            <a:r>
              <a:rPr dirty="0"/>
              <a:t>, </a:t>
            </a:r>
            <a:r>
              <a:rPr dirty="0" err="1"/>
              <a:t>sistema</a:t>
            </a:r>
            <a:r>
              <a:rPr dirty="0"/>
              <a:t>, </a:t>
            </a:r>
            <a:r>
              <a:rPr dirty="0" err="1"/>
              <a:t>aceptación</a:t>
            </a:r>
            <a:endParaRPr dirty="0"/>
          </a:p>
          <a:p>
            <a:pPr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Fuente: IEEE Std 1012-2016.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89" y="274638"/>
            <a:ext cx="7725744" cy="1143000"/>
          </a:xfrm>
        </p:spPr>
        <p:txBody>
          <a:bodyPr>
            <a:normAutofit/>
          </a:bodyPr>
          <a:lstStyle/>
          <a:p>
            <a:r>
              <a:rPr sz="4400" b="1" dirty="0"/>
              <a:t>V&amp;V en </a:t>
            </a:r>
            <a:r>
              <a:rPr sz="4400" b="1" dirty="0" err="1"/>
              <a:t>contextos</a:t>
            </a:r>
            <a:r>
              <a:rPr sz="4400" b="1" dirty="0"/>
              <a:t> </a:t>
            </a:r>
            <a:r>
              <a:rPr sz="4400" b="1" dirty="0" err="1"/>
              <a:t>ágiles</a:t>
            </a:r>
            <a:endParaRPr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V&amp;V continua</a:t>
            </a:r>
          </a:p>
          <a:p>
            <a:pPr>
              <a:defRPr sz="1800"/>
            </a:pPr>
            <a:r>
              <a:rPr dirty="0"/>
              <a:t>TDD, BDD</a:t>
            </a:r>
          </a:p>
          <a:p>
            <a:pPr>
              <a:defRPr sz="1800"/>
            </a:pP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automatizadas</a:t>
            </a:r>
            <a:endParaRPr dirty="0"/>
          </a:p>
          <a:p>
            <a:pPr>
              <a:defRPr sz="1800"/>
            </a:pPr>
            <a:r>
              <a:rPr dirty="0" err="1"/>
              <a:t>Integración</a:t>
            </a:r>
            <a:r>
              <a:rPr dirty="0"/>
              <a:t> continua</a:t>
            </a:r>
          </a:p>
          <a:p>
            <a:pPr>
              <a:defRPr sz="1800"/>
            </a:pPr>
            <a:r>
              <a:rPr dirty="0" err="1"/>
              <a:t>Revisión</a:t>
            </a:r>
            <a:r>
              <a:rPr dirty="0"/>
              <a:t> de backlog y </a:t>
            </a:r>
            <a:r>
              <a:rPr dirty="0" err="1"/>
              <a:t>criterios</a:t>
            </a:r>
            <a:r>
              <a:rPr dirty="0"/>
              <a:t> de </a:t>
            </a:r>
            <a:r>
              <a:rPr dirty="0" err="1"/>
              <a:t>aceptación</a:t>
            </a:r>
            <a:endParaRPr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r>
              <a:rPr dirty="0"/>
              <a:t>Fuente: Crispin &amp; Gregory, 2009.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851" y="286809"/>
            <a:ext cx="7785011" cy="1143000"/>
          </a:xfrm>
        </p:spPr>
        <p:txBody>
          <a:bodyPr>
            <a:noAutofit/>
          </a:bodyPr>
          <a:lstStyle/>
          <a:p>
            <a:r>
              <a:rPr sz="4400" b="1" dirty="0"/>
              <a:t>Calidad del </a:t>
            </a:r>
            <a:r>
              <a:rPr sz="4400" b="1" dirty="0" err="1"/>
              <a:t>proceso</a:t>
            </a:r>
            <a:r>
              <a:rPr sz="4400" b="1" dirty="0"/>
              <a:t> vs </a:t>
            </a:r>
            <a:r>
              <a:rPr sz="4400" b="1" dirty="0" err="1"/>
              <a:t>calidad</a:t>
            </a:r>
            <a:r>
              <a:rPr sz="4400" b="1" dirty="0"/>
              <a:t> del </a:t>
            </a:r>
            <a:r>
              <a:rPr sz="4400" b="1" dirty="0" err="1"/>
              <a:t>producto</a:t>
            </a:r>
            <a:endParaRPr sz="44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2991" y="1885549"/>
          <a:ext cx="8574732" cy="1646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8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8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8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587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1200" b="1"/>
                        <a:t>Aspecto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1200" b="1"/>
                        <a:t>Calidad del Proceso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1200" b="1" dirty="0"/>
                        <a:t>Calidad del </a:t>
                      </a:r>
                      <a:r>
                        <a:rPr sz="1200" b="1" dirty="0" err="1"/>
                        <a:t>Producto</a:t>
                      </a:r>
                      <a:endParaRPr sz="1200" b="1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8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Enfoque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Cómo se desarrolla el software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Qué se entrega</a:t>
                      </a: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58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Medición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Conformidad con estándares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Defectos, rendimiento</a:t>
                      </a: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58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Ejemplo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CMMI, ISO/IEC 12207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 dirty="0"/>
                        <a:t>ISO/IEC 25010, </a:t>
                      </a:r>
                      <a:r>
                        <a:rPr sz="1100" dirty="0" err="1"/>
                        <a:t>pruebas</a:t>
                      </a:r>
                      <a:endParaRPr sz="11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89" y="274638"/>
            <a:ext cx="8352278" cy="1143000"/>
          </a:xfrm>
        </p:spPr>
        <p:txBody>
          <a:bodyPr>
            <a:noAutofit/>
          </a:bodyPr>
          <a:lstStyle/>
          <a:p>
            <a:r>
              <a:rPr sz="4400" b="1" dirty="0" err="1"/>
              <a:t>Automatización</a:t>
            </a:r>
            <a:r>
              <a:rPr sz="4400" b="1" dirty="0"/>
              <a:t> de </a:t>
            </a:r>
            <a:r>
              <a:rPr sz="4400" b="1" dirty="0" err="1"/>
              <a:t>pruebas</a:t>
            </a:r>
            <a:r>
              <a:rPr sz="4400" b="1" dirty="0"/>
              <a:t> y </a:t>
            </a:r>
            <a:r>
              <a:rPr sz="4400" b="1" dirty="0" err="1"/>
              <a:t>su</a:t>
            </a:r>
            <a:r>
              <a:rPr sz="4400" b="1" dirty="0"/>
              <a:t> </a:t>
            </a:r>
            <a:r>
              <a:rPr sz="4400" b="1" dirty="0" err="1"/>
              <a:t>impacto</a:t>
            </a:r>
            <a:r>
              <a:rPr sz="4400" b="1" dirty="0"/>
              <a:t> en la </a:t>
            </a:r>
            <a:r>
              <a:rPr sz="4400" b="1" dirty="0" err="1"/>
              <a:t>calidad</a:t>
            </a:r>
            <a:endParaRPr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 err="1"/>
              <a:t>Reducción</a:t>
            </a:r>
            <a:r>
              <a:rPr dirty="0"/>
              <a:t> de </a:t>
            </a: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humanos</a:t>
            </a:r>
            <a:endParaRPr dirty="0"/>
          </a:p>
          <a:p>
            <a:pPr>
              <a:defRPr sz="1800"/>
            </a:pPr>
            <a:r>
              <a:rPr dirty="0"/>
              <a:t>Mayor </a:t>
            </a:r>
            <a:r>
              <a:rPr dirty="0" err="1"/>
              <a:t>cobertura</a:t>
            </a:r>
            <a:endParaRPr dirty="0"/>
          </a:p>
          <a:p>
            <a:pPr>
              <a:defRPr sz="1800"/>
            </a:pPr>
            <a:r>
              <a:rPr dirty="0"/>
              <a:t>Feedback continuo</a:t>
            </a:r>
          </a:p>
          <a:p>
            <a:pPr>
              <a:defRPr sz="1800"/>
            </a:pPr>
            <a:r>
              <a:rPr dirty="0"/>
              <a:t>Mayor </a:t>
            </a:r>
            <a:r>
              <a:rPr dirty="0" err="1"/>
              <a:t>velocidad</a:t>
            </a:r>
            <a:r>
              <a:rPr dirty="0"/>
              <a:t> de </a:t>
            </a:r>
            <a:r>
              <a:rPr dirty="0" err="1"/>
              <a:t>liberación</a:t>
            </a:r>
            <a:endParaRPr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 err="1"/>
              <a:t>Herramientas</a:t>
            </a:r>
            <a:r>
              <a:rPr dirty="0"/>
              <a:t>: JUnit, Selenium, </a:t>
            </a:r>
            <a:r>
              <a:rPr dirty="0" err="1"/>
              <a:t>Pytest</a:t>
            </a:r>
            <a:r>
              <a:rPr dirty="0"/>
              <a:t>, Cypress</a:t>
            </a:r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r>
              <a:rPr dirty="0"/>
              <a:t>Fuente: Myers, Sandler &amp; Badgett, 2011.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25" y="655711"/>
            <a:ext cx="7763608" cy="857473"/>
          </a:xfrm>
        </p:spPr>
        <p:txBody>
          <a:bodyPr>
            <a:noAutofit/>
          </a:bodyPr>
          <a:lstStyle/>
          <a:p>
            <a:r>
              <a:rPr sz="4400" b="1" dirty="0"/>
              <a:t>Calidad en DevOps y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4925" y="2101505"/>
            <a:ext cx="6925408" cy="3395356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Control de </a:t>
            </a:r>
            <a:r>
              <a:rPr dirty="0" err="1"/>
              <a:t>calidad</a:t>
            </a:r>
            <a:r>
              <a:rPr dirty="0"/>
              <a:t> en </a:t>
            </a:r>
            <a:r>
              <a:rPr dirty="0" err="1"/>
              <a:t>cada</a:t>
            </a:r>
            <a:r>
              <a:rPr dirty="0"/>
              <a:t> commit</a:t>
            </a:r>
          </a:p>
          <a:p>
            <a:pPr>
              <a:defRPr sz="1800"/>
            </a:pP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automatizadas</a:t>
            </a:r>
            <a:r>
              <a:rPr dirty="0"/>
              <a:t> + </a:t>
            </a:r>
            <a:r>
              <a:rPr dirty="0" err="1"/>
              <a:t>integración</a:t>
            </a:r>
            <a:r>
              <a:rPr dirty="0"/>
              <a:t> continua</a:t>
            </a:r>
          </a:p>
          <a:p>
            <a:pPr>
              <a:defRPr sz="1800"/>
            </a:pPr>
            <a:r>
              <a:rPr dirty="0" err="1"/>
              <a:t>Despliegue</a:t>
            </a:r>
            <a:r>
              <a:rPr dirty="0"/>
              <a:t> continuo</a:t>
            </a:r>
          </a:p>
          <a:p>
            <a:pPr>
              <a:defRPr sz="1800"/>
            </a:pPr>
            <a:r>
              <a:rPr dirty="0" err="1"/>
              <a:t>Monitoreo</a:t>
            </a:r>
            <a:r>
              <a:rPr dirty="0"/>
              <a:t> de </a:t>
            </a:r>
            <a:r>
              <a:rPr dirty="0" err="1"/>
              <a:t>calidad</a:t>
            </a:r>
            <a:r>
              <a:rPr dirty="0"/>
              <a:t> en </a:t>
            </a:r>
            <a:r>
              <a:rPr dirty="0" err="1"/>
              <a:t>producción</a:t>
            </a:r>
            <a:endParaRPr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endParaRPr lang="es-CO" dirty="0"/>
          </a:p>
          <a:p>
            <a:pPr marL="0" indent="0">
              <a:buNone/>
              <a:defRPr sz="1800"/>
            </a:pPr>
            <a:r>
              <a:rPr dirty="0"/>
              <a:t>Fuente: Humble &amp; Farley, 2010.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364" y="897470"/>
            <a:ext cx="6173808" cy="857473"/>
          </a:xfrm>
        </p:spPr>
        <p:txBody>
          <a:bodyPr>
            <a:normAutofit fontScale="90000"/>
          </a:bodyPr>
          <a:lstStyle/>
          <a:p>
            <a:r>
              <a:rPr sz="4400" b="1" dirty="0"/>
              <a:t>Calidad interna vs externa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2991" y="2234889"/>
          <a:ext cx="8574732" cy="1371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8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8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8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319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1200" dirty="0"/>
                        <a:t>Tipo de Calidad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1200" dirty="0" err="1"/>
                        <a:t>Descripción</a:t>
                      </a:r>
                      <a:endParaRPr sz="1200" dirty="0"/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1200"/>
                        <a:t>Ejemplo</a:t>
                      </a: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1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Interna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Atributos técnicos del código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Legibilidad, bajo acoplamiento</a:t>
                      </a: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1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Externa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/>
                        <a:t>Percepción del usuario</a:t>
                      </a: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100" dirty="0" err="1"/>
                        <a:t>Rendimiento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usabilidad</a:t>
                      </a:r>
                      <a:endParaRPr sz="1100" dirty="0"/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Imagen 3">
            <a:extLst>
              <a:ext uri="{FF2B5EF4-FFF2-40B4-BE49-F238E27FC236}">
                <a16:creationId xmlns:a16="http://schemas.microsoft.com/office/drawing/2014/main" id="{C0ECBFF5-E346-A54A-8920-BD98DC7187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91779"/>
            <a:ext cx="9144000" cy="5093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39" name="CuadroTexto 1">
            <a:extLst>
              <a:ext uri="{FF2B5EF4-FFF2-40B4-BE49-F238E27FC236}">
                <a16:creationId xmlns:a16="http://schemas.microsoft.com/office/drawing/2014/main" id="{C3AD37CF-45E7-CE4B-AA86-A16D4DB4F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7241" y="2865835"/>
            <a:ext cx="335540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MX" altLang="es-CO" sz="5400">
                <a:solidFill>
                  <a:srgbClr val="C00000"/>
                </a:solidFill>
                <a:latin typeface="Berlin Sans FB Demi" panose="020E0602020502020306" pitchFamily="34" charset="77"/>
              </a:rPr>
              <a:t>Preguntas</a:t>
            </a:r>
            <a:endParaRPr lang="es-CO" altLang="es-CO" sz="1350">
              <a:solidFill>
                <a:srgbClr val="C00000"/>
              </a:solidFill>
              <a:latin typeface="Berlin Sans FB Demi" panose="020E0602020502020306" pitchFamily="34" charset="77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Imagen 1">
            <a:extLst>
              <a:ext uri="{FF2B5EF4-FFF2-40B4-BE49-F238E27FC236}">
                <a16:creationId xmlns:a16="http://schemas.microsoft.com/office/drawing/2014/main" id="{BD7134BB-9EBA-8F4C-93D1-E0627BD66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6775"/>
            <a:ext cx="9144000" cy="5111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5718</TotalTime>
  <Words>2084</Words>
  <Application>Microsoft Office PowerPoint</Application>
  <PresentationFormat>Presentación en pantalla (4:3)</PresentationFormat>
  <Paragraphs>325</Paragraphs>
  <Slides>34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9" baseType="lpstr">
      <vt:lpstr>Arial</vt:lpstr>
      <vt:lpstr>Berlin Sans FB Demi</vt:lpstr>
      <vt:lpstr>Calibri</vt:lpstr>
      <vt:lpstr>Helvetica</vt:lpstr>
      <vt:lpstr>Tema de Office</vt:lpstr>
      <vt:lpstr>Presentación de PowerPoint</vt:lpstr>
      <vt:lpstr>Presentación de PowerPoint</vt:lpstr>
      <vt:lpstr>Perspectivas de la Calidad de Software</vt:lpstr>
      <vt:lpstr>Determinar la Calidad de Software</vt:lpstr>
      <vt:lpstr>Validación y Verificación (VyV)</vt:lpstr>
      <vt:lpstr>Validación y Verificación</vt:lpstr>
      <vt:lpstr>Validación y Verificación Flujo</vt:lpstr>
      <vt:lpstr>Flujo de  Trabajo Validación y Verificación</vt:lpstr>
      <vt:lpstr>Validación y Verificación Proceso</vt:lpstr>
      <vt:lpstr>Proceso Validación y Verificación</vt:lpstr>
      <vt:lpstr>Estrategias de Validación y Verificación</vt:lpstr>
      <vt:lpstr>Estrategias Estáticas de Validación y Verificación</vt:lpstr>
      <vt:lpstr>Estrategias Estáticas de Validación y Verificación</vt:lpstr>
      <vt:lpstr>Estrategias Dinámicas de Validación y Verificación</vt:lpstr>
      <vt:lpstr>Estrategias Dinámicas de Validación y Verificación</vt:lpstr>
      <vt:lpstr>Estrategias Dinámicas de Validación y Verificación</vt:lpstr>
      <vt:lpstr>Estrategias Dinámicas de Validación y Verificación</vt:lpstr>
      <vt:lpstr>Estrategias Dinámicas de Validación y Verificación</vt:lpstr>
      <vt:lpstr>Estrategias Dinámicas de Validación y Verificación</vt:lpstr>
      <vt:lpstr>Estrategias Dinámicas de Validación y Verificación</vt:lpstr>
      <vt:lpstr>Recordemos….</vt:lpstr>
      <vt:lpstr>Factores que afectan la calidad del software</vt:lpstr>
      <vt:lpstr>Principales estándares de calidad de software</vt:lpstr>
      <vt:lpstr>Métricas de calidad de software</vt:lpstr>
      <vt:lpstr>Modelos de calidad de software</vt:lpstr>
      <vt:lpstr>Técnicas de aseguramiento de calidad (SQA)</vt:lpstr>
      <vt:lpstr>Verificación y Validación (V&amp;V)</vt:lpstr>
      <vt:lpstr>V&amp;V en contextos ágiles</vt:lpstr>
      <vt:lpstr>Calidad del proceso vs calidad del producto</vt:lpstr>
      <vt:lpstr>Automatización de pruebas y su impacto en la calidad</vt:lpstr>
      <vt:lpstr>Calidad en DevOps y CI/CD</vt:lpstr>
      <vt:lpstr>Calidad interna vs externa</vt:lpstr>
      <vt:lpstr>Presentación de PowerPoint</vt:lpstr>
      <vt:lpstr>Presentación de PowerPoint</vt:lpstr>
    </vt:vector>
  </TitlesOfParts>
  <Company>UdeM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Liliana Gonzalez Palacio</dc:creator>
  <cp:lastModifiedBy>Gabriel Mauricio Ramírez Villegas</cp:lastModifiedBy>
  <cp:revision>57</cp:revision>
  <dcterms:created xsi:type="dcterms:W3CDTF">2012-08-10T19:33:56Z</dcterms:created>
  <dcterms:modified xsi:type="dcterms:W3CDTF">2025-07-28T14:40:26Z</dcterms:modified>
</cp:coreProperties>
</file>