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4"/>
  </p:notesMasterIdLst>
  <p:sldIdLst>
    <p:sldId id="311" r:id="rId2"/>
    <p:sldId id="344" r:id="rId3"/>
    <p:sldId id="353" r:id="rId4"/>
    <p:sldId id="329" r:id="rId5"/>
    <p:sldId id="332" r:id="rId6"/>
    <p:sldId id="369" r:id="rId7"/>
    <p:sldId id="337" r:id="rId8"/>
    <p:sldId id="341" r:id="rId9"/>
    <p:sldId id="345" r:id="rId10"/>
    <p:sldId id="342" r:id="rId11"/>
    <p:sldId id="346" r:id="rId12"/>
    <p:sldId id="347" r:id="rId13"/>
    <p:sldId id="348" r:id="rId14"/>
    <p:sldId id="349" r:id="rId15"/>
    <p:sldId id="350" r:id="rId16"/>
    <p:sldId id="351" r:id="rId17"/>
    <p:sldId id="352" r:id="rId18"/>
    <p:sldId id="354" r:id="rId19"/>
    <p:sldId id="355" r:id="rId20"/>
    <p:sldId id="356" r:id="rId21"/>
    <p:sldId id="357" r:id="rId22"/>
    <p:sldId id="358" r:id="rId23"/>
    <p:sldId id="359" r:id="rId24"/>
    <p:sldId id="360" r:id="rId25"/>
    <p:sldId id="361" r:id="rId26"/>
    <p:sldId id="362" r:id="rId27"/>
    <p:sldId id="363" r:id="rId28"/>
    <p:sldId id="364" r:id="rId29"/>
    <p:sldId id="365" r:id="rId30"/>
    <p:sldId id="366" r:id="rId31"/>
    <p:sldId id="367" r:id="rId32"/>
    <p:sldId id="276" r:id="rId33"/>
    <p:sldId id="373" r:id="rId34"/>
    <p:sldId id="372" r:id="rId35"/>
    <p:sldId id="277" r:id="rId36"/>
    <p:sldId id="294" r:id="rId37"/>
    <p:sldId id="370" r:id="rId38"/>
    <p:sldId id="371" r:id="rId39"/>
    <p:sldId id="374" r:id="rId40"/>
    <p:sldId id="375" r:id="rId41"/>
    <p:sldId id="313" r:id="rId42"/>
    <p:sldId id="259" r:id="rId43"/>
  </p:sldIdLst>
  <p:sldSz cx="9144000" cy="6858000" type="screen4x3"/>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4843"/>
    <p:restoredTop sz="94628"/>
  </p:normalViewPr>
  <p:slideViewPr>
    <p:cSldViewPr>
      <p:cViewPr varScale="1">
        <p:scale>
          <a:sx n="119" d="100"/>
          <a:sy n="119" d="100"/>
        </p:scale>
        <p:origin x="336" y="19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6C096AF-9825-3C41-BDF5-D9F15F8658A0}" type="doc">
      <dgm:prSet loTypeId="urn:microsoft.com/office/officeart/2005/8/layout/chevron1" loCatId="" qsTypeId="urn:microsoft.com/office/officeart/2005/8/quickstyle/simple1" qsCatId="simple" csTypeId="urn:microsoft.com/office/officeart/2005/8/colors/colorful2" csCatId="colorful" phldr="1"/>
      <dgm:spPr/>
    </dgm:pt>
    <dgm:pt modelId="{29A35133-00D6-FD4F-8665-C6F35829F860}">
      <dgm:prSet phldrT="[Texto]"/>
      <dgm:spPr/>
      <dgm:t>
        <a:bodyPr/>
        <a:lstStyle/>
        <a:p>
          <a:r>
            <a:rPr lang="es-MX" dirty="0"/>
            <a:t>Pruebas de Unidad o Componente</a:t>
          </a:r>
        </a:p>
      </dgm:t>
    </dgm:pt>
    <dgm:pt modelId="{C9594D39-9D59-DE4E-A8F3-B10A7EB619E0}" type="parTrans" cxnId="{FD36C44E-9836-BF47-AC35-CB6F9DC75A1B}">
      <dgm:prSet/>
      <dgm:spPr/>
      <dgm:t>
        <a:bodyPr/>
        <a:lstStyle/>
        <a:p>
          <a:endParaRPr lang="es-MX"/>
        </a:p>
      </dgm:t>
    </dgm:pt>
    <dgm:pt modelId="{82717237-1A12-EC4A-B376-BB7B3C5AA212}" type="sibTrans" cxnId="{FD36C44E-9836-BF47-AC35-CB6F9DC75A1B}">
      <dgm:prSet/>
      <dgm:spPr/>
      <dgm:t>
        <a:bodyPr/>
        <a:lstStyle/>
        <a:p>
          <a:endParaRPr lang="es-MX"/>
        </a:p>
      </dgm:t>
    </dgm:pt>
    <dgm:pt modelId="{0B532AB5-C81B-C949-9BCD-BC9DDFBA9975}">
      <dgm:prSet phldrT="[Texto]"/>
      <dgm:spPr/>
      <dgm:t>
        <a:bodyPr/>
        <a:lstStyle/>
        <a:p>
          <a:r>
            <a:rPr lang="es-MX" dirty="0"/>
            <a:t>Pruebas de Integración o Subsistema</a:t>
          </a:r>
        </a:p>
      </dgm:t>
    </dgm:pt>
    <dgm:pt modelId="{A2351A18-522F-9B46-BA94-4641977BCA8E}" type="parTrans" cxnId="{C1E3FEA5-21D3-C044-ACB2-72B050BDACB7}">
      <dgm:prSet/>
      <dgm:spPr/>
      <dgm:t>
        <a:bodyPr/>
        <a:lstStyle/>
        <a:p>
          <a:endParaRPr lang="es-MX"/>
        </a:p>
      </dgm:t>
    </dgm:pt>
    <dgm:pt modelId="{9C592342-026D-7842-9881-82FAD6898B03}" type="sibTrans" cxnId="{C1E3FEA5-21D3-C044-ACB2-72B050BDACB7}">
      <dgm:prSet/>
      <dgm:spPr/>
      <dgm:t>
        <a:bodyPr/>
        <a:lstStyle/>
        <a:p>
          <a:endParaRPr lang="es-MX"/>
        </a:p>
      </dgm:t>
    </dgm:pt>
    <dgm:pt modelId="{C51D7D0E-F023-474A-8B37-937B47A4558B}" type="pres">
      <dgm:prSet presAssocID="{86C096AF-9825-3C41-BDF5-D9F15F8658A0}" presName="Name0" presStyleCnt="0">
        <dgm:presLayoutVars>
          <dgm:dir/>
          <dgm:animLvl val="lvl"/>
          <dgm:resizeHandles val="exact"/>
        </dgm:presLayoutVars>
      </dgm:prSet>
      <dgm:spPr/>
    </dgm:pt>
    <dgm:pt modelId="{B65A15FF-27A4-7C46-949A-CB5196A05527}" type="pres">
      <dgm:prSet presAssocID="{29A35133-00D6-FD4F-8665-C6F35829F860}" presName="parTxOnly" presStyleLbl="node1" presStyleIdx="0" presStyleCnt="2">
        <dgm:presLayoutVars>
          <dgm:chMax val="0"/>
          <dgm:chPref val="0"/>
          <dgm:bulletEnabled val="1"/>
        </dgm:presLayoutVars>
      </dgm:prSet>
      <dgm:spPr/>
    </dgm:pt>
    <dgm:pt modelId="{8F2F8B49-423D-B440-8120-4CA2C515B080}" type="pres">
      <dgm:prSet presAssocID="{82717237-1A12-EC4A-B376-BB7B3C5AA212}" presName="parTxOnlySpace" presStyleCnt="0"/>
      <dgm:spPr/>
    </dgm:pt>
    <dgm:pt modelId="{6E4CFF40-1300-5D49-8149-EC1C4B0441D4}" type="pres">
      <dgm:prSet presAssocID="{0B532AB5-C81B-C949-9BCD-BC9DDFBA9975}" presName="parTxOnly" presStyleLbl="node1" presStyleIdx="1" presStyleCnt="2">
        <dgm:presLayoutVars>
          <dgm:chMax val="0"/>
          <dgm:chPref val="0"/>
          <dgm:bulletEnabled val="1"/>
        </dgm:presLayoutVars>
      </dgm:prSet>
      <dgm:spPr/>
    </dgm:pt>
  </dgm:ptLst>
  <dgm:cxnLst>
    <dgm:cxn modelId="{1556F709-DA33-2441-8C2D-94F0AF332FCC}" type="presOf" srcId="{29A35133-00D6-FD4F-8665-C6F35829F860}" destId="{B65A15FF-27A4-7C46-949A-CB5196A05527}" srcOrd="0" destOrd="0" presId="urn:microsoft.com/office/officeart/2005/8/layout/chevron1"/>
    <dgm:cxn modelId="{FD36C44E-9836-BF47-AC35-CB6F9DC75A1B}" srcId="{86C096AF-9825-3C41-BDF5-D9F15F8658A0}" destId="{29A35133-00D6-FD4F-8665-C6F35829F860}" srcOrd="0" destOrd="0" parTransId="{C9594D39-9D59-DE4E-A8F3-B10A7EB619E0}" sibTransId="{82717237-1A12-EC4A-B376-BB7B3C5AA212}"/>
    <dgm:cxn modelId="{21E1E854-B88A-7A40-86D2-5CECCCB08F9E}" type="presOf" srcId="{86C096AF-9825-3C41-BDF5-D9F15F8658A0}" destId="{C51D7D0E-F023-474A-8B37-937B47A4558B}" srcOrd="0" destOrd="0" presId="urn:microsoft.com/office/officeart/2005/8/layout/chevron1"/>
    <dgm:cxn modelId="{FF3C8387-02A2-C647-99A8-F482EF350099}" type="presOf" srcId="{0B532AB5-C81B-C949-9BCD-BC9DDFBA9975}" destId="{6E4CFF40-1300-5D49-8149-EC1C4B0441D4}" srcOrd="0" destOrd="0" presId="urn:microsoft.com/office/officeart/2005/8/layout/chevron1"/>
    <dgm:cxn modelId="{C1E3FEA5-21D3-C044-ACB2-72B050BDACB7}" srcId="{86C096AF-9825-3C41-BDF5-D9F15F8658A0}" destId="{0B532AB5-C81B-C949-9BCD-BC9DDFBA9975}" srcOrd="1" destOrd="0" parTransId="{A2351A18-522F-9B46-BA94-4641977BCA8E}" sibTransId="{9C592342-026D-7842-9881-82FAD6898B03}"/>
    <dgm:cxn modelId="{3A64B696-C4CB-CE40-A6E5-A785E7CA96A3}" type="presParOf" srcId="{C51D7D0E-F023-474A-8B37-937B47A4558B}" destId="{B65A15FF-27A4-7C46-949A-CB5196A05527}" srcOrd="0" destOrd="0" presId="urn:microsoft.com/office/officeart/2005/8/layout/chevron1"/>
    <dgm:cxn modelId="{1A4003F7-DB72-BA47-9996-77C45FD2FA01}" type="presParOf" srcId="{C51D7D0E-F023-474A-8B37-937B47A4558B}" destId="{8F2F8B49-423D-B440-8120-4CA2C515B080}" srcOrd="1" destOrd="0" presId="urn:microsoft.com/office/officeart/2005/8/layout/chevron1"/>
    <dgm:cxn modelId="{F2C99FA4-FFA0-BC44-899B-3B7DA1658C6B}" type="presParOf" srcId="{C51D7D0E-F023-474A-8B37-937B47A4558B}" destId="{6E4CFF40-1300-5D49-8149-EC1C4B0441D4}" srcOrd="2" destOrd="0" presId="urn:microsoft.com/office/officeart/2005/8/layout/chevro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6C096AF-9825-3C41-BDF5-D9F15F8658A0}" type="doc">
      <dgm:prSet loTypeId="urn:microsoft.com/office/officeart/2005/8/layout/chevron1" loCatId="" qsTypeId="urn:microsoft.com/office/officeart/2005/8/quickstyle/simple1" qsCatId="simple" csTypeId="urn:microsoft.com/office/officeart/2005/8/colors/colorful2" csCatId="colorful" phldr="1"/>
      <dgm:spPr/>
    </dgm:pt>
    <dgm:pt modelId="{29A35133-00D6-FD4F-8665-C6F35829F860}">
      <dgm:prSet phldrT="[Texto]"/>
      <dgm:spPr/>
      <dgm:t>
        <a:bodyPr/>
        <a:lstStyle/>
        <a:p>
          <a:r>
            <a:rPr lang="es-MX" dirty="0"/>
            <a:t>Pruebas de Sistema</a:t>
          </a:r>
        </a:p>
      </dgm:t>
    </dgm:pt>
    <dgm:pt modelId="{C9594D39-9D59-DE4E-A8F3-B10A7EB619E0}" type="parTrans" cxnId="{FD36C44E-9836-BF47-AC35-CB6F9DC75A1B}">
      <dgm:prSet/>
      <dgm:spPr/>
      <dgm:t>
        <a:bodyPr/>
        <a:lstStyle/>
        <a:p>
          <a:endParaRPr lang="es-MX"/>
        </a:p>
      </dgm:t>
    </dgm:pt>
    <dgm:pt modelId="{82717237-1A12-EC4A-B376-BB7B3C5AA212}" type="sibTrans" cxnId="{FD36C44E-9836-BF47-AC35-CB6F9DC75A1B}">
      <dgm:prSet/>
      <dgm:spPr/>
      <dgm:t>
        <a:bodyPr/>
        <a:lstStyle/>
        <a:p>
          <a:endParaRPr lang="es-MX"/>
        </a:p>
      </dgm:t>
    </dgm:pt>
    <dgm:pt modelId="{0B532AB5-C81B-C949-9BCD-BC9DDFBA9975}">
      <dgm:prSet phldrT="[Texto]"/>
      <dgm:spPr/>
      <dgm:t>
        <a:bodyPr/>
        <a:lstStyle/>
        <a:p>
          <a:r>
            <a:rPr lang="es-MX" dirty="0"/>
            <a:t>Pruebas de Aceptación</a:t>
          </a:r>
        </a:p>
      </dgm:t>
    </dgm:pt>
    <dgm:pt modelId="{A2351A18-522F-9B46-BA94-4641977BCA8E}" type="parTrans" cxnId="{C1E3FEA5-21D3-C044-ACB2-72B050BDACB7}">
      <dgm:prSet/>
      <dgm:spPr/>
      <dgm:t>
        <a:bodyPr/>
        <a:lstStyle/>
        <a:p>
          <a:endParaRPr lang="es-MX"/>
        </a:p>
      </dgm:t>
    </dgm:pt>
    <dgm:pt modelId="{9C592342-026D-7842-9881-82FAD6898B03}" type="sibTrans" cxnId="{C1E3FEA5-21D3-C044-ACB2-72B050BDACB7}">
      <dgm:prSet/>
      <dgm:spPr/>
      <dgm:t>
        <a:bodyPr/>
        <a:lstStyle/>
        <a:p>
          <a:endParaRPr lang="es-MX"/>
        </a:p>
      </dgm:t>
    </dgm:pt>
    <dgm:pt modelId="{C51D7D0E-F023-474A-8B37-937B47A4558B}" type="pres">
      <dgm:prSet presAssocID="{86C096AF-9825-3C41-BDF5-D9F15F8658A0}" presName="Name0" presStyleCnt="0">
        <dgm:presLayoutVars>
          <dgm:dir/>
          <dgm:animLvl val="lvl"/>
          <dgm:resizeHandles val="exact"/>
        </dgm:presLayoutVars>
      </dgm:prSet>
      <dgm:spPr/>
    </dgm:pt>
    <dgm:pt modelId="{B65A15FF-27A4-7C46-949A-CB5196A05527}" type="pres">
      <dgm:prSet presAssocID="{29A35133-00D6-FD4F-8665-C6F35829F860}" presName="parTxOnly" presStyleLbl="node1" presStyleIdx="0" presStyleCnt="2" custLinFactX="-3071" custLinFactNeighborX="-100000" custLinFactNeighborY="4647">
        <dgm:presLayoutVars>
          <dgm:chMax val="0"/>
          <dgm:chPref val="0"/>
          <dgm:bulletEnabled val="1"/>
        </dgm:presLayoutVars>
      </dgm:prSet>
      <dgm:spPr/>
    </dgm:pt>
    <dgm:pt modelId="{8F2F8B49-423D-B440-8120-4CA2C515B080}" type="pres">
      <dgm:prSet presAssocID="{82717237-1A12-EC4A-B376-BB7B3C5AA212}" presName="parTxOnlySpace" presStyleCnt="0"/>
      <dgm:spPr/>
    </dgm:pt>
    <dgm:pt modelId="{6E4CFF40-1300-5D49-8149-EC1C4B0441D4}" type="pres">
      <dgm:prSet presAssocID="{0B532AB5-C81B-C949-9BCD-BC9DDFBA9975}" presName="parTxOnly" presStyleLbl="node1" presStyleIdx="1" presStyleCnt="2">
        <dgm:presLayoutVars>
          <dgm:chMax val="0"/>
          <dgm:chPref val="0"/>
          <dgm:bulletEnabled val="1"/>
        </dgm:presLayoutVars>
      </dgm:prSet>
      <dgm:spPr/>
    </dgm:pt>
  </dgm:ptLst>
  <dgm:cxnLst>
    <dgm:cxn modelId="{1556F709-DA33-2441-8C2D-94F0AF332FCC}" type="presOf" srcId="{29A35133-00D6-FD4F-8665-C6F35829F860}" destId="{B65A15FF-27A4-7C46-949A-CB5196A05527}" srcOrd="0" destOrd="0" presId="urn:microsoft.com/office/officeart/2005/8/layout/chevron1"/>
    <dgm:cxn modelId="{FD36C44E-9836-BF47-AC35-CB6F9DC75A1B}" srcId="{86C096AF-9825-3C41-BDF5-D9F15F8658A0}" destId="{29A35133-00D6-FD4F-8665-C6F35829F860}" srcOrd="0" destOrd="0" parTransId="{C9594D39-9D59-DE4E-A8F3-B10A7EB619E0}" sibTransId="{82717237-1A12-EC4A-B376-BB7B3C5AA212}"/>
    <dgm:cxn modelId="{21E1E854-B88A-7A40-86D2-5CECCCB08F9E}" type="presOf" srcId="{86C096AF-9825-3C41-BDF5-D9F15F8658A0}" destId="{C51D7D0E-F023-474A-8B37-937B47A4558B}" srcOrd="0" destOrd="0" presId="urn:microsoft.com/office/officeart/2005/8/layout/chevron1"/>
    <dgm:cxn modelId="{FF3C8387-02A2-C647-99A8-F482EF350099}" type="presOf" srcId="{0B532AB5-C81B-C949-9BCD-BC9DDFBA9975}" destId="{6E4CFF40-1300-5D49-8149-EC1C4B0441D4}" srcOrd="0" destOrd="0" presId="urn:microsoft.com/office/officeart/2005/8/layout/chevron1"/>
    <dgm:cxn modelId="{C1E3FEA5-21D3-C044-ACB2-72B050BDACB7}" srcId="{86C096AF-9825-3C41-BDF5-D9F15F8658A0}" destId="{0B532AB5-C81B-C949-9BCD-BC9DDFBA9975}" srcOrd="1" destOrd="0" parTransId="{A2351A18-522F-9B46-BA94-4641977BCA8E}" sibTransId="{9C592342-026D-7842-9881-82FAD6898B03}"/>
    <dgm:cxn modelId="{3A64B696-C4CB-CE40-A6E5-A785E7CA96A3}" type="presParOf" srcId="{C51D7D0E-F023-474A-8B37-937B47A4558B}" destId="{B65A15FF-27A4-7C46-949A-CB5196A05527}" srcOrd="0" destOrd="0" presId="urn:microsoft.com/office/officeart/2005/8/layout/chevron1"/>
    <dgm:cxn modelId="{1A4003F7-DB72-BA47-9996-77C45FD2FA01}" type="presParOf" srcId="{C51D7D0E-F023-474A-8B37-937B47A4558B}" destId="{8F2F8B49-423D-B440-8120-4CA2C515B080}" srcOrd="1" destOrd="0" presId="urn:microsoft.com/office/officeart/2005/8/layout/chevron1"/>
    <dgm:cxn modelId="{F2C99FA4-FFA0-BC44-899B-3B7DA1658C6B}" type="presParOf" srcId="{C51D7D0E-F023-474A-8B37-937B47A4558B}" destId="{6E4CFF40-1300-5D49-8149-EC1C4B0441D4}" srcOrd="2" destOrd="0" presId="urn:microsoft.com/office/officeart/2005/8/layout/chevron1"/>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5A15FF-27A4-7C46-949A-CB5196A05527}">
      <dsp:nvSpPr>
        <dsp:cNvPr id="0" name=""/>
        <dsp:cNvSpPr/>
      </dsp:nvSpPr>
      <dsp:spPr>
        <a:xfrm>
          <a:off x="3327" y="1003194"/>
          <a:ext cx="1989183" cy="795673"/>
        </a:xfrm>
        <a:prstGeom prst="chevron">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es-MX" sz="1600" kern="1200" dirty="0"/>
            <a:t>Pruebas de Unidad o Componente</a:t>
          </a:r>
        </a:p>
      </dsp:txBody>
      <dsp:txXfrm>
        <a:off x="401164" y="1003194"/>
        <a:ext cx="1193510" cy="795673"/>
      </dsp:txXfrm>
    </dsp:sp>
    <dsp:sp modelId="{6E4CFF40-1300-5D49-8149-EC1C4B0441D4}">
      <dsp:nvSpPr>
        <dsp:cNvPr id="0" name=""/>
        <dsp:cNvSpPr/>
      </dsp:nvSpPr>
      <dsp:spPr>
        <a:xfrm>
          <a:off x="1793592" y="1003194"/>
          <a:ext cx="1989183" cy="795673"/>
        </a:xfrm>
        <a:prstGeom prst="chevron">
          <a:avLst/>
        </a:prstGeom>
        <a:solidFill>
          <a:schemeClr val="accent2">
            <a:hueOff val="4681519"/>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es-MX" sz="1600" kern="1200" dirty="0"/>
            <a:t>Pruebas de Integración o Subsistema</a:t>
          </a:r>
        </a:p>
      </dsp:txBody>
      <dsp:txXfrm>
        <a:off x="2191429" y="1003194"/>
        <a:ext cx="1193510" cy="79567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5A15FF-27A4-7C46-949A-CB5196A05527}">
      <dsp:nvSpPr>
        <dsp:cNvPr id="0" name=""/>
        <dsp:cNvSpPr/>
      </dsp:nvSpPr>
      <dsp:spPr>
        <a:xfrm>
          <a:off x="0" y="1040169"/>
          <a:ext cx="1989183" cy="795673"/>
        </a:xfrm>
        <a:prstGeom prst="chevron">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es-MX" sz="1800" kern="1200" dirty="0"/>
            <a:t>Pruebas de Sistema</a:t>
          </a:r>
        </a:p>
      </dsp:txBody>
      <dsp:txXfrm>
        <a:off x="397837" y="1040169"/>
        <a:ext cx="1193510" cy="795673"/>
      </dsp:txXfrm>
    </dsp:sp>
    <dsp:sp modelId="{6E4CFF40-1300-5D49-8149-EC1C4B0441D4}">
      <dsp:nvSpPr>
        <dsp:cNvPr id="0" name=""/>
        <dsp:cNvSpPr/>
      </dsp:nvSpPr>
      <dsp:spPr>
        <a:xfrm>
          <a:off x="1793592" y="1003194"/>
          <a:ext cx="1989183" cy="795673"/>
        </a:xfrm>
        <a:prstGeom prst="chevron">
          <a:avLst/>
        </a:prstGeom>
        <a:solidFill>
          <a:schemeClr val="accent2">
            <a:hueOff val="4681519"/>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es-MX" sz="1800" kern="1200" dirty="0"/>
            <a:t>Pruebas de Aceptación</a:t>
          </a:r>
        </a:p>
      </dsp:txBody>
      <dsp:txXfrm>
        <a:off x="2191429" y="1003194"/>
        <a:ext cx="1193510" cy="795673"/>
      </dsp:txXfrm>
    </dsp:sp>
  </dsp:spTree>
</dsp:drawing>
</file>

<file path=ppt/diagrams/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2.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CO"/>
          </a:p>
        </p:txBody>
      </p:sp>
      <p:sp>
        <p:nvSpPr>
          <p:cNvPr id="3" name="2 Marcador de fecha"/>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3C39FE1-158E-45EC-B581-84D0C075B0A5}" type="datetimeFigureOut">
              <a:rPr lang="es-CO" smtClean="0"/>
              <a:pPr/>
              <a:t>10/02/25</a:t>
            </a:fld>
            <a:endParaRPr lang="es-CO"/>
          </a:p>
        </p:txBody>
      </p:sp>
      <p:sp>
        <p:nvSpPr>
          <p:cNvPr id="4" name="3 Marcador de imagen de diapositiva"/>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s-CO"/>
          </a:p>
        </p:txBody>
      </p:sp>
      <p:sp>
        <p:nvSpPr>
          <p:cNvPr id="5" name="4 Marcador de notas"/>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5 Marcador de pie de página"/>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s-CO"/>
          </a:p>
        </p:txBody>
      </p:sp>
      <p:sp>
        <p:nvSpPr>
          <p:cNvPr id="7" name="6 Marcador de número de diapositiva"/>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A7BD412-B683-424A-B022-9DBF11AF83D1}" type="slidenum">
              <a:rPr lang="es-CO" smtClean="0"/>
              <a:pPr/>
              <a:t>‹Nº›</a:t>
            </a:fld>
            <a:endParaRPr lang="es-CO"/>
          </a:p>
        </p:txBody>
      </p:sp>
    </p:spTree>
    <p:extLst>
      <p:ext uri="{BB962C8B-B14F-4D97-AF65-F5344CB8AC3E}">
        <p14:creationId xmlns:p14="http://schemas.microsoft.com/office/powerpoint/2010/main" val="31151804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Marcador de imagen de diapositiva 1">
            <a:extLst>
              <a:ext uri="{FF2B5EF4-FFF2-40B4-BE49-F238E27FC236}">
                <a16:creationId xmlns:a16="http://schemas.microsoft.com/office/drawing/2014/main" id="{ADE16FA2-9656-BF4A-9875-F571C12792E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099" name="Marcador de notas 2">
            <a:extLst>
              <a:ext uri="{FF2B5EF4-FFF2-40B4-BE49-F238E27FC236}">
                <a16:creationId xmlns:a16="http://schemas.microsoft.com/office/drawing/2014/main" id="{23D1283B-10B7-064E-AAFB-4EC586450B0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s-ES_tradnl" altLang="es-ES_tradnl"/>
          </a:p>
        </p:txBody>
      </p:sp>
      <p:sp>
        <p:nvSpPr>
          <p:cNvPr id="4100" name="Marcador de número de diapositiva 3">
            <a:extLst>
              <a:ext uri="{FF2B5EF4-FFF2-40B4-BE49-F238E27FC236}">
                <a16:creationId xmlns:a16="http://schemas.microsoft.com/office/drawing/2014/main" id="{853ADA2E-09BF-6548-B1E6-80BD2EA9B86A}"/>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713BA33E-0F4B-7847-A712-6A2FA6CCD335}" type="slidenum">
              <a:rPr lang="es-ES_tradnl" altLang="es-ES_tradnl" smtClean="0"/>
              <a:pPr/>
              <a:t>1</a:t>
            </a:fld>
            <a:endParaRPr lang="es-ES_tradnl" altLang="es-ES_tradnl"/>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Marcador de imagen de diapositiva 1">
            <a:extLst>
              <a:ext uri="{FF2B5EF4-FFF2-40B4-BE49-F238E27FC236}">
                <a16:creationId xmlns:a16="http://schemas.microsoft.com/office/drawing/2014/main" id="{CE90DCEB-298A-1746-9278-5339E634A64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6563" name="Marcador de notas 2">
            <a:extLst>
              <a:ext uri="{FF2B5EF4-FFF2-40B4-BE49-F238E27FC236}">
                <a16:creationId xmlns:a16="http://schemas.microsoft.com/office/drawing/2014/main" id="{89002B4B-99B6-A24A-B825-05D91CAC2CB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s-ES_tradnl" altLang="es-ES_tradnl"/>
          </a:p>
        </p:txBody>
      </p:sp>
      <p:sp>
        <p:nvSpPr>
          <p:cNvPr id="66564" name="Marcador de número de diapositiva 3">
            <a:extLst>
              <a:ext uri="{FF2B5EF4-FFF2-40B4-BE49-F238E27FC236}">
                <a16:creationId xmlns:a16="http://schemas.microsoft.com/office/drawing/2014/main" id="{2D99B1CF-B6BA-9249-B101-2D7AD5896FF0}"/>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33196263-AE03-6E47-A8AC-E779F8F58C11}" type="slidenum">
              <a:rPr lang="es-ES_tradnl" altLang="es-ES_tradnl" smtClean="0"/>
              <a:pPr/>
              <a:t>39</a:t>
            </a:fld>
            <a:endParaRPr lang="es-ES_tradnl" altLang="es-ES_tradnl"/>
          </a:p>
        </p:txBody>
      </p:sp>
    </p:spTree>
    <p:extLst>
      <p:ext uri="{BB962C8B-B14F-4D97-AF65-F5344CB8AC3E}">
        <p14:creationId xmlns:p14="http://schemas.microsoft.com/office/powerpoint/2010/main" val="22809876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Marcador de imagen de diapositiva 1">
            <a:extLst>
              <a:ext uri="{FF2B5EF4-FFF2-40B4-BE49-F238E27FC236}">
                <a16:creationId xmlns:a16="http://schemas.microsoft.com/office/drawing/2014/main" id="{CE90DCEB-298A-1746-9278-5339E634A64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6563" name="Marcador de notas 2">
            <a:extLst>
              <a:ext uri="{FF2B5EF4-FFF2-40B4-BE49-F238E27FC236}">
                <a16:creationId xmlns:a16="http://schemas.microsoft.com/office/drawing/2014/main" id="{89002B4B-99B6-A24A-B825-05D91CAC2CB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s-ES_tradnl" altLang="es-ES_tradnl"/>
          </a:p>
        </p:txBody>
      </p:sp>
      <p:sp>
        <p:nvSpPr>
          <p:cNvPr id="66564" name="Marcador de número de diapositiva 3">
            <a:extLst>
              <a:ext uri="{FF2B5EF4-FFF2-40B4-BE49-F238E27FC236}">
                <a16:creationId xmlns:a16="http://schemas.microsoft.com/office/drawing/2014/main" id="{2D99B1CF-B6BA-9249-B101-2D7AD5896FF0}"/>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33196263-AE03-6E47-A8AC-E779F8F58C11}" type="slidenum">
              <a:rPr lang="es-ES_tradnl" altLang="es-ES_tradnl" smtClean="0"/>
              <a:pPr/>
              <a:t>40</a:t>
            </a:fld>
            <a:endParaRPr lang="es-ES_tradnl" altLang="es-ES_tradnl"/>
          </a:p>
        </p:txBody>
      </p:sp>
    </p:spTree>
    <p:extLst>
      <p:ext uri="{BB962C8B-B14F-4D97-AF65-F5344CB8AC3E}">
        <p14:creationId xmlns:p14="http://schemas.microsoft.com/office/powerpoint/2010/main" val="40975207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Marcador de imagen de diapositiva 1">
            <a:extLst>
              <a:ext uri="{FF2B5EF4-FFF2-40B4-BE49-F238E27FC236}">
                <a16:creationId xmlns:a16="http://schemas.microsoft.com/office/drawing/2014/main" id="{CE90DCEB-298A-1746-9278-5339E634A64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6563" name="Marcador de notas 2">
            <a:extLst>
              <a:ext uri="{FF2B5EF4-FFF2-40B4-BE49-F238E27FC236}">
                <a16:creationId xmlns:a16="http://schemas.microsoft.com/office/drawing/2014/main" id="{89002B4B-99B6-A24A-B825-05D91CAC2CB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s-ES_tradnl" altLang="es-ES_tradnl"/>
          </a:p>
        </p:txBody>
      </p:sp>
      <p:sp>
        <p:nvSpPr>
          <p:cNvPr id="66564" name="Marcador de número de diapositiva 3">
            <a:extLst>
              <a:ext uri="{FF2B5EF4-FFF2-40B4-BE49-F238E27FC236}">
                <a16:creationId xmlns:a16="http://schemas.microsoft.com/office/drawing/2014/main" id="{2D99B1CF-B6BA-9249-B101-2D7AD5896FF0}"/>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33196263-AE03-6E47-A8AC-E779F8F58C11}" type="slidenum">
              <a:rPr lang="es-ES_tradnl" altLang="es-ES_tradnl" smtClean="0"/>
              <a:pPr/>
              <a:t>41</a:t>
            </a:fld>
            <a:endParaRPr lang="es-ES_tradnl" altLang="es-ES_tradnl"/>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Marcador de imagen de diapositiva 1">
            <a:extLst>
              <a:ext uri="{FF2B5EF4-FFF2-40B4-BE49-F238E27FC236}">
                <a16:creationId xmlns:a16="http://schemas.microsoft.com/office/drawing/2014/main" id="{82BD881E-150D-4B49-9283-85CE434FA96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8611" name="Marcador de notas 2">
            <a:extLst>
              <a:ext uri="{FF2B5EF4-FFF2-40B4-BE49-F238E27FC236}">
                <a16:creationId xmlns:a16="http://schemas.microsoft.com/office/drawing/2014/main" id="{88054687-5C54-9D43-8334-4CF54F6E0C3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s-ES_tradnl" altLang="es-ES_tradnl"/>
          </a:p>
        </p:txBody>
      </p:sp>
      <p:sp>
        <p:nvSpPr>
          <p:cNvPr id="68612" name="Marcador de número de diapositiva 3">
            <a:extLst>
              <a:ext uri="{FF2B5EF4-FFF2-40B4-BE49-F238E27FC236}">
                <a16:creationId xmlns:a16="http://schemas.microsoft.com/office/drawing/2014/main" id="{FB407F55-1150-C847-920B-292070AEA180}"/>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44C73578-01C6-6D4B-B299-89C8470C66EB}" type="slidenum">
              <a:rPr lang="es-ES_tradnl" altLang="es-ES_tradnl" smtClean="0"/>
              <a:pPr/>
              <a:t>42</a:t>
            </a:fld>
            <a:endParaRPr lang="es-ES_tradnl" altLang="es-ES_tradnl"/>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685800" y="2130425"/>
            <a:ext cx="7772400" cy="1470025"/>
          </a:xfrm>
        </p:spPr>
        <p:txBody>
          <a:bodyPr/>
          <a:lstStyle/>
          <a:p>
            <a:r>
              <a:rPr lang="es-ES"/>
              <a:t>Haga clic para modificar el estilo de título del patrón</a:t>
            </a:r>
            <a:endParaRPr lang="es-CO"/>
          </a:p>
        </p:txBody>
      </p:sp>
      <p:sp>
        <p:nvSpPr>
          <p:cNvPr id="3" name="2 Subtítulo"/>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s-CO"/>
          </a:p>
        </p:txBody>
      </p:sp>
      <p:sp>
        <p:nvSpPr>
          <p:cNvPr id="4" name="3 Marcador de fecha"/>
          <p:cNvSpPr>
            <a:spLocks noGrp="1"/>
          </p:cNvSpPr>
          <p:nvPr>
            <p:ph type="dt" sz="half" idx="10"/>
          </p:nvPr>
        </p:nvSpPr>
        <p:spPr/>
        <p:txBody>
          <a:bodyPr/>
          <a:lstStyle/>
          <a:p>
            <a:fld id="{E4141AD4-6AD6-47D3-AF00-9057D02D0A5E}" type="datetimeFigureOut">
              <a:rPr lang="es-CO" smtClean="0"/>
              <a:pPr/>
              <a:t>10/02/25</a:t>
            </a:fld>
            <a:endParaRPr lang="es-CO"/>
          </a:p>
        </p:txBody>
      </p:sp>
      <p:sp>
        <p:nvSpPr>
          <p:cNvPr id="5" name="4 Marcador de pie de página"/>
          <p:cNvSpPr>
            <a:spLocks noGrp="1"/>
          </p:cNvSpPr>
          <p:nvPr>
            <p:ph type="ftr" sz="quarter" idx="11"/>
          </p:nvPr>
        </p:nvSpPr>
        <p:spPr/>
        <p:txBody>
          <a:bodyPr/>
          <a:lstStyle/>
          <a:p>
            <a:endParaRPr lang="es-CO"/>
          </a:p>
        </p:txBody>
      </p:sp>
      <p:sp>
        <p:nvSpPr>
          <p:cNvPr id="6" name="5 Marcador de número de diapositiva"/>
          <p:cNvSpPr>
            <a:spLocks noGrp="1"/>
          </p:cNvSpPr>
          <p:nvPr>
            <p:ph type="sldNum" sz="quarter" idx="12"/>
          </p:nvPr>
        </p:nvSpPr>
        <p:spPr/>
        <p:txBody>
          <a:bodyPr/>
          <a:lstStyle/>
          <a:p>
            <a:fld id="{2DA1995C-B7BA-48F2-B671-DECB025FA5A6}" type="slidenum">
              <a:rPr lang="es-CO" smtClean="0"/>
              <a:pPr/>
              <a:t>‹Nº›</a:t>
            </a:fld>
            <a:endParaRPr lang="es-CO"/>
          </a:p>
        </p:txBody>
      </p:sp>
    </p:spTree>
    <p:extLst>
      <p:ext uri="{BB962C8B-B14F-4D97-AF65-F5344CB8AC3E}">
        <p14:creationId xmlns:p14="http://schemas.microsoft.com/office/powerpoint/2010/main" val="27444157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CO"/>
          </a:p>
        </p:txBody>
      </p:sp>
      <p:sp>
        <p:nvSpPr>
          <p:cNvPr id="3" name="2 Marcador de contenido"/>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3 Marcador de fecha"/>
          <p:cNvSpPr>
            <a:spLocks noGrp="1"/>
          </p:cNvSpPr>
          <p:nvPr>
            <p:ph type="dt" sz="half" idx="10"/>
          </p:nvPr>
        </p:nvSpPr>
        <p:spPr/>
        <p:txBody>
          <a:bodyPr/>
          <a:lstStyle/>
          <a:p>
            <a:fld id="{E4141AD4-6AD6-47D3-AF00-9057D02D0A5E}" type="datetimeFigureOut">
              <a:rPr lang="es-CO" smtClean="0"/>
              <a:pPr/>
              <a:t>10/02/25</a:t>
            </a:fld>
            <a:endParaRPr lang="es-CO"/>
          </a:p>
        </p:txBody>
      </p:sp>
      <p:sp>
        <p:nvSpPr>
          <p:cNvPr id="5" name="4 Marcador de pie de página"/>
          <p:cNvSpPr>
            <a:spLocks noGrp="1"/>
          </p:cNvSpPr>
          <p:nvPr>
            <p:ph type="ftr" sz="quarter" idx="11"/>
          </p:nvPr>
        </p:nvSpPr>
        <p:spPr/>
        <p:txBody>
          <a:bodyPr/>
          <a:lstStyle/>
          <a:p>
            <a:endParaRPr lang="es-CO"/>
          </a:p>
        </p:txBody>
      </p:sp>
      <p:sp>
        <p:nvSpPr>
          <p:cNvPr id="6" name="5 Marcador de número de diapositiva"/>
          <p:cNvSpPr>
            <a:spLocks noGrp="1"/>
          </p:cNvSpPr>
          <p:nvPr>
            <p:ph type="sldNum" sz="quarter" idx="12"/>
          </p:nvPr>
        </p:nvSpPr>
        <p:spPr/>
        <p:txBody>
          <a:bodyPr/>
          <a:lstStyle/>
          <a:p>
            <a:fld id="{2DA1995C-B7BA-48F2-B671-DECB025FA5A6}" type="slidenum">
              <a:rPr lang="es-CO" smtClean="0"/>
              <a:pPr/>
              <a:t>‹Nº›</a:t>
            </a:fld>
            <a:endParaRPr lang="es-CO"/>
          </a:p>
        </p:txBody>
      </p:sp>
    </p:spTree>
    <p:extLst>
      <p:ext uri="{BB962C8B-B14F-4D97-AF65-F5344CB8AC3E}">
        <p14:creationId xmlns:p14="http://schemas.microsoft.com/office/powerpoint/2010/main" val="20017107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4406900"/>
            <a:ext cx="7772400" cy="1362075"/>
          </a:xfrm>
        </p:spPr>
        <p:txBody>
          <a:bodyPr anchor="t"/>
          <a:lstStyle>
            <a:lvl1pPr algn="l">
              <a:defRPr sz="4000" b="1" cap="all"/>
            </a:lvl1pPr>
          </a:lstStyle>
          <a:p>
            <a:r>
              <a:rPr lang="es-ES"/>
              <a:t>Haga clic para modificar el estilo de título del patrón</a:t>
            </a:r>
            <a:endParaRPr lang="es-CO"/>
          </a:p>
        </p:txBody>
      </p:sp>
      <p:sp>
        <p:nvSpPr>
          <p:cNvPr id="3" name="2 Marcador de texto"/>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4" name="3 Marcador de fecha"/>
          <p:cNvSpPr>
            <a:spLocks noGrp="1"/>
          </p:cNvSpPr>
          <p:nvPr>
            <p:ph type="dt" sz="half" idx="10"/>
          </p:nvPr>
        </p:nvSpPr>
        <p:spPr/>
        <p:txBody>
          <a:bodyPr/>
          <a:lstStyle/>
          <a:p>
            <a:fld id="{E4141AD4-6AD6-47D3-AF00-9057D02D0A5E}" type="datetimeFigureOut">
              <a:rPr lang="es-CO" smtClean="0"/>
              <a:pPr/>
              <a:t>10/02/25</a:t>
            </a:fld>
            <a:endParaRPr lang="es-CO"/>
          </a:p>
        </p:txBody>
      </p:sp>
      <p:sp>
        <p:nvSpPr>
          <p:cNvPr id="5" name="4 Marcador de pie de página"/>
          <p:cNvSpPr>
            <a:spLocks noGrp="1"/>
          </p:cNvSpPr>
          <p:nvPr>
            <p:ph type="ftr" sz="quarter" idx="11"/>
          </p:nvPr>
        </p:nvSpPr>
        <p:spPr/>
        <p:txBody>
          <a:bodyPr/>
          <a:lstStyle/>
          <a:p>
            <a:endParaRPr lang="es-CO"/>
          </a:p>
        </p:txBody>
      </p:sp>
      <p:sp>
        <p:nvSpPr>
          <p:cNvPr id="6" name="5 Marcador de número de diapositiva"/>
          <p:cNvSpPr>
            <a:spLocks noGrp="1"/>
          </p:cNvSpPr>
          <p:nvPr>
            <p:ph type="sldNum" sz="quarter" idx="12"/>
          </p:nvPr>
        </p:nvSpPr>
        <p:spPr/>
        <p:txBody>
          <a:bodyPr/>
          <a:lstStyle/>
          <a:p>
            <a:fld id="{2DA1995C-B7BA-48F2-B671-DECB025FA5A6}" type="slidenum">
              <a:rPr lang="es-CO" smtClean="0"/>
              <a:pPr/>
              <a:t>‹Nº›</a:t>
            </a:fld>
            <a:endParaRPr lang="es-CO"/>
          </a:p>
        </p:txBody>
      </p:sp>
    </p:spTree>
    <p:extLst>
      <p:ext uri="{BB962C8B-B14F-4D97-AF65-F5344CB8AC3E}">
        <p14:creationId xmlns:p14="http://schemas.microsoft.com/office/powerpoint/2010/main" val="38192623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CO"/>
          </a:p>
        </p:txBody>
      </p:sp>
      <p:sp>
        <p:nvSpPr>
          <p:cNvPr id="3" name="2 Marcador de contenido"/>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3 Marcador de contenido"/>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4 Marcador de fecha"/>
          <p:cNvSpPr>
            <a:spLocks noGrp="1"/>
          </p:cNvSpPr>
          <p:nvPr>
            <p:ph type="dt" sz="half" idx="10"/>
          </p:nvPr>
        </p:nvSpPr>
        <p:spPr/>
        <p:txBody>
          <a:bodyPr/>
          <a:lstStyle/>
          <a:p>
            <a:fld id="{E4141AD4-6AD6-47D3-AF00-9057D02D0A5E}" type="datetimeFigureOut">
              <a:rPr lang="es-CO" smtClean="0"/>
              <a:pPr/>
              <a:t>10/02/25</a:t>
            </a:fld>
            <a:endParaRPr lang="es-CO"/>
          </a:p>
        </p:txBody>
      </p:sp>
      <p:sp>
        <p:nvSpPr>
          <p:cNvPr id="6" name="5 Marcador de pie de página"/>
          <p:cNvSpPr>
            <a:spLocks noGrp="1"/>
          </p:cNvSpPr>
          <p:nvPr>
            <p:ph type="ftr" sz="quarter" idx="11"/>
          </p:nvPr>
        </p:nvSpPr>
        <p:spPr/>
        <p:txBody>
          <a:bodyPr/>
          <a:lstStyle/>
          <a:p>
            <a:endParaRPr lang="es-CO"/>
          </a:p>
        </p:txBody>
      </p:sp>
      <p:sp>
        <p:nvSpPr>
          <p:cNvPr id="7" name="6 Marcador de número de diapositiva"/>
          <p:cNvSpPr>
            <a:spLocks noGrp="1"/>
          </p:cNvSpPr>
          <p:nvPr>
            <p:ph type="sldNum" sz="quarter" idx="12"/>
          </p:nvPr>
        </p:nvSpPr>
        <p:spPr/>
        <p:txBody>
          <a:bodyPr/>
          <a:lstStyle/>
          <a:p>
            <a:fld id="{2DA1995C-B7BA-48F2-B671-DECB025FA5A6}" type="slidenum">
              <a:rPr lang="es-CO" smtClean="0"/>
              <a:pPr/>
              <a:t>‹Nº›</a:t>
            </a:fld>
            <a:endParaRPr lang="es-CO"/>
          </a:p>
        </p:txBody>
      </p:sp>
    </p:spTree>
    <p:extLst>
      <p:ext uri="{BB962C8B-B14F-4D97-AF65-F5344CB8AC3E}">
        <p14:creationId xmlns:p14="http://schemas.microsoft.com/office/powerpoint/2010/main" val="13313439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a:lvl1pPr>
          </a:lstStyle>
          <a:p>
            <a:r>
              <a:rPr lang="es-ES"/>
              <a:t>Haga clic para modificar el estilo de título del patrón</a:t>
            </a:r>
            <a:endParaRPr lang="es-CO"/>
          </a:p>
        </p:txBody>
      </p:sp>
      <p:sp>
        <p:nvSpPr>
          <p:cNvPr id="3" name="2 Marcador de texto"/>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3 Marcador de contenido"/>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4 Marcador de texto"/>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5 Marcador de contenido"/>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6 Marcador de fecha"/>
          <p:cNvSpPr>
            <a:spLocks noGrp="1"/>
          </p:cNvSpPr>
          <p:nvPr>
            <p:ph type="dt" sz="half" idx="10"/>
          </p:nvPr>
        </p:nvSpPr>
        <p:spPr/>
        <p:txBody>
          <a:bodyPr/>
          <a:lstStyle/>
          <a:p>
            <a:fld id="{E4141AD4-6AD6-47D3-AF00-9057D02D0A5E}" type="datetimeFigureOut">
              <a:rPr lang="es-CO" smtClean="0"/>
              <a:pPr/>
              <a:t>10/02/25</a:t>
            </a:fld>
            <a:endParaRPr lang="es-CO"/>
          </a:p>
        </p:txBody>
      </p:sp>
      <p:sp>
        <p:nvSpPr>
          <p:cNvPr id="8" name="7 Marcador de pie de página"/>
          <p:cNvSpPr>
            <a:spLocks noGrp="1"/>
          </p:cNvSpPr>
          <p:nvPr>
            <p:ph type="ftr" sz="quarter" idx="11"/>
          </p:nvPr>
        </p:nvSpPr>
        <p:spPr/>
        <p:txBody>
          <a:bodyPr/>
          <a:lstStyle/>
          <a:p>
            <a:endParaRPr lang="es-CO"/>
          </a:p>
        </p:txBody>
      </p:sp>
      <p:sp>
        <p:nvSpPr>
          <p:cNvPr id="9" name="8 Marcador de número de diapositiva"/>
          <p:cNvSpPr>
            <a:spLocks noGrp="1"/>
          </p:cNvSpPr>
          <p:nvPr>
            <p:ph type="sldNum" sz="quarter" idx="12"/>
          </p:nvPr>
        </p:nvSpPr>
        <p:spPr/>
        <p:txBody>
          <a:bodyPr/>
          <a:lstStyle/>
          <a:p>
            <a:fld id="{2DA1995C-B7BA-48F2-B671-DECB025FA5A6}" type="slidenum">
              <a:rPr lang="es-CO" smtClean="0"/>
              <a:pPr/>
              <a:t>‹Nº›</a:t>
            </a:fld>
            <a:endParaRPr lang="es-CO"/>
          </a:p>
        </p:txBody>
      </p:sp>
    </p:spTree>
    <p:extLst>
      <p:ext uri="{BB962C8B-B14F-4D97-AF65-F5344CB8AC3E}">
        <p14:creationId xmlns:p14="http://schemas.microsoft.com/office/powerpoint/2010/main" val="4527971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CO"/>
          </a:p>
        </p:txBody>
      </p:sp>
      <p:sp>
        <p:nvSpPr>
          <p:cNvPr id="3" name="2 Marcador de fecha"/>
          <p:cNvSpPr>
            <a:spLocks noGrp="1"/>
          </p:cNvSpPr>
          <p:nvPr>
            <p:ph type="dt" sz="half" idx="10"/>
          </p:nvPr>
        </p:nvSpPr>
        <p:spPr/>
        <p:txBody>
          <a:bodyPr/>
          <a:lstStyle/>
          <a:p>
            <a:fld id="{E4141AD4-6AD6-47D3-AF00-9057D02D0A5E}" type="datetimeFigureOut">
              <a:rPr lang="es-CO" smtClean="0"/>
              <a:pPr/>
              <a:t>10/02/25</a:t>
            </a:fld>
            <a:endParaRPr lang="es-CO"/>
          </a:p>
        </p:txBody>
      </p:sp>
      <p:sp>
        <p:nvSpPr>
          <p:cNvPr id="4" name="3 Marcador de pie de página"/>
          <p:cNvSpPr>
            <a:spLocks noGrp="1"/>
          </p:cNvSpPr>
          <p:nvPr>
            <p:ph type="ftr" sz="quarter" idx="11"/>
          </p:nvPr>
        </p:nvSpPr>
        <p:spPr/>
        <p:txBody>
          <a:bodyPr/>
          <a:lstStyle/>
          <a:p>
            <a:endParaRPr lang="es-CO"/>
          </a:p>
        </p:txBody>
      </p:sp>
      <p:sp>
        <p:nvSpPr>
          <p:cNvPr id="5" name="4 Marcador de número de diapositiva"/>
          <p:cNvSpPr>
            <a:spLocks noGrp="1"/>
          </p:cNvSpPr>
          <p:nvPr>
            <p:ph type="sldNum" sz="quarter" idx="12"/>
          </p:nvPr>
        </p:nvSpPr>
        <p:spPr/>
        <p:txBody>
          <a:bodyPr/>
          <a:lstStyle/>
          <a:p>
            <a:fld id="{2DA1995C-B7BA-48F2-B671-DECB025FA5A6}" type="slidenum">
              <a:rPr lang="es-CO" smtClean="0"/>
              <a:pPr/>
              <a:t>‹Nº›</a:t>
            </a:fld>
            <a:endParaRPr lang="es-CO"/>
          </a:p>
        </p:txBody>
      </p:sp>
    </p:spTree>
    <p:extLst>
      <p:ext uri="{BB962C8B-B14F-4D97-AF65-F5344CB8AC3E}">
        <p14:creationId xmlns:p14="http://schemas.microsoft.com/office/powerpoint/2010/main" val="1251211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E4141AD4-6AD6-47D3-AF00-9057D02D0A5E}" type="datetimeFigureOut">
              <a:rPr lang="es-CO" smtClean="0"/>
              <a:pPr/>
              <a:t>10/02/25</a:t>
            </a:fld>
            <a:endParaRPr lang="es-CO"/>
          </a:p>
        </p:txBody>
      </p:sp>
      <p:sp>
        <p:nvSpPr>
          <p:cNvPr id="3" name="2 Marcador de pie de página"/>
          <p:cNvSpPr>
            <a:spLocks noGrp="1"/>
          </p:cNvSpPr>
          <p:nvPr>
            <p:ph type="ftr" sz="quarter" idx="11"/>
          </p:nvPr>
        </p:nvSpPr>
        <p:spPr/>
        <p:txBody>
          <a:bodyPr/>
          <a:lstStyle/>
          <a:p>
            <a:endParaRPr lang="es-CO"/>
          </a:p>
        </p:txBody>
      </p:sp>
      <p:sp>
        <p:nvSpPr>
          <p:cNvPr id="4" name="3 Marcador de número de diapositiva"/>
          <p:cNvSpPr>
            <a:spLocks noGrp="1"/>
          </p:cNvSpPr>
          <p:nvPr>
            <p:ph type="sldNum" sz="quarter" idx="12"/>
          </p:nvPr>
        </p:nvSpPr>
        <p:spPr/>
        <p:txBody>
          <a:bodyPr/>
          <a:lstStyle/>
          <a:p>
            <a:fld id="{2DA1995C-B7BA-48F2-B671-DECB025FA5A6}" type="slidenum">
              <a:rPr lang="es-CO" smtClean="0"/>
              <a:pPr/>
              <a:t>‹Nº›</a:t>
            </a:fld>
            <a:endParaRPr lang="es-CO"/>
          </a:p>
        </p:txBody>
      </p:sp>
    </p:spTree>
    <p:extLst>
      <p:ext uri="{BB962C8B-B14F-4D97-AF65-F5344CB8AC3E}">
        <p14:creationId xmlns:p14="http://schemas.microsoft.com/office/powerpoint/2010/main" val="12965612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3008313" cy="1162050"/>
          </a:xfrm>
        </p:spPr>
        <p:txBody>
          <a:bodyPr anchor="b"/>
          <a:lstStyle>
            <a:lvl1pPr algn="l">
              <a:defRPr sz="2000" b="1"/>
            </a:lvl1pPr>
          </a:lstStyle>
          <a:p>
            <a:r>
              <a:rPr lang="es-ES"/>
              <a:t>Haga clic para modificar el estilo de título del patrón</a:t>
            </a:r>
            <a:endParaRPr lang="es-CO"/>
          </a:p>
        </p:txBody>
      </p:sp>
      <p:sp>
        <p:nvSpPr>
          <p:cNvPr id="3" name="2 Marcador de contenido"/>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3 Marcador de texto"/>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4 Marcador de fecha"/>
          <p:cNvSpPr>
            <a:spLocks noGrp="1"/>
          </p:cNvSpPr>
          <p:nvPr>
            <p:ph type="dt" sz="half" idx="10"/>
          </p:nvPr>
        </p:nvSpPr>
        <p:spPr/>
        <p:txBody>
          <a:bodyPr/>
          <a:lstStyle/>
          <a:p>
            <a:fld id="{E4141AD4-6AD6-47D3-AF00-9057D02D0A5E}" type="datetimeFigureOut">
              <a:rPr lang="es-CO" smtClean="0"/>
              <a:pPr/>
              <a:t>10/02/25</a:t>
            </a:fld>
            <a:endParaRPr lang="es-CO"/>
          </a:p>
        </p:txBody>
      </p:sp>
      <p:sp>
        <p:nvSpPr>
          <p:cNvPr id="6" name="5 Marcador de pie de página"/>
          <p:cNvSpPr>
            <a:spLocks noGrp="1"/>
          </p:cNvSpPr>
          <p:nvPr>
            <p:ph type="ftr" sz="quarter" idx="11"/>
          </p:nvPr>
        </p:nvSpPr>
        <p:spPr/>
        <p:txBody>
          <a:bodyPr/>
          <a:lstStyle/>
          <a:p>
            <a:endParaRPr lang="es-CO"/>
          </a:p>
        </p:txBody>
      </p:sp>
      <p:sp>
        <p:nvSpPr>
          <p:cNvPr id="7" name="6 Marcador de número de diapositiva"/>
          <p:cNvSpPr>
            <a:spLocks noGrp="1"/>
          </p:cNvSpPr>
          <p:nvPr>
            <p:ph type="sldNum" sz="quarter" idx="12"/>
          </p:nvPr>
        </p:nvSpPr>
        <p:spPr/>
        <p:txBody>
          <a:bodyPr/>
          <a:lstStyle/>
          <a:p>
            <a:fld id="{2DA1995C-B7BA-48F2-B671-DECB025FA5A6}" type="slidenum">
              <a:rPr lang="es-CO" smtClean="0"/>
              <a:pPr/>
              <a:t>‹Nº›</a:t>
            </a:fld>
            <a:endParaRPr lang="es-CO"/>
          </a:p>
        </p:txBody>
      </p:sp>
    </p:spTree>
    <p:extLst>
      <p:ext uri="{BB962C8B-B14F-4D97-AF65-F5344CB8AC3E}">
        <p14:creationId xmlns:p14="http://schemas.microsoft.com/office/powerpoint/2010/main" val="13312925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4800600"/>
            <a:ext cx="5486400" cy="566738"/>
          </a:xfrm>
        </p:spPr>
        <p:txBody>
          <a:bodyPr anchor="b"/>
          <a:lstStyle>
            <a:lvl1pPr algn="l">
              <a:defRPr sz="2000" b="1"/>
            </a:lvl1pPr>
          </a:lstStyle>
          <a:p>
            <a:r>
              <a:rPr lang="es-ES"/>
              <a:t>Haga clic para modificar el estilo de título del patrón</a:t>
            </a:r>
            <a:endParaRPr lang="es-CO"/>
          </a:p>
        </p:txBody>
      </p:sp>
      <p:sp>
        <p:nvSpPr>
          <p:cNvPr id="3" name="2 Marcador de posición de imagen"/>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3 Marcador de texto"/>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4 Marcador de fecha"/>
          <p:cNvSpPr>
            <a:spLocks noGrp="1"/>
          </p:cNvSpPr>
          <p:nvPr>
            <p:ph type="dt" sz="half" idx="10"/>
          </p:nvPr>
        </p:nvSpPr>
        <p:spPr/>
        <p:txBody>
          <a:bodyPr/>
          <a:lstStyle/>
          <a:p>
            <a:fld id="{E4141AD4-6AD6-47D3-AF00-9057D02D0A5E}" type="datetimeFigureOut">
              <a:rPr lang="es-CO" smtClean="0"/>
              <a:pPr/>
              <a:t>10/02/25</a:t>
            </a:fld>
            <a:endParaRPr lang="es-CO"/>
          </a:p>
        </p:txBody>
      </p:sp>
      <p:sp>
        <p:nvSpPr>
          <p:cNvPr id="6" name="5 Marcador de pie de página"/>
          <p:cNvSpPr>
            <a:spLocks noGrp="1"/>
          </p:cNvSpPr>
          <p:nvPr>
            <p:ph type="ftr" sz="quarter" idx="11"/>
          </p:nvPr>
        </p:nvSpPr>
        <p:spPr/>
        <p:txBody>
          <a:bodyPr/>
          <a:lstStyle/>
          <a:p>
            <a:endParaRPr lang="es-CO"/>
          </a:p>
        </p:txBody>
      </p:sp>
      <p:sp>
        <p:nvSpPr>
          <p:cNvPr id="7" name="6 Marcador de número de diapositiva"/>
          <p:cNvSpPr>
            <a:spLocks noGrp="1"/>
          </p:cNvSpPr>
          <p:nvPr>
            <p:ph type="sldNum" sz="quarter" idx="12"/>
          </p:nvPr>
        </p:nvSpPr>
        <p:spPr/>
        <p:txBody>
          <a:bodyPr/>
          <a:lstStyle/>
          <a:p>
            <a:fld id="{2DA1995C-B7BA-48F2-B671-DECB025FA5A6}" type="slidenum">
              <a:rPr lang="es-CO" smtClean="0"/>
              <a:pPr/>
              <a:t>‹Nº›</a:t>
            </a:fld>
            <a:endParaRPr lang="es-CO"/>
          </a:p>
        </p:txBody>
      </p:sp>
    </p:spTree>
    <p:extLst>
      <p:ext uri="{BB962C8B-B14F-4D97-AF65-F5344CB8AC3E}">
        <p14:creationId xmlns:p14="http://schemas.microsoft.com/office/powerpoint/2010/main" val="18502231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CO"/>
          </a:p>
        </p:txBody>
      </p:sp>
      <p:sp>
        <p:nvSpPr>
          <p:cNvPr id="3" name="2 Marcador de texto vertical"/>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3 Marcador de fecha"/>
          <p:cNvSpPr>
            <a:spLocks noGrp="1"/>
          </p:cNvSpPr>
          <p:nvPr>
            <p:ph type="dt" sz="half" idx="10"/>
          </p:nvPr>
        </p:nvSpPr>
        <p:spPr/>
        <p:txBody>
          <a:bodyPr/>
          <a:lstStyle/>
          <a:p>
            <a:fld id="{E4141AD4-6AD6-47D3-AF00-9057D02D0A5E}" type="datetimeFigureOut">
              <a:rPr lang="es-CO" smtClean="0"/>
              <a:pPr/>
              <a:t>10/02/25</a:t>
            </a:fld>
            <a:endParaRPr lang="es-CO"/>
          </a:p>
        </p:txBody>
      </p:sp>
      <p:sp>
        <p:nvSpPr>
          <p:cNvPr id="5" name="4 Marcador de pie de página"/>
          <p:cNvSpPr>
            <a:spLocks noGrp="1"/>
          </p:cNvSpPr>
          <p:nvPr>
            <p:ph type="ftr" sz="quarter" idx="11"/>
          </p:nvPr>
        </p:nvSpPr>
        <p:spPr/>
        <p:txBody>
          <a:bodyPr/>
          <a:lstStyle/>
          <a:p>
            <a:endParaRPr lang="es-CO"/>
          </a:p>
        </p:txBody>
      </p:sp>
      <p:sp>
        <p:nvSpPr>
          <p:cNvPr id="6" name="5 Marcador de número de diapositiva"/>
          <p:cNvSpPr>
            <a:spLocks noGrp="1"/>
          </p:cNvSpPr>
          <p:nvPr>
            <p:ph type="sldNum" sz="quarter" idx="12"/>
          </p:nvPr>
        </p:nvSpPr>
        <p:spPr/>
        <p:txBody>
          <a:bodyPr/>
          <a:lstStyle/>
          <a:p>
            <a:fld id="{2DA1995C-B7BA-48F2-B671-DECB025FA5A6}" type="slidenum">
              <a:rPr lang="es-CO" smtClean="0"/>
              <a:pPr/>
              <a:t>‹Nº›</a:t>
            </a:fld>
            <a:endParaRPr lang="es-CO"/>
          </a:p>
        </p:txBody>
      </p:sp>
    </p:spTree>
    <p:extLst>
      <p:ext uri="{BB962C8B-B14F-4D97-AF65-F5344CB8AC3E}">
        <p14:creationId xmlns:p14="http://schemas.microsoft.com/office/powerpoint/2010/main" val="4569935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38"/>
            <a:ext cx="2057400" cy="5851525"/>
          </a:xfrm>
        </p:spPr>
        <p:txBody>
          <a:bodyPr vert="eaVert"/>
          <a:lstStyle/>
          <a:p>
            <a:r>
              <a:rPr lang="es-ES"/>
              <a:t>Haga clic para modificar el estilo de título del patrón</a:t>
            </a:r>
            <a:endParaRPr lang="es-CO"/>
          </a:p>
        </p:txBody>
      </p:sp>
      <p:sp>
        <p:nvSpPr>
          <p:cNvPr id="3" name="2 Marcador de texto vertical"/>
          <p:cNvSpPr>
            <a:spLocks noGrp="1"/>
          </p:cNvSpPr>
          <p:nvPr>
            <p:ph type="body" orient="vert" idx="1"/>
          </p:nvPr>
        </p:nvSpPr>
        <p:spPr>
          <a:xfrm>
            <a:off x="457200" y="274638"/>
            <a:ext cx="6019800" cy="5851525"/>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3 Marcador de fecha"/>
          <p:cNvSpPr>
            <a:spLocks noGrp="1"/>
          </p:cNvSpPr>
          <p:nvPr>
            <p:ph type="dt" sz="half" idx="10"/>
          </p:nvPr>
        </p:nvSpPr>
        <p:spPr/>
        <p:txBody>
          <a:bodyPr/>
          <a:lstStyle/>
          <a:p>
            <a:fld id="{E4141AD4-6AD6-47D3-AF00-9057D02D0A5E}" type="datetimeFigureOut">
              <a:rPr lang="es-CO" smtClean="0"/>
              <a:pPr/>
              <a:t>10/02/25</a:t>
            </a:fld>
            <a:endParaRPr lang="es-CO"/>
          </a:p>
        </p:txBody>
      </p:sp>
      <p:sp>
        <p:nvSpPr>
          <p:cNvPr id="5" name="4 Marcador de pie de página"/>
          <p:cNvSpPr>
            <a:spLocks noGrp="1"/>
          </p:cNvSpPr>
          <p:nvPr>
            <p:ph type="ftr" sz="quarter" idx="11"/>
          </p:nvPr>
        </p:nvSpPr>
        <p:spPr/>
        <p:txBody>
          <a:bodyPr/>
          <a:lstStyle/>
          <a:p>
            <a:endParaRPr lang="es-CO"/>
          </a:p>
        </p:txBody>
      </p:sp>
      <p:sp>
        <p:nvSpPr>
          <p:cNvPr id="6" name="5 Marcador de número de diapositiva"/>
          <p:cNvSpPr>
            <a:spLocks noGrp="1"/>
          </p:cNvSpPr>
          <p:nvPr>
            <p:ph type="sldNum" sz="quarter" idx="12"/>
          </p:nvPr>
        </p:nvSpPr>
        <p:spPr/>
        <p:txBody>
          <a:bodyPr/>
          <a:lstStyle/>
          <a:p>
            <a:fld id="{2DA1995C-B7BA-48F2-B671-DECB025FA5A6}" type="slidenum">
              <a:rPr lang="es-CO" smtClean="0"/>
              <a:pPr/>
              <a:t>‹Nº›</a:t>
            </a:fld>
            <a:endParaRPr lang="es-CO"/>
          </a:p>
        </p:txBody>
      </p:sp>
    </p:spTree>
    <p:extLst>
      <p:ext uri="{BB962C8B-B14F-4D97-AF65-F5344CB8AC3E}">
        <p14:creationId xmlns:p14="http://schemas.microsoft.com/office/powerpoint/2010/main" val="9066177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título"/>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2 Marcador de texto"/>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3 Marcador de fecha"/>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4141AD4-6AD6-47D3-AF00-9057D02D0A5E}" type="datetimeFigureOut">
              <a:rPr lang="es-CO" smtClean="0"/>
              <a:pPr/>
              <a:t>10/02/25</a:t>
            </a:fld>
            <a:endParaRPr lang="es-CO"/>
          </a:p>
        </p:txBody>
      </p:sp>
      <p:sp>
        <p:nvSpPr>
          <p:cNvPr id="5" name="4 Marcador de pie de página"/>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O"/>
          </a:p>
        </p:txBody>
      </p:sp>
      <p:sp>
        <p:nvSpPr>
          <p:cNvPr id="6" name="5 Marcador de número de diapositiva"/>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DA1995C-B7BA-48F2-B671-DECB025FA5A6}" type="slidenum">
              <a:rPr lang="es-CO" smtClean="0"/>
              <a:pPr/>
              <a:t>‹Nº›</a:t>
            </a:fld>
            <a:endParaRPr lang="es-CO"/>
          </a:p>
        </p:txBody>
      </p:sp>
    </p:spTree>
    <p:extLst>
      <p:ext uri="{BB962C8B-B14F-4D97-AF65-F5344CB8AC3E}">
        <p14:creationId xmlns:p14="http://schemas.microsoft.com/office/powerpoint/2010/main" val="1940775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pixabay.com/en/login-password-log-sign-on-turn-on-1203603/" TargetMode="External"/><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diagramLayout" Target="../diagrams/layout2.xml"/><Relationship Id="rId3" Type="http://schemas.openxmlformats.org/officeDocument/2006/relationships/diagramLayout" Target="../diagrams/layout1.xml"/><Relationship Id="rId7" Type="http://schemas.openxmlformats.org/officeDocument/2006/relationships/diagramData" Target="../diagrams/data2.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11" Type="http://schemas.microsoft.com/office/2007/relationships/diagramDrawing" Target="../diagrams/drawing2.xml"/><Relationship Id="rId5" Type="http://schemas.openxmlformats.org/officeDocument/2006/relationships/diagramColors" Target="../diagrams/colors1.xml"/><Relationship Id="rId10" Type="http://schemas.openxmlformats.org/officeDocument/2006/relationships/diagramColors" Target="../diagrams/colors2.xml"/><Relationship Id="rId4" Type="http://schemas.openxmlformats.org/officeDocument/2006/relationships/diagramQuickStyle" Target="../diagrams/quickStyle1.xml"/><Relationship Id="rId9" Type="http://schemas.openxmlformats.org/officeDocument/2006/relationships/diagramQuickStyle" Target="../diagrams/quickStyle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Imagen 8">
            <a:extLst>
              <a:ext uri="{FF2B5EF4-FFF2-40B4-BE49-F238E27FC236}">
                <a16:creationId xmlns:a16="http://schemas.microsoft.com/office/drawing/2014/main" id="{A395BFF2-624B-5B43-9CEE-2F8593F6396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866775"/>
            <a:ext cx="9144000" cy="51113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66212CBC-B48F-E13C-EE97-493890DD8DB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5800" y="1628800"/>
            <a:ext cx="7772400" cy="4911074"/>
          </a:xfrm>
          <a:prstGeom prst="rect">
            <a:avLst/>
          </a:prstGeom>
        </p:spPr>
      </p:pic>
      <p:sp>
        <p:nvSpPr>
          <p:cNvPr id="2" name="1 Título">
            <a:extLst>
              <a:ext uri="{FF2B5EF4-FFF2-40B4-BE49-F238E27FC236}">
                <a16:creationId xmlns:a16="http://schemas.microsoft.com/office/drawing/2014/main" id="{CFB8ED28-9F54-F9BE-1A0C-A4235A8581E9}"/>
              </a:ext>
            </a:extLst>
          </p:cNvPr>
          <p:cNvSpPr>
            <a:spLocks noGrp="1"/>
          </p:cNvSpPr>
          <p:nvPr>
            <p:ph type="title"/>
          </p:nvPr>
        </p:nvSpPr>
        <p:spPr>
          <a:xfrm>
            <a:off x="755576" y="0"/>
            <a:ext cx="8229600" cy="1143000"/>
          </a:xfrm>
        </p:spPr>
        <p:txBody>
          <a:bodyPr>
            <a:normAutofit/>
          </a:bodyPr>
          <a:lstStyle/>
          <a:p>
            <a:r>
              <a:rPr lang="es-CO" sz="2800" b="1" dirty="0"/>
              <a:t>Costo de las Fallas y Pruebas en el Ciclo de Vida</a:t>
            </a:r>
          </a:p>
        </p:txBody>
      </p:sp>
    </p:spTree>
    <p:extLst>
      <p:ext uri="{BB962C8B-B14F-4D97-AF65-F5344CB8AC3E}">
        <p14:creationId xmlns:p14="http://schemas.microsoft.com/office/powerpoint/2010/main" val="5588314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B9B1D40E-EFF4-0665-83E4-0E389FB098D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65766" y="620688"/>
            <a:ext cx="4582734" cy="6110312"/>
          </a:xfrm>
          <a:prstGeom prst="rect">
            <a:avLst/>
          </a:prstGeom>
        </p:spPr>
      </p:pic>
      <p:sp>
        <p:nvSpPr>
          <p:cNvPr id="2" name="1 Título">
            <a:extLst>
              <a:ext uri="{FF2B5EF4-FFF2-40B4-BE49-F238E27FC236}">
                <a16:creationId xmlns:a16="http://schemas.microsoft.com/office/drawing/2014/main" id="{AB8BE969-653E-B774-EA36-D0596C4CC6C7}"/>
              </a:ext>
            </a:extLst>
          </p:cNvPr>
          <p:cNvSpPr>
            <a:spLocks noGrp="1"/>
          </p:cNvSpPr>
          <p:nvPr>
            <p:ph type="title"/>
          </p:nvPr>
        </p:nvSpPr>
        <p:spPr>
          <a:xfrm>
            <a:off x="323528" y="-171400"/>
            <a:ext cx="8229600" cy="1143000"/>
          </a:xfrm>
        </p:spPr>
        <p:txBody>
          <a:bodyPr>
            <a:normAutofit/>
          </a:bodyPr>
          <a:lstStyle/>
          <a:p>
            <a:r>
              <a:rPr lang="es-CO" sz="2800" b="1" dirty="0"/>
              <a:t>Costos vs Ganancias</a:t>
            </a:r>
          </a:p>
        </p:txBody>
      </p:sp>
    </p:spTree>
    <p:extLst>
      <p:ext uri="{BB962C8B-B14F-4D97-AF65-F5344CB8AC3E}">
        <p14:creationId xmlns:p14="http://schemas.microsoft.com/office/powerpoint/2010/main" val="30754599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755577" y="-261973"/>
            <a:ext cx="8229600" cy="1143000"/>
          </a:xfrm>
        </p:spPr>
        <p:txBody>
          <a:bodyPr>
            <a:normAutofit/>
          </a:bodyPr>
          <a:lstStyle/>
          <a:p>
            <a:r>
              <a:rPr lang="es-CO" sz="3200" b="1" dirty="0"/>
              <a:t>Flujo de  Trabajo Validación y Verificación</a:t>
            </a:r>
          </a:p>
        </p:txBody>
      </p:sp>
      <p:sp>
        <p:nvSpPr>
          <p:cNvPr id="3" name="CuadroTexto 2">
            <a:extLst>
              <a:ext uri="{FF2B5EF4-FFF2-40B4-BE49-F238E27FC236}">
                <a16:creationId xmlns:a16="http://schemas.microsoft.com/office/drawing/2014/main" id="{17FD4F7B-CCF2-2470-0DCF-2A8120F86B5E}"/>
              </a:ext>
            </a:extLst>
          </p:cNvPr>
          <p:cNvSpPr txBox="1"/>
          <p:nvPr/>
        </p:nvSpPr>
        <p:spPr>
          <a:xfrm>
            <a:off x="1876116" y="1651546"/>
            <a:ext cx="2880320" cy="646331"/>
          </a:xfrm>
          <a:prstGeom prst="rect">
            <a:avLst/>
          </a:prstGeom>
          <a:noFill/>
        </p:spPr>
        <p:txBody>
          <a:bodyPr wrap="square" rtlCol="0">
            <a:spAutoFit/>
          </a:bodyPr>
          <a:lstStyle/>
          <a:p>
            <a:endParaRPr lang="es-CO" b="1" dirty="0">
              <a:effectLst/>
              <a:latin typeface="Helvetica" pitchFamily="2" charset="0"/>
            </a:endParaRPr>
          </a:p>
          <a:p>
            <a:endParaRPr lang="en-US" dirty="0"/>
          </a:p>
        </p:txBody>
      </p:sp>
      <p:grpSp>
        <p:nvGrpSpPr>
          <p:cNvPr id="9" name="Grupo 8">
            <a:extLst>
              <a:ext uri="{FF2B5EF4-FFF2-40B4-BE49-F238E27FC236}">
                <a16:creationId xmlns:a16="http://schemas.microsoft.com/office/drawing/2014/main" id="{10BA2B0D-D099-B836-C568-5EAA0764BA90}"/>
              </a:ext>
            </a:extLst>
          </p:cNvPr>
          <p:cNvGrpSpPr/>
          <p:nvPr/>
        </p:nvGrpSpPr>
        <p:grpSpPr>
          <a:xfrm>
            <a:off x="189445" y="1419565"/>
            <a:ext cx="1500489" cy="648228"/>
            <a:chOff x="5357" y="1551582"/>
            <a:chExt cx="1601390" cy="960834"/>
          </a:xfrm>
        </p:grpSpPr>
        <p:sp>
          <p:nvSpPr>
            <p:cNvPr id="10" name="Rectángulo redondeado 9">
              <a:extLst>
                <a:ext uri="{FF2B5EF4-FFF2-40B4-BE49-F238E27FC236}">
                  <a16:creationId xmlns:a16="http://schemas.microsoft.com/office/drawing/2014/main" id="{8A012B86-0B74-A604-0B1A-23CCF2BD24D3}"/>
                </a:ext>
              </a:extLst>
            </p:cNvPr>
            <p:cNvSpPr/>
            <p:nvPr/>
          </p:nvSpPr>
          <p:spPr>
            <a:xfrm>
              <a:off x="5357" y="1551582"/>
              <a:ext cx="1601390" cy="960834"/>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1" name="CuadroTexto 10">
              <a:extLst>
                <a:ext uri="{FF2B5EF4-FFF2-40B4-BE49-F238E27FC236}">
                  <a16:creationId xmlns:a16="http://schemas.microsoft.com/office/drawing/2014/main" id="{54A0872D-EF88-E6A2-3224-CDB3E8775359}"/>
                </a:ext>
              </a:extLst>
            </p:cNvPr>
            <p:cNvSpPr txBox="1"/>
            <p:nvPr/>
          </p:nvSpPr>
          <p:spPr>
            <a:xfrm>
              <a:off x="33499" y="1579724"/>
              <a:ext cx="1545106" cy="904550"/>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33350" tIns="133350" rIns="133350" bIns="133350" numCol="1" spcCol="1270" anchor="ctr" anchorCtr="0">
              <a:noAutofit/>
            </a:bodyPr>
            <a:lstStyle/>
            <a:p>
              <a:pPr marL="0" lvl="0" indent="0" algn="ctr" defTabSz="1555750">
                <a:lnSpc>
                  <a:spcPct val="90000"/>
                </a:lnSpc>
                <a:spcBef>
                  <a:spcPct val="0"/>
                </a:spcBef>
                <a:spcAft>
                  <a:spcPct val="35000"/>
                </a:spcAft>
                <a:buNone/>
              </a:pPr>
              <a:r>
                <a:rPr lang="es-MX" sz="1400" kern="1200" dirty="0"/>
                <a:t>Producto a</a:t>
              </a:r>
            </a:p>
            <a:p>
              <a:pPr marL="0" lvl="0" indent="0" algn="ctr" defTabSz="1555750">
                <a:lnSpc>
                  <a:spcPct val="90000"/>
                </a:lnSpc>
                <a:spcBef>
                  <a:spcPct val="0"/>
                </a:spcBef>
                <a:spcAft>
                  <a:spcPct val="35000"/>
                </a:spcAft>
                <a:buNone/>
              </a:pPr>
              <a:r>
                <a:rPr lang="es-MX" sz="1400" kern="1200" dirty="0"/>
                <a:t> V y V</a:t>
              </a:r>
            </a:p>
          </p:txBody>
        </p:sp>
      </p:grpSp>
      <p:grpSp>
        <p:nvGrpSpPr>
          <p:cNvPr id="18" name="Grupo 17">
            <a:extLst>
              <a:ext uri="{FF2B5EF4-FFF2-40B4-BE49-F238E27FC236}">
                <a16:creationId xmlns:a16="http://schemas.microsoft.com/office/drawing/2014/main" id="{940665A7-2E58-00D2-3B5A-78364E52AEC7}"/>
              </a:ext>
            </a:extLst>
          </p:cNvPr>
          <p:cNvGrpSpPr/>
          <p:nvPr/>
        </p:nvGrpSpPr>
        <p:grpSpPr>
          <a:xfrm>
            <a:off x="934991" y="3008212"/>
            <a:ext cx="1152015" cy="694016"/>
            <a:chOff x="5357" y="1551582"/>
            <a:chExt cx="1601390" cy="960834"/>
          </a:xfrm>
        </p:grpSpPr>
        <p:sp>
          <p:nvSpPr>
            <p:cNvPr id="19" name="Rectángulo redondeado 18">
              <a:extLst>
                <a:ext uri="{FF2B5EF4-FFF2-40B4-BE49-F238E27FC236}">
                  <a16:creationId xmlns:a16="http://schemas.microsoft.com/office/drawing/2014/main" id="{470FAD6D-2D72-7934-F7C1-522E4C2EB9CF}"/>
                </a:ext>
              </a:extLst>
            </p:cNvPr>
            <p:cNvSpPr/>
            <p:nvPr/>
          </p:nvSpPr>
          <p:spPr>
            <a:xfrm>
              <a:off x="5357" y="1551582"/>
              <a:ext cx="1601390" cy="960834"/>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20" name="CuadroTexto 19">
              <a:extLst>
                <a:ext uri="{FF2B5EF4-FFF2-40B4-BE49-F238E27FC236}">
                  <a16:creationId xmlns:a16="http://schemas.microsoft.com/office/drawing/2014/main" id="{201C77FE-94A0-6DE7-2A59-1BFDEACA1AD5}"/>
                </a:ext>
              </a:extLst>
            </p:cNvPr>
            <p:cNvSpPr txBox="1"/>
            <p:nvPr/>
          </p:nvSpPr>
          <p:spPr>
            <a:xfrm>
              <a:off x="33499" y="1579724"/>
              <a:ext cx="1545106" cy="904550"/>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33350" tIns="133350" rIns="133350" bIns="133350" numCol="1" spcCol="1270" anchor="ctr" anchorCtr="0">
              <a:noAutofit/>
            </a:bodyPr>
            <a:lstStyle/>
            <a:p>
              <a:pPr marL="0" lvl="0" indent="0" algn="ctr" defTabSz="1555750">
                <a:lnSpc>
                  <a:spcPct val="90000"/>
                </a:lnSpc>
                <a:spcBef>
                  <a:spcPct val="0"/>
                </a:spcBef>
                <a:spcAft>
                  <a:spcPct val="35000"/>
                </a:spcAft>
                <a:buNone/>
              </a:pPr>
              <a:r>
                <a:rPr lang="es-MX" sz="1400" dirty="0"/>
                <a:t>Planificar </a:t>
              </a:r>
            </a:p>
            <a:p>
              <a:pPr marL="0" lvl="0" indent="0" algn="ctr" defTabSz="1555750">
                <a:lnSpc>
                  <a:spcPct val="90000"/>
                </a:lnSpc>
                <a:spcBef>
                  <a:spcPct val="0"/>
                </a:spcBef>
                <a:spcAft>
                  <a:spcPct val="35000"/>
                </a:spcAft>
                <a:buNone/>
              </a:pPr>
              <a:r>
                <a:rPr lang="es-MX" sz="1400" dirty="0"/>
                <a:t>V y V</a:t>
              </a:r>
              <a:endParaRPr lang="es-MX" sz="1400" kern="1200" dirty="0"/>
            </a:p>
          </p:txBody>
        </p:sp>
      </p:grpSp>
      <p:sp>
        <p:nvSpPr>
          <p:cNvPr id="21" name="Rectángulo redondeado 20">
            <a:extLst>
              <a:ext uri="{FF2B5EF4-FFF2-40B4-BE49-F238E27FC236}">
                <a16:creationId xmlns:a16="http://schemas.microsoft.com/office/drawing/2014/main" id="{FFBEEA73-2703-5D54-DF45-CE4683187748}"/>
              </a:ext>
            </a:extLst>
          </p:cNvPr>
          <p:cNvSpPr/>
          <p:nvPr/>
        </p:nvSpPr>
        <p:spPr>
          <a:xfrm>
            <a:off x="5133194" y="625613"/>
            <a:ext cx="2121603" cy="916589"/>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pPr algn="ctr"/>
            <a:r>
              <a:rPr lang="en-US" sz="1400" dirty="0" err="1"/>
              <a:t>Objetivo</a:t>
            </a:r>
            <a:r>
              <a:rPr lang="en-US" sz="1400" dirty="0"/>
              <a:t> </a:t>
            </a:r>
          </a:p>
          <a:p>
            <a:pPr algn="ctr"/>
            <a:r>
              <a:rPr lang="en-US" sz="1400" dirty="0" err="1"/>
              <a:t>Asegurar</a:t>
            </a:r>
            <a:r>
              <a:rPr lang="en-US" sz="1400" dirty="0"/>
              <a:t> la Calidad del </a:t>
            </a:r>
            <a:r>
              <a:rPr lang="en-US" sz="1400" dirty="0" err="1"/>
              <a:t>producto</a:t>
            </a:r>
            <a:endParaRPr lang="en-US" sz="1400" dirty="0"/>
          </a:p>
        </p:txBody>
      </p:sp>
      <p:sp>
        <p:nvSpPr>
          <p:cNvPr id="22" name="Rectángulo redondeado 21">
            <a:extLst>
              <a:ext uri="{FF2B5EF4-FFF2-40B4-BE49-F238E27FC236}">
                <a16:creationId xmlns:a16="http://schemas.microsoft.com/office/drawing/2014/main" id="{E5EB9D3B-F80E-41A1-BFA1-2A6E86F86FD4}"/>
              </a:ext>
            </a:extLst>
          </p:cNvPr>
          <p:cNvSpPr/>
          <p:nvPr/>
        </p:nvSpPr>
        <p:spPr>
          <a:xfrm>
            <a:off x="7628499" y="4293096"/>
            <a:ext cx="1191973" cy="837802"/>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pPr algn="ctr"/>
            <a:r>
              <a:rPr lang="en-US" sz="1400" dirty="0" err="1"/>
              <a:t>Entrega</a:t>
            </a:r>
            <a:r>
              <a:rPr lang="en-US" sz="1400" dirty="0"/>
              <a:t> </a:t>
            </a:r>
            <a:r>
              <a:rPr lang="en-US" sz="1400" dirty="0" err="1"/>
              <a:t>Producto</a:t>
            </a:r>
            <a:r>
              <a:rPr lang="en-US" sz="1400" dirty="0"/>
              <a:t> de Calidad</a:t>
            </a:r>
          </a:p>
        </p:txBody>
      </p:sp>
      <p:grpSp>
        <p:nvGrpSpPr>
          <p:cNvPr id="32" name="Grupo 31">
            <a:extLst>
              <a:ext uri="{FF2B5EF4-FFF2-40B4-BE49-F238E27FC236}">
                <a16:creationId xmlns:a16="http://schemas.microsoft.com/office/drawing/2014/main" id="{8008F3AB-3C75-004A-6272-093268D82DE7}"/>
              </a:ext>
            </a:extLst>
          </p:cNvPr>
          <p:cNvGrpSpPr/>
          <p:nvPr/>
        </p:nvGrpSpPr>
        <p:grpSpPr>
          <a:xfrm>
            <a:off x="3635897" y="4073507"/>
            <a:ext cx="1497298" cy="867661"/>
            <a:chOff x="5357" y="1551582"/>
            <a:chExt cx="1601390" cy="960834"/>
          </a:xfrm>
        </p:grpSpPr>
        <p:sp>
          <p:nvSpPr>
            <p:cNvPr id="33" name="Rectángulo redondeado 32">
              <a:extLst>
                <a:ext uri="{FF2B5EF4-FFF2-40B4-BE49-F238E27FC236}">
                  <a16:creationId xmlns:a16="http://schemas.microsoft.com/office/drawing/2014/main" id="{014F734C-ACD2-3182-9110-475830BB76FB}"/>
                </a:ext>
              </a:extLst>
            </p:cNvPr>
            <p:cNvSpPr/>
            <p:nvPr/>
          </p:nvSpPr>
          <p:spPr>
            <a:xfrm>
              <a:off x="5357" y="1551582"/>
              <a:ext cx="1601390" cy="960834"/>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34" name="CuadroTexto 33">
              <a:extLst>
                <a:ext uri="{FF2B5EF4-FFF2-40B4-BE49-F238E27FC236}">
                  <a16:creationId xmlns:a16="http://schemas.microsoft.com/office/drawing/2014/main" id="{A4AFF665-DD24-B3EC-F6F0-D636BF469060}"/>
                </a:ext>
              </a:extLst>
            </p:cNvPr>
            <p:cNvSpPr txBox="1"/>
            <p:nvPr/>
          </p:nvSpPr>
          <p:spPr>
            <a:xfrm>
              <a:off x="33499" y="1579724"/>
              <a:ext cx="1545106" cy="904550"/>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33350" tIns="133350" rIns="133350" bIns="133350" numCol="1" spcCol="1270" anchor="ctr" anchorCtr="0">
              <a:noAutofit/>
            </a:bodyPr>
            <a:lstStyle/>
            <a:p>
              <a:pPr marL="0" lvl="0" indent="0" algn="ctr" defTabSz="1555750">
                <a:lnSpc>
                  <a:spcPct val="90000"/>
                </a:lnSpc>
                <a:spcBef>
                  <a:spcPct val="0"/>
                </a:spcBef>
                <a:spcAft>
                  <a:spcPct val="35000"/>
                </a:spcAft>
                <a:buNone/>
              </a:pPr>
              <a:r>
                <a:rPr lang="es-MX" sz="1400" kern="1200" dirty="0"/>
                <a:t>Distribución en el Equipo V y V</a:t>
              </a:r>
            </a:p>
          </p:txBody>
        </p:sp>
      </p:grpSp>
      <p:cxnSp>
        <p:nvCxnSpPr>
          <p:cNvPr id="63" name="Conector recto de flecha 62">
            <a:extLst>
              <a:ext uri="{FF2B5EF4-FFF2-40B4-BE49-F238E27FC236}">
                <a16:creationId xmlns:a16="http://schemas.microsoft.com/office/drawing/2014/main" id="{6071D658-EC0F-E0D4-17E5-B982AF0CA9D5}"/>
              </a:ext>
            </a:extLst>
          </p:cNvPr>
          <p:cNvCxnSpPr>
            <a:cxnSpLocks/>
          </p:cNvCxnSpPr>
          <p:nvPr/>
        </p:nvCxnSpPr>
        <p:spPr>
          <a:xfrm>
            <a:off x="547765" y="3367490"/>
            <a:ext cx="379525" cy="1503"/>
          </a:xfrm>
          <a:prstGeom prst="straightConnector1">
            <a:avLst/>
          </a:prstGeom>
          <a:ln w="53975">
            <a:solidFill>
              <a:schemeClr val="accent3">
                <a:shade val="95000"/>
                <a:satMod val="105000"/>
              </a:schemeClr>
            </a:solidFill>
            <a:prstDash val="dash"/>
            <a:tailEnd type="triangle"/>
          </a:ln>
        </p:spPr>
        <p:style>
          <a:lnRef idx="1">
            <a:schemeClr val="accent3"/>
          </a:lnRef>
          <a:fillRef idx="0">
            <a:schemeClr val="accent3"/>
          </a:fillRef>
          <a:effectRef idx="0">
            <a:schemeClr val="accent3"/>
          </a:effectRef>
          <a:fontRef idx="minor">
            <a:schemeClr val="tx1"/>
          </a:fontRef>
        </p:style>
      </p:cxnSp>
      <p:sp>
        <p:nvSpPr>
          <p:cNvPr id="67" name="Elipse 66">
            <a:extLst>
              <a:ext uri="{FF2B5EF4-FFF2-40B4-BE49-F238E27FC236}">
                <a16:creationId xmlns:a16="http://schemas.microsoft.com/office/drawing/2014/main" id="{76364D7C-1578-56B4-51DE-E99EE46BED6A}"/>
              </a:ext>
            </a:extLst>
          </p:cNvPr>
          <p:cNvSpPr/>
          <p:nvPr/>
        </p:nvSpPr>
        <p:spPr>
          <a:xfrm>
            <a:off x="57643" y="3101209"/>
            <a:ext cx="467544" cy="532562"/>
          </a:xfrm>
          <a:prstGeom prst="ellipse">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68" name="Grupo 67">
            <a:extLst>
              <a:ext uri="{FF2B5EF4-FFF2-40B4-BE49-F238E27FC236}">
                <a16:creationId xmlns:a16="http://schemas.microsoft.com/office/drawing/2014/main" id="{FEB98A7A-1244-7D01-3592-2B315004EE8C}"/>
              </a:ext>
            </a:extLst>
          </p:cNvPr>
          <p:cNvGrpSpPr/>
          <p:nvPr/>
        </p:nvGrpSpPr>
        <p:grpSpPr>
          <a:xfrm>
            <a:off x="2411760" y="2951588"/>
            <a:ext cx="1203244" cy="778643"/>
            <a:chOff x="5357" y="1551582"/>
            <a:chExt cx="1601390" cy="960834"/>
          </a:xfrm>
        </p:grpSpPr>
        <p:sp>
          <p:nvSpPr>
            <p:cNvPr id="69" name="Rectángulo redondeado 68">
              <a:extLst>
                <a:ext uri="{FF2B5EF4-FFF2-40B4-BE49-F238E27FC236}">
                  <a16:creationId xmlns:a16="http://schemas.microsoft.com/office/drawing/2014/main" id="{608B9B6C-F0C1-CE69-84C7-E992A6CA45E0}"/>
                </a:ext>
              </a:extLst>
            </p:cNvPr>
            <p:cNvSpPr/>
            <p:nvPr/>
          </p:nvSpPr>
          <p:spPr>
            <a:xfrm>
              <a:off x="5357" y="1551582"/>
              <a:ext cx="1601390" cy="960834"/>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70" name="CuadroTexto 69">
              <a:extLst>
                <a:ext uri="{FF2B5EF4-FFF2-40B4-BE49-F238E27FC236}">
                  <a16:creationId xmlns:a16="http://schemas.microsoft.com/office/drawing/2014/main" id="{BF58D1DC-0338-B115-905E-D70FC9498980}"/>
                </a:ext>
              </a:extLst>
            </p:cNvPr>
            <p:cNvSpPr txBox="1"/>
            <p:nvPr/>
          </p:nvSpPr>
          <p:spPr>
            <a:xfrm>
              <a:off x="33499" y="1579724"/>
              <a:ext cx="1545106" cy="904550"/>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33350" tIns="133350" rIns="133350" bIns="133350" numCol="1" spcCol="1270" anchor="ctr" anchorCtr="0">
              <a:noAutofit/>
            </a:bodyPr>
            <a:lstStyle/>
            <a:p>
              <a:pPr marL="0" lvl="0" indent="0" algn="ctr" defTabSz="1555750">
                <a:lnSpc>
                  <a:spcPct val="90000"/>
                </a:lnSpc>
                <a:spcBef>
                  <a:spcPct val="0"/>
                </a:spcBef>
                <a:spcAft>
                  <a:spcPct val="35000"/>
                </a:spcAft>
                <a:buNone/>
              </a:pPr>
              <a:r>
                <a:rPr lang="es-MX" sz="1400" dirty="0"/>
                <a:t>Organizar Equipo </a:t>
              </a:r>
            </a:p>
            <a:p>
              <a:pPr marL="0" lvl="0" indent="0" algn="ctr" defTabSz="1555750">
                <a:lnSpc>
                  <a:spcPct val="90000"/>
                </a:lnSpc>
                <a:spcBef>
                  <a:spcPct val="0"/>
                </a:spcBef>
                <a:spcAft>
                  <a:spcPct val="35000"/>
                </a:spcAft>
                <a:buNone/>
              </a:pPr>
              <a:r>
                <a:rPr lang="es-MX" sz="1400" dirty="0"/>
                <a:t>V y V</a:t>
              </a:r>
              <a:endParaRPr lang="es-MX" sz="1400" kern="1200" dirty="0"/>
            </a:p>
          </p:txBody>
        </p:sp>
      </p:grpSp>
      <p:sp>
        <p:nvSpPr>
          <p:cNvPr id="72" name="CuadroTexto 71">
            <a:extLst>
              <a:ext uri="{FF2B5EF4-FFF2-40B4-BE49-F238E27FC236}">
                <a16:creationId xmlns:a16="http://schemas.microsoft.com/office/drawing/2014/main" id="{46FD16AA-5FD0-AD98-00D5-BEE3CF502B1B}"/>
              </a:ext>
            </a:extLst>
          </p:cNvPr>
          <p:cNvSpPr txBox="1"/>
          <p:nvPr/>
        </p:nvSpPr>
        <p:spPr>
          <a:xfrm>
            <a:off x="-21663" y="3582840"/>
            <a:ext cx="689612" cy="369332"/>
          </a:xfrm>
          <a:prstGeom prst="rect">
            <a:avLst/>
          </a:prstGeom>
          <a:noFill/>
        </p:spPr>
        <p:txBody>
          <a:bodyPr wrap="none" rtlCol="0">
            <a:spAutoFit/>
          </a:bodyPr>
          <a:lstStyle/>
          <a:p>
            <a:r>
              <a:rPr lang="en-US" dirty="0" err="1"/>
              <a:t>Inicio</a:t>
            </a:r>
            <a:endParaRPr lang="en-US" dirty="0"/>
          </a:p>
        </p:txBody>
      </p:sp>
      <p:cxnSp>
        <p:nvCxnSpPr>
          <p:cNvPr id="73" name="Conector recto de flecha 72">
            <a:extLst>
              <a:ext uri="{FF2B5EF4-FFF2-40B4-BE49-F238E27FC236}">
                <a16:creationId xmlns:a16="http://schemas.microsoft.com/office/drawing/2014/main" id="{9E97EB74-9D93-1F9D-8BB9-E9C402B3FF20}"/>
              </a:ext>
            </a:extLst>
          </p:cNvPr>
          <p:cNvCxnSpPr>
            <a:cxnSpLocks/>
          </p:cNvCxnSpPr>
          <p:nvPr/>
        </p:nvCxnSpPr>
        <p:spPr>
          <a:xfrm>
            <a:off x="2074824" y="3368993"/>
            <a:ext cx="387226" cy="0"/>
          </a:xfrm>
          <a:prstGeom prst="straightConnector1">
            <a:avLst/>
          </a:prstGeom>
          <a:ln w="53975">
            <a:solidFill>
              <a:schemeClr val="accent3">
                <a:shade val="95000"/>
                <a:satMod val="105000"/>
              </a:schemeClr>
            </a:solidFill>
            <a:prstDash val="dash"/>
            <a:tailEnd type="triangle"/>
          </a:ln>
        </p:spPr>
        <p:style>
          <a:lnRef idx="1">
            <a:schemeClr val="accent3"/>
          </a:lnRef>
          <a:fillRef idx="0">
            <a:schemeClr val="accent3"/>
          </a:fillRef>
          <a:effectRef idx="0">
            <a:schemeClr val="accent3"/>
          </a:effectRef>
          <a:fontRef idx="minor">
            <a:schemeClr val="tx1"/>
          </a:fontRef>
        </p:style>
      </p:cxnSp>
      <p:sp>
        <p:nvSpPr>
          <p:cNvPr id="76" name="Elipse 75">
            <a:extLst>
              <a:ext uri="{FF2B5EF4-FFF2-40B4-BE49-F238E27FC236}">
                <a16:creationId xmlns:a16="http://schemas.microsoft.com/office/drawing/2014/main" id="{8F82E460-9998-B607-3910-8EA7C83B96EE}"/>
              </a:ext>
            </a:extLst>
          </p:cNvPr>
          <p:cNvSpPr/>
          <p:nvPr/>
        </p:nvSpPr>
        <p:spPr>
          <a:xfrm>
            <a:off x="7992888" y="5632742"/>
            <a:ext cx="467544" cy="532562"/>
          </a:xfrm>
          <a:prstGeom prst="ellipse">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7" name="CuadroTexto 76">
            <a:extLst>
              <a:ext uri="{FF2B5EF4-FFF2-40B4-BE49-F238E27FC236}">
                <a16:creationId xmlns:a16="http://schemas.microsoft.com/office/drawing/2014/main" id="{ADAD9447-3C0B-8100-8AC1-5B807C76623F}"/>
              </a:ext>
            </a:extLst>
          </p:cNvPr>
          <p:cNvSpPr txBox="1"/>
          <p:nvPr/>
        </p:nvSpPr>
        <p:spPr>
          <a:xfrm>
            <a:off x="7964578" y="6181263"/>
            <a:ext cx="465192" cy="369332"/>
          </a:xfrm>
          <a:prstGeom prst="rect">
            <a:avLst/>
          </a:prstGeom>
          <a:noFill/>
        </p:spPr>
        <p:txBody>
          <a:bodyPr wrap="none" rtlCol="0">
            <a:spAutoFit/>
          </a:bodyPr>
          <a:lstStyle/>
          <a:p>
            <a:r>
              <a:rPr lang="en-US" dirty="0"/>
              <a:t>Fin</a:t>
            </a:r>
          </a:p>
        </p:txBody>
      </p:sp>
      <p:grpSp>
        <p:nvGrpSpPr>
          <p:cNvPr id="78" name="Grupo 77">
            <a:extLst>
              <a:ext uri="{FF2B5EF4-FFF2-40B4-BE49-F238E27FC236}">
                <a16:creationId xmlns:a16="http://schemas.microsoft.com/office/drawing/2014/main" id="{6320F41F-0F1E-1366-B6BD-CF9742919495}"/>
              </a:ext>
            </a:extLst>
          </p:cNvPr>
          <p:cNvGrpSpPr/>
          <p:nvPr/>
        </p:nvGrpSpPr>
        <p:grpSpPr>
          <a:xfrm>
            <a:off x="3661391" y="1969810"/>
            <a:ext cx="1245823" cy="652849"/>
            <a:chOff x="5357" y="1551582"/>
            <a:chExt cx="1601390" cy="960834"/>
          </a:xfrm>
        </p:grpSpPr>
        <p:sp>
          <p:nvSpPr>
            <p:cNvPr id="79" name="Rectángulo redondeado 78">
              <a:extLst>
                <a:ext uri="{FF2B5EF4-FFF2-40B4-BE49-F238E27FC236}">
                  <a16:creationId xmlns:a16="http://schemas.microsoft.com/office/drawing/2014/main" id="{7A009E46-F3D5-7381-63B5-1884E00E0D27}"/>
                </a:ext>
              </a:extLst>
            </p:cNvPr>
            <p:cNvSpPr/>
            <p:nvPr/>
          </p:nvSpPr>
          <p:spPr>
            <a:xfrm>
              <a:off x="5357" y="1551582"/>
              <a:ext cx="1601390" cy="960834"/>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80" name="CuadroTexto 79">
              <a:extLst>
                <a:ext uri="{FF2B5EF4-FFF2-40B4-BE49-F238E27FC236}">
                  <a16:creationId xmlns:a16="http://schemas.microsoft.com/office/drawing/2014/main" id="{B200A8E7-4594-17BD-F2D6-C1CAC5D70C89}"/>
                </a:ext>
              </a:extLst>
            </p:cNvPr>
            <p:cNvSpPr txBox="1"/>
            <p:nvPr/>
          </p:nvSpPr>
          <p:spPr>
            <a:xfrm>
              <a:off x="33499" y="1579724"/>
              <a:ext cx="1545106" cy="904550"/>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33350" tIns="133350" rIns="133350" bIns="133350" numCol="1" spcCol="1270" anchor="ctr" anchorCtr="0">
              <a:noAutofit/>
            </a:bodyPr>
            <a:lstStyle/>
            <a:p>
              <a:pPr marL="0" lvl="0" indent="0" algn="ctr" defTabSz="1555750">
                <a:lnSpc>
                  <a:spcPct val="90000"/>
                </a:lnSpc>
                <a:spcBef>
                  <a:spcPct val="0"/>
                </a:spcBef>
                <a:spcAft>
                  <a:spcPct val="35000"/>
                </a:spcAft>
                <a:buNone/>
              </a:pPr>
              <a:r>
                <a:rPr lang="es-MX" sz="1400" kern="1200" dirty="0"/>
                <a:t>Inspección Lista de Chequeo</a:t>
              </a:r>
            </a:p>
          </p:txBody>
        </p:sp>
      </p:grpSp>
      <p:cxnSp>
        <p:nvCxnSpPr>
          <p:cNvPr id="81" name="Conector recto de flecha 80">
            <a:extLst>
              <a:ext uri="{FF2B5EF4-FFF2-40B4-BE49-F238E27FC236}">
                <a16:creationId xmlns:a16="http://schemas.microsoft.com/office/drawing/2014/main" id="{3E66FC02-E300-4208-F7D6-3FF6BFE76651}"/>
              </a:ext>
            </a:extLst>
          </p:cNvPr>
          <p:cNvCxnSpPr>
            <a:cxnSpLocks/>
          </p:cNvCxnSpPr>
          <p:nvPr/>
        </p:nvCxnSpPr>
        <p:spPr>
          <a:xfrm>
            <a:off x="3419872" y="3734151"/>
            <a:ext cx="396099" cy="369332"/>
          </a:xfrm>
          <a:prstGeom prst="straightConnector1">
            <a:avLst/>
          </a:prstGeom>
          <a:ln w="53975">
            <a:solidFill>
              <a:schemeClr val="accent3">
                <a:shade val="95000"/>
                <a:satMod val="105000"/>
              </a:schemeClr>
            </a:solidFill>
            <a:prstDash val="solid"/>
            <a:tailEnd type="triangle"/>
          </a:ln>
        </p:spPr>
        <p:style>
          <a:lnRef idx="1">
            <a:schemeClr val="accent3"/>
          </a:lnRef>
          <a:fillRef idx="0">
            <a:schemeClr val="accent3"/>
          </a:fillRef>
          <a:effectRef idx="0">
            <a:schemeClr val="accent3"/>
          </a:effectRef>
          <a:fontRef idx="minor">
            <a:schemeClr val="tx1"/>
          </a:fontRef>
        </p:style>
      </p:cxnSp>
      <p:cxnSp>
        <p:nvCxnSpPr>
          <p:cNvPr id="84" name="Conector recto de flecha 83">
            <a:extLst>
              <a:ext uri="{FF2B5EF4-FFF2-40B4-BE49-F238E27FC236}">
                <a16:creationId xmlns:a16="http://schemas.microsoft.com/office/drawing/2014/main" id="{0C53DDFF-2160-E5E4-AC1D-1AF8E509BAD9}"/>
              </a:ext>
            </a:extLst>
          </p:cNvPr>
          <p:cNvCxnSpPr>
            <a:cxnSpLocks/>
          </p:cNvCxnSpPr>
          <p:nvPr/>
        </p:nvCxnSpPr>
        <p:spPr>
          <a:xfrm flipV="1">
            <a:off x="3463279" y="2622659"/>
            <a:ext cx="396099" cy="369332"/>
          </a:xfrm>
          <a:prstGeom prst="straightConnector1">
            <a:avLst/>
          </a:prstGeom>
          <a:ln w="53975">
            <a:solidFill>
              <a:schemeClr val="accent3">
                <a:shade val="95000"/>
                <a:satMod val="105000"/>
              </a:schemeClr>
            </a:solidFill>
            <a:prstDash val="solid"/>
            <a:tailEnd type="triangle"/>
          </a:ln>
        </p:spPr>
        <p:style>
          <a:lnRef idx="1">
            <a:schemeClr val="accent3"/>
          </a:lnRef>
          <a:fillRef idx="0">
            <a:schemeClr val="accent3"/>
          </a:fillRef>
          <a:effectRef idx="0">
            <a:schemeClr val="accent3"/>
          </a:effectRef>
          <a:fontRef idx="minor">
            <a:schemeClr val="tx1"/>
          </a:fontRef>
        </p:style>
      </p:cxnSp>
      <p:cxnSp>
        <p:nvCxnSpPr>
          <p:cNvPr id="87" name="Conector recto de flecha 86">
            <a:extLst>
              <a:ext uri="{FF2B5EF4-FFF2-40B4-BE49-F238E27FC236}">
                <a16:creationId xmlns:a16="http://schemas.microsoft.com/office/drawing/2014/main" id="{AABEBDD8-2CC2-CD82-5A4B-2EF56CF0B2AB}"/>
              </a:ext>
            </a:extLst>
          </p:cNvPr>
          <p:cNvCxnSpPr>
            <a:cxnSpLocks/>
          </p:cNvCxnSpPr>
          <p:nvPr/>
        </p:nvCxnSpPr>
        <p:spPr>
          <a:xfrm>
            <a:off x="4885320" y="2622659"/>
            <a:ext cx="265865" cy="385553"/>
          </a:xfrm>
          <a:prstGeom prst="straightConnector1">
            <a:avLst/>
          </a:prstGeom>
          <a:ln w="53975">
            <a:solidFill>
              <a:schemeClr val="accent3">
                <a:shade val="95000"/>
                <a:satMod val="105000"/>
              </a:schemeClr>
            </a:solidFill>
            <a:prstDash val="solid"/>
            <a:tailEnd type="triangle"/>
          </a:ln>
        </p:spPr>
        <p:style>
          <a:lnRef idx="1">
            <a:schemeClr val="accent3"/>
          </a:lnRef>
          <a:fillRef idx="0">
            <a:schemeClr val="accent3"/>
          </a:fillRef>
          <a:effectRef idx="0">
            <a:schemeClr val="accent3"/>
          </a:effectRef>
          <a:fontRef idx="minor">
            <a:schemeClr val="tx1"/>
          </a:fontRef>
        </p:style>
      </p:cxnSp>
      <p:cxnSp>
        <p:nvCxnSpPr>
          <p:cNvPr id="92" name="Conector recto de flecha 91">
            <a:extLst>
              <a:ext uri="{FF2B5EF4-FFF2-40B4-BE49-F238E27FC236}">
                <a16:creationId xmlns:a16="http://schemas.microsoft.com/office/drawing/2014/main" id="{7363C0C3-00FE-F2C5-6504-F01AB7EFC395}"/>
              </a:ext>
            </a:extLst>
          </p:cNvPr>
          <p:cNvCxnSpPr>
            <a:cxnSpLocks/>
          </p:cNvCxnSpPr>
          <p:nvPr/>
        </p:nvCxnSpPr>
        <p:spPr>
          <a:xfrm flipV="1">
            <a:off x="5040544" y="3678418"/>
            <a:ext cx="188657" cy="421311"/>
          </a:xfrm>
          <a:prstGeom prst="straightConnector1">
            <a:avLst/>
          </a:prstGeom>
          <a:ln w="53975">
            <a:solidFill>
              <a:schemeClr val="accent3">
                <a:shade val="95000"/>
                <a:satMod val="105000"/>
              </a:schemeClr>
            </a:solidFill>
            <a:prstDash val="solid"/>
            <a:tailEnd type="triangle"/>
          </a:ln>
        </p:spPr>
        <p:style>
          <a:lnRef idx="1">
            <a:schemeClr val="accent3"/>
          </a:lnRef>
          <a:fillRef idx="0">
            <a:schemeClr val="accent3"/>
          </a:fillRef>
          <a:effectRef idx="0">
            <a:schemeClr val="accent3"/>
          </a:effectRef>
          <a:fontRef idx="minor">
            <a:schemeClr val="tx1"/>
          </a:fontRef>
        </p:style>
      </p:cxnSp>
      <p:sp>
        <p:nvSpPr>
          <p:cNvPr id="102" name="Rectángulo redondeado 101">
            <a:extLst>
              <a:ext uri="{FF2B5EF4-FFF2-40B4-BE49-F238E27FC236}">
                <a16:creationId xmlns:a16="http://schemas.microsoft.com/office/drawing/2014/main" id="{07E2034D-B79E-1C1C-F753-8D1826F6A457}"/>
              </a:ext>
            </a:extLst>
          </p:cNvPr>
          <p:cNvSpPr/>
          <p:nvPr/>
        </p:nvSpPr>
        <p:spPr>
          <a:xfrm>
            <a:off x="6453128" y="3035190"/>
            <a:ext cx="872532" cy="619034"/>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pPr algn="ctr"/>
            <a:r>
              <a:rPr lang="en-US" sz="1400" dirty="0" err="1"/>
              <a:t>Corregir</a:t>
            </a:r>
            <a:r>
              <a:rPr lang="en-US" sz="1400" dirty="0"/>
              <a:t> </a:t>
            </a:r>
            <a:r>
              <a:rPr lang="en-US" sz="1400" dirty="0" err="1"/>
              <a:t>errores</a:t>
            </a:r>
            <a:endParaRPr lang="en-US" sz="1400" dirty="0"/>
          </a:p>
        </p:txBody>
      </p:sp>
      <p:sp>
        <p:nvSpPr>
          <p:cNvPr id="103" name="Rectángulo redondeado 102">
            <a:extLst>
              <a:ext uri="{FF2B5EF4-FFF2-40B4-BE49-F238E27FC236}">
                <a16:creationId xmlns:a16="http://schemas.microsoft.com/office/drawing/2014/main" id="{EFC4529D-268F-A712-CD0A-3D00B9D2109C}"/>
              </a:ext>
            </a:extLst>
          </p:cNvPr>
          <p:cNvSpPr/>
          <p:nvPr/>
        </p:nvSpPr>
        <p:spPr>
          <a:xfrm>
            <a:off x="5106883" y="3038566"/>
            <a:ext cx="1059683" cy="619034"/>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pPr algn="ctr"/>
            <a:r>
              <a:rPr lang="en-US" sz="1400" dirty="0" err="1"/>
              <a:t>Revisión</a:t>
            </a:r>
            <a:r>
              <a:rPr lang="en-US" sz="1400" dirty="0"/>
              <a:t> de </a:t>
            </a:r>
            <a:r>
              <a:rPr lang="en-US" sz="1400" dirty="0" err="1"/>
              <a:t>Inspección</a:t>
            </a:r>
            <a:endParaRPr lang="en-US" sz="1400" dirty="0"/>
          </a:p>
        </p:txBody>
      </p:sp>
      <p:cxnSp>
        <p:nvCxnSpPr>
          <p:cNvPr id="118" name="Conector recto de flecha 117">
            <a:extLst>
              <a:ext uri="{FF2B5EF4-FFF2-40B4-BE49-F238E27FC236}">
                <a16:creationId xmlns:a16="http://schemas.microsoft.com/office/drawing/2014/main" id="{1074B154-4433-331F-7A27-B98B575F3870}"/>
              </a:ext>
            </a:extLst>
          </p:cNvPr>
          <p:cNvCxnSpPr>
            <a:cxnSpLocks/>
          </p:cNvCxnSpPr>
          <p:nvPr/>
        </p:nvCxnSpPr>
        <p:spPr>
          <a:xfrm>
            <a:off x="6149962" y="3384233"/>
            <a:ext cx="294246" cy="0"/>
          </a:xfrm>
          <a:prstGeom prst="straightConnector1">
            <a:avLst/>
          </a:prstGeom>
          <a:ln w="53975">
            <a:solidFill>
              <a:schemeClr val="accent3">
                <a:shade val="95000"/>
                <a:satMod val="105000"/>
              </a:schemeClr>
            </a:solidFill>
            <a:prstDash val="dash"/>
            <a:tailEnd type="triangle"/>
          </a:ln>
        </p:spPr>
        <p:style>
          <a:lnRef idx="1">
            <a:schemeClr val="accent3"/>
          </a:lnRef>
          <a:fillRef idx="0">
            <a:schemeClr val="accent3"/>
          </a:fillRef>
          <a:effectRef idx="0">
            <a:schemeClr val="accent3"/>
          </a:effectRef>
          <a:fontRef idx="minor">
            <a:schemeClr val="tx1"/>
          </a:fontRef>
        </p:style>
      </p:cxnSp>
      <p:cxnSp>
        <p:nvCxnSpPr>
          <p:cNvPr id="120" name="Conector recto de flecha 119">
            <a:extLst>
              <a:ext uri="{FF2B5EF4-FFF2-40B4-BE49-F238E27FC236}">
                <a16:creationId xmlns:a16="http://schemas.microsoft.com/office/drawing/2014/main" id="{9C387014-EF85-1490-DAD2-24E419079E39}"/>
              </a:ext>
            </a:extLst>
          </p:cNvPr>
          <p:cNvCxnSpPr>
            <a:cxnSpLocks/>
            <a:stCxn id="10" idx="2"/>
          </p:cNvCxnSpPr>
          <p:nvPr/>
        </p:nvCxnSpPr>
        <p:spPr>
          <a:xfrm>
            <a:off x="939690" y="2067793"/>
            <a:ext cx="319942" cy="836838"/>
          </a:xfrm>
          <a:prstGeom prst="straightConnector1">
            <a:avLst/>
          </a:prstGeom>
          <a:ln w="53975">
            <a:solidFill>
              <a:schemeClr val="accent3">
                <a:shade val="95000"/>
                <a:satMod val="105000"/>
              </a:schemeClr>
            </a:solidFill>
            <a:prstDash val="dash"/>
            <a:tailEnd type="triangle"/>
          </a:ln>
        </p:spPr>
        <p:style>
          <a:lnRef idx="1">
            <a:schemeClr val="accent3"/>
          </a:lnRef>
          <a:fillRef idx="0">
            <a:schemeClr val="accent3"/>
          </a:fillRef>
          <a:effectRef idx="0">
            <a:schemeClr val="accent3"/>
          </a:effectRef>
          <a:fontRef idx="minor">
            <a:schemeClr val="tx1"/>
          </a:fontRef>
        </p:style>
      </p:cxnSp>
      <p:sp>
        <p:nvSpPr>
          <p:cNvPr id="124" name="Rombo 123">
            <a:extLst>
              <a:ext uri="{FF2B5EF4-FFF2-40B4-BE49-F238E27FC236}">
                <a16:creationId xmlns:a16="http://schemas.microsoft.com/office/drawing/2014/main" id="{254642E3-4CD7-3104-15D2-408BBADE1645}"/>
              </a:ext>
            </a:extLst>
          </p:cNvPr>
          <p:cNvSpPr/>
          <p:nvPr/>
        </p:nvSpPr>
        <p:spPr>
          <a:xfrm>
            <a:off x="7964578" y="3138526"/>
            <a:ext cx="508389" cy="457928"/>
          </a:xfrm>
          <a:prstGeom prst="diamond">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5" name="Conector recto de flecha 124">
            <a:extLst>
              <a:ext uri="{FF2B5EF4-FFF2-40B4-BE49-F238E27FC236}">
                <a16:creationId xmlns:a16="http://schemas.microsoft.com/office/drawing/2014/main" id="{25E63C4A-4B79-63CF-A9DA-594546F125DA}"/>
              </a:ext>
            </a:extLst>
          </p:cNvPr>
          <p:cNvCxnSpPr>
            <a:cxnSpLocks/>
            <a:stCxn id="102" idx="3"/>
            <a:endCxn id="124" idx="1"/>
          </p:cNvCxnSpPr>
          <p:nvPr/>
        </p:nvCxnSpPr>
        <p:spPr>
          <a:xfrm>
            <a:off x="7325660" y="3344707"/>
            <a:ext cx="638918" cy="22783"/>
          </a:xfrm>
          <a:prstGeom prst="straightConnector1">
            <a:avLst/>
          </a:prstGeom>
          <a:ln w="53975">
            <a:solidFill>
              <a:schemeClr val="accent3">
                <a:shade val="95000"/>
                <a:satMod val="105000"/>
              </a:schemeClr>
            </a:solidFill>
            <a:prstDash val="solid"/>
            <a:tailEnd type="triangle"/>
          </a:ln>
        </p:spPr>
        <p:style>
          <a:lnRef idx="1">
            <a:schemeClr val="accent3"/>
          </a:lnRef>
          <a:fillRef idx="0">
            <a:schemeClr val="accent3"/>
          </a:fillRef>
          <a:effectRef idx="0">
            <a:schemeClr val="accent3"/>
          </a:effectRef>
          <a:fontRef idx="minor">
            <a:schemeClr val="tx1"/>
          </a:fontRef>
        </p:style>
      </p:cxnSp>
      <p:sp>
        <p:nvSpPr>
          <p:cNvPr id="128" name="CuadroTexto 127">
            <a:extLst>
              <a:ext uri="{FF2B5EF4-FFF2-40B4-BE49-F238E27FC236}">
                <a16:creationId xmlns:a16="http://schemas.microsoft.com/office/drawing/2014/main" id="{0CC74422-A71D-B7F8-9917-3065264DCDE0}"/>
              </a:ext>
            </a:extLst>
          </p:cNvPr>
          <p:cNvSpPr txBox="1"/>
          <p:nvPr/>
        </p:nvSpPr>
        <p:spPr>
          <a:xfrm>
            <a:off x="7213900" y="2411642"/>
            <a:ext cx="889090" cy="646331"/>
          </a:xfrm>
          <a:prstGeom prst="rect">
            <a:avLst/>
          </a:prstGeom>
          <a:noFill/>
        </p:spPr>
        <p:txBody>
          <a:bodyPr wrap="none" rtlCol="0">
            <a:spAutoFit/>
          </a:bodyPr>
          <a:lstStyle/>
          <a:p>
            <a:r>
              <a:rPr lang="en-US" sz="1200" dirty="0"/>
              <a:t>¿Se require</a:t>
            </a:r>
          </a:p>
          <a:p>
            <a:r>
              <a:rPr lang="en-US" sz="1200" dirty="0" err="1"/>
              <a:t>Revisión</a:t>
            </a:r>
            <a:r>
              <a:rPr lang="en-US" sz="1200" dirty="0"/>
              <a:t> </a:t>
            </a:r>
          </a:p>
          <a:p>
            <a:r>
              <a:rPr lang="en-US" sz="1200" dirty="0" err="1"/>
              <a:t>adicional</a:t>
            </a:r>
            <a:r>
              <a:rPr lang="en-US" sz="1200" dirty="0"/>
              <a:t>?</a:t>
            </a:r>
          </a:p>
        </p:txBody>
      </p:sp>
      <p:cxnSp>
        <p:nvCxnSpPr>
          <p:cNvPr id="131" name="Conector recto 130">
            <a:extLst>
              <a:ext uri="{FF2B5EF4-FFF2-40B4-BE49-F238E27FC236}">
                <a16:creationId xmlns:a16="http://schemas.microsoft.com/office/drawing/2014/main" id="{F38E462B-1C4B-AD98-831B-20BBC3BCADC9}"/>
              </a:ext>
            </a:extLst>
          </p:cNvPr>
          <p:cNvCxnSpPr/>
          <p:nvPr/>
        </p:nvCxnSpPr>
        <p:spPr>
          <a:xfrm flipV="1">
            <a:off x="8218772" y="1824232"/>
            <a:ext cx="0" cy="1314294"/>
          </a:xfrm>
          <a:prstGeom prst="line">
            <a:avLst/>
          </a:prstGeom>
          <a:ln w="5715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32" name="Conector recto 131">
            <a:extLst>
              <a:ext uri="{FF2B5EF4-FFF2-40B4-BE49-F238E27FC236}">
                <a16:creationId xmlns:a16="http://schemas.microsoft.com/office/drawing/2014/main" id="{F365018E-9797-F48C-5C18-AF93AF8D284B}"/>
              </a:ext>
            </a:extLst>
          </p:cNvPr>
          <p:cNvCxnSpPr>
            <a:cxnSpLocks/>
          </p:cNvCxnSpPr>
          <p:nvPr/>
        </p:nvCxnSpPr>
        <p:spPr>
          <a:xfrm>
            <a:off x="1828885" y="1781427"/>
            <a:ext cx="6389887" cy="42805"/>
          </a:xfrm>
          <a:prstGeom prst="line">
            <a:avLst/>
          </a:prstGeom>
          <a:ln w="5715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35" name="Conector recto 134">
            <a:extLst>
              <a:ext uri="{FF2B5EF4-FFF2-40B4-BE49-F238E27FC236}">
                <a16:creationId xmlns:a16="http://schemas.microsoft.com/office/drawing/2014/main" id="{D926DFDC-C709-CCFA-8C90-D7F54A8DBDBD}"/>
              </a:ext>
            </a:extLst>
          </p:cNvPr>
          <p:cNvCxnSpPr>
            <a:cxnSpLocks/>
          </p:cNvCxnSpPr>
          <p:nvPr/>
        </p:nvCxnSpPr>
        <p:spPr>
          <a:xfrm flipV="1">
            <a:off x="1828885" y="1772816"/>
            <a:ext cx="0" cy="1190386"/>
          </a:xfrm>
          <a:prstGeom prst="line">
            <a:avLst/>
          </a:prstGeom>
          <a:ln w="57150">
            <a:solidFill>
              <a:schemeClr val="accent3"/>
            </a:solidFill>
            <a:headEnd type="triangle"/>
          </a:ln>
        </p:spPr>
        <p:style>
          <a:lnRef idx="1">
            <a:schemeClr val="accent1"/>
          </a:lnRef>
          <a:fillRef idx="0">
            <a:schemeClr val="accent1"/>
          </a:fillRef>
          <a:effectRef idx="0">
            <a:schemeClr val="accent1"/>
          </a:effectRef>
          <a:fontRef idx="minor">
            <a:schemeClr val="tx1"/>
          </a:fontRef>
        </p:style>
      </p:cxnSp>
      <p:cxnSp>
        <p:nvCxnSpPr>
          <p:cNvPr id="137" name="Conector recto 136">
            <a:extLst>
              <a:ext uri="{FF2B5EF4-FFF2-40B4-BE49-F238E27FC236}">
                <a16:creationId xmlns:a16="http://schemas.microsoft.com/office/drawing/2014/main" id="{25923079-D608-052E-615E-1BA802EB2AA8}"/>
              </a:ext>
            </a:extLst>
          </p:cNvPr>
          <p:cNvCxnSpPr>
            <a:cxnSpLocks/>
          </p:cNvCxnSpPr>
          <p:nvPr/>
        </p:nvCxnSpPr>
        <p:spPr>
          <a:xfrm flipV="1">
            <a:off x="8218772" y="3540016"/>
            <a:ext cx="0" cy="828000"/>
          </a:xfrm>
          <a:prstGeom prst="line">
            <a:avLst/>
          </a:prstGeom>
          <a:ln w="57150">
            <a:solidFill>
              <a:schemeClr val="accent3"/>
            </a:solidFill>
            <a:headEnd type="triangle"/>
          </a:ln>
        </p:spPr>
        <p:style>
          <a:lnRef idx="1">
            <a:schemeClr val="accent1"/>
          </a:lnRef>
          <a:fillRef idx="0">
            <a:schemeClr val="accent1"/>
          </a:fillRef>
          <a:effectRef idx="0">
            <a:schemeClr val="accent1"/>
          </a:effectRef>
          <a:fontRef idx="minor">
            <a:schemeClr val="tx1"/>
          </a:fontRef>
        </p:style>
      </p:cxnSp>
      <p:cxnSp>
        <p:nvCxnSpPr>
          <p:cNvPr id="139" name="Conector recto 138">
            <a:extLst>
              <a:ext uri="{FF2B5EF4-FFF2-40B4-BE49-F238E27FC236}">
                <a16:creationId xmlns:a16="http://schemas.microsoft.com/office/drawing/2014/main" id="{DC2E8F90-5BD4-A34B-462B-F5E6DD22F50E}"/>
              </a:ext>
            </a:extLst>
          </p:cNvPr>
          <p:cNvCxnSpPr>
            <a:cxnSpLocks/>
          </p:cNvCxnSpPr>
          <p:nvPr/>
        </p:nvCxnSpPr>
        <p:spPr>
          <a:xfrm flipV="1">
            <a:off x="8218772" y="5130898"/>
            <a:ext cx="0" cy="468000"/>
          </a:xfrm>
          <a:prstGeom prst="line">
            <a:avLst/>
          </a:prstGeom>
          <a:ln w="57150">
            <a:solidFill>
              <a:schemeClr val="accent3"/>
            </a:solidFill>
            <a:headEnd type="triangle"/>
          </a:ln>
        </p:spPr>
        <p:style>
          <a:lnRef idx="1">
            <a:schemeClr val="accent1"/>
          </a:lnRef>
          <a:fillRef idx="0">
            <a:schemeClr val="accent1"/>
          </a:fillRef>
          <a:effectRef idx="0">
            <a:schemeClr val="accent1"/>
          </a:effectRef>
          <a:fontRef idx="minor">
            <a:schemeClr val="tx1"/>
          </a:fontRef>
        </p:style>
      </p:cxnSp>
      <p:sp>
        <p:nvSpPr>
          <p:cNvPr id="140" name="CuadroTexto 139">
            <a:extLst>
              <a:ext uri="{FF2B5EF4-FFF2-40B4-BE49-F238E27FC236}">
                <a16:creationId xmlns:a16="http://schemas.microsoft.com/office/drawing/2014/main" id="{B931ACD6-7B74-F907-C1BB-CA191313EC43}"/>
              </a:ext>
            </a:extLst>
          </p:cNvPr>
          <p:cNvSpPr txBox="1"/>
          <p:nvPr/>
        </p:nvSpPr>
        <p:spPr>
          <a:xfrm>
            <a:off x="7692850" y="3589611"/>
            <a:ext cx="2858042" cy="369332"/>
          </a:xfrm>
          <a:prstGeom prst="rect">
            <a:avLst/>
          </a:prstGeom>
          <a:noFill/>
        </p:spPr>
        <p:txBody>
          <a:bodyPr wrap="square" rtlCol="0">
            <a:spAutoFit/>
          </a:bodyPr>
          <a:lstStyle/>
          <a:p>
            <a:r>
              <a:rPr lang="en-US" dirty="0"/>
              <a:t>No</a:t>
            </a:r>
          </a:p>
        </p:txBody>
      </p:sp>
      <p:sp>
        <p:nvSpPr>
          <p:cNvPr id="141" name="CuadroTexto 140">
            <a:extLst>
              <a:ext uri="{FF2B5EF4-FFF2-40B4-BE49-F238E27FC236}">
                <a16:creationId xmlns:a16="http://schemas.microsoft.com/office/drawing/2014/main" id="{9C566408-575B-E693-8E45-4404043C50C5}"/>
              </a:ext>
            </a:extLst>
          </p:cNvPr>
          <p:cNvSpPr txBox="1"/>
          <p:nvPr/>
        </p:nvSpPr>
        <p:spPr>
          <a:xfrm>
            <a:off x="8272843" y="2790010"/>
            <a:ext cx="2858042" cy="369332"/>
          </a:xfrm>
          <a:prstGeom prst="rect">
            <a:avLst/>
          </a:prstGeom>
          <a:noFill/>
        </p:spPr>
        <p:txBody>
          <a:bodyPr wrap="square" rtlCol="0">
            <a:spAutoFit/>
          </a:bodyPr>
          <a:lstStyle/>
          <a:p>
            <a:r>
              <a:rPr lang="en-US" dirty="0"/>
              <a:t>Si</a:t>
            </a:r>
          </a:p>
        </p:txBody>
      </p:sp>
      <p:grpSp>
        <p:nvGrpSpPr>
          <p:cNvPr id="142" name="Grupo 141">
            <a:extLst>
              <a:ext uri="{FF2B5EF4-FFF2-40B4-BE49-F238E27FC236}">
                <a16:creationId xmlns:a16="http://schemas.microsoft.com/office/drawing/2014/main" id="{635C0D13-8F91-337F-F4E9-B0900CF90F25}"/>
              </a:ext>
            </a:extLst>
          </p:cNvPr>
          <p:cNvGrpSpPr/>
          <p:nvPr/>
        </p:nvGrpSpPr>
        <p:grpSpPr>
          <a:xfrm>
            <a:off x="4584694" y="4981893"/>
            <a:ext cx="1217346" cy="650849"/>
            <a:chOff x="5357" y="1551582"/>
            <a:chExt cx="1601390" cy="960834"/>
          </a:xfrm>
        </p:grpSpPr>
        <p:sp>
          <p:nvSpPr>
            <p:cNvPr id="143" name="Rectángulo redondeado 142">
              <a:extLst>
                <a:ext uri="{FF2B5EF4-FFF2-40B4-BE49-F238E27FC236}">
                  <a16:creationId xmlns:a16="http://schemas.microsoft.com/office/drawing/2014/main" id="{7B439606-F5DA-449D-4240-411AB51C19EE}"/>
                </a:ext>
              </a:extLst>
            </p:cNvPr>
            <p:cNvSpPr/>
            <p:nvPr/>
          </p:nvSpPr>
          <p:spPr>
            <a:xfrm>
              <a:off x="5357" y="1551582"/>
              <a:ext cx="1601390" cy="960834"/>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44" name="CuadroTexto 143">
              <a:extLst>
                <a:ext uri="{FF2B5EF4-FFF2-40B4-BE49-F238E27FC236}">
                  <a16:creationId xmlns:a16="http://schemas.microsoft.com/office/drawing/2014/main" id="{126678EC-15A4-2510-45FE-0BCAF4D9489F}"/>
                </a:ext>
              </a:extLst>
            </p:cNvPr>
            <p:cNvSpPr txBox="1"/>
            <p:nvPr/>
          </p:nvSpPr>
          <p:spPr>
            <a:xfrm>
              <a:off x="33499" y="1579724"/>
              <a:ext cx="1545106" cy="904550"/>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33350" tIns="133350" rIns="133350" bIns="133350" numCol="1" spcCol="1270" anchor="ctr" anchorCtr="0">
              <a:noAutofit/>
            </a:bodyPr>
            <a:lstStyle/>
            <a:p>
              <a:pPr marL="0" lvl="0" indent="0" algn="ctr" defTabSz="1555750">
                <a:lnSpc>
                  <a:spcPct val="90000"/>
                </a:lnSpc>
                <a:spcBef>
                  <a:spcPct val="0"/>
                </a:spcBef>
                <a:spcAft>
                  <a:spcPct val="35000"/>
                </a:spcAft>
                <a:buNone/>
              </a:pPr>
              <a:r>
                <a:rPr lang="es-MX" sz="1200" kern="1200" dirty="0"/>
                <a:t>Requsitos e historias de usuario</a:t>
              </a:r>
            </a:p>
          </p:txBody>
        </p:sp>
      </p:grpSp>
      <p:grpSp>
        <p:nvGrpSpPr>
          <p:cNvPr id="145" name="Grupo 144">
            <a:extLst>
              <a:ext uri="{FF2B5EF4-FFF2-40B4-BE49-F238E27FC236}">
                <a16:creationId xmlns:a16="http://schemas.microsoft.com/office/drawing/2014/main" id="{95728B07-EA94-8BB9-4B3B-319E5678493D}"/>
              </a:ext>
            </a:extLst>
          </p:cNvPr>
          <p:cNvGrpSpPr/>
          <p:nvPr/>
        </p:nvGrpSpPr>
        <p:grpSpPr>
          <a:xfrm>
            <a:off x="5923287" y="5013708"/>
            <a:ext cx="1059682" cy="619034"/>
            <a:chOff x="5357" y="1551582"/>
            <a:chExt cx="1601390" cy="960834"/>
          </a:xfrm>
        </p:grpSpPr>
        <p:sp>
          <p:nvSpPr>
            <p:cNvPr id="146" name="Rectángulo redondeado 145">
              <a:extLst>
                <a:ext uri="{FF2B5EF4-FFF2-40B4-BE49-F238E27FC236}">
                  <a16:creationId xmlns:a16="http://schemas.microsoft.com/office/drawing/2014/main" id="{6C91650B-AF84-94EB-E8D0-1974BC756FDA}"/>
                </a:ext>
              </a:extLst>
            </p:cNvPr>
            <p:cNvSpPr/>
            <p:nvPr/>
          </p:nvSpPr>
          <p:spPr>
            <a:xfrm>
              <a:off x="5357" y="1551582"/>
              <a:ext cx="1601390" cy="960834"/>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47" name="CuadroTexto 146">
              <a:extLst>
                <a:ext uri="{FF2B5EF4-FFF2-40B4-BE49-F238E27FC236}">
                  <a16:creationId xmlns:a16="http://schemas.microsoft.com/office/drawing/2014/main" id="{34B86AC1-B783-CC50-EC9B-8F40B8DB93EE}"/>
                </a:ext>
              </a:extLst>
            </p:cNvPr>
            <p:cNvSpPr txBox="1"/>
            <p:nvPr/>
          </p:nvSpPr>
          <p:spPr>
            <a:xfrm>
              <a:off x="33499" y="1579724"/>
              <a:ext cx="1545106" cy="904550"/>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33350" tIns="133350" rIns="133350" bIns="133350" numCol="1" spcCol="1270" anchor="ctr" anchorCtr="0">
              <a:noAutofit/>
            </a:bodyPr>
            <a:lstStyle/>
            <a:p>
              <a:pPr marL="0" lvl="0" indent="0" algn="ctr" defTabSz="1555750">
                <a:lnSpc>
                  <a:spcPct val="90000"/>
                </a:lnSpc>
                <a:spcBef>
                  <a:spcPct val="0"/>
                </a:spcBef>
                <a:spcAft>
                  <a:spcPct val="35000"/>
                </a:spcAft>
                <a:buNone/>
              </a:pPr>
              <a:r>
                <a:rPr lang="es-MX" sz="1200" kern="1200" dirty="0"/>
                <a:t>Documento Diseño</a:t>
              </a:r>
            </a:p>
          </p:txBody>
        </p:sp>
      </p:grpSp>
      <p:cxnSp>
        <p:nvCxnSpPr>
          <p:cNvPr id="148" name="Conector recto de flecha 147">
            <a:extLst>
              <a:ext uri="{FF2B5EF4-FFF2-40B4-BE49-F238E27FC236}">
                <a16:creationId xmlns:a16="http://schemas.microsoft.com/office/drawing/2014/main" id="{22D25489-735B-83AB-6938-248F7355BA7D}"/>
              </a:ext>
            </a:extLst>
          </p:cNvPr>
          <p:cNvCxnSpPr>
            <a:cxnSpLocks/>
          </p:cNvCxnSpPr>
          <p:nvPr/>
        </p:nvCxnSpPr>
        <p:spPr>
          <a:xfrm flipV="1">
            <a:off x="5365984" y="3596454"/>
            <a:ext cx="142120" cy="1319301"/>
          </a:xfrm>
          <a:prstGeom prst="straightConnector1">
            <a:avLst/>
          </a:prstGeom>
          <a:ln w="53975">
            <a:solidFill>
              <a:schemeClr val="accent3">
                <a:shade val="95000"/>
                <a:satMod val="105000"/>
              </a:schemeClr>
            </a:solidFill>
            <a:prstDash val="dash"/>
            <a:tailEnd type="triangle"/>
          </a:ln>
        </p:spPr>
        <p:style>
          <a:lnRef idx="1">
            <a:schemeClr val="accent3"/>
          </a:lnRef>
          <a:fillRef idx="0">
            <a:schemeClr val="accent3"/>
          </a:fillRef>
          <a:effectRef idx="0">
            <a:schemeClr val="accent3"/>
          </a:effectRef>
          <a:fontRef idx="minor">
            <a:schemeClr val="tx1"/>
          </a:fontRef>
        </p:style>
      </p:cxnSp>
      <p:cxnSp>
        <p:nvCxnSpPr>
          <p:cNvPr id="151" name="Conector recto de flecha 150">
            <a:extLst>
              <a:ext uri="{FF2B5EF4-FFF2-40B4-BE49-F238E27FC236}">
                <a16:creationId xmlns:a16="http://schemas.microsoft.com/office/drawing/2014/main" id="{60F67566-9753-7C32-FF7F-422F82A22EDE}"/>
              </a:ext>
            </a:extLst>
          </p:cNvPr>
          <p:cNvCxnSpPr>
            <a:cxnSpLocks/>
            <a:endCxn id="103" idx="2"/>
          </p:cNvCxnSpPr>
          <p:nvPr/>
        </p:nvCxnSpPr>
        <p:spPr>
          <a:xfrm flipH="1" flipV="1">
            <a:off x="5636725" y="3657600"/>
            <a:ext cx="730202" cy="1283568"/>
          </a:xfrm>
          <a:prstGeom prst="straightConnector1">
            <a:avLst/>
          </a:prstGeom>
          <a:ln w="53975">
            <a:solidFill>
              <a:schemeClr val="accent3">
                <a:shade val="95000"/>
                <a:satMod val="105000"/>
              </a:schemeClr>
            </a:solidFill>
            <a:prstDash val="dash"/>
            <a:tailEnd type="triangle"/>
          </a:ln>
        </p:spPr>
        <p:style>
          <a:lnRef idx="1">
            <a:schemeClr val="accent3"/>
          </a:lnRef>
          <a:fillRef idx="0">
            <a:schemeClr val="accent3"/>
          </a:fillRef>
          <a:effectRef idx="0">
            <a:schemeClr val="accent3"/>
          </a:effectRef>
          <a:fontRef idx="minor">
            <a:schemeClr val="tx1"/>
          </a:fontRef>
        </p:style>
      </p:cxnSp>
    </p:spTree>
    <p:extLst>
      <p:ext uri="{BB962C8B-B14F-4D97-AF65-F5344CB8AC3E}">
        <p14:creationId xmlns:p14="http://schemas.microsoft.com/office/powerpoint/2010/main" val="28432441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755577" y="-261973"/>
            <a:ext cx="8229600" cy="1143000"/>
          </a:xfrm>
        </p:spPr>
        <p:txBody>
          <a:bodyPr>
            <a:normAutofit/>
          </a:bodyPr>
          <a:lstStyle/>
          <a:p>
            <a:r>
              <a:rPr lang="es-CO" sz="3200" b="1" dirty="0"/>
              <a:t>Proceso Validación y Verificación</a:t>
            </a:r>
          </a:p>
        </p:txBody>
      </p:sp>
      <p:sp>
        <p:nvSpPr>
          <p:cNvPr id="3" name="CuadroTexto 2">
            <a:extLst>
              <a:ext uri="{FF2B5EF4-FFF2-40B4-BE49-F238E27FC236}">
                <a16:creationId xmlns:a16="http://schemas.microsoft.com/office/drawing/2014/main" id="{17FD4F7B-CCF2-2470-0DCF-2A8120F86B5E}"/>
              </a:ext>
            </a:extLst>
          </p:cNvPr>
          <p:cNvSpPr txBox="1"/>
          <p:nvPr/>
        </p:nvSpPr>
        <p:spPr>
          <a:xfrm>
            <a:off x="755577" y="1412776"/>
            <a:ext cx="2880320" cy="646331"/>
          </a:xfrm>
          <a:prstGeom prst="rect">
            <a:avLst/>
          </a:prstGeom>
          <a:noFill/>
        </p:spPr>
        <p:txBody>
          <a:bodyPr wrap="square" rtlCol="0">
            <a:spAutoFit/>
          </a:bodyPr>
          <a:lstStyle/>
          <a:p>
            <a:endParaRPr lang="es-CO" b="1" dirty="0">
              <a:effectLst/>
              <a:latin typeface="Helvetica" pitchFamily="2" charset="0"/>
            </a:endParaRPr>
          </a:p>
          <a:p>
            <a:endParaRPr lang="en-US" dirty="0"/>
          </a:p>
        </p:txBody>
      </p:sp>
      <p:grpSp>
        <p:nvGrpSpPr>
          <p:cNvPr id="6" name="Grupo 5">
            <a:extLst>
              <a:ext uri="{FF2B5EF4-FFF2-40B4-BE49-F238E27FC236}">
                <a16:creationId xmlns:a16="http://schemas.microsoft.com/office/drawing/2014/main" id="{765A1C59-170E-0474-0695-A2E30C50433D}"/>
              </a:ext>
            </a:extLst>
          </p:cNvPr>
          <p:cNvGrpSpPr/>
          <p:nvPr/>
        </p:nvGrpSpPr>
        <p:grpSpPr>
          <a:xfrm>
            <a:off x="36606" y="3990384"/>
            <a:ext cx="1601390" cy="960834"/>
            <a:chOff x="5357" y="1551582"/>
            <a:chExt cx="1601390" cy="960834"/>
          </a:xfrm>
          <a:solidFill>
            <a:schemeClr val="tx2">
              <a:lumMod val="60000"/>
              <a:lumOff val="40000"/>
            </a:schemeClr>
          </a:solidFill>
        </p:grpSpPr>
        <p:sp>
          <p:nvSpPr>
            <p:cNvPr id="7" name="Rectángulo redondeado 6">
              <a:extLst>
                <a:ext uri="{FF2B5EF4-FFF2-40B4-BE49-F238E27FC236}">
                  <a16:creationId xmlns:a16="http://schemas.microsoft.com/office/drawing/2014/main" id="{D317E007-C5B4-5E7B-937E-8E790987410E}"/>
                </a:ext>
              </a:extLst>
            </p:cNvPr>
            <p:cNvSpPr/>
            <p:nvPr/>
          </p:nvSpPr>
          <p:spPr>
            <a:xfrm>
              <a:off x="5357" y="1551582"/>
              <a:ext cx="1601390" cy="960834"/>
            </a:xfrm>
            <a:prstGeom prst="roundRect">
              <a:avLst>
                <a:gd name="adj" fmla="val 10000"/>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8" name="CuadroTexto 7">
              <a:extLst>
                <a:ext uri="{FF2B5EF4-FFF2-40B4-BE49-F238E27FC236}">
                  <a16:creationId xmlns:a16="http://schemas.microsoft.com/office/drawing/2014/main" id="{BA9780F2-0D8C-0489-F8FD-AE7E737B694E}"/>
                </a:ext>
              </a:extLst>
            </p:cNvPr>
            <p:cNvSpPr txBox="1"/>
            <p:nvPr/>
          </p:nvSpPr>
          <p:spPr>
            <a:xfrm>
              <a:off x="33499" y="1579724"/>
              <a:ext cx="1545106" cy="904550"/>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133350" tIns="133350" rIns="133350" bIns="133350" numCol="1" spcCol="1270" anchor="ctr" anchorCtr="0">
              <a:noAutofit/>
            </a:bodyPr>
            <a:lstStyle/>
            <a:p>
              <a:pPr marL="0" lvl="0" indent="0" algn="ctr" defTabSz="1555750">
                <a:lnSpc>
                  <a:spcPct val="90000"/>
                </a:lnSpc>
                <a:spcBef>
                  <a:spcPct val="0"/>
                </a:spcBef>
                <a:spcAft>
                  <a:spcPct val="35000"/>
                </a:spcAft>
                <a:buNone/>
              </a:pPr>
              <a:r>
                <a:rPr lang="es-MX" sz="1600" kern="1200" dirty="0"/>
                <a:t>Producto de Software</a:t>
              </a:r>
            </a:p>
          </p:txBody>
        </p:sp>
      </p:grpSp>
      <p:grpSp>
        <p:nvGrpSpPr>
          <p:cNvPr id="9" name="Grupo 8">
            <a:extLst>
              <a:ext uri="{FF2B5EF4-FFF2-40B4-BE49-F238E27FC236}">
                <a16:creationId xmlns:a16="http://schemas.microsoft.com/office/drawing/2014/main" id="{10BA2B0D-D099-B836-C568-5EAA0764BA90}"/>
              </a:ext>
            </a:extLst>
          </p:cNvPr>
          <p:cNvGrpSpPr/>
          <p:nvPr/>
        </p:nvGrpSpPr>
        <p:grpSpPr>
          <a:xfrm>
            <a:off x="57134" y="1747680"/>
            <a:ext cx="1601390" cy="960834"/>
            <a:chOff x="5357" y="1551582"/>
            <a:chExt cx="1601390" cy="960834"/>
          </a:xfrm>
          <a:solidFill>
            <a:schemeClr val="tx2">
              <a:lumMod val="60000"/>
              <a:lumOff val="40000"/>
            </a:schemeClr>
          </a:solidFill>
        </p:grpSpPr>
        <p:sp>
          <p:nvSpPr>
            <p:cNvPr id="10" name="Rectángulo redondeado 9">
              <a:extLst>
                <a:ext uri="{FF2B5EF4-FFF2-40B4-BE49-F238E27FC236}">
                  <a16:creationId xmlns:a16="http://schemas.microsoft.com/office/drawing/2014/main" id="{8A012B86-0B74-A604-0B1A-23CCF2BD24D3}"/>
                </a:ext>
              </a:extLst>
            </p:cNvPr>
            <p:cNvSpPr/>
            <p:nvPr/>
          </p:nvSpPr>
          <p:spPr>
            <a:xfrm>
              <a:off x="5357" y="1551582"/>
              <a:ext cx="1601390" cy="960834"/>
            </a:xfrm>
            <a:prstGeom prst="roundRect">
              <a:avLst>
                <a:gd name="adj" fmla="val 10000"/>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1" name="CuadroTexto 10">
              <a:extLst>
                <a:ext uri="{FF2B5EF4-FFF2-40B4-BE49-F238E27FC236}">
                  <a16:creationId xmlns:a16="http://schemas.microsoft.com/office/drawing/2014/main" id="{54A0872D-EF88-E6A2-3224-CDB3E8775359}"/>
                </a:ext>
              </a:extLst>
            </p:cNvPr>
            <p:cNvSpPr txBox="1"/>
            <p:nvPr/>
          </p:nvSpPr>
          <p:spPr>
            <a:xfrm>
              <a:off x="33499" y="1579724"/>
              <a:ext cx="1545106" cy="904550"/>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133350" tIns="133350" rIns="133350" bIns="133350" numCol="1" spcCol="1270" anchor="ctr" anchorCtr="0">
              <a:noAutofit/>
            </a:bodyPr>
            <a:lstStyle/>
            <a:p>
              <a:pPr marL="0" lvl="0" indent="0" algn="ctr" defTabSz="1555750">
                <a:lnSpc>
                  <a:spcPct val="90000"/>
                </a:lnSpc>
                <a:spcBef>
                  <a:spcPct val="0"/>
                </a:spcBef>
                <a:spcAft>
                  <a:spcPct val="35000"/>
                </a:spcAft>
                <a:buNone/>
              </a:pPr>
              <a:r>
                <a:rPr lang="es-MX" sz="1600" kern="1200" dirty="0"/>
                <a:t>Documento de Requisitos / Historias de Usuario</a:t>
              </a:r>
            </a:p>
          </p:txBody>
        </p:sp>
      </p:grpSp>
      <p:grpSp>
        <p:nvGrpSpPr>
          <p:cNvPr id="12" name="Grupo 11">
            <a:extLst>
              <a:ext uri="{FF2B5EF4-FFF2-40B4-BE49-F238E27FC236}">
                <a16:creationId xmlns:a16="http://schemas.microsoft.com/office/drawing/2014/main" id="{7CE880D6-77E7-FE4F-1A9A-BBA891A6909C}"/>
              </a:ext>
            </a:extLst>
          </p:cNvPr>
          <p:cNvGrpSpPr/>
          <p:nvPr/>
        </p:nvGrpSpPr>
        <p:grpSpPr>
          <a:xfrm>
            <a:off x="944740" y="699599"/>
            <a:ext cx="1330227" cy="675933"/>
            <a:chOff x="5357" y="1551582"/>
            <a:chExt cx="1601390" cy="960834"/>
          </a:xfrm>
          <a:solidFill>
            <a:schemeClr val="accent3"/>
          </a:solidFill>
        </p:grpSpPr>
        <p:sp>
          <p:nvSpPr>
            <p:cNvPr id="13" name="Rectángulo redondeado 12">
              <a:extLst>
                <a:ext uri="{FF2B5EF4-FFF2-40B4-BE49-F238E27FC236}">
                  <a16:creationId xmlns:a16="http://schemas.microsoft.com/office/drawing/2014/main" id="{D182F452-2062-43BD-FC45-DC70CE4E9F7A}"/>
                </a:ext>
              </a:extLst>
            </p:cNvPr>
            <p:cNvSpPr/>
            <p:nvPr/>
          </p:nvSpPr>
          <p:spPr>
            <a:xfrm>
              <a:off x="5357" y="1551582"/>
              <a:ext cx="1601390" cy="960834"/>
            </a:xfrm>
            <a:prstGeom prst="roundRect">
              <a:avLst>
                <a:gd name="adj" fmla="val 10000"/>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4" name="CuadroTexto 13">
              <a:extLst>
                <a:ext uri="{FF2B5EF4-FFF2-40B4-BE49-F238E27FC236}">
                  <a16:creationId xmlns:a16="http://schemas.microsoft.com/office/drawing/2014/main" id="{7900C627-0F6D-0978-1463-2573F58A64D4}"/>
                </a:ext>
              </a:extLst>
            </p:cNvPr>
            <p:cNvSpPr txBox="1"/>
            <p:nvPr/>
          </p:nvSpPr>
          <p:spPr>
            <a:xfrm>
              <a:off x="33499" y="1579724"/>
              <a:ext cx="1545106" cy="904550"/>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133350" tIns="133350" rIns="133350" bIns="133350" numCol="1" spcCol="1270" anchor="ctr" anchorCtr="0">
              <a:noAutofit/>
            </a:bodyPr>
            <a:lstStyle/>
            <a:p>
              <a:pPr marL="0" lvl="0" indent="0" algn="ctr" defTabSz="1555750">
                <a:lnSpc>
                  <a:spcPct val="90000"/>
                </a:lnSpc>
                <a:spcBef>
                  <a:spcPct val="0"/>
                </a:spcBef>
                <a:spcAft>
                  <a:spcPct val="35000"/>
                </a:spcAft>
                <a:buNone/>
              </a:pPr>
              <a:r>
                <a:rPr lang="es-MX" sz="1600" kern="1200" dirty="0"/>
                <a:t>Plan de Proyecto</a:t>
              </a:r>
            </a:p>
          </p:txBody>
        </p:sp>
      </p:grpSp>
      <p:grpSp>
        <p:nvGrpSpPr>
          <p:cNvPr id="15" name="Grupo 14">
            <a:extLst>
              <a:ext uri="{FF2B5EF4-FFF2-40B4-BE49-F238E27FC236}">
                <a16:creationId xmlns:a16="http://schemas.microsoft.com/office/drawing/2014/main" id="{B410D851-FBCC-F2B4-66DD-5664F15EB163}"/>
              </a:ext>
            </a:extLst>
          </p:cNvPr>
          <p:cNvGrpSpPr/>
          <p:nvPr/>
        </p:nvGrpSpPr>
        <p:grpSpPr>
          <a:xfrm>
            <a:off x="2393730" y="699599"/>
            <a:ext cx="1330227" cy="675933"/>
            <a:chOff x="5357" y="1551582"/>
            <a:chExt cx="1601390" cy="960834"/>
          </a:xfrm>
          <a:solidFill>
            <a:schemeClr val="accent3"/>
          </a:solidFill>
        </p:grpSpPr>
        <p:sp>
          <p:nvSpPr>
            <p:cNvPr id="16" name="Rectángulo redondeado 15">
              <a:extLst>
                <a:ext uri="{FF2B5EF4-FFF2-40B4-BE49-F238E27FC236}">
                  <a16:creationId xmlns:a16="http://schemas.microsoft.com/office/drawing/2014/main" id="{8F61AE44-BFB9-799F-B81B-BF88C61C7A85}"/>
                </a:ext>
              </a:extLst>
            </p:cNvPr>
            <p:cNvSpPr/>
            <p:nvPr/>
          </p:nvSpPr>
          <p:spPr>
            <a:xfrm>
              <a:off x="5357" y="1551582"/>
              <a:ext cx="1601390" cy="960834"/>
            </a:xfrm>
            <a:prstGeom prst="roundRect">
              <a:avLst>
                <a:gd name="adj" fmla="val 10000"/>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7" name="CuadroTexto 16">
              <a:extLst>
                <a:ext uri="{FF2B5EF4-FFF2-40B4-BE49-F238E27FC236}">
                  <a16:creationId xmlns:a16="http://schemas.microsoft.com/office/drawing/2014/main" id="{0BDA1801-03D3-0258-3417-341596042390}"/>
                </a:ext>
              </a:extLst>
            </p:cNvPr>
            <p:cNvSpPr txBox="1"/>
            <p:nvPr/>
          </p:nvSpPr>
          <p:spPr>
            <a:xfrm>
              <a:off x="33499" y="1579724"/>
              <a:ext cx="1545106" cy="904550"/>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133350" tIns="133350" rIns="133350" bIns="133350" numCol="1" spcCol="1270" anchor="ctr" anchorCtr="0">
              <a:noAutofit/>
            </a:bodyPr>
            <a:lstStyle/>
            <a:p>
              <a:pPr marL="0" lvl="0" indent="0" algn="ctr" defTabSz="1555750">
                <a:lnSpc>
                  <a:spcPct val="90000"/>
                </a:lnSpc>
                <a:spcBef>
                  <a:spcPct val="0"/>
                </a:spcBef>
                <a:spcAft>
                  <a:spcPct val="35000"/>
                </a:spcAft>
                <a:buNone/>
              </a:pPr>
              <a:r>
                <a:rPr lang="es-MX" sz="1600" kern="1200" dirty="0"/>
                <a:t>Reglas de Negocio</a:t>
              </a:r>
            </a:p>
          </p:txBody>
        </p:sp>
      </p:grpSp>
      <p:grpSp>
        <p:nvGrpSpPr>
          <p:cNvPr id="18" name="Grupo 17">
            <a:extLst>
              <a:ext uri="{FF2B5EF4-FFF2-40B4-BE49-F238E27FC236}">
                <a16:creationId xmlns:a16="http://schemas.microsoft.com/office/drawing/2014/main" id="{940665A7-2E58-00D2-3B5A-78364E52AEC7}"/>
              </a:ext>
            </a:extLst>
          </p:cNvPr>
          <p:cNvGrpSpPr/>
          <p:nvPr/>
        </p:nvGrpSpPr>
        <p:grpSpPr>
          <a:xfrm>
            <a:off x="28992" y="2867132"/>
            <a:ext cx="1601390" cy="960834"/>
            <a:chOff x="5357" y="1551582"/>
            <a:chExt cx="1601390" cy="960834"/>
          </a:xfrm>
          <a:solidFill>
            <a:schemeClr val="tx2">
              <a:lumMod val="60000"/>
              <a:lumOff val="40000"/>
            </a:schemeClr>
          </a:solidFill>
        </p:grpSpPr>
        <p:sp>
          <p:nvSpPr>
            <p:cNvPr id="19" name="Rectángulo redondeado 18">
              <a:extLst>
                <a:ext uri="{FF2B5EF4-FFF2-40B4-BE49-F238E27FC236}">
                  <a16:creationId xmlns:a16="http://schemas.microsoft.com/office/drawing/2014/main" id="{470FAD6D-2D72-7934-F7C1-522E4C2EB9CF}"/>
                </a:ext>
              </a:extLst>
            </p:cNvPr>
            <p:cNvSpPr/>
            <p:nvPr/>
          </p:nvSpPr>
          <p:spPr>
            <a:xfrm>
              <a:off x="5357" y="1551582"/>
              <a:ext cx="1601390" cy="960834"/>
            </a:xfrm>
            <a:prstGeom prst="roundRect">
              <a:avLst>
                <a:gd name="adj" fmla="val 10000"/>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20" name="CuadroTexto 19">
              <a:extLst>
                <a:ext uri="{FF2B5EF4-FFF2-40B4-BE49-F238E27FC236}">
                  <a16:creationId xmlns:a16="http://schemas.microsoft.com/office/drawing/2014/main" id="{201C77FE-94A0-6DE7-2A59-1BFDEACA1AD5}"/>
                </a:ext>
              </a:extLst>
            </p:cNvPr>
            <p:cNvSpPr txBox="1"/>
            <p:nvPr/>
          </p:nvSpPr>
          <p:spPr>
            <a:xfrm>
              <a:off x="33499" y="1579724"/>
              <a:ext cx="1545106" cy="904550"/>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133350" tIns="133350" rIns="133350" bIns="133350" numCol="1" spcCol="1270" anchor="ctr" anchorCtr="0">
              <a:noAutofit/>
            </a:bodyPr>
            <a:lstStyle/>
            <a:p>
              <a:pPr marL="0" lvl="0" indent="0" algn="ctr" defTabSz="1555750">
                <a:lnSpc>
                  <a:spcPct val="90000"/>
                </a:lnSpc>
                <a:spcBef>
                  <a:spcPct val="0"/>
                </a:spcBef>
                <a:spcAft>
                  <a:spcPct val="35000"/>
                </a:spcAft>
                <a:buNone/>
              </a:pPr>
              <a:r>
                <a:rPr lang="es-MX" sz="1600" kern="1200" dirty="0"/>
                <a:t>Documento de Diseño</a:t>
              </a:r>
            </a:p>
          </p:txBody>
        </p:sp>
      </p:grpSp>
      <p:sp>
        <p:nvSpPr>
          <p:cNvPr id="21" name="Rectángulo redondeado 20">
            <a:extLst>
              <a:ext uri="{FF2B5EF4-FFF2-40B4-BE49-F238E27FC236}">
                <a16:creationId xmlns:a16="http://schemas.microsoft.com/office/drawing/2014/main" id="{FFBEEA73-2703-5D54-DF45-CE4683187748}"/>
              </a:ext>
            </a:extLst>
          </p:cNvPr>
          <p:cNvSpPr/>
          <p:nvPr/>
        </p:nvSpPr>
        <p:spPr>
          <a:xfrm>
            <a:off x="5133194" y="625613"/>
            <a:ext cx="2265341" cy="948999"/>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pPr algn="ctr"/>
            <a:r>
              <a:rPr lang="en-US" dirty="0" err="1"/>
              <a:t>Objetivo</a:t>
            </a:r>
            <a:r>
              <a:rPr lang="en-US" dirty="0"/>
              <a:t> </a:t>
            </a:r>
          </a:p>
          <a:p>
            <a:pPr algn="ctr"/>
            <a:r>
              <a:rPr lang="en-US" dirty="0" err="1"/>
              <a:t>Asegurar</a:t>
            </a:r>
            <a:r>
              <a:rPr lang="en-US" dirty="0"/>
              <a:t> la Calidad del </a:t>
            </a:r>
            <a:r>
              <a:rPr lang="en-US" dirty="0" err="1"/>
              <a:t>producto</a:t>
            </a:r>
            <a:endParaRPr lang="en-US" dirty="0"/>
          </a:p>
        </p:txBody>
      </p:sp>
      <p:sp>
        <p:nvSpPr>
          <p:cNvPr id="22" name="Rectángulo redondeado 21">
            <a:extLst>
              <a:ext uri="{FF2B5EF4-FFF2-40B4-BE49-F238E27FC236}">
                <a16:creationId xmlns:a16="http://schemas.microsoft.com/office/drawing/2014/main" id="{E5EB9D3B-F80E-41A1-BFA1-2A6E86F86FD4}"/>
              </a:ext>
            </a:extLst>
          </p:cNvPr>
          <p:cNvSpPr/>
          <p:nvPr/>
        </p:nvSpPr>
        <p:spPr>
          <a:xfrm>
            <a:off x="7308304" y="2892361"/>
            <a:ext cx="1473253" cy="748628"/>
          </a:xfrm>
          <a:prstGeom prst="roundRect">
            <a:avLst>
              <a:gd name="adj" fmla="val 10000"/>
            </a:avLst>
          </a:prstGeom>
          <a:solidFill>
            <a:schemeClr val="accent5">
              <a:lumMod val="75000"/>
            </a:schemeClr>
          </a:solidFill>
          <a:ln>
            <a:solidFill>
              <a:schemeClr val="accent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pPr algn="ctr"/>
            <a:r>
              <a:rPr lang="en-US" dirty="0" err="1"/>
              <a:t>Producto</a:t>
            </a:r>
            <a:r>
              <a:rPr lang="en-US" dirty="0"/>
              <a:t> de Calidad</a:t>
            </a:r>
          </a:p>
        </p:txBody>
      </p:sp>
      <p:grpSp>
        <p:nvGrpSpPr>
          <p:cNvPr id="23" name="Grupo 22">
            <a:extLst>
              <a:ext uri="{FF2B5EF4-FFF2-40B4-BE49-F238E27FC236}">
                <a16:creationId xmlns:a16="http://schemas.microsoft.com/office/drawing/2014/main" id="{916E03A0-BBDC-70C5-A847-B2E9A69D7F58}"/>
              </a:ext>
            </a:extLst>
          </p:cNvPr>
          <p:cNvGrpSpPr/>
          <p:nvPr/>
        </p:nvGrpSpPr>
        <p:grpSpPr>
          <a:xfrm>
            <a:off x="2735796" y="2383133"/>
            <a:ext cx="3672408" cy="2200180"/>
            <a:chOff x="5357" y="1551582"/>
            <a:chExt cx="1601390" cy="960834"/>
          </a:xfrm>
        </p:grpSpPr>
        <p:sp>
          <p:nvSpPr>
            <p:cNvPr id="24" name="Rectángulo redondeado 23">
              <a:extLst>
                <a:ext uri="{FF2B5EF4-FFF2-40B4-BE49-F238E27FC236}">
                  <a16:creationId xmlns:a16="http://schemas.microsoft.com/office/drawing/2014/main" id="{5EF8A018-E3E2-DFE6-4D41-FD120DDBCFAC}"/>
                </a:ext>
              </a:extLst>
            </p:cNvPr>
            <p:cNvSpPr/>
            <p:nvPr/>
          </p:nvSpPr>
          <p:spPr>
            <a:xfrm>
              <a:off x="5357" y="1551582"/>
              <a:ext cx="1601390" cy="960834"/>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25" name="CuadroTexto 24">
              <a:extLst>
                <a:ext uri="{FF2B5EF4-FFF2-40B4-BE49-F238E27FC236}">
                  <a16:creationId xmlns:a16="http://schemas.microsoft.com/office/drawing/2014/main" id="{8EAB9EF7-DF2F-25C8-C753-AB0150572099}"/>
                </a:ext>
              </a:extLst>
            </p:cNvPr>
            <p:cNvSpPr txBox="1"/>
            <p:nvPr/>
          </p:nvSpPr>
          <p:spPr>
            <a:xfrm>
              <a:off x="33499" y="1579724"/>
              <a:ext cx="1545106" cy="904550"/>
            </a:xfrm>
            <a:prstGeom prst="rect">
              <a:avLst/>
            </a:prstGeom>
            <a:solidFill>
              <a:schemeClr val="tx2"/>
            </a:solidFill>
          </p:spPr>
          <p:style>
            <a:lnRef idx="0">
              <a:scrgbClr r="0" g="0" b="0"/>
            </a:lnRef>
            <a:fillRef idx="0">
              <a:scrgbClr r="0" g="0" b="0"/>
            </a:fillRef>
            <a:effectRef idx="0">
              <a:scrgbClr r="0" g="0" b="0"/>
            </a:effectRef>
            <a:fontRef idx="minor">
              <a:schemeClr val="lt1"/>
            </a:fontRef>
          </p:style>
          <p:txBody>
            <a:bodyPr spcFirstLastPara="0" vert="horz" wrap="square" lIns="133350" tIns="133350" rIns="133350" bIns="133350" numCol="1" spcCol="1270" anchor="ctr" anchorCtr="0">
              <a:noAutofit/>
            </a:bodyPr>
            <a:lstStyle/>
            <a:p>
              <a:pPr marL="0" lvl="0" indent="0" algn="ctr" defTabSz="1555750">
                <a:lnSpc>
                  <a:spcPct val="90000"/>
                </a:lnSpc>
                <a:spcBef>
                  <a:spcPct val="0"/>
                </a:spcBef>
                <a:spcAft>
                  <a:spcPct val="35000"/>
                </a:spcAft>
                <a:buNone/>
              </a:pPr>
              <a:r>
                <a:rPr lang="es-MX" sz="8000" b="1" kern="1200" dirty="0"/>
                <a:t>V y V</a:t>
              </a:r>
            </a:p>
          </p:txBody>
        </p:sp>
      </p:grpSp>
      <p:grpSp>
        <p:nvGrpSpPr>
          <p:cNvPr id="26" name="Grupo 25">
            <a:extLst>
              <a:ext uri="{FF2B5EF4-FFF2-40B4-BE49-F238E27FC236}">
                <a16:creationId xmlns:a16="http://schemas.microsoft.com/office/drawing/2014/main" id="{416D7EB1-6401-C4B6-5E65-CEEC4CD1F15B}"/>
              </a:ext>
            </a:extLst>
          </p:cNvPr>
          <p:cNvGrpSpPr/>
          <p:nvPr/>
        </p:nvGrpSpPr>
        <p:grpSpPr>
          <a:xfrm>
            <a:off x="2302774" y="5444340"/>
            <a:ext cx="1330227" cy="675933"/>
            <a:chOff x="5357" y="1551582"/>
            <a:chExt cx="1601390" cy="960834"/>
          </a:xfrm>
          <a:solidFill>
            <a:schemeClr val="bg2">
              <a:lumMod val="50000"/>
            </a:schemeClr>
          </a:solidFill>
        </p:grpSpPr>
        <p:sp>
          <p:nvSpPr>
            <p:cNvPr id="27" name="Rectángulo redondeado 26">
              <a:extLst>
                <a:ext uri="{FF2B5EF4-FFF2-40B4-BE49-F238E27FC236}">
                  <a16:creationId xmlns:a16="http://schemas.microsoft.com/office/drawing/2014/main" id="{9D91720E-94D3-8DDE-9C54-1FC1E7D6B1D6}"/>
                </a:ext>
              </a:extLst>
            </p:cNvPr>
            <p:cNvSpPr/>
            <p:nvPr/>
          </p:nvSpPr>
          <p:spPr>
            <a:xfrm>
              <a:off x="5357" y="1551582"/>
              <a:ext cx="1601390" cy="960834"/>
            </a:xfrm>
            <a:prstGeom prst="roundRect">
              <a:avLst>
                <a:gd name="adj" fmla="val 10000"/>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28" name="CuadroTexto 27">
              <a:extLst>
                <a:ext uri="{FF2B5EF4-FFF2-40B4-BE49-F238E27FC236}">
                  <a16:creationId xmlns:a16="http://schemas.microsoft.com/office/drawing/2014/main" id="{BE2BC2B6-D2B3-647E-39A5-FA0C7F0D29CA}"/>
                </a:ext>
              </a:extLst>
            </p:cNvPr>
            <p:cNvSpPr txBox="1"/>
            <p:nvPr/>
          </p:nvSpPr>
          <p:spPr>
            <a:xfrm>
              <a:off x="33499" y="1579724"/>
              <a:ext cx="1545106" cy="904550"/>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133350" tIns="133350" rIns="133350" bIns="133350" numCol="1" spcCol="1270" anchor="ctr" anchorCtr="0">
              <a:noAutofit/>
            </a:bodyPr>
            <a:lstStyle/>
            <a:p>
              <a:pPr marL="0" lvl="0" indent="0" algn="ctr" defTabSz="1555750">
                <a:lnSpc>
                  <a:spcPct val="90000"/>
                </a:lnSpc>
                <a:spcBef>
                  <a:spcPct val="0"/>
                </a:spcBef>
                <a:spcAft>
                  <a:spcPct val="35000"/>
                </a:spcAft>
                <a:buNone/>
              </a:pPr>
              <a:r>
                <a:rPr lang="es-MX" sz="1600" kern="1200" dirty="0"/>
                <a:t>Recursos de Software</a:t>
              </a:r>
            </a:p>
          </p:txBody>
        </p:sp>
      </p:grpSp>
      <p:grpSp>
        <p:nvGrpSpPr>
          <p:cNvPr id="29" name="Grupo 28">
            <a:extLst>
              <a:ext uri="{FF2B5EF4-FFF2-40B4-BE49-F238E27FC236}">
                <a16:creationId xmlns:a16="http://schemas.microsoft.com/office/drawing/2014/main" id="{BF414F14-A0DC-B8C4-3B16-A130757BB42E}"/>
              </a:ext>
            </a:extLst>
          </p:cNvPr>
          <p:cNvGrpSpPr/>
          <p:nvPr/>
        </p:nvGrpSpPr>
        <p:grpSpPr>
          <a:xfrm>
            <a:off x="3853952" y="5168319"/>
            <a:ext cx="1657049" cy="1225020"/>
            <a:chOff x="5357" y="1551582"/>
            <a:chExt cx="1601390" cy="960834"/>
          </a:xfrm>
          <a:solidFill>
            <a:schemeClr val="bg2">
              <a:lumMod val="50000"/>
            </a:schemeClr>
          </a:solidFill>
        </p:grpSpPr>
        <p:sp>
          <p:nvSpPr>
            <p:cNvPr id="30" name="Rectángulo redondeado 29">
              <a:extLst>
                <a:ext uri="{FF2B5EF4-FFF2-40B4-BE49-F238E27FC236}">
                  <a16:creationId xmlns:a16="http://schemas.microsoft.com/office/drawing/2014/main" id="{8B06FAC6-D33E-852C-55FE-8AACFB419419}"/>
                </a:ext>
              </a:extLst>
            </p:cNvPr>
            <p:cNvSpPr/>
            <p:nvPr/>
          </p:nvSpPr>
          <p:spPr>
            <a:xfrm>
              <a:off x="5357" y="1551582"/>
              <a:ext cx="1601390" cy="960834"/>
            </a:xfrm>
            <a:prstGeom prst="roundRect">
              <a:avLst>
                <a:gd name="adj" fmla="val 10000"/>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31" name="CuadroTexto 30">
              <a:extLst>
                <a:ext uri="{FF2B5EF4-FFF2-40B4-BE49-F238E27FC236}">
                  <a16:creationId xmlns:a16="http://schemas.microsoft.com/office/drawing/2014/main" id="{03DD2F25-D985-78F9-C9F2-D839FCEFB0F9}"/>
                </a:ext>
              </a:extLst>
            </p:cNvPr>
            <p:cNvSpPr txBox="1"/>
            <p:nvPr/>
          </p:nvSpPr>
          <p:spPr>
            <a:xfrm>
              <a:off x="33499" y="1579724"/>
              <a:ext cx="1545106" cy="904550"/>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133350" tIns="133350" rIns="133350" bIns="133350" numCol="1" spcCol="1270" anchor="ctr" anchorCtr="0">
              <a:noAutofit/>
            </a:bodyPr>
            <a:lstStyle/>
            <a:p>
              <a:pPr marL="0" lvl="0" indent="0" algn="ctr" defTabSz="1555750">
                <a:lnSpc>
                  <a:spcPct val="90000"/>
                </a:lnSpc>
                <a:spcBef>
                  <a:spcPct val="0"/>
                </a:spcBef>
                <a:spcAft>
                  <a:spcPct val="35000"/>
                </a:spcAft>
                <a:buNone/>
              </a:pPr>
              <a:r>
                <a:rPr lang="es-MX" sz="1600" kern="1200" dirty="0"/>
                <a:t>Recursos de Métodos, Modelos, Metodologías, etc</a:t>
              </a:r>
            </a:p>
          </p:txBody>
        </p:sp>
      </p:grpSp>
      <p:grpSp>
        <p:nvGrpSpPr>
          <p:cNvPr id="32" name="Grupo 31">
            <a:extLst>
              <a:ext uri="{FF2B5EF4-FFF2-40B4-BE49-F238E27FC236}">
                <a16:creationId xmlns:a16="http://schemas.microsoft.com/office/drawing/2014/main" id="{8008F3AB-3C75-004A-6272-093268D82DE7}"/>
              </a:ext>
            </a:extLst>
          </p:cNvPr>
          <p:cNvGrpSpPr/>
          <p:nvPr/>
        </p:nvGrpSpPr>
        <p:grpSpPr>
          <a:xfrm>
            <a:off x="5978077" y="5444340"/>
            <a:ext cx="1330227" cy="675933"/>
            <a:chOff x="5357" y="1551582"/>
            <a:chExt cx="1601390" cy="960834"/>
          </a:xfrm>
          <a:solidFill>
            <a:schemeClr val="bg2">
              <a:lumMod val="50000"/>
            </a:schemeClr>
          </a:solidFill>
        </p:grpSpPr>
        <p:sp>
          <p:nvSpPr>
            <p:cNvPr id="33" name="Rectángulo redondeado 32">
              <a:extLst>
                <a:ext uri="{FF2B5EF4-FFF2-40B4-BE49-F238E27FC236}">
                  <a16:creationId xmlns:a16="http://schemas.microsoft.com/office/drawing/2014/main" id="{014F734C-ACD2-3182-9110-475830BB76FB}"/>
                </a:ext>
              </a:extLst>
            </p:cNvPr>
            <p:cNvSpPr/>
            <p:nvPr/>
          </p:nvSpPr>
          <p:spPr>
            <a:xfrm>
              <a:off x="5357" y="1551582"/>
              <a:ext cx="1601390" cy="960834"/>
            </a:xfrm>
            <a:prstGeom prst="roundRect">
              <a:avLst>
                <a:gd name="adj" fmla="val 10000"/>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34" name="CuadroTexto 33">
              <a:extLst>
                <a:ext uri="{FF2B5EF4-FFF2-40B4-BE49-F238E27FC236}">
                  <a16:creationId xmlns:a16="http://schemas.microsoft.com/office/drawing/2014/main" id="{A4AFF665-DD24-B3EC-F6F0-D636BF469060}"/>
                </a:ext>
              </a:extLst>
            </p:cNvPr>
            <p:cNvSpPr txBox="1"/>
            <p:nvPr/>
          </p:nvSpPr>
          <p:spPr>
            <a:xfrm>
              <a:off x="33499" y="1579724"/>
              <a:ext cx="1545106" cy="904550"/>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133350" tIns="133350" rIns="133350" bIns="133350" numCol="1" spcCol="1270" anchor="ctr" anchorCtr="0">
              <a:noAutofit/>
            </a:bodyPr>
            <a:lstStyle/>
            <a:p>
              <a:pPr marL="0" lvl="0" indent="0" algn="ctr" defTabSz="1555750">
                <a:lnSpc>
                  <a:spcPct val="90000"/>
                </a:lnSpc>
                <a:spcBef>
                  <a:spcPct val="0"/>
                </a:spcBef>
                <a:spcAft>
                  <a:spcPct val="35000"/>
                </a:spcAft>
                <a:buNone/>
              </a:pPr>
              <a:r>
                <a:rPr lang="es-MX" sz="1600" kern="1200" dirty="0"/>
                <a:t>Recursos de Infraestructura</a:t>
              </a:r>
            </a:p>
          </p:txBody>
        </p:sp>
      </p:grpSp>
      <p:sp>
        <p:nvSpPr>
          <p:cNvPr id="37" name="Flecha derecha 36">
            <a:extLst>
              <a:ext uri="{FF2B5EF4-FFF2-40B4-BE49-F238E27FC236}">
                <a16:creationId xmlns:a16="http://schemas.microsoft.com/office/drawing/2014/main" id="{B18B0ED0-0ED2-28F3-E835-3EF7FEBDB2CF}"/>
              </a:ext>
            </a:extLst>
          </p:cNvPr>
          <p:cNvSpPr/>
          <p:nvPr/>
        </p:nvSpPr>
        <p:spPr>
          <a:xfrm>
            <a:off x="1730687" y="3234077"/>
            <a:ext cx="799795" cy="406911"/>
          </a:xfrm>
          <a:prstGeom prst="rightArrow">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Flecha derecha 37">
            <a:extLst>
              <a:ext uri="{FF2B5EF4-FFF2-40B4-BE49-F238E27FC236}">
                <a16:creationId xmlns:a16="http://schemas.microsoft.com/office/drawing/2014/main" id="{B1BF7672-DF9A-E823-DDD4-30B46E0EF79A}"/>
              </a:ext>
            </a:extLst>
          </p:cNvPr>
          <p:cNvSpPr/>
          <p:nvPr/>
        </p:nvSpPr>
        <p:spPr>
          <a:xfrm rot="20461619">
            <a:off x="1746278" y="4137489"/>
            <a:ext cx="799795" cy="406911"/>
          </a:xfrm>
          <a:prstGeom prst="rightArrow">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Flecha derecha 38">
            <a:extLst>
              <a:ext uri="{FF2B5EF4-FFF2-40B4-BE49-F238E27FC236}">
                <a16:creationId xmlns:a16="http://schemas.microsoft.com/office/drawing/2014/main" id="{7621503B-EFD6-6C71-84BF-5CFDF7CBA492}"/>
              </a:ext>
            </a:extLst>
          </p:cNvPr>
          <p:cNvSpPr/>
          <p:nvPr/>
        </p:nvSpPr>
        <p:spPr>
          <a:xfrm rot="2382681">
            <a:off x="1783190" y="2276889"/>
            <a:ext cx="799795" cy="406911"/>
          </a:xfrm>
          <a:prstGeom prst="rightArrow">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 name="Flecha derecha 39">
            <a:extLst>
              <a:ext uri="{FF2B5EF4-FFF2-40B4-BE49-F238E27FC236}">
                <a16:creationId xmlns:a16="http://schemas.microsoft.com/office/drawing/2014/main" id="{BB4B9218-180E-F633-5513-790D6AF64816}"/>
              </a:ext>
            </a:extLst>
          </p:cNvPr>
          <p:cNvSpPr/>
          <p:nvPr/>
        </p:nvSpPr>
        <p:spPr>
          <a:xfrm>
            <a:off x="6472741" y="3144093"/>
            <a:ext cx="799795" cy="406911"/>
          </a:xfrm>
          <a:prstGeom prst="rightArrow">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2" name="Conector recto de flecha 41">
            <a:extLst>
              <a:ext uri="{FF2B5EF4-FFF2-40B4-BE49-F238E27FC236}">
                <a16:creationId xmlns:a16="http://schemas.microsoft.com/office/drawing/2014/main" id="{21FD9C90-96D4-56CB-433D-6827F781E052}"/>
              </a:ext>
            </a:extLst>
          </p:cNvPr>
          <p:cNvCxnSpPr>
            <a:cxnSpLocks/>
            <a:stCxn id="3" idx="0"/>
          </p:cNvCxnSpPr>
          <p:nvPr/>
        </p:nvCxnSpPr>
        <p:spPr>
          <a:xfrm>
            <a:off x="2195737" y="1412776"/>
            <a:ext cx="813093" cy="894095"/>
          </a:xfrm>
          <a:prstGeom prst="straightConnector1">
            <a:avLst/>
          </a:prstGeom>
          <a:ln w="53975">
            <a:solidFill>
              <a:schemeClr val="accent3">
                <a:shade val="95000"/>
                <a:satMod val="105000"/>
              </a:schemeClr>
            </a:solidFill>
            <a:prstDash val="dash"/>
            <a:tailEnd type="triangle"/>
          </a:ln>
        </p:spPr>
        <p:style>
          <a:lnRef idx="1">
            <a:schemeClr val="accent3"/>
          </a:lnRef>
          <a:fillRef idx="0">
            <a:schemeClr val="accent3"/>
          </a:fillRef>
          <a:effectRef idx="0">
            <a:schemeClr val="accent3"/>
          </a:effectRef>
          <a:fontRef idx="minor">
            <a:schemeClr val="tx1"/>
          </a:fontRef>
        </p:style>
      </p:cxnSp>
      <p:cxnSp>
        <p:nvCxnSpPr>
          <p:cNvPr id="44" name="Conector recto de flecha 43">
            <a:extLst>
              <a:ext uri="{FF2B5EF4-FFF2-40B4-BE49-F238E27FC236}">
                <a16:creationId xmlns:a16="http://schemas.microsoft.com/office/drawing/2014/main" id="{229A6C59-8E10-44CD-3634-EE5F04D4D614}"/>
              </a:ext>
            </a:extLst>
          </p:cNvPr>
          <p:cNvCxnSpPr>
            <a:cxnSpLocks/>
          </p:cNvCxnSpPr>
          <p:nvPr/>
        </p:nvCxnSpPr>
        <p:spPr>
          <a:xfrm>
            <a:off x="3078464" y="1352506"/>
            <a:ext cx="380638" cy="1010829"/>
          </a:xfrm>
          <a:prstGeom prst="straightConnector1">
            <a:avLst/>
          </a:prstGeom>
          <a:ln w="53975">
            <a:solidFill>
              <a:schemeClr val="accent3">
                <a:shade val="95000"/>
                <a:satMod val="105000"/>
              </a:schemeClr>
            </a:solidFill>
            <a:prstDash val="dash"/>
            <a:tailEnd type="triangle"/>
          </a:ln>
        </p:spPr>
        <p:style>
          <a:lnRef idx="1">
            <a:schemeClr val="accent3"/>
          </a:lnRef>
          <a:fillRef idx="0">
            <a:schemeClr val="accent3"/>
          </a:fillRef>
          <a:effectRef idx="0">
            <a:schemeClr val="accent3"/>
          </a:effectRef>
          <a:fontRef idx="minor">
            <a:schemeClr val="tx1"/>
          </a:fontRef>
        </p:style>
      </p:cxnSp>
      <p:cxnSp>
        <p:nvCxnSpPr>
          <p:cNvPr id="46" name="Conector recto de flecha 45">
            <a:extLst>
              <a:ext uri="{FF2B5EF4-FFF2-40B4-BE49-F238E27FC236}">
                <a16:creationId xmlns:a16="http://schemas.microsoft.com/office/drawing/2014/main" id="{11B25ABA-27BB-DC8B-7BDB-63AB46435768}"/>
              </a:ext>
            </a:extLst>
          </p:cNvPr>
          <p:cNvCxnSpPr>
            <a:cxnSpLocks/>
            <a:stCxn id="21" idx="2"/>
          </p:cNvCxnSpPr>
          <p:nvPr/>
        </p:nvCxnSpPr>
        <p:spPr>
          <a:xfrm flipH="1">
            <a:off x="5576593" y="1574612"/>
            <a:ext cx="689272" cy="871068"/>
          </a:xfrm>
          <a:prstGeom prst="straightConnector1">
            <a:avLst/>
          </a:prstGeom>
          <a:ln w="53975">
            <a:solidFill>
              <a:schemeClr val="accent3">
                <a:shade val="95000"/>
                <a:satMod val="105000"/>
              </a:schemeClr>
            </a:solidFill>
            <a:prstDash val="dash"/>
            <a:tailEnd type="triangle"/>
          </a:ln>
        </p:spPr>
        <p:style>
          <a:lnRef idx="1">
            <a:schemeClr val="accent3"/>
          </a:lnRef>
          <a:fillRef idx="0">
            <a:schemeClr val="accent3"/>
          </a:fillRef>
          <a:effectRef idx="0">
            <a:schemeClr val="accent3"/>
          </a:effectRef>
          <a:fontRef idx="minor">
            <a:schemeClr val="tx1"/>
          </a:fontRef>
        </p:style>
      </p:cxnSp>
      <p:cxnSp>
        <p:nvCxnSpPr>
          <p:cNvPr id="49" name="Conector recto de flecha 48">
            <a:extLst>
              <a:ext uri="{FF2B5EF4-FFF2-40B4-BE49-F238E27FC236}">
                <a16:creationId xmlns:a16="http://schemas.microsoft.com/office/drawing/2014/main" id="{A0856664-DE38-5A55-E7DB-74224B944DDE}"/>
              </a:ext>
            </a:extLst>
          </p:cNvPr>
          <p:cNvCxnSpPr>
            <a:cxnSpLocks/>
          </p:cNvCxnSpPr>
          <p:nvPr/>
        </p:nvCxnSpPr>
        <p:spPr>
          <a:xfrm flipV="1">
            <a:off x="1979712" y="4566779"/>
            <a:ext cx="1234156" cy="797511"/>
          </a:xfrm>
          <a:prstGeom prst="straightConnector1">
            <a:avLst/>
          </a:prstGeom>
          <a:ln w="53975">
            <a:solidFill>
              <a:schemeClr val="accent3">
                <a:shade val="95000"/>
                <a:satMod val="105000"/>
              </a:schemeClr>
            </a:solidFill>
            <a:prstDash val="dash"/>
            <a:tailEnd type="triangle"/>
          </a:ln>
        </p:spPr>
        <p:style>
          <a:lnRef idx="1">
            <a:schemeClr val="accent3"/>
          </a:lnRef>
          <a:fillRef idx="0">
            <a:schemeClr val="accent3"/>
          </a:fillRef>
          <a:effectRef idx="0">
            <a:schemeClr val="accent3"/>
          </a:effectRef>
          <a:fontRef idx="minor">
            <a:schemeClr val="tx1"/>
          </a:fontRef>
        </p:style>
      </p:cxnSp>
      <p:pic>
        <p:nvPicPr>
          <p:cNvPr id="53" name="Imagen 52">
            <a:extLst>
              <a:ext uri="{FF2B5EF4-FFF2-40B4-BE49-F238E27FC236}">
                <a16:creationId xmlns:a16="http://schemas.microsoft.com/office/drawing/2014/main" id="{E5B8D444-C6F5-B8D6-4C41-34347161023C}"/>
              </a:ext>
            </a:extLst>
          </p:cNvPr>
          <p:cNvPicPr>
            <a:picLocks noChangeAspect="1"/>
          </p:cNvPicPr>
          <p:nvPr/>
        </p:nvPicPr>
        <p:blipFill rotWithShape="1">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32409" t="25871" r="31411" b="17188"/>
          <a:stretch/>
        </p:blipFill>
        <p:spPr>
          <a:xfrm>
            <a:off x="1218409" y="5216681"/>
            <a:ext cx="559576" cy="828812"/>
          </a:xfrm>
          <a:prstGeom prst="rect">
            <a:avLst/>
          </a:prstGeom>
          <a:noFill/>
          <a:ln>
            <a:noFill/>
          </a:ln>
        </p:spPr>
      </p:pic>
      <p:pic>
        <p:nvPicPr>
          <p:cNvPr id="54" name="Imagen 53">
            <a:extLst>
              <a:ext uri="{FF2B5EF4-FFF2-40B4-BE49-F238E27FC236}">
                <a16:creationId xmlns:a16="http://schemas.microsoft.com/office/drawing/2014/main" id="{152746A4-D22B-9B0C-D352-81ABA79FC296}"/>
              </a:ext>
            </a:extLst>
          </p:cNvPr>
          <p:cNvPicPr>
            <a:picLocks noChangeAspect="1"/>
          </p:cNvPicPr>
          <p:nvPr/>
        </p:nvPicPr>
        <p:blipFill rotWithShape="1">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32409" t="25871" r="31411" b="17188"/>
          <a:stretch/>
        </p:blipFill>
        <p:spPr>
          <a:xfrm>
            <a:off x="4082150" y="628207"/>
            <a:ext cx="559576" cy="828812"/>
          </a:xfrm>
          <a:prstGeom prst="rect">
            <a:avLst/>
          </a:prstGeom>
          <a:noFill/>
          <a:ln>
            <a:noFill/>
          </a:ln>
        </p:spPr>
      </p:pic>
      <p:sp>
        <p:nvSpPr>
          <p:cNvPr id="55" name="CuadroTexto 54">
            <a:extLst>
              <a:ext uri="{FF2B5EF4-FFF2-40B4-BE49-F238E27FC236}">
                <a16:creationId xmlns:a16="http://schemas.microsoft.com/office/drawing/2014/main" id="{BD7EC4AE-E374-B262-B66D-9D1D5881C2AE}"/>
              </a:ext>
            </a:extLst>
          </p:cNvPr>
          <p:cNvSpPr txBox="1"/>
          <p:nvPr/>
        </p:nvSpPr>
        <p:spPr>
          <a:xfrm>
            <a:off x="3508309" y="1521460"/>
            <a:ext cx="1822550" cy="369332"/>
          </a:xfrm>
          <a:prstGeom prst="rect">
            <a:avLst/>
          </a:prstGeom>
          <a:noFill/>
        </p:spPr>
        <p:txBody>
          <a:bodyPr wrap="none" rtlCol="0">
            <a:spAutoFit/>
          </a:bodyPr>
          <a:lstStyle/>
          <a:p>
            <a:r>
              <a:rPr lang="en-US" dirty="0" err="1"/>
              <a:t>Líder</a:t>
            </a:r>
            <a:r>
              <a:rPr lang="en-US" dirty="0"/>
              <a:t> de Proyecto</a:t>
            </a:r>
          </a:p>
        </p:txBody>
      </p:sp>
      <p:sp>
        <p:nvSpPr>
          <p:cNvPr id="56" name="CuadroTexto 55">
            <a:extLst>
              <a:ext uri="{FF2B5EF4-FFF2-40B4-BE49-F238E27FC236}">
                <a16:creationId xmlns:a16="http://schemas.microsoft.com/office/drawing/2014/main" id="{EB75B4D1-4BBA-2453-6A23-8C353BDACF99}"/>
              </a:ext>
            </a:extLst>
          </p:cNvPr>
          <p:cNvSpPr txBox="1"/>
          <p:nvPr/>
        </p:nvSpPr>
        <p:spPr>
          <a:xfrm>
            <a:off x="884192" y="6095974"/>
            <a:ext cx="1359475" cy="369332"/>
          </a:xfrm>
          <a:prstGeom prst="rect">
            <a:avLst/>
          </a:prstGeom>
          <a:noFill/>
        </p:spPr>
        <p:txBody>
          <a:bodyPr wrap="none" rtlCol="0">
            <a:spAutoFit/>
          </a:bodyPr>
          <a:lstStyle/>
          <a:p>
            <a:r>
              <a:rPr lang="en-US" dirty="0" err="1"/>
              <a:t>Equipo</a:t>
            </a:r>
            <a:r>
              <a:rPr lang="en-US" dirty="0"/>
              <a:t> V y V</a:t>
            </a:r>
          </a:p>
        </p:txBody>
      </p:sp>
      <p:cxnSp>
        <p:nvCxnSpPr>
          <p:cNvPr id="57" name="Conector recto de flecha 56">
            <a:extLst>
              <a:ext uri="{FF2B5EF4-FFF2-40B4-BE49-F238E27FC236}">
                <a16:creationId xmlns:a16="http://schemas.microsoft.com/office/drawing/2014/main" id="{F5F913A8-2092-4FE0-816E-991F40D9B7AE}"/>
              </a:ext>
            </a:extLst>
          </p:cNvPr>
          <p:cNvCxnSpPr>
            <a:cxnSpLocks/>
          </p:cNvCxnSpPr>
          <p:nvPr/>
        </p:nvCxnSpPr>
        <p:spPr>
          <a:xfrm flipH="1">
            <a:off x="3213868" y="4663363"/>
            <a:ext cx="419133" cy="748835"/>
          </a:xfrm>
          <a:prstGeom prst="straightConnector1">
            <a:avLst/>
          </a:prstGeom>
          <a:ln w="53975">
            <a:solidFill>
              <a:schemeClr val="accent3">
                <a:shade val="95000"/>
                <a:satMod val="105000"/>
              </a:schemeClr>
            </a:solidFill>
            <a:prstDash val="dash"/>
            <a:tailEnd type="triangle"/>
          </a:ln>
        </p:spPr>
        <p:style>
          <a:lnRef idx="1">
            <a:schemeClr val="accent3"/>
          </a:lnRef>
          <a:fillRef idx="0">
            <a:schemeClr val="accent3"/>
          </a:fillRef>
          <a:effectRef idx="0">
            <a:schemeClr val="accent3"/>
          </a:effectRef>
          <a:fontRef idx="minor">
            <a:schemeClr val="tx1"/>
          </a:fontRef>
        </p:style>
      </p:cxnSp>
      <p:cxnSp>
        <p:nvCxnSpPr>
          <p:cNvPr id="60" name="Conector recto de flecha 59">
            <a:extLst>
              <a:ext uri="{FF2B5EF4-FFF2-40B4-BE49-F238E27FC236}">
                <a16:creationId xmlns:a16="http://schemas.microsoft.com/office/drawing/2014/main" id="{1361719A-1C55-D382-2A61-FCFBC8A8FC9E}"/>
              </a:ext>
            </a:extLst>
          </p:cNvPr>
          <p:cNvCxnSpPr>
            <a:cxnSpLocks/>
            <a:endCxn id="31" idx="0"/>
          </p:cNvCxnSpPr>
          <p:nvPr/>
        </p:nvCxnSpPr>
        <p:spPr>
          <a:xfrm>
            <a:off x="4256373" y="4598921"/>
            <a:ext cx="426104" cy="605278"/>
          </a:xfrm>
          <a:prstGeom prst="straightConnector1">
            <a:avLst/>
          </a:prstGeom>
          <a:ln w="53975">
            <a:solidFill>
              <a:schemeClr val="accent3">
                <a:shade val="95000"/>
                <a:satMod val="105000"/>
              </a:schemeClr>
            </a:solidFill>
            <a:prstDash val="dash"/>
            <a:tailEnd type="triangle"/>
          </a:ln>
        </p:spPr>
        <p:style>
          <a:lnRef idx="1">
            <a:schemeClr val="accent3"/>
          </a:lnRef>
          <a:fillRef idx="0">
            <a:schemeClr val="accent3"/>
          </a:fillRef>
          <a:effectRef idx="0">
            <a:schemeClr val="accent3"/>
          </a:effectRef>
          <a:fontRef idx="minor">
            <a:schemeClr val="tx1"/>
          </a:fontRef>
        </p:style>
      </p:cxnSp>
      <p:cxnSp>
        <p:nvCxnSpPr>
          <p:cNvPr id="63" name="Conector recto de flecha 62">
            <a:extLst>
              <a:ext uri="{FF2B5EF4-FFF2-40B4-BE49-F238E27FC236}">
                <a16:creationId xmlns:a16="http://schemas.microsoft.com/office/drawing/2014/main" id="{6071D658-EC0F-E0D4-17E5-B982AF0CA9D5}"/>
              </a:ext>
            </a:extLst>
          </p:cNvPr>
          <p:cNvCxnSpPr>
            <a:cxnSpLocks/>
          </p:cNvCxnSpPr>
          <p:nvPr/>
        </p:nvCxnSpPr>
        <p:spPr>
          <a:xfrm>
            <a:off x="5765025" y="4614568"/>
            <a:ext cx="643179" cy="797630"/>
          </a:xfrm>
          <a:prstGeom prst="straightConnector1">
            <a:avLst/>
          </a:prstGeom>
          <a:ln w="53975">
            <a:solidFill>
              <a:schemeClr val="accent3">
                <a:shade val="95000"/>
                <a:satMod val="105000"/>
              </a:schemeClr>
            </a:solidFill>
            <a:prstDash val="dash"/>
            <a:tailEnd type="triangle"/>
          </a:ln>
        </p:spPr>
        <p:style>
          <a:lnRef idx="1">
            <a:schemeClr val="accent3"/>
          </a:lnRef>
          <a:fillRef idx="0">
            <a:schemeClr val="accent3"/>
          </a:fillRef>
          <a:effectRef idx="0">
            <a:schemeClr val="accent3"/>
          </a:effectRef>
          <a:fontRef idx="minor">
            <a:schemeClr val="tx1"/>
          </a:fontRef>
        </p:style>
      </p:cxnSp>
      <p:pic>
        <p:nvPicPr>
          <p:cNvPr id="65" name="Imagen 64">
            <a:extLst>
              <a:ext uri="{FF2B5EF4-FFF2-40B4-BE49-F238E27FC236}">
                <a16:creationId xmlns:a16="http://schemas.microsoft.com/office/drawing/2014/main" id="{F3B72031-C8B3-4CAE-978B-148A012BA746}"/>
              </a:ext>
            </a:extLst>
          </p:cNvPr>
          <p:cNvPicPr>
            <a:picLocks noChangeAspect="1"/>
          </p:cNvPicPr>
          <p:nvPr/>
        </p:nvPicPr>
        <p:blipFill rotWithShape="1">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32409" t="25871" r="31411" b="17188"/>
          <a:stretch/>
        </p:blipFill>
        <p:spPr>
          <a:xfrm>
            <a:off x="7738408" y="5049731"/>
            <a:ext cx="559576" cy="828812"/>
          </a:xfrm>
          <a:prstGeom prst="rect">
            <a:avLst/>
          </a:prstGeom>
          <a:noFill/>
          <a:ln>
            <a:noFill/>
          </a:ln>
        </p:spPr>
      </p:pic>
      <p:sp>
        <p:nvSpPr>
          <p:cNvPr id="66" name="CuadroTexto 65">
            <a:extLst>
              <a:ext uri="{FF2B5EF4-FFF2-40B4-BE49-F238E27FC236}">
                <a16:creationId xmlns:a16="http://schemas.microsoft.com/office/drawing/2014/main" id="{2DFF50CF-BF4F-0D3D-C05F-FC2B77A3F89D}"/>
              </a:ext>
            </a:extLst>
          </p:cNvPr>
          <p:cNvSpPr txBox="1"/>
          <p:nvPr/>
        </p:nvSpPr>
        <p:spPr>
          <a:xfrm>
            <a:off x="7470349" y="5957474"/>
            <a:ext cx="1149161" cy="646331"/>
          </a:xfrm>
          <a:prstGeom prst="rect">
            <a:avLst/>
          </a:prstGeom>
          <a:noFill/>
        </p:spPr>
        <p:txBody>
          <a:bodyPr wrap="none" rtlCol="0">
            <a:spAutoFit/>
          </a:bodyPr>
          <a:lstStyle/>
          <a:p>
            <a:r>
              <a:rPr lang="en-US" dirty="0" err="1"/>
              <a:t>Equipo</a:t>
            </a:r>
            <a:r>
              <a:rPr lang="en-US" dirty="0"/>
              <a:t> </a:t>
            </a:r>
          </a:p>
          <a:p>
            <a:r>
              <a:rPr lang="en-US" dirty="0"/>
              <a:t>Desarrollo</a:t>
            </a:r>
          </a:p>
        </p:txBody>
      </p:sp>
      <p:cxnSp>
        <p:nvCxnSpPr>
          <p:cNvPr id="4" name="Conector recto de flecha 3">
            <a:extLst>
              <a:ext uri="{FF2B5EF4-FFF2-40B4-BE49-F238E27FC236}">
                <a16:creationId xmlns:a16="http://schemas.microsoft.com/office/drawing/2014/main" id="{31BAFCC1-55B3-5132-FBD2-D82E8CC1B67B}"/>
              </a:ext>
            </a:extLst>
          </p:cNvPr>
          <p:cNvCxnSpPr>
            <a:cxnSpLocks/>
          </p:cNvCxnSpPr>
          <p:nvPr/>
        </p:nvCxnSpPr>
        <p:spPr>
          <a:xfrm flipH="1" flipV="1">
            <a:off x="6343667" y="4518871"/>
            <a:ext cx="1252669" cy="649448"/>
          </a:xfrm>
          <a:prstGeom prst="straightConnector1">
            <a:avLst/>
          </a:prstGeom>
          <a:ln w="53975">
            <a:solidFill>
              <a:schemeClr val="accent3">
                <a:shade val="95000"/>
                <a:satMod val="105000"/>
              </a:schemeClr>
            </a:solidFill>
            <a:prstDash val="dash"/>
            <a:tailEnd type="triangle"/>
          </a:ln>
        </p:spPr>
        <p:style>
          <a:lnRef idx="1">
            <a:schemeClr val="accent3"/>
          </a:lnRef>
          <a:fillRef idx="0">
            <a:schemeClr val="accent3"/>
          </a:fillRef>
          <a:effectRef idx="0">
            <a:schemeClr val="accent3"/>
          </a:effectRef>
          <a:fontRef idx="minor">
            <a:schemeClr val="tx1"/>
          </a:fontRef>
        </p:style>
      </p:cxnSp>
      <p:cxnSp>
        <p:nvCxnSpPr>
          <p:cNvPr id="36" name="Conector recto de flecha 35">
            <a:extLst>
              <a:ext uri="{FF2B5EF4-FFF2-40B4-BE49-F238E27FC236}">
                <a16:creationId xmlns:a16="http://schemas.microsoft.com/office/drawing/2014/main" id="{003D7685-636A-7E62-B0B0-241182C3068A}"/>
              </a:ext>
            </a:extLst>
          </p:cNvPr>
          <p:cNvCxnSpPr>
            <a:cxnSpLocks/>
          </p:cNvCxnSpPr>
          <p:nvPr/>
        </p:nvCxnSpPr>
        <p:spPr>
          <a:xfrm>
            <a:off x="4256373" y="1890792"/>
            <a:ext cx="0" cy="416079"/>
          </a:xfrm>
          <a:prstGeom prst="straightConnector1">
            <a:avLst/>
          </a:prstGeom>
          <a:ln w="53975">
            <a:solidFill>
              <a:schemeClr val="accent3">
                <a:shade val="95000"/>
                <a:satMod val="105000"/>
              </a:schemeClr>
            </a:solidFill>
            <a:prstDash val="dash"/>
            <a:tailEnd type="triangle"/>
          </a:ln>
        </p:spPr>
        <p:style>
          <a:lnRef idx="1">
            <a:schemeClr val="accent3"/>
          </a:lnRef>
          <a:fillRef idx="0">
            <a:schemeClr val="accent3"/>
          </a:fillRef>
          <a:effectRef idx="0">
            <a:schemeClr val="accent3"/>
          </a:effectRef>
          <a:fontRef idx="minor">
            <a:schemeClr val="tx1"/>
          </a:fontRef>
        </p:style>
      </p:cxnSp>
    </p:spTree>
    <p:extLst>
      <p:ext uri="{BB962C8B-B14F-4D97-AF65-F5344CB8AC3E}">
        <p14:creationId xmlns:p14="http://schemas.microsoft.com/office/powerpoint/2010/main" val="5369317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755576" y="0"/>
            <a:ext cx="8229600" cy="1143000"/>
          </a:xfrm>
        </p:spPr>
        <p:txBody>
          <a:bodyPr>
            <a:normAutofit/>
          </a:bodyPr>
          <a:lstStyle/>
          <a:p>
            <a:r>
              <a:rPr lang="es-CO" sz="2800" b="1" dirty="0"/>
              <a:t>Ciclo de Vida de las Pruebas</a:t>
            </a:r>
          </a:p>
        </p:txBody>
      </p:sp>
      <p:sp>
        <p:nvSpPr>
          <p:cNvPr id="3" name="CuadroTexto 2">
            <a:extLst>
              <a:ext uri="{FF2B5EF4-FFF2-40B4-BE49-F238E27FC236}">
                <a16:creationId xmlns:a16="http://schemas.microsoft.com/office/drawing/2014/main" id="{17FD4F7B-CCF2-2470-0DCF-2A8120F86B5E}"/>
              </a:ext>
            </a:extLst>
          </p:cNvPr>
          <p:cNvSpPr txBox="1"/>
          <p:nvPr/>
        </p:nvSpPr>
        <p:spPr>
          <a:xfrm>
            <a:off x="755577" y="1412776"/>
            <a:ext cx="2880320" cy="646331"/>
          </a:xfrm>
          <a:prstGeom prst="rect">
            <a:avLst/>
          </a:prstGeom>
          <a:noFill/>
        </p:spPr>
        <p:txBody>
          <a:bodyPr wrap="square" rtlCol="0">
            <a:spAutoFit/>
          </a:bodyPr>
          <a:lstStyle/>
          <a:p>
            <a:endParaRPr lang="es-CO" b="1" dirty="0">
              <a:effectLst/>
              <a:latin typeface="Helvetica" pitchFamily="2" charset="0"/>
            </a:endParaRPr>
          </a:p>
          <a:p>
            <a:endParaRPr lang="en-US" dirty="0"/>
          </a:p>
        </p:txBody>
      </p:sp>
      <p:pic>
        <p:nvPicPr>
          <p:cNvPr id="1026" name="Picture 2" descr="What is Software Testing Life Cycle (STLC) - Software Testing Tutorial">
            <a:extLst>
              <a:ext uri="{FF2B5EF4-FFF2-40B4-BE49-F238E27FC236}">
                <a16:creationId xmlns:a16="http://schemas.microsoft.com/office/drawing/2014/main" id="{6B48299B-80BB-3565-F751-AFBFD1D0DB1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23392" y="980728"/>
            <a:ext cx="5293968" cy="5445224"/>
          </a:xfrm>
          <a:prstGeom prst="rect">
            <a:avLst/>
          </a:prstGeom>
          <a:noFill/>
          <a:extLst>
            <a:ext uri="{909E8E84-426E-40DD-AFC4-6F175D3DCCD1}">
              <a14:hiddenFill xmlns:a14="http://schemas.microsoft.com/office/drawing/2010/main">
                <a:solidFill>
                  <a:srgbClr val="FFFFFF"/>
                </a:solidFill>
              </a14:hiddenFill>
            </a:ext>
          </a:extLst>
        </p:spPr>
      </p:pic>
      <p:sp>
        <p:nvSpPr>
          <p:cNvPr id="4" name="Rectángulo 3">
            <a:extLst>
              <a:ext uri="{FF2B5EF4-FFF2-40B4-BE49-F238E27FC236}">
                <a16:creationId xmlns:a16="http://schemas.microsoft.com/office/drawing/2014/main" id="{D6148CB0-2635-15E0-01EE-8EB3BCB140A0}"/>
              </a:ext>
            </a:extLst>
          </p:cNvPr>
          <p:cNvSpPr/>
          <p:nvPr/>
        </p:nvSpPr>
        <p:spPr>
          <a:xfrm>
            <a:off x="4139952" y="4221088"/>
            <a:ext cx="1512168" cy="43204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463920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755576" y="0"/>
            <a:ext cx="8229600" cy="1143000"/>
          </a:xfrm>
        </p:spPr>
        <p:txBody>
          <a:bodyPr>
            <a:normAutofit/>
          </a:bodyPr>
          <a:lstStyle/>
          <a:p>
            <a:r>
              <a:rPr lang="es-CO" sz="2800" b="1" dirty="0"/>
              <a:t>Pruebas</a:t>
            </a:r>
          </a:p>
        </p:txBody>
      </p:sp>
      <p:sp>
        <p:nvSpPr>
          <p:cNvPr id="3" name="CuadroTexto 2">
            <a:extLst>
              <a:ext uri="{FF2B5EF4-FFF2-40B4-BE49-F238E27FC236}">
                <a16:creationId xmlns:a16="http://schemas.microsoft.com/office/drawing/2014/main" id="{17FD4F7B-CCF2-2470-0DCF-2A8120F86B5E}"/>
              </a:ext>
            </a:extLst>
          </p:cNvPr>
          <p:cNvSpPr txBox="1"/>
          <p:nvPr/>
        </p:nvSpPr>
        <p:spPr>
          <a:xfrm>
            <a:off x="755577" y="1412776"/>
            <a:ext cx="2880320" cy="646331"/>
          </a:xfrm>
          <a:prstGeom prst="rect">
            <a:avLst/>
          </a:prstGeom>
          <a:noFill/>
        </p:spPr>
        <p:txBody>
          <a:bodyPr wrap="square" rtlCol="0">
            <a:spAutoFit/>
          </a:bodyPr>
          <a:lstStyle/>
          <a:p>
            <a:endParaRPr lang="es-CO" b="1" dirty="0">
              <a:effectLst/>
              <a:latin typeface="Helvetica" pitchFamily="2" charset="0"/>
            </a:endParaRPr>
          </a:p>
          <a:p>
            <a:endParaRPr lang="en-US" dirty="0"/>
          </a:p>
        </p:txBody>
      </p:sp>
      <p:sp>
        <p:nvSpPr>
          <p:cNvPr id="4" name="CuadroTexto 3">
            <a:extLst>
              <a:ext uri="{FF2B5EF4-FFF2-40B4-BE49-F238E27FC236}">
                <a16:creationId xmlns:a16="http://schemas.microsoft.com/office/drawing/2014/main" id="{B72CB8AE-9567-C821-32C1-DEC13AA5FFDB}"/>
              </a:ext>
            </a:extLst>
          </p:cNvPr>
          <p:cNvSpPr txBox="1"/>
          <p:nvPr/>
        </p:nvSpPr>
        <p:spPr>
          <a:xfrm>
            <a:off x="755576" y="908720"/>
            <a:ext cx="7848872" cy="5078313"/>
          </a:xfrm>
          <a:prstGeom prst="rect">
            <a:avLst/>
          </a:prstGeom>
          <a:noFill/>
        </p:spPr>
        <p:txBody>
          <a:bodyPr wrap="square" rtlCol="0">
            <a:spAutoFit/>
          </a:bodyPr>
          <a:lstStyle/>
          <a:p>
            <a:endParaRPr lang="es-CO" dirty="0">
              <a:latin typeface="Helvetica" pitchFamily="2" charset="0"/>
            </a:endParaRPr>
          </a:p>
          <a:p>
            <a:r>
              <a:rPr lang="es-CO" dirty="0">
                <a:latin typeface="Helvetica" pitchFamily="2" charset="0"/>
              </a:rPr>
              <a:t>Consejo Internacional de Certificación de Pruebas de Software – ISTQB</a:t>
            </a:r>
          </a:p>
          <a:p>
            <a:endParaRPr lang="es-CO" dirty="0">
              <a:latin typeface="Helvetica" pitchFamily="2" charset="0"/>
            </a:endParaRPr>
          </a:p>
          <a:p>
            <a:r>
              <a:rPr lang="es-CO" dirty="0">
                <a:solidFill>
                  <a:srgbClr val="FF0000"/>
                </a:solidFill>
                <a:highlight>
                  <a:srgbClr val="FFFF00"/>
                </a:highlight>
                <a:latin typeface="Helvetica" pitchFamily="2" charset="0"/>
              </a:rPr>
              <a:t>La calidad de un software esta relacionado con la cantidad de errores, fallas y defectos que presenta un software.</a:t>
            </a:r>
          </a:p>
          <a:p>
            <a:endParaRPr lang="es-CO" dirty="0">
              <a:latin typeface="Helvetica" pitchFamily="2" charset="0"/>
            </a:endParaRPr>
          </a:p>
          <a:p>
            <a:r>
              <a:rPr lang="es-CO" b="1" dirty="0">
                <a:solidFill>
                  <a:srgbClr val="FF0000"/>
                </a:solidFill>
                <a:latin typeface="Helvetica" pitchFamily="2" charset="0"/>
              </a:rPr>
              <a:t>Un error es una acción humana que produce un resultado incorrecto. El resultado es producto de un defecto. Un defecto es un desperfecto en un componente o en todo el software que produce que falle al ser ejecutado. Una falla es una desviación que de un componente o el software con respecto a lo que se espera del software. Por lo tanto es un comportamiento inesperado.</a:t>
            </a:r>
          </a:p>
          <a:p>
            <a:endParaRPr lang="es-CO" dirty="0">
              <a:latin typeface="Helvetica" pitchFamily="2" charset="0"/>
            </a:endParaRPr>
          </a:p>
          <a:p>
            <a:endParaRPr lang="es-CO" dirty="0">
              <a:latin typeface="Helvetica" pitchFamily="2" charset="0"/>
            </a:endParaRPr>
          </a:p>
          <a:p>
            <a:endParaRPr lang="es-CO" dirty="0">
              <a:latin typeface="Helvetica" pitchFamily="2" charset="0"/>
            </a:endParaRPr>
          </a:p>
          <a:p>
            <a:endParaRPr lang="es-CO" dirty="0">
              <a:latin typeface="Helvetica" pitchFamily="2" charset="0"/>
            </a:endParaRPr>
          </a:p>
          <a:p>
            <a:endParaRPr lang="es-CO" dirty="0">
              <a:latin typeface="Helvetica" pitchFamily="2" charset="0"/>
            </a:endParaRPr>
          </a:p>
          <a:p>
            <a:endParaRPr lang="es-CO" dirty="0">
              <a:latin typeface="Helvetica" pitchFamily="2" charset="0"/>
            </a:endParaRPr>
          </a:p>
        </p:txBody>
      </p:sp>
    </p:spTree>
    <p:extLst>
      <p:ext uri="{BB962C8B-B14F-4D97-AF65-F5344CB8AC3E}">
        <p14:creationId xmlns:p14="http://schemas.microsoft.com/office/powerpoint/2010/main" val="7116192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755576" y="0"/>
            <a:ext cx="8229600" cy="1143000"/>
          </a:xfrm>
        </p:spPr>
        <p:txBody>
          <a:bodyPr>
            <a:normAutofit/>
          </a:bodyPr>
          <a:lstStyle/>
          <a:p>
            <a:r>
              <a:rPr lang="es-CO" sz="2800" b="1" dirty="0"/>
              <a:t>Pruebas</a:t>
            </a:r>
          </a:p>
        </p:txBody>
      </p:sp>
      <p:sp>
        <p:nvSpPr>
          <p:cNvPr id="3" name="CuadroTexto 2">
            <a:extLst>
              <a:ext uri="{FF2B5EF4-FFF2-40B4-BE49-F238E27FC236}">
                <a16:creationId xmlns:a16="http://schemas.microsoft.com/office/drawing/2014/main" id="{17FD4F7B-CCF2-2470-0DCF-2A8120F86B5E}"/>
              </a:ext>
            </a:extLst>
          </p:cNvPr>
          <p:cNvSpPr txBox="1"/>
          <p:nvPr/>
        </p:nvSpPr>
        <p:spPr>
          <a:xfrm>
            <a:off x="755577" y="1412776"/>
            <a:ext cx="2880320" cy="646331"/>
          </a:xfrm>
          <a:prstGeom prst="rect">
            <a:avLst/>
          </a:prstGeom>
          <a:noFill/>
        </p:spPr>
        <p:txBody>
          <a:bodyPr wrap="square" rtlCol="0">
            <a:spAutoFit/>
          </a:bodyPr>
          <a:lstStyle/>
          <a:p>
            <a:endParaRPr lang="es-CO" b="1" dirty="0">
              <a:effectLst/>
              <a:latin typeface="Helvetica" pitchFamily="2" charset="0"/>
            </a:endParaRPr>
          </a:p>
          <a:p>
            <a:endParaRPr lang="en-US" dirty="0"/>
          </a:p>
        </p:txBody>
      </p:sp>
      <p:sp>
        <p:nvSpPr>
          <p:cNvPr id="4" name="CuadroTexto 3">
            <a:extLst>
              <a:ext uri="{FF2B5EF4-FFF2-40B4-BE49-F238E27FC236}">
                <a16:creationId xmlns:a16="http://schemas.microsoft.com/office/drawing/2014/main" id="{B72CB8AE-9567-C821-32C1-DEC13AA5FFDB}"/>
              </a:ext>
            </a:extLst>
          </p:cNvPr>
          <p:cNvSpPr txBox="1"/>
          <p:nvPr/>
        </p:nvSpPr>
        <p:spPr>
          <a:xfrm>
            <a:off x="611560" y="1268760"/>
            <a:ext cx="8229600" cy="5355312"/>
          </a:xfrm>
          <a:prstGeom prst="rect">
            <a:avLst/>
          </a:prstGeom>
          <a:noFill/>
        </p:spPr>
        <p:txBody>
          <a:bodyPr wrap="square" rtlCol="0">
            <a:spAutoFit/>
          </a:bodyPr>
          <a:lstStyle/>
          <a:p>
            <a:pPr marL="285750" indent="-285750">
              <a:buFont typeface="Arial" panose="020B0604020202020204" pitchFamily="34" charset="0"/>
              <a:buChar char="•"/>
            </a:pPr>
            <a:r>
              <a:rPr lang="es-CO" dirty="0">
                <a:latin typeface="Helvetica" pitchFamily="2" charset="0"/>
              </a:rPr>
              <a:t>Las pruebas muestran la presencia de defectos.</a:t>
            </a:r>
          </a:p>
          <a:p>
            <a:pPr marL="285750" indent="-285750">
              <a:buFont typeface="Arial" panose="020B0604020202020204" pitchFamily="34" charset="0"/>
              <a:buChar char="•"/>
            </a:pPr>
            <a:endParaRPr lang="es-CO" dirty="0">
              <a:latin typeface="Helvetica" pitchFamily="2" charset="0"/>
            </a:endParaRPr>
          </a:p>
          <a:p>
            <a:pPr marL="285750" indent="-285750">
              <a:buFont typeface="Arial" panose="020B0604020202020204" pitchFamily="34" charset="0"/>
              <a:buChar char="•"/>
            </a:pPr>
            <a:r>
              <a:rPr lang="es-CO" dirty="0">
                <a:latin typeface="Helvetica" pitchFamily="2" charset="0"/>
              </a:rPr>
              <a:t>Las pruebas exhaustivas son imposibles (Nota: IA puede cambiar esto)</a:t>
            </a:r>
          </a:p>
          <a:p>
            <a:pPr marL="285750" indent="-285750">
              <a:buFont typeface="Arial" panose="020B0604020202020204" pitchFamily="34" charset="0"/>
              <a:buChar char="•"/>
            </a:pPr>
            <a:endParaRPr lang="es-CO" dirty="0">
              <a:latin typeface="Helvetica" pitchFamily="2" charset="0"/>
            </a:endParaRPr>
          </a:p>
          <a:p>
            <a:pPr marL="285750" indent="-285750">
              <a:buFont typeface="Arial" panose="020B0604020202020204" pitchFamily="34" charset="0"/>
              <a:buChar char="•"/>
            </a:pPr>
            <a:r>
              <a:rPr lang="es-CO" dirty="0">
                <a:latin typeface="Helvetica" pitchFamily="2" charset="0"/>
              </a:rPr>
              <a:t>Las pruebas tempranas ahorran tiempo y dinero</a:t>
            </a:r>
          </a:p>
          <a:p>
            <a:pPr marL="285750" indent="-285750">
              <a:buFont typeface="Arial" panose="020B0604020202020204" pitchFamily="34" charset="0"/>
              <a:buChar char="•"/>
            </a:pPr>
            <a:endParaRPr lang="es-CO" dirty="0">
              <a:latin typeface="Helvetica" pitchFamily="2" charset="0"/>
            </a:endParaRPr>
          </a:p>
          <a:p>
            <a:pPr marL="285750" indent="-285750">
              <a:buFont typeface="Arial" panose="020B0604020202020204" pitchFamily="34" charset="0"/>
              <a:buChar char="•"/>
            </a:pPr>
            <a:r>
              <a:rPr lang="es-CO" dirty="0">
                <a:latin typeface="Helvetica" pitchFamily="2" charset="0"/>
              </a:rPr>
              <a:t>Agrupamiento de defectos</a:t>
            </a:r>
          </a:p>
          <a:p>
            <a:pPr marL="285750" indent="-285750">
              <a:buFont typeface="Arial" panose="020B0604020202020204" pitchFamily="34" charset="0"/>
              <a:buChar char="•"/>
            </a:pPr>
            <a:endParaRPr lang="es-CO" dirty="0">
              <a:latin typeface="Helvetica" pitchFamily="2" charset="0"/>
            </a:endParaRPr>
          </a:p>
          <a:p>
            <a:pPr marL="285750" indent="-285750">
              <a:buFont typeface="Arial" panose="020B0604020202020204" pitchFamily="34" charset="0"/>
              <a:buChar char="•"/>
            </a:pPr>
            <a:r>
              <a:rPr lang="es-CO" dirty="0">
                <a:latin typeface="Helvetica" pitchFamily="2" charset="0"/>
              </a:rPr>
              <a:t>La paradoja del pesticida, actualizar pruebas.</a:t>
            </a:r>
          </a:p>
          <a:p>
            <a:pPr marL="285750" indent="-285750">
              <a:buFont typeface="Arial" panose="020B0604020202020204" pitchFamily="34" charset="0"/>
              <a:buChar char="•"/>
            </a:pPr>
            <a:endParaRPr lang="es-CO" dirty="0">
              <a:latin typeface="Helvetica" pitchFamily="2" charset="0"/>
            </a:endParaRPr>
          </a:p>
          <a:p>
            <a:pPr marL="285750" indent="-285750">
              <a:buFont typeface="Arial" panose="020B0604020202020204" pitchFamily="34" charset="0"/>
              <a:buChar char="•"/>
            </a:pPr>
            <a:r>
              <a:rPr lang="es-CO" dirty="0">
                <a:latin typeface="Helvetica" pitchFamily="2" charset="0"/>
              </a:rPr>
              <a:t>Las pruebas dependen del contexto</a:t>
            </a:r>
          </a:p>
          <a:p>
            <a:pPr marL="285750" indent="-285750">
              <a:buFont typeface="Arial" panose="020B0604020202020204" pitchFamily="34" charset="0"/>
              <a:buChar char="•"/>
            </a:pPr>
            <a:endParaRPr lang="es-CO" dirty="0">
              <a:latin typeface="Helvetica" pitchFamily="2" charset="0"/>
            </a:endParaRPr>
          </a:p>
          <a:p>
            <a:pPr marL="285750" indent="-285750">
              <a:buFont typeface="Arial" panose="020B0604020202020204" pitchFamily="34" charset="0"/>
              <a:buChar char="•"/>
            </a:pPr>
            <a:r>
              <a:rPr lang="es-CO" dirty="0">
                <a:latin typeface="Helvetica" pitchFamily="2" charset="0"/>
              </a:rPr>
              <a:t>La falacia de la ausencia de errores</a:t>
            </a:r>
          </a:p>
          <a:p>
            <a:endParaRPr lang="es-CO" dirty="0">
              <a:latin typeface="Helvetica" pitchFamily="2" charset="0"/>
            </a:endParaRPr>
          </a:p>
          <a:p>
            <a:endParaRPr lang="es-CO" dirty="0">
              <a:latin typeface="Helvetica" pitchFamily="2" charset="0"/>
            </a:endParaRPr>
          </a:p>
          <a:p>
            <a:endParaRPr lang="es-CO" dirty="0">
              <a:latin typeface="Helvetica" pitchFamily="2" charset="0"/>
            </a:endParaRPr>
          </a:p>
          <a:p>
            <a:endParaRPr lang="es-CO" dirty="0">
              <a:latin typeface="Helvetica" pitchFamily="2" charset="0"/>
            </a:endParaRPr>
          </a:p>
          <a:p>
            <a:endParaRPr lang="es-CO" dirty="0">
              <a:latin typeface="Helvetica" pitchFamily="2" charset="0"/>
            </a:endParaRPr>
          </a:p>
          <a:p>
            <a:endParaRPr lang="es-CO" dirty="0">
              <a:latin typeface="Helvetica" pitchFamily="2" charset="0"/>
            </a:endParaRPr>
          </a:p>
        </p:txBody>
      </p:sp>
    </p:spTree>
    <p:extLst>
      <p:ext uri="{BB962C8B-B14F-4D97-AF65-F5344CB8AC3E}">
        <p14:creationId xmlns:p14="http://schemas.microsoft.com/office/powerpoint/2010/main" val="38818009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755576" y="0"/>
            <a:ext cx="8229600" cy="1143000"/>
          </a:xfrm>
        </p:spPr>
        <p:txBody>
          <a:bodyPr>
            <a:normAutofit/>
          </a:bodyPr>
          <a:lstStyle/>
          <a:p>
            <a:r>
              <a:rPr lang="es-CO" sz="2800" b="1" dirty="0"/>
              <a:t>Productos de las Pruebas</a:t>
            </a:r>
          </a:p>
        </p:txBody>
      </p:sp>
      <p:sp>
        <p:nvSpPr>
          <p:cNvPr id="3" name="CuadroTexto 2">
            <a:extLst>
              <a:ext uri="{FF2B5EF4-FFF2-40B4-BE49-F238E27FC236}">
                <a16:creationId xmlns:a16="http://schemas.microsoft.com/office/drawing/2014/main" id="{17FD4F7B-CCF2-2470-0DCF-2A8120F86B5E}"/>
              </a:ext>
            </a:extLst>
          </p:cNvPr>
          <p:cNvSpPr txBox="1"/>
          <p:nvPr/>
        </p:nvSpPr>
        <p:spPr>
          <a:xfrm>
            <a:off x="755577" y="1412776"/>
            <a:ext cx="2880320" cy="646331"/>
          </a:xfrm>
          <a:prstGeom prst="rect">
            <a:avLst/>
          </a:prstGeom>
          <a:noFill/>
        </p:spPr>
        <p:txBody>
          <a:bodyPr wrap="square" rtlCol="0">
            <a:spAutoFit/>
          </a:bodyPr>
          <a:lstStyle/>
          <a:p>
            <a:endParaRPr lang="es-CO" b="1" dirty="0">
              <a:effectLst/>
              <a:latin typeface="Helvetica" pitchFamily="2" charset="0"/>
            </a:endParaRPr>
          </a:p>
          <a:p>
            <a:endParaRPr lang="en-US" dirty="0"/>
          </a:p>
        </p:txBody>
      </p:sp>
      <p:sp>
        <p:nvSpPr>
          <p:cNvPr id="4" name="CuadroTexto 3">
            <a:extLst>
              <a:ext uri="{FF2B5EF4-FFF2-40B4-BE49-F238E27FC236}">
                <a16:creationId xmlns:a16="http://schemas.microsoft.com/office/drawing/2014/main" id="{B72CB8AE-9567-C821-32C1-DEC13AA5FFDB}"/>
              </a:ext>
            </a:extLst>
          </p:cNvPr>
          <p:cNvSpPr txBox="1"/>
          <p:nvPr/>
        </p:nvSpPr>
        <p:spPr>
          <a:xfrm>
            <a:off x="457200" y="1143000"/>
            <a:ext cx="8229600" cy="6186309"/>
          </a:xfrm>
          <a:prstGeom prst="rect">
            <a:avLst/>
          </a:prstGeom>
          <a:noFill/>
        </p:spPr>
        <p:txBody>
          <a:bodyPr wrap="square" rtlCol="0">
            <a:spAutoFit/>
          </a:bodyPr>
          <a:lstStyle/>
          <a:p>
            <a:pPr marL="285750" indent="-285750">
              <a:buFont typeface="Arial" panose="020B0604020202020204" pitchFamily="34" charset="0"/>
              <a:buChar char="•"/>
            </a:pPr>
            <a:r>
              <a:rPr lang="es-CO" b="1" dirty="0">
                <a:latin typeface="Helvetica" pitchFamily="2" charset="0"/>
              </a:rPr>
              <a:t>Plan de pruebas: </a:t>
            </a:r>
            <a:r>
              <a:rPr lang="es-CO" dirty="0">
                <a:latin typeface="Helvetica" pitchFamily="2" charset="0"/>
              </a:rPr>
              <a:t>Es un documento de planificación de las pruebas con el fin de estructurar, organizar y programar las actividades del proceso de pruebas que se requiere en cada uno de los niveles, el documento incluye alcance, enfoque, tipo de prueba, aspectos a probar, proceso, fechas de inicio y fin, recursos, presupuesto entre otros.</a:t>
            </a:r>
          </a:p>
          <a:p>
            <a:pPr marL="285750" indent="-285750">
              <a:buFont typeface="Arial" panose="020B0604020202020204" pitchFamily="34" charset="0"/>
              <a:buChar char="•"/>
            </a:pPr>
            <a:endParaRPr lang="es-CO" dirty="0">
              <a:latin typeface="Helvetica" pitchFamily="2" charset="0"/>
            </a:endParaRPr>
          </a:p>
          <a:p>
            <a:pPr marL="285750" indent="-285750">
              <a:buFont typeface="Arial" panose="020B0604020202020204" pitchFamily="34" charset="0"/>
              <a:buChar char="•"/>
            </a:pPr>
            <a:r>
              <a:rPr lang="es-CO" b="1" dirty="0">
                <a:latin typeface="Helvetica" pitchFamily="2" charset="0"/>
              </a:rPr>
              <a:t>Especificación de diseño de pruebas: </a:t>
            </a:r>
            <a:r>
              <a:rPr lang="es-CO" dirty="0">
                <a:latin typeface="Helvetica" pitchFamily="2" charset="0"/>
              </a:rPr>
              <a:t>Describe los detalles del enfoque o estrategia que se aplicara en el desarrollo de las pruebas, los criterios de evaluación, aprobación y desaprobación.</a:t>
            </a:r>
          </a:p>
          <a:p>
            <a:pPr marL="285750" indent="-285750">
              <a:buFont typeface="Arial" panose="020B0604020202020204" pitchFamily="34" charset="0"/>
              <a:buChar char="•"/>
            </a:pPr>
            <a:endParaRPr lang="es-CO" dirty="0">
              <a:latin typeface="Helvetica" pitchFamily="2" charset="0"/>
            </a:endParaRPr>
          </a:p>
          <a:p>
            <a:pPr marL="285750" indent="-285750">
              <a:buFont typeface="Arial" panose="020B0604020202020204" pitchFamily="34" charset="0"/>
              <a:buChar char="•"/>
            </a:pPr>
            <a:r>
              <a:rPr lang="es-CO" b="1" dirty="0">
                <a:latin typeface="Helvetica" pitchFamily="2" charset="0"/>
              </a:rPr>
              <a:t>Especificación de caso de prueba: </a:t>
            </a:r>
            <a:r>
              <a:rPr lang="es-CO" dirty="0">
                <a:latin typeface="Helvetica" pitchFamily="2" charset="0"/>
              </a:rPr>
              <a:t>Específica los datos que se requieren para ejecutar una prueba. Describe el objetivo, los datos, condiciones de entrada, los resultados y los resultados esperados.</a:t>
            </a:r>
          </a:p>
          <a:p>
            <a:pPr marL="285750" indent="-285750">
              <a:buFont typeface="Arial" panose="020B0604020202020204" pitchFamily="34" charset="0"/>
              <a:buChar char="•"/>
            </a:pPr>
            <a:endParaRPr lang="es-CO" dirty="0">
              <a:latin typeface="Helvetica" pitchFamily="2" charset="0"/>
            </a:endParaRPr>
          </a:p>
          <a:p>
            <a:pPr marL="285750" indent="-285750">
              <a:buFont typeface="Arial" panose="020B0604020202020204" pitchFamily="34" charset="0"/>
              <a:buChar char="•"/>
            </a:pPr>
            <a:endParaRPr lang="es-CO" dirty="0">
              <a:latin typeface="Helvetica" pitchFamily="2" charset="0"/>
            </a:endParaRPr>
          </a:p>
          <a:p>
            <a:pPr marL="285750" indent="-285750">
              <a:buFont typeface="Arial" panose="020B0604020202020204" pitchFamily="34" charset="0"/>
              <a:buChar char="•"/>
            </a:pPr>
            <a:endParaRPr lang="es-CO" dirty="0">
              <a:latin typeface="Helvetica" pitchFamily="2" charset="0"/>
            </a:endParaRPr>
          </a:p>
          <a:p>
            <a:endParaRPr lang="es-CO" dirty="0">
              <a:latin typeface="Helvetica" pitchFamily="2" charset="0"/>
            </a:endParaRPr>
          </a:p>
          <a:p>
            <a:endParaRPr lang="es-CO" dirty="0">
              <a:latin typeface="Helvetica" pitchFamily="2" charset="0"/>
            </a:endParaRPr>
          </a:p>
          <a:p>
            <a:endParaRPr lang="es-CO" dirty="0">
              <a:latin typeface="Helvetica" pitchFamily="2" charset="0"/>
            </a:endParaRPr>
          </a:p>
          <a:p>
            <a:endParaRPr lang="es-CO" dirty="0">
              <a:latin typeface="Helvetica" pitchFamily="2" charset="0"/>
            </a:endParaRPr>
          </a:p>
          <a:p>
            <a:endParaRPr lang="es-CO" dirty="0">
              <a:latin typeface="Helvetica" pitchFamily="2" charset="0"/>
            </a:endParaRPr>
          </a:p>
          <a:p>
            <a:endParaRPr lang="es-CO" dirty="0">
              <a:latin typeface="Helvetica" pitchFamily="2" charset="0"/>
            </a:endParaRPr>
          </a:p>
        </p:txBody>
      </p:sp>
    </p:spTree>
    <p:extLst>
      <p:ext uri="{BB962C8B-B14F-4D97-AF65-F5344CB8AC3E}">
        <p14:creationId xmlns:p14="http://schemas.microsoft.com/office/powerpoint/2010/main" val="17458927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755576" y="0"/>
            <a:ext cx="8229600" cy="1143000"/>
          </a:xfrm>
        </p:spPr>
        <p:txBody>
          <a:bodyPr>
            <a:normAutofit/>
          </a:bodyPr>
          <a:lstStyle/>
          <a:p>
            <a:r>
              <a:rPr lang="es-CO" sz="2800" b="1" dirty="0"/>
              <a:t>Productos de las Pruebas</a:t>
            </a:r>
          </a:p>
        </p:txBody>
      </p:sp>
      <p:sp>
        <p:nvSpPr>
          <p:cNvPr id="3" name="CuadroTexto 2">
            <a:extLst>
              <a:ext uri="{FF2B5EF4-FFF2-40B4-BE49-F238E27FC236}">
                <a16:creationId xmlns:a16="http://schemas.microsoft.com/office/drawing/2014/main" id="{17FD4F7B-CCF2-2470-0DCF-2A8120F86B5E}"/>
              </a:ext>
            </a:extLst>
          </p:cNvPr>
          <p:cNvSpPr txBox="1"/>
          <p:nvPr/>
        </p:nvSpPr>
        <p:spPr>
          <a:xfrm>
            <a:off x="755577" y="1412776"/>
            <a:ext cx="2880320" cy="646331"/>
          </a:xfrm>
          <a:prstGeom prst="rect">
            <a:avLst/>
          </a:prstGeom>
          <a:noFill/>
        </p:spPr>
        <p:txBody>
          <a:bodyPr wrap="square" rtlCol="0">
            <a:spAutoFit/>
          </a:bodyPr>
          <a:lstStyle/>
          <a:p>
            <a:endParaRPr lang="es-CO" b="1" dirty="0">
              <a:effectLst/>
              <a:latin typeface="Helvetica" pitchFamily="2" charset="0"/>
            </a:endParaRPr>
          </a:p>
          <a:p>
            <a:endParaRPr lang="en-US" dirty="0"/>
          </a:p>
        </p:txBody>
      </p:sp>
      <p:sp>
        <p:nvSpPr>
          <p:cNvPr id="4" name="CuadroTexto 3">
            <a:extLst>
              <a:ext uri="{FF2B5EF4-FFF2-40B4-BE49-F238E27FC236}">
                <a16:creationId xmlns:a16="http://schemas.microsoft.com/office/drawing/2014/main" id="{B72CB8AE-9567-C821-32C1-DEC13AA5FFDB}"/>
              </a:ext>
            </a:extLst>
          </p:cNvPr>
          <p:cNvSpPr txBox="1"/>
          <p:nvPr/>
        </p:nvSpPr>
        <p:spPr>
          <a:xfrm>
            <a:off x="457200" y="1143000"/>
            <a:ext cx="8229600" cy="5078313"/>
          </a:xfrm>
          <a:prstGeom prst="rect">
            <a:avLst/>
          </a:prstGeom>
          <a:noFill/>
        </p:spPr>
        <p:txBody>
          <a:bodyPr wrap="square" rtlCol="0">
            <a:spAutoFit/>
          </a:bodyPr>
          <a:lstStyle/>
          <a:p>
            <a:endParaRPr lang="es-CO" dirty="0">
              <a:latin typeface="Helvetica" pitchFamily="2" charset="0"/>
            </a:endParaRPr>
          </a:p>
          <a:p>
            <a:pPr marL="285750" indent="-285750">
              <a:buFont typeface="Arial" panose="020B0604020202020204" pitchFamily="34" charset="0"/>
              <a:buChar char="•"/>
            </a:pPr>
            <a:r>
              <a:rPr lang="es-CO" b="1" dirty="0">
                <a:latin typeface="Helvetica" pitchFamily="2" charset="0"/>
              </a:rPr>
              <a:t>Suite de prueba: </a:t>
            </a:r>
            <a:r>
              <a:rPr lang="es-CO" dirty="0">
                <a:latin typeface="Helvetica" pitchFamily="2" charset="0"/>
              </a:rPr>
              <a:t>Es una colección de casos de prueba relacionados que se utilizan para probar determinado software.</a:t>
            </a:r>
          </a:p>
          <a:p>
            <a:pPr marL="285750" indent="-285750">
              <a:buFont typeface="Arial" panose="020B0604020202020204" pitchFamily="34" charset="0"/>
              <a:buChar char="•"/>
            </a:pPr>
            <a:endParaRPr lang="es-CO" dirty="0">
              <a:latin typeface="Helvetica" pitchFamily="2" charset="0"/>
            </a:endParaRPr>
          </a:p>
          <a:p>
            <a:pPr marL="285750" indent="-285750">
              <a:buFont typeface="Arial" panose="020B0604020202020204" pitchFamily="34" charset="0"/>
              <a:buChar char="•"/>
            </a:pPr>
            <a:r>
              <a:rPr lang="es-CO" b="1" dirty="0">
                <a:latin typeface="Helvetica" pitchFamily="2" charset="0"/>
              </a:rPr>
              <a:t>Procedimiento de prueba: </a:t>
            </a:r>
            <a:r>
              <a:rPr lang="es-CO" dirty="0">
                <a:latin typeface="Helvetica" pitchFamily="2" charset="0"/>
              </a:rPr>
              <a:t>Es una descripción de los pasos requeridos para ejecutar una determinada prueba con un más casos de prueba.</a:t>
            </a:r>
          </a:p>
          <a:p>
            <a:pPr marL="285750" indent="-285750">
              <a:buFont typeface="Arial" panose="020B0604020202020204" pitchFamily="34" charset="0"/>
              <a:buChar char="•"/>
            </a:pPr>
            <a:endParaRPr lang="es-CO" dirty="0">
              <a:latin typeface="Helvetica" pitchFamily="2" charset="0"/>
            </a:endParaRPr>
          </a:p>
          <a:p>
            <a:pPr marL="285750" indent="-285750">
              <a:buFont typeface="Arial" panose="020B0604020202020204" pitchFamily="34" charset="0"/>
              <a:buChar char="•"/>
            </a:pPr>
            <a:r>
              <a:rPr lang="es-CO" b="1" dirty="0">
                <a:latin typeface="Helvetica" pitchFamily="2" charset="0"/>
              </a:rPr>
              <a:t>Informe de incidente de pruebas: </a:t>
            </a:r>
            <a:r>
              <a:rPr lang="es-CO" dirty="0">
                <a:latin typeface="Helvetica" pitchFamily="2" charset="0"/>
              </a:rPr>
              <a:t>Es un documento que registra una falla, error o evento inesperado que ocurre durante una determinada prueba y que deberá ser analizado para encontrar lo que genera la falla.</a:t>
            </a:r>
          </a:p>
          <a:p>
            <a:pPr marL="285750" indent="-285750">
              <a:buFont typeface="Arial" panose="020B0604020202020204" pitchFamily="34" charset="0"/>
              <a:buChar char="•"/>
            </a:pPr>
            <a:endParaRPr lang="es-CO" dirty="0">
              <a:latin typeface="Helvetica" pitchFamily="2" charset="0"/>
            </a:endParaRPr>
          </a:p>
          <a:p>
            <a:pPr marL="285750" indent="-285750">
              <a:buFont typeface="Arial" panose="020B0604020202020204" pitchFamily="34" charset="0"/>
              <a:buChar char="•"/>
            </a:pPr>
            <a:endParaRPr lang="es-CO" dirty="0">
              <a:latin typeface="Helvetica" pitchFamily="2" charset="0"/>
            </a:endParaRPr>
          </a:p>
          <a:p>
            <a:endParaRPr lang="es-CO" dirty="0">
              <a:latin typeface="Helvetica" pitchFamily="2" charset="0"/>
            </a:endParaRPr>
          </a:p>
          <a:p>
            <a:endParaRPr lang="es-CO" dirty="0">
              <a:latin typeface="Helvetica" pitchFamily="2" charset="0"/>
            </a:endParaRPr>
          </a:p>
          <a:p>
            <a:endParaRPr lang="es-CO" dirty="0">
              <a:latin typeface="Helvetica" pitchFamily="2" charset="0"/>
            </a:endParaRPr>
          </a:p>
          <a:p>
            <a:endParaRPr lang="es-CO" dirty="0">
              <a:latin typeface="Helvetica" pitchFamily="2" charset="0"/>
            </a:endParaRPr>
          </a:p>
          <a:p>
            <a:endParaRPr lang="es-CO" dirty="0">
              <a:latin typeface="Helvetica" pitchFamily="2" charset="0"/>
            </a:endParaRPr>
          </a:p>
          <a:p>
            <a:endParaRPr lang="es-CO" dirty="0">
              <a:latin typeface="Helvetica" pitchFamily="2" charset="0"/>
            </a:endParaRPr>
          </a:p>
        </p:txBody>
      </p:sp>
    </p:spTree>
    <p:extLst>
      <p:ext uri="{BB962C8B-B14F-4D97-AF65-F5344CB8AC3E}">
        <p14:creationId xmlns:p14="http://schemas.microsoft.com/office/powerpoint/2010/main" val="20557309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755576" y="0"/>
            <a:ext cx="8229600" cy="1143000"/>
          </a:xfrm>
        </p:spPr>
        <p:txBody>
          <a:bodyPr>
            <a:normAutofit/>
          </a:bodyPr>
          <a:lstStyle/>
          <a:p>
            <a:r>
              <a:rPr lang="es-CO" sz="2800" b="1" dirty="0"/>
              <a:t>Procesos de las Pruebas</a:t>
            </a:r>
          </a:p>
        </p:txBody>
      </p:sp>
      <p:sp>
        <p:nvSpPr>
          <p:cNvPr id="3" name="CuadroTexto 2">
            <a:extLst>
              <a:ext uri="{FF2B5EF4-FFF2-40B4-BE49-F238E27FC236}">
                <a16:creationId xmlns:a16="http://schemas.microsoft.com/office/drawing/2014/main" id="{17FD4F7B-CCF2-2470-0DCF-2A8120F86B5E}"/>
              </a:ext>
            </a:extLst>
          </p:cNvPr>
          <p:cNvSpPr txBox="1"/>
          <p:nvPr/>
        </p:nvSpPr>
        <p:spPr>
          <a:xfrm>
            <a:off x="9828584" y="6313805"/>
            <a:ext cx="2880320" cy="646331"/>
          </a:xfrm>
          <a:prstGeom prst="rect">
            <a:avLst/>
          </a:prstGeom>
          <a:noFill/>
        </p:spPr>
        <p:txBody>
          <a:bodyPr wrap="square" rtlCol="0">
            <a:spAutoFit/>
          </a:bodyPr>
          <a:lstStyle/>
          <a:p>
            <a:endParaRPr lang="es-CO" b="1" dirty="0">
              <a:effectLst/>
              <a:latin typeface="Helvetica" pitchFamily="2" charset="0"/>
            </a:endParaRPr>
          </a:p>
          <a:p>
            <a:endParaRPr lang="en-US" dirty="0"/>
          </a:p>
        </p:txBody>
      </p:sp>
      <p:sp>
        <p:nvSpPr>
          <p:cNvPr id="23" name="CuadroTexto 22">
            <a:extLst>
              <a:ext uri="{FF2B5EF4-FFF2-40B4-BE49-F238E27FC236}">
                <a16:creationId xmlns:a16="http://schemas.microsoft.com/office/drawing/2014/main" id="{F07867C5-6E66-4C71-485D-6A73709C88E5}"/>
              </a:ext>
            </a:extLst>
          </p:cNvPr>
          <p:cNvSpPr txBox="1"/>
          <p:nvPr/>
        </p:nvSpPr>
        <p:spPr>
          <a:xfrm>
            <a:off x="457200" y="1143000"/>
            <a:ext cx="8229600" cy="4801314"/>
          </a:xfrm>
          <a:prstGeom prst="rect">
            <a:avLst/>
          </a:prstGeom>
          <a:noFill/>
        </p:spPr>
        <p:txBody>
          <a:bodyPr wrap="square" rtlCol="0">
            <a:spAutoFit/>
          </a:bodyPr>
          <a:lstStyle/>
          <a:p>
            <a:endParaRPr lang="es-CO" dirty="0">
              <a:latin typeface="Helvetica" pitchFamily="2" charset="0"/>
            </a:endParaRPr>
          </a:p>
          <a:p>
            <a:pPr marL="285750" indent="-285750">
              <a:buFont typeface="Arial" panose="020B0604020202020204" pitchFamily="34" charset="0"/>
              <a:buChar char="•"/>
            </a:pPr>
            <a:r>
              <a:rPr lang="es-CO" dirty="0">
                <a:solidFill>
                  <a:srgbClr val="FF0000"/>
                </a:solidFill>
                <a:latin typeface="Helvetica" pitchFamily="2" charset="0"/>
              </a:rPr>
              <a:t>Los procesos de las pruebas se ejecutan a lo largo del ciclo de desarrollo de software. </a:t>
            </a:r>
            <a:r>
              <a:rPr lang="es-CO" dirty="0">
                <a:latin typeface="Helvetica" pitchFamily="2" charset="0"/>
              </a:rPr>
              <a:t>Se inician desde el análisis, diseño, desarrollo, pero en la implementación es donde se realizan mayor énfasis y finalizan cuando el producto es entregado a los clientes y usuarios en conformidad.</a:t>
            </a:r>
          </a:p>
          <a:p>
            <a:pPr marL="285750" indent="-285750">
              <a:buFont typeface="Arial" panose="020B0604020202020204" pitchFamily="34" charset="0"/>
              <a:buChar char="•"/>
            </a:pPr>
            <a:endParaRPr lang="es-CO" dirty="0">
              <a:latin typeface="Helvetica" pitchFamily="2" charset="0"/>
            </a:endParaRPr>
          </a:p>
          <a:p>
            <a:pPr marL="285750" indent="-285750">
              <a:buFont typeface="Arial" panose="020B0604020202020204" pitchFamily="34" charset="0"/>
              <a:buChar char="•"/>
            </a:pPr>
            <a:r>
              <a:rPr lang="es-CO" dirty="0">
                <a:latin typeface="Helvetica" pitchFamily="2" charset="0"/>
              </a:rPr>
              <a:t>Generalmente dentro del proceso de desarrollo de software se realiza un subproceso de gestión de las pruebas que se denomina planificación y control de las pruebas.</a:t>
            </a:r>
          </a:p>
          <a:p>
            <a:pPr marL="285750" indent="-285750">
              <a:buFont typeface="Arial" panose="020B0604020202020204" pitchFamily="34" charset="0"/>
              <a:buChar char="•"/>
            </a:pPr>
            <a:endParaRPr lang="es-CO" dirty="0">
              <a:latin typeface="Helvetica" pitchFamily="2" charset="0"/>
            </a:endParaRPr>
          </a:p>
          <a:p>
            <a:pPr marL="285750" indent="-285750">
              <a:buFont typeface="Arial" panose="020B0604020202020204" pitchFamily="34" charset="0"/>
              <a:buChar char="•"/>
            </a:pPr>
            <a:endParaRPr lang="es-CO" dirty="0">
              <a:latin typeface="Helvetica" pitchFamily="2" charset="0"/>
            </a:endParaRPr>
          </a:p>
          <a:p>
            <a:endParaRPr lang="es-CO" dirty="0">
              <a:latin typeface="Helvetica" pitchFamily="2" charset="0"/>
            </a:endParaRPr>
          </a:p>
          <a:p>
            <a:endParaRPr lang="es-CO" dirty="0">
              <a:latin typeface="Helvetica" pitchFamily="2" charset="0"/>
            </a:endParaRPr>
          </a:p>
          <a:p>
            <a:endParaRPr lang="es-CO" dirty="0">
              <a:latin typeface="Helvetica" pitchFamily="2" charset="0"/>
            </a:endParaRPr>
          </a:p>
          <a:p>
            <a:endParaRPr lang="es-CO" dirty="0">
              <a:latin typeface="Helvetica" pitchFamily="2" charset="0"/>
            </a:endParaRPr>
          </a:p>
          <a:p>
            <a:endParaRPr lang="es-CO" dirty="0">
              <a:latin typeface="Helvetica" pitchFamily="2" charset="0"/>
            </a:endParaRPr>
          </a:p>
          <a:p>
            <a:endParaRPr lang="es-CO" dirty="0">
              <a:latin typeface="Helvetica" pitchFamily="2" charset="0"/>
            </a:endParaRPr>
          </a:p>
        </p:txBody>
      </p:sp>
    </p:spTree>
    <p:extLst>
      <p:ext uri="{BB962C8B-B14F-4D97-AF65-F5344CB8AC3E}">
        <p14:creationId xmlns:p14="http://schemas.microsoft.com/office/powerpoint/2010/main" val="8344758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755576" y="0"/>
            <a:ext cx="8229600" cy="1143000"/>
          </a:xfrm>
        </p:spPr>
        <p:txBody>
          <a:bodyPr>
            <a:normAutofit/>
          </a:bodyPr>
          <a:lstStyle/>
          <a:p>
            <a:r>
              <a:rPr lang="es-CO" sz="2800" b="1" dirty="0"/>
              <a:t>Procesos de las Pruebas</a:t>
            </a:r>
          </a:p>
        </p:txBody>
      </p:sp>
      <p:sp>
        <p:nvSpPr>
          <p:cNvPr id="3" name="CuadroTexto 2">
            <a:extLst>
              <a:ext uri="{FF2B5EF4-FFF2-40B4-BE49-F238E27FC236}">
                <a16:creationId xmlns:a16="http://schemas.microsoft.com/office/drawing/2014/main" id="{17FD4F7B-CCF2-2470-0DCF-2A8120F86B5E}"/>
              </a:ext>
            </a:extLst>
          </p:cNvPr>
          <p:cNvSpPr txBox="1"/>
          <p:nvPr/>
        </p:nvSpPr>
        <p:spPr>
          <a:xfrm>
            <a:off x="755577" y="1412776"/>
            <a:ext cx="2880320" cy="646331"/>
          </a:xfrm>
          <a:prstGeom prst="rect">
            <a:avLst/>
          </a:prstGeom>
          <a:noFill/>
        </p:spPr>
        <p:txBody>
          <a:bodyPr wrap="square" rtlCol="0">
            <a:spAutoFit/>
          </a:bodyPr>
          <a:lstStyle/>
          <a:p>
            <a:endParaRPr lang="es-CO" b="1" dirty="0">
              <a:effectLst/>
              <a:latin typeface="Helvetica" pitchFamily="2" charset="0"/>
            </a:endParaRPr>
          </a:p>
          <a:p>
            <a:endParaRPr lang="en-US" dirty="0"/>
          </a:p>
        </p:txBody>
      </p:sp>
      <p:graphicFrame>
        <p:nvGraphicFramePr>
          <p:cNvPr id="6" name="Diagrama 5">
            <a:extLst>
              <a:ext uri="{FF2B5EF4-FFF2-40B4-BE49-F238E27FC236}">
                <a16:creationId xmlns:a16="http://schemas.microsoft.com/office/drawing/2014/main" id="{452FAA1C-1CA2-251A-166D-235702008CD5}"/>
              </a:ext>
            </a:extLst>
          </p:cNvPr>
          <p:cNvGraphicFramePr/>
          <p:nvPr/>
        </p:nvGraphicFramePr>
        <p:xfrm>
          <a:off x="703283" y="1881187"/>
          <a:ext cx="3786104" cy="28020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7" name="Diagrama 6">
            <a:extLst>
              <a:ext uri="{FF2B5EF4-FFF2-40B4-BE49-F238E27FC236}">
                <a16:creationId xmlns:a16="http://schemas.microsoft.com/office/drawing/2014/main" id="{43F5B626-95D4-217D-80F8-CB4A86BDAA48}"/>
              </a:ext>
            </a:extLst>
          </p:cNvPr>
          <p:cNvGraphicFramePr/>
          <p:nvPr/>
        </p:nvGraphicFramePr>
        <p:xfrm>
          <a:off x="4839032" y="1881187"/>
          <a:ext cx="3786104" cy="2802062"/>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8" name="Rectángulo 7">
            <a:extLst>
              <a:ext uri="{FF2B5EF4-FFF2-40B4-BE49-F238E27FC236}">
                <a16:creationId xmlns:a16="http://schemas.microsoft.com/office/drawing/2014/main" id="{524F2A40-CB4E-12E7-E32F-A33A45BB9F04}"/>
              </a:ext>
            </a:extLst>
          </p:cNvPr>
          <p:cNvSpPr/>
          <p:nvPr/>
        </p:nvSpPr>
        <p:spPr>
          <a:xfrm>
            <a:off x="467544" y="1881186"/>
            <a:ext cx="8229600" cy="3203993"/>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0" name="Conector recto 9">
            <a:extLst>
              <a:ext uri="{FF2B5EF4-FFF2-40B4-BE49-F238E27FC236}">
                <a16:creationId xmlns:a16="http://schemas.microsoft.com/office/drawing/2014/main" id="{9B78579E-CB60-1DD0-CB3F-87CD73421641}"/>
              </a:ext>
            </a:extLst>
          </p:cNvPr>
          <p:cNvCxnSpPr>
            <a:cxnSpLocks/>
            <a:stCxn id="8" idx="0"/>
          </p:cNvCxnSpPr>
          <p:nvPr/>
        </p:nvCxnSpPr>
        <p:spPr>
          <a:xfrm>
            <a:off x="4582344" y="1881186"/>
            <a:ext cx="0" cy="1979862"/>
          </a:xfrm>
          <a:prstGeom prst="line">
            <a:avLst/>
          </a:prstGeom>
          <a:ln w="28575"/>
        </p:spPr>
        <p:style>
          <a:lnRef idx="1">
            <a:schemeClr val="dk1"/>
          </a:lnRef>
          <a:fillRef idx="0">
            <a:schemeClr val="dk1"/>
          </a:fillRef>
          <a:effectRef idx="0">
            <a:schemeClr val="dk1"/>
          </a:effectRef>
          <a:fontRef idx="minor">
            <a:schemeClr val="tx1"/>
          </a:fontRef>
        </p:style>
      </p:cxnSp>
      <p:cxnSp>
        <p:nvCxnSpPr>
          <p:cNvPr id="11" name="Conector recto 10">
            <a:extLst>
              <a:ext uri="{FF2B5EF4-FFF2-40B4-BE49-F238E27FC236}">
                <a16:creationId xmlns:a16="http://schemas.microsoft.com/office/drawing/2014/main" id="{6221540C-627D-F582-E00D-983E4349D165}"/>
              </a:ext>
            </a:extLst>
          </p:cNvPr>
          <p:cNvCxnSpPr>
            <a:cxnSpLocks/>
          </p:cNvCxnSpPr>
          <p:nvPr/>
        </p:nvCxnSpPr>
        <p:spPr>
          <a:xfrm>
            <a:off x="467544" y="3861048"/>
            <a:ext cx="8250548" cy="0"/>
          </a:xfrm>
          <a:prstGeom prst="line">
            <a:avLst/>
          </a:prstGeom>
          <a:ln w="28575"/>
        </p:spPr>
        <p:style>
          <a:lnRef idx="1">
            <a:schemeClr val="dk1"/>
          </a:lnRef>
          <a:fillRef idx="0">
            <a:schemeClr val="dk1"/>
          </a:fillRef>
          <a:effectRef idx="0">
            <a:schemeClr val="dk1"/>
          </a:effectRef>
          <a:fontRef idx="minor">
            <a:schemeClr val="tx1"/>
          </a:fontRef>
        </p:style>
      </p:cxnSp>
      <p:sp>
        <p:nvSpPr>
          <p:cNvPr id="15" name="Flecha a la derecha con muesca 14">
            <a:extLst>
              <a:ext uri="{FF2B5EF4-FFF2-40B4-BE49-F238E27FC236}">
                <a16:creationId xmlns:a16="http://schemas.microsoft.com/office/drawing/2014/main" id="{D4F286A4-7769-F2AC-3851-4541FD0CC614}"/>
              </a:ext>
            </a:extLst>
          </p:cNvPr>
          <p:cNvSpPr/>
          <p:nvPr/>
        </p:nvSpPr>
        <p:spPr>
          <a:xfrm>
            <a:off x="693295" y="4329458"/>
            <a:ext cx="7592184" cy="611701"/>
          </a:xfrm>
          <a:prstGeom prst="notched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t>Planificación</a:t>
            </a:r>
            <a:r>
              <a:rPr lang="en-US" dirty="0"/>
              <a:t> y Control de </a:t>
            </a:r>
            <a:r>
              <a:rPr lang="en-US" dirty="0" err="1"/>
              <a:t>Pruebas</a:t>
            </a:r>
            <a:endParaRPr lang="en-US" dirty="0"/>
          </a:p>
        </p:txBody>
      </p:sp>
      <p:sp>
        <p:nvSpPr>
          <p:cNvPr id="18" name="CuadroTexto 17">
            <a:extLst>
              <a:ext uri="{FF2B5EF4-FFF2-40B4-BE49-F238E27FC236}">
                <a16:creationId xmlns:a16="http://schemas.microsoft.com/office/drawing/2014/main" id="{6D234BB6-4E91-B90D-D5F4-2DB18F835906}"/>
              </a:ext>
            </a:extLst>
          </p:cNvPr>
          <p:cNvSpPr txBox="1"/>
          <p:nvPr/>
        </p:nvSpPr>
        <p:spPr>
          <a:xfrm>
            <a:off x="3458775" y="3886882"/>
            <a:ext cx="2164054" cy="369332"/>
          </a:xfrm>
          <a:prstGeom prst="rect">
            <a:avLst/>
          </a:prstGeom>
          <a:noFill/>
        </p:spPr>
        <p:txBody>
          <a:bodyPr wrap="none" rtlCol="0">
            <a:spAutoFit/>
          </a:bodyPr>
          <a:lstStyle/>
          <a:p>
            <a:r>
              <a:rPr lang="en-US" b="1" dirty="0" err="1"/>
              <a:t>Gestión</a:t>
            </a:r>
            <a:r>
              <a:rPr lang="en-US" b="1" dirty="0"/>
              <a:t> del Proyecto</a:t>
            </a:r>
          </a:p>
        </p:txBody>
      </p:sp>
      <p:sp>
        <p:nvSpPr>
          <p:cNvPr id="19" name="CuadroTexto 18">
            <a:extLst>
              <a:ext uri="{FF2B5EF4-FFF2-40B4-BE49-F238E27FC236}">
                <a16:creationId xmlns:a16="http://schemas.microsoft.com/office/drawing/2014/main" id="{D4117A13-3725-71EF-E6CD-4726BC7AA078}"/>
              </a:ext>
            </a:extLst>
          </p:cNvPr>
          <p:cNvSpPr txBox="1"/>
          <p:nvPr/>
        </p:nvSpPr>
        <p:spPr>
          <a:xfrm>
            <a:off x="1558153" y="1923979"/>
            <a:ext cx="1743234" cy="369332"/>
          </a:xfrm>
          <a:prstGeom prst="rect">
            <a:avLst/>
          </a:prstGeom>
          <a:noFill/>
        </p:spPr>
        <p:txBody>
          <a:bodyPr wrap="none" rtlCol="0">
            <a:spAutoFit/>
          </a:bodyPr>
          <a:lstStyle/>
          <a:p>
            <a:r>
              <a:rPr lang="en-US" b="1" dirty="0" err="1"/>
              <a:t>Implementación</a:t>
            </a:r>
            <a:endParaRPr lang="en-US" b="1" dirty="0"/>
          </a:p>
        </p:txBody>
      </p:sp>
      <p:sp>
        <p:nvSpPr>
          <p:cNvPr id="20" name="CuadroTexto 19">
            <a:extLst>
              <a:ext uri="{FF2B5EF4-FFF2-40B4-BE49-F238E27FC236}">
                <a16:creationId xmlns:a16="http://schemas.microsoft.com/office/drawing/2014/main" id="{ACA66EDF-3ECA-7671-CC75-B8054BF34505}"/>
              </a:ext>
            </a:extLst>
          </p:cNvPr>
          <p:cNvSpPr txBox="1"/>
          <p:nvPr/>
        </p:nvSpPr>
        <p:spPr>
          <a:xfrm>
            <a:off x="4824028" y="1923979"/>
            <a:ext cx="2106089" cy="646331"/>
          </a:xfrm>
          <a:prstGeom prst="rect">
            <a:avLst/>
          </a:prstGeom>
          <a:noFill/>
        </p:spPr>
        <p:txBody>
          <a:bodyPr wrap="none" rtlCol="0">
            <a:spAutoFit/>
          </a:bodyPr>
          <a:lstStyle/>
          <a:p>
            <a:pPr algn="ctr"/>
            <a:r>
              <a:rPr lang="en-US" b="1" dirty="0" err="1"/>
              <a:t>Pruebas</a:t>
            </a:r>
            <a:r>
              <a:rPr lang="en-US" b="1" dirty="0"/>
              <a:t> del Sistema</a:t>
            </a:r>
          </a:p>
          <a:p>
            <a:pPr algn="ctr"/>
            <a:r>
              <a:rPr lang="en-US" b="1" dirty="0"/>
              <a:t>(</a:t>
            </a:r>
            <a:r>
              <a:rPr lang="en-US" b="1" dirty="0" err="1"/>
              <a:t>Verificación</a:t>
            </a:r>
            <a:r>
              <a:rPr lang="en-US" b="1" dirty="0"/>
              <a:t>)</a:t>
            </a:r>
          </a:p>
        </p:txBody>
      </p:sp>
      <p:sp>
        <p:nvSpPr>
          <p:cNvPr id="21" name="CuadroTexto 20">
            <a:extLst>
              <a:ext uri="{FF2B5EF4-FFF2-40B4-BE49-F238E27FC236}">
                <a16:creationId xmlns:a16="http://schemas.microsoft.com/office/drawing/2014/main" id="{10C39471-585A-63F7-0BE2-5147E1479200}"/>
              </a:ext>
            </a:extLst>
          </p:cNvPr>
          <p:cNvSpPr txBox="1"/>
          <p:nvPr/>
        </p:nvSpPr>
        <p:spPr>
          <a:xfrm>
            <a:off x="6976418" y="1850559"/>
            <a:ext cx="1730714" cy="923330"/>
          </a:xfrm>
          <a:prstGeom prst="rect">
            <a:avLst/>
          </a:prstGeom>
          <a:noFill/>
        </p:spPr>
        <p:txBody>
          <a:bodyPr wrap="square" rtlCol="0">
            <a:spAutoFit/>
          </a:bodyPr>
          <a:lstStyle/>
          <a:p>
            <a:pPr algn="ctr"/>
            <a:r>
              <a:rPr lang="en-US" b="1" dirty="0" err="1"/>
              <a:t>Entrega</a:t>
            </a:r>
            <a:r>
              <a:rPr lang="en-US" b="1" dirty="0"/>
              <a:t> del Sistema</a:t>
            </a:r>
          </a:p>
          <a:p>
            <a:pPr algn="ctr"/>
            <a:r>
              <a:rPr lang="en-US" b="1" dirty="0"/>
              <a:t>(</a:t>
            </a:r>
            <a:r>
              <a:rPr lang="en-US" b="1" dirty="0" err="1"/>
              <a:t>Validación</a:t>
            </a:r>
            <a:r>
              <a:rPr lang="en-US" b="1" dirty="0"/>
              <a:t>)</a:t>
            </a:r>
          </a:p>
        </p:txBody>
      </p:sp>
      <p:cxnSp>
        <p:nvCxnSpPr>
          <p:cNvPr id="22" name="Conector recto 21">
            <a:extLst>
              <a:ext uri="{FF2B5EF4-FFF2-40B4-BE49-F238E27FC236}">
                <a16:creationId xmlns:a16="http://schemas.microsoft.com/office/drawing/2014/main" id="{1D6F5328-A192-1900-55E3-0844ABAFAF92}"/>
              </a:ext>
            </a:extLst>
          </p:cNvPr>
          <p:cNvCxnSpPr>
            <a:cxnSpLocks/>
          </p:cNvCxnSpPr>
          <p:nvPr/>
        </p:nvCxnSpPr>
        <p:spPr>
          <a:xfrm>
            <a:off x="7092280" y="1881186"/>
            <a:ext cx="0" cy="1979862"/>
          </a:xfrm>
          <a:prstGeom prst="line">
            <a:avLst/>
          </a:prstGeom>
          <a:ln w="28575"/>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6221083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755576" y="0"/>
            <a:ext cx="8229600" cy="1143000"/>
          </a:xfrm>
        </p:spPr>
        <p:txBody>
          <a:bodyPr>
            <a:normAutofit/>
          </a:bodyPr>
          <a:lstStyle/>
          <a:p>
            <a:r>
              <a:rPr lang="es-CO" sz="2800" b="1" dirty="0"/>
              <a:t>Procesos de las Pruebas</a:t>
            </a:r>
          </a:p>
        </p:txBody>
      </p:sp>
      <p:sp>
        <p:nvSpPr>
          <p:cNvPr id="3" name="CuadroTexto 2">
            <a:extLst>
              <a:ext uri="{FF2B5EF4-FFF2-40B4-BE49-F238E27FC236}">
                <a16:creationId xmlns:a16="http://schemas.microsoft.com/office/drawing/2014/main" id="{17FD4F7B-CCF2-2470-0DCF-2A8120F86B5E}"/>
              </a:ext>
            </a:extLst>
          </p:cNvPr>
          <p:cNvSpPr txBox="1"/>
          <p:nvPr/>
        </p:nvSpPr>
        <p:spPr>
          <a:xfrm>
            <a:off x="9828584" y="6313805"/>
            <a:ext cx="2880320" cy="646331"/>
          </a:xfrm>
          <a:prstGeom prst="rect">
            <a:avLst/>
          </a:prstGeom>
          <a:noFill/>
        </p:spPr>
        <p:txBody>
          <a:bodyPr wrap="square" rtlCol="0">
            <a:spAutoFit/>
          </a:bodyPr>
          <a:lstStyle/>
          <a:p>
            <a:endParaRPr lang="es-CO" b="1" dirty="0">
              <a:effectLst/>
              <a:latin typeface="Helvetica" pitchFamily="2" charset="0"/>
            </a:endParaRPr>
          </a:p>
          <a:p>
            <a:endParaRPr lang="en-US" dirty="0"/>
          </a:p>
        </p:txBody>
      </p:sp>
      <p:sp>
        <p:nvSpPr>
          <p:cNvPr id="23" name="CuadroTexto 22">
            <a:extLst>
              <a:ext uri="{FF2B5EF4-FFF2-40B4-BE49-F238E27FC236}">
                <a16:creationId xmlns:a16="http://schemas.microsoft.com/office/drawing/2014/main" id="{F07867C5-6E66-4C71-485D-6A73709C88E5}"/>
              </a:ext>
            </a:extLst>
          </p:cNvPr>
          <p:cNvSpPr txBox="1"/>
          <p:nvPr/>
        </p:nvSpPr>
        <p:spPr>
          <a:xfrm>
            <a:off x="457200" y="980728"/>
            <a:ext cx="8229600" cy="7017306"/>
          </a:xfrm>
          <a:prstGeom prst="rect">
            <a:avLst/>
          </a:prstGeom>
          <a:noFill/>
        </p:spPr>
        <p:txBody>
          <a:bodyPr wrap="square" rtlCol="0">
            <a:spAutoFit/>
          </a:bodyPr>
          <a:lstStyle/>
          <a:p>
            <a:endParaRPr lang="es-CO" dirty="0">
              <a:latin typeface="Helvetica" pitchFamily="2" charset="0"/>
            </a:endParaRPr>
          </a:p>
          <a:p>
            <a:pPr marL="285750" indent="-285750">
              <a:buFont typeface="Arial" panose="020B0604020202020204" pitchFamily="34" charset="0"/>
              <a:buChar char="•"/>
            </a:pPr>
            <a:r>
              <a:rPr lang="es-CO" b="1" dirty="0">
                <a:latin typeface="Helvetica" pitchFamily="2" charset="0"/>
              </a:rPr>
              <a:t>Las pruebas de unidad o componente: </a:t>
            </a:r>
            <a:r>
              <a:rPr lang="es-CO" dirty="0">
                <a:latin typeface="Helvetica" pitchFamily="2" charset="0"/>
              </a:rPr>
              <a:t>Es el desarrollo de las pruebas durante la codificación o en la finalización de la codificación, se diseñan y ejecutan las pruebas de unidad, si se tiene más de una función se deben probar de forma independiente. En desarrollo ágil las codificación y las pruebas se realizan en conjunto haciendo uso del enfoqué (Test </a:t>
            </a:r>
            <a:r>
              <a:rPr lang="es-CO" dirty="0" err="1">
                <a:latin typeface="Helvetica" pitchFamily="2" charset="0"/>
              </a:rPr>
              <a:t>Driven</a:t>
            </a:r>
            <a:r>
              <a:rPr lang="es-CO" dirty="0">
                <a:latin typeface="Helvetica" pitchFamily="2" charset="0"/>
              </a:rPr>
              <a:t> </a:t>
            </a:r>
            <a:r>
              <a:rPr lang="es-CO" dirty="0" err="1">
                <a:latin typeface="Helvetica" pitchFamily="2" charset="0"/>
              </a:rPr>
              <a:t>Developtment</a:t>
            </a:r>
            <a:r>
              <a:rPr lang="es-CO" dirty="0">
                <a:latin typeface="Helvetica" pitchFamily="2" charset="0"/>
              </a:rPr>
              <a:t> – TDD), cada bloque de código se prueba y al finalizar la codificación todo el componente se encuentra probado a nivel de unidad.</a:t>
            </a:r>
          </a:p>
          <a:p>
            <a:pPr marL="285750" indent="-285750">
              <a:buFont typeface="Arial" panose="020B0604020202020204" pitchFamily="34" charset="0"/>
              <a:buChar char="•"/>
            </a:pPr>
            <a:endParaRPr lang="es-CO" dirty="0">
              <a:latin typeface="Helvetica" pitchFamily="2" charset="0"/>
            </a:endParaRPr>
          </a:p>
          <a:p>
            <a:pPr marL="285750" indent="-285750">
              <a:buFont typeface="Arial" panose="020B0604020202020204" pitchFamily="34" charset="0"/>
              <a:buChar char="•"/>
            </a:pPr>
            <a:r>
              <a:rPr lang="es-CO" b="1" dirty="0">
                <a:latin typeface="Helvetica" pitchFamily="2" charset="0"/>
              </a:rPr>
              <a:t>Pruebas de integración de componentes: </a:t>
            </a:r>
            <a:r>
              <a:rPr lang="es-CO" dirty="0">
                <a:latin typeface="Helvetica" pitchFamily="2" charset="0"/>
              </a:rPr>
              <a:t>Al finalizar la codificación y pruebas unitarias de todos los componentes que fueron distribuidos entre los integrantes del equipo, se debe realizar la integración. El resultado de la integración es el incremento o el sistema completo.</a:t>
            </a:r>
          </a:p>
          <a:p>
            <a:pPr marL="285750" indent="-285750">
              <a:buFont typeface="Arial" panose="020B0604020202020204" pitchFamily="34" charset="0"/>
              <a:buChar char="•"/>
            </a:pPr>
            <a:endParaRPr lang="es-CO" dirty="0">
              <a:latin typeface="Helvetica" pitchFamily="2" charset="0"/>
            </a:endParaRPr>
          </a:p>
          <a:p>
            <a:pPr marL="285750" indent="-285750">
              <a:buFont typeface="Arial" panose="020B0604020202020204" pitchFamily="34" charset="0"/>
              <a:buChar char="•"/>
            </a:pPr>
            <a:r>
              <a:rPr lang="es-CO" b="1" dirty="0">
                <a:latin typeface="Helvetica" pitchFamily="2" charset="0"/>
              </a:rPr>
              <a:t>Pruebas de integración: </a:t>
            </a:r>
            <a:r>
              <a:rPr lang="es-CO" dirty="0">
                <a:latin typeface="Helvetica" pitchFamily="2" charset="0"/>
              </a:rPr>
              <a:t>La implementación finaliza con las pruebas de todos los componentes del software completo, en estas pruebas se encuentran los errores de las interrelaciones entre los componentes. Al finalizar las pruebas se inician las pruebas del sistema con la validación y verificación.</a:t>
            </a:r>
          </a:p>
          <a:p>
            <a:endParaRPr lang="es-CO" dirty="0">
              <a:latin typeface="Helvetica" pitchFamily="2" charset="0"/>
            </a:endParaRPr>
          </a:p>
          <a:p>
            <a:endParaRPr lang="es-CO" dirty="0">
              <a:latin typeface="Helvetica" pitchFamily="2" charset="0"/>
            </a:endParaRPr>
          </a:p>
          <a:p>
            <a:endParaRPr lang="es-CO" dirty="0">
              <a:latin typeface="Helvetica" pitchFamily="2" charset="0"/>
            </a:endParaRPr>
          </a:p>
          <a:p>
            <a:endParaRPr lang="es-CO" dirty="0">
              <a:latin typeface="Helvetica" pitchFamily="2" charset="0"/>
            </a:endParaRPr>
          </a:p>
          <a:p>
            <a:endParaRPr lang="es-CO" dirty="0">
              <a:latin typeface="Helvetica" pitchFamily="2" charset="0"/>
            </a:endParaRPr>
          </a:p>
          <a:p>
            <a:endParaRPr lang="es-CO" dirty="0">
              <a:latin typeface="Helvetica" pitchFamily="2" charset="0"/>
            </a:endParaRPr>
          </a:p>
        </p:txBody>
      </p:sp>
    </p:spTree>
    <p:extLst>
      <p:ext uri="{BB962C8B-B14F-4D97-AF65-F5344CB8AC3E}">
        <p14:creationId xmlns:p14="http://schemas.microsoft.com/office/powerpoint/2010/main" val="32638248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755576" y="0"/>
            <a:ext cx="8229600" cy="1143000"/>
          </a:xfrm>
        </p:spPr>
        <p:txBody>
          <a:bodyPr>
            <a:normAutofit/>
          </a:bodyPr>
          <a:lstStyle/>
          <a:p>
            <a:r>
              <a:rPr lang="es-CO" sz="2800" b="1" dirty="0"/>
              <a:t>Procesos de las Pruebas</a:t>
            </a:r>
          </a:p>
        </p:txBody>
      </p:sp>
      <p:sp>
        <p:nvSpPr>
          <p:cNvPr id="3" name="CuadroTexto 2">
            <a:extLst>
              <a:ext uri="{FF2B5EF4-FFF2-40B4-BE49-F238E27FC236}">
                <a16:creationId xmlns:a16="http://schemas.microsoft.com/office/drawing/2014/main" id="{17FD4F7B-CCF2-2470-0DCF-2A8120F86B5E}"/>
              </a:ext>
            </a:extLst>
          </p:cNvPr>
          <p:cNvSpPr txBox="1"/>
          <p:nvPr/>
        </p:nvSpPr>
        <p:spPr>
          <a:xfrm>
            <a:off x="9828584" y="6313805"/>
            <a:ext cx="2880320" cy="646331"/>
          </a:xfrm>
          <a:prstGeom prst="rect">
            <a:avLst/>
          </a:prstGeom>
          <a:noFill/>
        </p:spPr>
        <p:txBody>
          <a:bodyPr wrap="square" rtlCol="0">
            <a:spAutoFit/>
          </a:bodyPr>
          <a:lstStyle/>
          <a:p>
            <a:endParaRPr lang="es-CO" b="1" dirty="0">
              <a:effectLst/>
              <a:latin typeface="Helvetica" pitchFamily="2" charset="0"/>
            </a:endParaRPr>
          </a:p>
          <a:p>
            <a:endParaRPr lang="en-US" dirty="0"/>
          </a:p>
        </p:txBody>
      </p:sp>
      <p:sp>
        <p:nvSpPr>
          <p:cNvPr id="23" name="CuadroTexto 22">
            <a:extLst>
              <a:ext uri="{FF2B5EF4-FFF2-40B4-BE49-F238E27FC236}">
                <a16:creationId xmlns:a16="http://schemas.microsoft.com/office/drawing/2014/main" id="{F07867C5-6E66-4C71-485D-6A73709C88E5}"/>
              </a:ext>
            </a:extLst>
          </p:cNvPr>
          <p:cNvSpPr txBox="1"/>
          <p:nvPr/>
        </p:nvSpPr>
        <p:spPr>
          <a:xfrm>
            <a:off x="457200" y="980728"/>
            <a:ext cx="8229600" cy="7017306"/>
          </a:xfrm>
          <a:prstGeom prst="rect">
            <a:avLst/>
          </a:prstGeom>
          <a:noFill/>
        </p:spPr>
        <p:txBody>
          <a:bodyPr wrap="square" rtlCol="0">
            <a:spAutoFit/>
          </a:bodyPr>
          <a:lstStyle/>
          <a:p>
            <a:endParaRPr lang="es-CO" dirty="0">
              <a:latin typeface="Helvetica" pitchFamily="2" charset="0"/>
            </a:endParaRPr>
          </a:p>
          <a:p>
            <a:pPr marL="285750" indent="-285750">
              <a:buFont typeface="Arial" panose="020B0604020202020204" pitchFamily="34" charset="0"/>
              <a:buChar char="•"/>
            </a:pPr>
            <a:r>
              <a:rPr lang="es-CO" b="1" dirty="0">
                <a:latin typeface="Helvetica" pitchFamily="2" charset="0"/>
              </a:rPr>
              <a:t>Las pruebas de unidad o componente: </a:t>
            </a:r>
            <a:r>
              <a:rPr lang="es-CO" dirty="0">
                <a:latin typeface="Helvetica" pitchFamily="2" charset="0"/>
              </a:rPr>
              <a:t>Es el desarrollo de las pruebas durante la codificación o en la finalización de la codificación, se diseñan y ejecutan las pruebas de unidad, si se tiene más de una función se deben probar de forma independiente. En desarrollo ágil las codificación y las pruebas se realizan en conjunto haciendo uso del enfoqué (Test </a:t>
            </a:r>
            <a:r>
              <a:rPr lang="es-CO" dirty="0" err="1">
                <a:latin typeface="Helvetica" pitchFamily="2" charset="0"/>
              </a:rPr>
              <a:t>Driven</a:t>
            </a:r>
            <a:r>
              <a:rPr lang="es-CO" dirty="0">
                <a:latin typeface="Helvetica" pitchFamily="2" charset="0"/>
              </a:rPr>
              <a:t> </a:t>
            </a:r>
            <a:r>
              <a:rPr lang="es-CO" dirty="0" err="1">
                <a:latin typeface="Helvetica" pitchFamily="2" charset="0"/>
              </a:rPr>
              <a:t>Developtment</a:t>
            </a:r>
            <a:r>
              <a:rPr lang="es-CO" dirty="0">
                <a:latin typeface="Helvetica" pitchFamily="2" charset="0"/>
              </a:rPr>
              <a:t> – TDD), cada bloque de código se prueba y al finalizar la codificación todo el componente se encuentra probado a nivel de unidad.</a:t>
            </a:r>
          </a:p>
          <a:p>
            <a:pPr marL="285750" indent="-285750">
              <a:buFont typeface="Arial" panose="020B0604020202020204" pitchFamily="34" charset="0"/>
              <a:buChar char="•"/>
            </a:pPr>
            <a:endParaRPr lang="es-CO" dirty="0">
              <a:latin typeface="Helvetica" pitchFamily="2" charset="0"/>
            </a:endParaRPr>
          </a:p>
          <a:p>
            <a:pPr marL="285750" indent="-285750">
              <a:buFont typeface="Arial" panose="020B0604020202020204" pitchFamily="34" charset="0"/>
              <a:buChar char="•"/>
            </a:pPr>
            <a:r>
              <a:rPr lang="es-CO" b="1" dirty="0">
                <a:latin typeface="Helvetica" pitchFamily="2" charset="0"/>
              </a:rPr>
              <a:t>Pruebas de integración de componentes: </a:t>
            </a:r>
            <a:r>
              <a:rPr lang="es-CO" dirty="0">
                <a:latin typeface="Helvetica" pitchFamily="2" charset="0"/>
              </a:rPr>
              <a:t>Al finalizar la codificación y pruebas unitarias de todos los componentes que fueron distribuidos entre los integrantes del equipo, se debe realizar la integración. El resultado de la integración es el incremento o el sistema completo.</a:t>
            </a:r>
          </a:p>
          <a:p>
            <a:pPr marL="285750" indent="-285750">
              <a:buFont typeface="Arial" panose="020B0604020202020204" pitchFamily="34" charset="0"/>
              <a:buChar char="•"/>
            </a:pPr>
            <a:endParaRPr lang="es-CO" dirty="0">
              <a:latin typeface="Helvetica" pitchFamily="2" charset="0"/>
            </a:endParaRPr>
          </a:p>
          <a:p>
            <a:pPr marL="285750" indent="-285750">
              <a:buFont typeface="Arial" panose="020B0604020202020204" pitchFamily="34" charset="0"/>
              <a:buChar char="•"/>
            </a:pPr>
            <a:r>
              <a:rPr lang="es-CO" b="1" dirty="0">
                <a:latin typeface="Helvetica" pitchFamily="2" charset="0"/>
              </a:rPr>
              <a:t>Pruebas de integración: </a:t>
            </a:r>
            <a:r>
              <a:rPr lang="es-CO" dirty="0">
                <a:latin typeface="Helvetica" pitchFamily="2" charset="0"/>
              </a:rPr>
              <a:t>La implementación finaliza con las pruebas de todos los componentes del software completo, en estas pruebas se encuentran los errores de las interrelaciones entre los componentes. Al finalizar las pruebas se inician las pruebas del sistema con la validación y verificación.</a:t>
            </a:r>
          </a:p>
          <a:p>
            <a:endParaRPr lang="es-CO" dirty="0">
              <a:latin typeface="Helvetica" pitchFamily="2" charset="0"/>
            </a:endParaRPr>
          </a:p>
          <a:p>
            <a:endParaRPr lang="es-CO" dirty="0">
              <a:latin typeface="Helvetica" pitchFamily="2" charset="0"/>
            </a:endParaRPr>
          </a:p>
          <a:p>
            <a:endParaRPr lang="es-CO" dirty="0">
              <a:latin typeface="Helvetica" pitchFamily="2" charset="0"/>
            </a:endParaRPr>
          </a:p>
          <a:p>
            <a:endParaRPr lang="es-CO" dirty="0">
              <a:latin typeface="Helvetica" pitchFamily="2" charset="0"/>
            </a:endParaRPr>
          </a:p>
          <a:p>
            <a:endParaRPr lang="es-CO" dirty="0">
              <a:latin typeface="Helvetica" pitchFamily="2" charset="0"/>
            </a:endParaRPr>
          </a:p>
          <a:p>
            <a:endParaRPr lang="es-CO" dirty="0">
              <a:latin typeface="Helvetica" pitchFamily="2" charset="0"/>
            </a:endParaRPr>
          </a:p>
        </p:txBody>
      </p:sp>
    </p:spTree>
    <p:extLst>
      <p:ext uri="{BB962C8B-B14F-4D97-AF65-F5344CB8AC3E}">
        <p14:creationId xmlns:p14="http://schemas.microsoft.com/office/powerpoint/2010/main" val="17379251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755577" y="-261973"/>
            <a:ext cx="8229600" cy="1143000"/>
          </a:xfrm>
        </p:spPr>
        <p:txBody>
          <a:bodyPr>
            <a:normAutofit/>
          </a:bodyPr>
          <a:lstStyle/>
          <a:p>
            <a:r>
              <a:rPr lang="es-CO" sz="3200" b="1" dirty="0"/>
              <a:t>Flujo de Pruebas</a:t>
            </a:r>
          </a:p>
        </p:txBody>
      </p:sp>
      <p:sp>
        <p:nvSpPr>
          <p:cNvPr id="3" name="CuadroTexto 2">
            <a:extLst>
              <a:ext uri="{FF2B5EF4-FFF2-40B4-BE49-F238E27FC236}">
                <a16:creationId xmlns:a16="http://schemas.microsoft.com/office/drawing/2014/main" id="{17FD4F7B-CCF2-2470-0DCF-2A8120F86B5E}"/>
              </a:ext>
            </a:extLst>
          </p:cNvPr>
          <p:cNvSpPr txBox="1"/>
          <p:nvPr/>
        </p:nvSpPr>
        <p:spPr>
          <a:xfrm>
            <a:off x="1876116" y="1651546"/>
            <a:ext cx="2880320" cy="646331"/>
          </a:xfrm>
          <a:prstGeom prst="rect">
            <a:avLst/>
          </a:prstGeom>
          <a:noFill/>
        </p:spPr>
        <p:txBody>
          <a:bodyPr wrap="square" rtlCol="0">
            <a:spAutoFit/>
          </a:bodyPr>
          <a:lstStyle/>
          <a:p>
            <a:endParaRPr lang="es-CO" b="1" dirty="0">
              <a:effectLst/>
              <a:latin typeface="Helvetica" pitchFamily="2" charset="0"/>
            </a:endParaRPr>
          </a:p>
          <a:p>
            <a:endParaRPr lang="en-US" dirty="0"/>
          </a:p>
        </p:txBody>
      </p:sp>
      <p:grpSp>
        <p:nvGrpSpPr>
          <p:cNvPr id="9" name="Grupo 8">
            <a:extLst>
              <a:ext uri="{FF2B5EF4-FFF2-40B4-BE49-F238E27FC236}">
                <a16:creationId xmlns:a16="http://schemas.microsoft.com/office/drawing/2014/main" id="{10BA2B0D-D099-B836-C568-5EAA0764BA90}"/>
              </a:ext>
            </a:extLst>
          </p:cNvPr>
          <p:cNvGrpSpPr/>
          <p:nvPr/>
        </p:nvGrpSpPr>
        <p:grpSpPr>
          <a:xfrm>
            <a:off x="57643" y="1381969"/>
            <a:ext cx="1096161" cy="648228"/>
            <a:chOff x="5357" y="1551582"/>
            <a:chExt cx="1601390" cy="960834"/>
          </a:xfrm>
        </p:grpSpPr>
        <p:sp>
          <p:nvSpPr>
            <p:cNvPr id="10" name="Rectángulo redondeado 9">
              <a:extLst>
                <a:ext uri="{FF2B5EF4-FFF2-40B4-BE49-F238E27FC236}">
                  <a16:creationId xmlns:a16="http://schemas.microsoft.com/office/drawing/2014/main" id="{8A012B86-0B74-A604-0B1A-23CCF2BD24D3}"/>
                </a:ext>
              </a:extLst>
            </p:cNvPr>
            <p:cNvSpPr/>
            <p:nvPr/>
          </p:nvSpPr>
          <p:spPr>
            <a:xfrm>
              <a:off x="5357" y="1551582"/>
              <a:ext cx="1601390" cy="960834"/>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1" name="CuadroTexto 10">
              <a:extLst>
                <a:ext uri="{FF2B5EF4-FFF2-40B4-BE49-F238E27FC236}">
                  <a16:creationId xmlns:a16="http://schemas.microsoft.com/office/drawing/2014/main" id="{54A0872D-EF88-E6A2-3224-CDB3E8775359}"/>
                </a:ext>
              </a:extLst>
            </p:cNvPr>
            <p:cNvSpPr txBox="1"/>
            <p:nvPr/>
          </p:nvSpPr>
          <p:spPr>
            <a:xfrm>
              <a:off x="33499" y="1579724"/>
              <a:ext cx="1545106" cy="904550"/>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33350" tIns="133350" rIns="133350" bIns="133350" numCol="1" spcCol="1270" anchor="ctr" anchorCtr="0">
              <a:noAutofit/>
            </a:bodyPr>
            <a:lstStyle/>
            <a:p>
              <a:pPr marL="0" lvl="0" indent="0" algn="ctr" defTabSz="1555750">
                <a:lnSpc>
                  <a:spcPct val="90000"/>
                </a:lnSpc>
                <a:spcBef>
                  <a:spcPct val="0"/>
                </a:spcBef>
                <a:spcAft>
                  <a:spcPct val="35000"/>
                </a:spcAft>
                <a:buNone/>
              </a:pPr>
              <a:r>
                <a:rPr lang="es-MX" sz="1400" kern="1200" dirty="0"/>
                <a:t>Plan de Pruebas</a:t>
              </a:r>
            </a:p>
          </p:txBody>
        </p:sp>
      </p:grpSp>
      <p:grpSp>
        <p:nvGrpSpPr>
          <p:cNvPr id="18" name="Grupo 17">
            <a:extLst>
              <a:ext uri="{FF2B5EF4-FFF2-40B4-BE49-F238E27FC236}">
                <a16:creationId xmlns:a16="http://schemas.microsoft.com/office/drawing/2014/main" id="{940665A7-2E58-00D2-3B5A-78364E52AEC7}"/>
              </a:ext>
            </a:extLst>
          </p:cNvPr>
          <p:cNvGrpSpPr/>
          <p:nvPr/>
        </p:nvGrpSpPr>
        <p:grpSpPr>
          <a:xfrm>
            <a:off x="1501671" y="4108237"/>
            <a:ext cx="1441272" cy="694016"/>
            <a:chOff x="5357" y="1551582"/>
            <a:chExt cx="1601390" cy="960834"/>
          </a:xfrm>
        </p:grpSpPr>
        <p:sp>
          <p:nvSpPr>
            <p:cNvPr id="19" name="Rectángulo redondeado 18">
              <a:extLst>
                <a:ext uri="{FF2B5EF4-FFF2-40B4-BE49-F238E27FC236}">
                  <a16:creationId xmlns:a16="http://schemas.microsoft.com/office/drawing/2014/main" id="{470FAD6D-2D72-7934-F7C1-522E4C2EB9CF}"/>
                </a:ext>
              </a:extLst>
            </p:cNvPr>
            <p:cNvSpPr/>
            <p:nvPr/>
          </p:nvSpPr>
          <p:spPr>
            <a:xfrm>
              <a:off x="5357" y="1551582"/>
              <a:ext cx="1601390" cy="960834"/>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20" name="CuadroTexto 19">
              <a:extLst>
                <a:ext uri="{FF2B5EF4-FFF2-40B4-BE49-F238E27FC236}">
                  <a16:creationId xmlns:a16="http://schemas.microsoft.com/office/drawing/2014/main" id="{201C77FE-94A0-6DE7-2A59-1BFDEACA1AD5}"/>
                </a:ext>
              </a:extLst>
            </p:cNvPr>
            <p:cNvSpPr txBox="1"/>
            <p:nvPr/>
          </p:nvSpPr>
          <p:spPr>
            <a:xfrm>
              <a:off x="33499" y="1579724"/>
              <a:ext cx="1545106" cy="904550"/>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33350" tIns="133350" rIns="133350" bIns="133350" numCol="1" spcCol="1270" anchor="ctr" anchorCtr="0">
              <a:noAutofit/>
            </a:bodyPr>
            <a:lstStyle/>
            <a:p>
              <a:pPr marL="0" lvl="0" indent="0" algn="ctr" defTabSz="1555750">
                <a:lnSpc>
                  <a:spcPct val="90000"/>
                </a:lnSpc>
                <a:spcBef>
                  <a:spcPct val="0"/>
                </a:spcBef>
                <a:spcAft>
                  <a:spcPct val="35000"/>
                </a:spcAft>
                <a:buNone/>
              </a:pPr>
              <a:r>
                <a:rPr lang="es-MX" sz="1400" dirty="0"/>
                <a:t>Diseño de Pruebas de Componente</a:t>
              </a:r>
              <a:endParaRPr lang="es-MX" sz="1400" kern="1200" dirty="0"/>
            </a:p>
          </p:txBody>
        </p:sp>
      </p:grpSp>
      <p:sp>
        <p:nvSpPr>
          <p:cNvPr id="22" name="Rectángulo redondeado 21">
            <a:extLst>
              <a:ext uri="{FF2B5EF4-FFF2-40B4-BE49-F238E27FC236}">
                <a16:creationId xmlns:a16="http://schemas.microsoft.com/office/drawing/2014/main" id="{E5EB9D3B-F80E-41A1-BFA1-2A6E86F86FD4}"/>
              </a:ext>
            </a:extLst>
          </p:cNvPr>
          <p:cNvSpPr/>
          <p:nvPr/>
        </p:nvSpPr>
        <p:spPr>
          <a:xfrm>
            <a:off x="7132861" y="3001117"/>
            <a:ext cx="1191973" cy="837802"/>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pPr algn="ctr"/>
            <a:r>
              <a:rPr lang="en-US" sz="1400" dirty="0" err="1"/>
              <a:t>Entrega</a:t>
            </a:r>
            <a:r>
              <a:rPr lang="en-US" sz="1400" dirty="0"/>
              <a:t> </a:t>
            </a:r>
            <a:r>
              <a:rPr lang="en-US" sz="1400" dirty="0" err="1"/>
              <a:t>Producto</a:t>
            </a:r>
            <a:r>
              <a:rPr lang="en-US" sz="1400" dirty="0"/>
              <a:t> de Calidad</a:t>
            </a:r>
          </a:p>
        </p:txBody>
      </p:sp>
      <p:grpSp>
        <p:nvGrpSpPr>
          <p:cNvPr id="32" name="Grupo 31">
            <a:extLst>
              <a:ext uri="{FF2B5EF4-FFF2-40B4-BE49-F238E27FC236}">
                <a16:creationId xmlns:a16="http://schemas.microsoft.com/office/drawing/2014/main" id="{8008F3AB-3C75-004A-6272-093268D82DE7}"/>
              </a:ext>
            </a:extLst>
          </p:cNvPr>
          <p:cNvGrpSpPr/>
          <p:nvPr/>
        </p:nvGrpSpPr>
        <p:grpSpPr>
          <a:xfrm>
            <a:off x="3635897" y="4073507"/>
            <a:ext cx="1217346" cy="867661"/>
            <a:chOff x="5357" y="1551582"/>
            <a:chExt cx="1601390" cy="960834"/>
          </a:xfrm>
        </p:grpSpPr>
        <p:sp>
          <p:nvSpPr>
            <p:cNvPr id="33" name="Rectángulo redondeado 32">
              <a:extLst>
                <a:ext uri="{FF2B5EF4-FFF2-40B4-BE49-F238E27FC236}">
                  <a16:creationId xmlns:a16="http://schemas.microsoft.com/office/drawing/2014/main" id="{014F734C-ACD2-3182-9110-475830BB76FB}"/>
                </a:ext>
              </a:extLst>
            </p:cNvPr>
            <p:cNvSpPr/>
            <p:nvPr/>
          </p:nvSpPr>
          <p:spPr>
            <a:xfrm>
              <a:off x="5357" y="1551582"/>
              <a:ext cx="1601390" cy="960834"/>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34" name="CuadroTexto 33">
              <a:extLst>
                <a:ext uri="{FF2B5EF4-FFF2-40B4-BE49-F238E27FC236}">
                  <a16:creationId xmlns:a16="http://schemas.microsoft.com/office/drawing/2014/main" id="{A4AFF665-DD24-B3EC-F6F0-D636BF469060}"/>
                </a:ext>
              </a:extLst>
            </p:cNvPr>
            <p:cNvSpPr txBox="1"/>
            <p:nvPr/>
          </p:nvSpPr>
          <p:spPr>
            <a:xfrm>
              <a:off x="33499" y="1579724"/>
              <a:ext cx="1545106" cy="904550"/>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33350" tIns="133350" rIns="133350" bIns="133350" numCol="1" spcCol="1270" anchor="ctr" anchorCtr="0">
              <a:noAutofit/>
            </a:bodyPr>
            <a:lstStyle/>
            <a:p>
              <a:pPr marL="0" lvl="0" indent="0" algn="ctr" defTabSz="1555750">
                <a:lnSpc>
                  <a:spcPct val="90000"/>
                </a:lnSpc>
                <a:spcBef>
                  <a:spcPct val="0"/>
                </a:spcBef>
                <a:spcAft>
                  <a:spcPct val="35000"/>
                </a:spcAft>
                <a:buNone/>
              </a:pPr>
              <a:r>
                <a:rPr lang="es-MX" sz="1400" kern="1200" dirty="0"/>
                <a:t>Preparar Mecanismos de Pruebas</a:t>
              </a:r>
            </a:p>
          </p:txBody>
        </p:sp>
      </p:grpSp>
      <p:cxnSp>
        <p:nvCxnSpPr>
          <p:cNvPr id="63" name="Conector recto de flecha 62">
            <a:extLst>
              <a:ext uri="{FF2B5EF4-FFF2-40B4-BE49-F238E27FC236}">
                <a16:creationId xmlns:a16="http://schemas.microsoft.com/office/drawing/2014/main" id="{6071D658-EC0F-E0D4-17E5-B982AF0CA9D5}"/>
              </a:ext>
            </a:extLst>
          </p:cNvPr>
          <p:cNvCxnSpPr>
            <a:cxnSpLocks/>
          </p:cNvCxnSpPr>
          <p:nvPr/>
        </p:nvCxnSpPr>
        <p:spPr>
          <a:xfrm>
            <a:off x="547765" y="3367490"/>
            <a:ext cx="631657" cy="16743"/>
          </a:xfrm>
          <a:prstGeom prst="straightConnector1">
            <a:avLst/>
          </a:prstGeom>
          <a:ln w="53975">
            <a:solidFill>
              <a:schemeClr val="accent3">
                <a:shade val="95000"/>
                <a:satMod val="105000"/>
              </a:schemeClr>
            </a:solidFill>
            <a:prstDash val="dash"/>
            <a:tailEnd type="triangle"/>
          </a:ln>
        </p:spPr>
        <p:style>
          <a:lnRef idx="1">
            <a:schemeClr val="accent3"/>
          </a:lnRef>
          <a:fillRef idx="0">
            <a:schemeClr val="accent3"/>
          </a:fillRef>
          <a:effectRef idx="0">
            <a:schemeClr val="accent3"/>
          </a:effectRef>
          <a:fontRef idx="minor">
            <a:schemeClr val="tx1"/>
          </a:fontRef>
        </p:style>
      </p:cxnSp>
      <p:sp>
        <p:nvSpPr>
          <p:cNvPr id="67" name="Elipse 66">
            <a:extLst>
              <a:ext uri="{FF2B5EF4-FFF2-40B4-BE49-F238E27FC236}">
                <a16:creationId xmlns:a16="http://schemas.microsoft.com/office/drawing/2014/main" id="{76364D7C-1578-56B4-51DE-E99EE46BED6A}"/>
              </a:ext>
            </a:extLst>
          </p:cNvPr>
          <p:cNvSpPr/>
          <p:nvPr/>
        </p:nvSpPr>
        <p:spPr>
          <a:xfrm>
            <a:off x="57643" y="3101209"/>
            <a:ext cx="467544" cy="532562"/>
          </a:xfrm>
          <a:prstGeom prst="ellipse">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68" name="Grupo 67">
            <a:extLst>
              <a:ext uri="{FF2B5EF4-FFF2-40B4-BE49-F238E27FC236}">
                <a16:creationId xmlns:a16="http://schemas.microsoft.com/office/drawing/2014/main" id="{FEB98A7A-1244-7D01-3592-2B315004EE8C}"/>
              </a:ext>
            </a:extLst>
          </p:cNvPr>
          <p:cNvGrpSpPr/>
          <p:nvPr/>
        </p:nvGrpSpPr>
        <p:grpSpPr>
          <a:xfrm>
            <a:off x="2411760" y="2951588"/>
            <a:ext cx="1540032" cy="778643"/>
            <a:chOff x="5357" y="1551582"/>
            <a:chExt cx="1601390" cy="960834"/>
          </a:xfrm>
        </p:grpSpPr>
        <p:sp>
          <p:nvSpPr>
            <p:cNvPr id="69" name="Rectángulo redondeado 68">
              <a:extLst>
                <a:ext uri="{FF2B5EF4-FFF2-40B4-BE49-F238E27FC236}">
                  <a16:creationId xmlns:a16="http://schemas.microsoft.com/office/drawing/2014/main" id="{608B9B6C-F0C1-CE69-84C7-E992A6CA45E0}"/>
                </a:ext>
              </a:extLst>
            </p:cNvPr>
            <p:cNvSpPr/>
            <p:nvPr/>
          </p:nvSpPr>
          <p:spPr>
            <a:xfrm>
              <a:off x="5357" y="1551582"/>
              <a:ext cx="1601390" cy="960834"/>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70" name="CuadroTexto 69">
              <a:extLst>
                <a:ext uri="{FF2B5EF4-FFF2-40B4-BE49-F238E27FC236}">
                  <a16:creationId xmlns:a16="http://schemas.microsoft.com/office/drawing/2014/main" id="{BF58D1DC-0338-B115-905E-D70FC9498980}"/>
                </a:ext>
              </a:extLst>
            </p:cNvPr>
            <p:cNvSpPr txBox="1"/>
            <p:nvPr/>
          </p:nvSpPr>
          <p:spPr>
            <a:xfrm>
              <a:off x="33499" y="1579724"/>
              <a:ext cx="1545106" cy="904550"/>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33350" tIns="133350" rIns="133350" bIns="133350" numCol="1" spcCol="1270" anchor="ctr" anchorCtr="0">
              <a:noAutofit/>
            </a:bodyPr>
            <a:lstStyle/>
            <a:p>
              <a:pPr marL="0" lvl="0" indent="0" algn="ctr" defTabSz="1555750">
                <a:lnSpc>
                  <a:spcPct val="90000"/>
                </a:lnSpc>
                <a:spcBef>
                  <a:spcPct val="0"/>
                </a:spcBef>
                <a:spcAft>
                  <a:spcPct val="35000"/>
                </a:spcAft>
                <a:buNone/>
              </a:pPr>
              <a:r>
                <a:rPr lang="es-MX" sz="1400" dirty="0"/>
                <a:t>Especificación de Pruebas</a:t>
              </a:r>
              <a:endParaRPr lang="es-MX" sz="1400" kern="1200" dirty="0"/>
            </a:p>
          </p:txBody>
        </p:sp>
      </p:grpSp>
      <p:sp>
        <p:nvSpPr>
          <p:cNvPr id="72" name="CuadroTexto 71">
            <a:extLst>
              <a:ext uri="{FF2B5EF4-FFF2-40B4-BE49-F238E27FC236}">
                <a16:creationId xmlns:a16="http://schemas.microsoft.com/office/drawing/2014/main" id="{46FD16AA-5FD0-AD98-00D5-BEE3CF502B1B}"/>
              </a:ext>
            </a:extLst>
          </p:cNvPr>
          <p:cNvSpPr txBox="1"/>
          <p:nvPr/>
        </p:nvSpPr>
        <p:spPr>
          <a:xfrm>
            <a:off x="-21663" y="3582840"/>
            <a:ext cx="689612" cy="369332"/>
          </a:xfrm>
          <a:prstGeom prst="rect">
            <a:avLst/>
          </a:prstGeom>
          <a:noFill/>
        </p:spPr>
        <p:txBody>
          <a:bodyPr wrap="none" rtlCol="0">
            <a:spAutoFit/>
          </a:bodyPr>
          <a:lstStyle/>
          <a:p>
            <a:r>
              <a:rPr lang="en-US" dirty="0" err="1"/>
              <a:t>Inicio</a:t>
            </a:r>
            <a:endParaRPr lang="en-US" dirty="0"/>
          </a:p>
        </p:txBody>
      </p:sp>
      <p:sp>
        <p:nvSpPr>
          <p:cNvPr id="76" name="Elipse 75">
            <a:extLst>
              <a:ext uri="{FF2B5EF4-FFF2-40B4-BE49-F238E27FC236}">
                <a16:creationId xmlns:a16="http://schemas.microsoft.com/office/drawing/2014/main" id="{8F82E460-9998-B607-3910-8EA7C83B96EE}"/>
              </a:ext>
            </a:extLst>
          </p:cNvPr>
          <p:cNvSpPr/>
          <p:nvPr/>
        </p:nvSpPr>
        <p:spPr>
          <a:xfrm>
            <a:off x="8640960" y="3140968"/>
            <a:ext cx="467544" cy="532562"/>
          </a:xfrm>
          <a:prstGeom prst="ellipse">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7" name="CuadroTexto 76">
            <a:extLst>
              <a:ext uri="{FF2B5EF4-FFF2-40B4-BE49-F238E27FC236}">
                <a16:creationId xmlns:a16="http://schemas.microsoft.com/office/drawing/2014/main" id="{ADAD9447-3C0B-8100-8AC1-5B807C76623F}"/>
              </a:ext>
            </a:extLst>
          </p:cNvPr>
          <p:cNvSpPr txBox="1"/>
          <p:nvPr/>
        </p:nvSpPr>
        <p:spPr>
          <a:xfrm>
            <a:off x="8602999" y="3745790"/>
            <a:ext cx="465192" cy="369332"/>
          </a:xfrm>
          <a:prstGeom prst="rect">
            <a:avLst/>
          </a:prstGeom>
          <a:noFill/>
        </p:spPr>
        <p:txBody>
          <a:bodyPr wrap="none" rtlCol="0">
            <a:spAutoFit/>
          </a:bodyPr>
          <a:lstStyle/>
          <a:p>
            <a:r>
              <a:rPr lang="en-US" dirty="0"/>
              <a:t>Fin</a:t>
            </a:r>
          </a:p>
        </p:txBody>
      </p:sp>
      <p:grpSp>
        <p:nvGrpSpPr>
          <p:cNvPr id="78" name="Grupo 77">
            <a:extLst>
              <a:ext uri="{FF2B5EF4-FFF2-40B4-BE49-F238E27FC236}">
                <a16:creationId xmlns:a16="http://schemas.microsoft.com/office/drawing/2014/main" id="{6320F41F-0F1E-1366-B6BD-CF9742919495}"/>
              </a:ext>
            </a:extLst>
          </p:cNvPr>
          <p:cNvGrpSpPr/>
          <p:nvPr/>
        </p:nvGrpSpPr>
        <p:grpSpPr>
          <a:xfrm>
            <a:off x="3506878" y="1836671"/>
            <a:ext cx="1176354" cy="669066"/>
            <a:chOff x="5357" y="1551582"/>
            <a:chExt cx="1601390" cy="960834"/>
          </a:xfrm>
        </p:grpSpPr>
        <p:sp>
          <p:nvSpPr>
            <p:cNvPr id="79" name="Rectángulo redondeado 78">
              <a:extLst>
                <a:ext uri="{FF2B5EF4-FFF2-40B4-BE49-F238E27FC236}">
                  <a16:creationId xmlns:a16="http://schemas.microsoft.com/office/drawing/2014/main" id="{7A009E46-F3D5-7381-63B5-1884E00E0D27}"/>
                </a:ext>
              </a:extLst>
            </p:cNvPr>
            <p:cNvSpPr/>
            <p:nvPr/>
          </p:nvSpPr>
          <p:spPr>
            <a:xfrm>
              <a:off x="5357" y="1551582"/>
              <a:ext cx="1601390" cy="960834"/>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80" name="CuadroTexto 79">
              <a:extLst>
                <a:ext uri="{FF2B5EF4-FFF2-40B4-BE49-F238E27FC236}">
                  <a16:creationId xmlns:a16="http://schemas.microsoft.com/office/drawing/2014/main" id="{B200A8E7-4594-17BD-F2D6-C1CAC5D70C89}"/>
                </a:ext>
              </a:extLst>
            </p:cNvPr>
            <p:cNvSpPr txBox="1"/>
            <p:nvPr/>
          </p:nvSpPr>
          <p:spPr>
            <a:xfrm>
              <a:off x="33499" y="1579724"/>
              <a:ext cx="1545106" cy="904550"/>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33350" tIns="133350" rIns="133350" bIns="133350" numCol="1" spcCol="1270" anchor="ctr" anchorCtr="0">
              <a:noAutofit/>
            </a:bodyPr>
            <a:lstStyle/>
            <a:p>
              <a:pPr marL="0" lvl="0" indent="0" algn="ctr" defTabSz="1555750">
                <a:lnSpc>
                  <a:spcPct val="90000"/>
                </a:lnSpc>
                <a:spcBef>
                  <a:spcPct val="0"/>
                </a:spcBef>
                <a:spcAft>
                  <a:spcPct val="35000"/>
                </a:spcAft>
                <a:buNone/>
              </a:pPr>
              <a:r>
                <a:rPr lang="es-MX" sz="1400" kern="1200" dirty="0"/>
                <a:t>Preparar Pruebas</a:t>
              </a:r>
            </a:p>
          </p:txBody>
        </p:sp>
      </p:grpSp>
      <p:cxnSp>
        <p:nvCxnSpPr>
          <p:cNvPr id="81" name="Conector recto de flecha 80">
            <a:extLst>
              <a:ext uri="{FF2B5EF4-FFF2-40B4-BE49-F238E27FC236}">
                <a16:creationId xmlns:a16="http://schemas.microsoft.com/office/drawing/2014/main" id="{3E66FC02-E300-4208-F7D6-3FF6BFE76651}"/>
              </a:ext>
            </a:extLst>
          </p:cNvPr>
          <p:cNvCxnSpPr>
            <a:cxnSpLocks/>
          </p:cNvCxnSpPr>
          <p:nvPr/>
        </p:nvCxnSpPr>
        <p:spPr>
          <a:xfrm>
            <a:off x="3419872" y="3734151"/>
            <a:ext cx="396099" cy="369332"/>
          </a:xfrm>
          <a:prstGeom prst="straightConnector1">
            <a:avLst/>
          </a:prstGeom>
          <a:ln w="53975">
            <a:solidFill>
              <a:schemeClr val="accent3">
                <a:shade val="95000"/>
                <a:satMod val="105000"/>
              </a:schemeClr>
            </a:solidFill>
            <a:prstDash val="solid"/>
            <a:tailEnd type="triangle"/>
          </a:ln>
        </p:spPr>
        <p:style>
          <a:lnRef idx="1">
            <a:schemeClr val="accent3"/>
          </a:lnRef>
          <a:fillRef idx="0">
            <a:schemeClr val="accent3"/>
          </a:fillRef>
          <a:effectRef idx="0">
            <a:schemeClr val="accent3"/>
          </a:effectRef>
          <a:fontRef idx="minor">
            <a:schemeClr val="tx1"/>
          </a:fontRef>
        </p:style>
      </p:cxnSp>
      <p:cxnSp>
        <p:nvCxnSpPr>
          <p:cNvPr id="84" name="Conector recto de flecha 83">
            <a:extLst>
              <a:ext uri="{FF2B5EF4-FFF2-40B4-BE49-F238E27FC236}">
                <a16:creationId xmlns:a16="http://schemas.microsoft.com/office/drawing/2014/main" id="{0C53DDFF-2160-E5E4-AC1D-1AF8E509BAD9}"/>
              </a:ext>
            </a:extLst>
          </p:cNvPr>
          <p:cNvCxnSpPr>
            <a:cxnSpLocks/>
          </p:cNvCxnSpPr>
          <p:nvPr/>
        </p:nvCxnSpPr>
        <p:spPr>
          <a:xfrm flipV="1">
            <a:off x="3463279" y="2490033"/>
            <a:ext cx="172618" cy="501958"/>
          </a:xfrm>
          <a:prstGeom prst="straightConnector1">
            <a:avLst/>
          </a:prstGeom>
          <a:ln w="53975">
            <a:solidFill>
              <a:schemeClr val="accent3">
                <a:shade val="95000"/>
                <a:satMod val="105000"/>
              </a:schemeClr>
            </a:solidFill>
            <a:prstDash val="solid"/>
            <a:tailEnd type="triangle"/>
          </a:ln>
        </p:spPr>
        <p:style>
          <a:lnRef idx="1">
            <a:schemeClr val="accent3"/>
          </a:lnRef>
          <a:fillRef idx="0">
            <a:schemeClr val="accent3"/>
          </a:fillRef>
          <a:effectRef idx="0">
            <a:schemeClr val="accent3"/>
          </a:effectRef>
          <a:fontRef idx="minor">
            <a:schemeClr val="tx1"/>
          </a:fontRef>
        </p:style>
      </p:cxnSp>
      <p:cxnSp>
        <p:nvCxnSpPr>
          <p:cNvPr id="87" name="Conector recto de flecha 86">
            <a:extLst>
              <a:ext uri="{FF2B5EF4-FFF2-40B4-BE49-F238E27FC236}">
                <a16:creationId xmlns:a16="http://schemas.microsoft.com/office/drawing/2014/main" id="{AABEBDD8-2CC2-CD82-5A4B-2EF56CF0B2AB}"/>
              </a:ext>
            </a:extLst>
          </p:cNvPr>
          <p:cNvCxnSpPr>
            <a:cxnSpLocks/>
          </p:cNvCxnSpPr>
          <p:nvPr/>
        </p:nvCxnSpPr>
        <p:spPr>
          <a:xfrm>
            <a:off x="4360336" y="2516701"/>
            <a:ext cx="507841" cy="824208"/>
          </a:xfrm>
          <a:prstGeom prst="straightConnector1">
            <a:avLst/>
          </a:prstGeom>
          <a:ln w="53975">
            <a:solidFill>
              <a:schemeClr val="accent3">
                <a:shade val="95000"/>
                <a:satMod val="105000"/>
              </a:schemeClr>
            </a:solidFill>
            <a:prstDash val="solid"/>
            <a:tailEnd type="triangle"/>
          </a:ln>
        </p:spPr>
        <p:style>
          <a:lnRef idx="1">
            <a:schemeClr val="accent3"/>
          </a:lnRef>
          <a:fillRef idx="0">
            <a:schemeClr val="accent3"/>
          </a:fillRef>
          <a:effectRef idx="0">
            <a:schemeClr val="accent3"/>
          </a:effectRef>
          <a:fontRef idx="minor">
            <a:schemeClr val="tx1"/>
          </a:fontRef>
        </p:style>
      </p:cxnSp>
      <p:cxnSp>
        <p:nvCxnSpPr>
          <p:cNvPr id="92" name="Conector recto de flecha 91">
            <a:extLst>
              <a:ext uri="{FF2B5EF4-FFF2-40B4-BE49-F238E27FC236}">
                <a16:creationId xmlns:a16="http://schemas.microsoft.com/office/drawing/2014/main" id="{7363C0C3-00FE-F2C5-6504-F01AB7EFC395}"/>
              </a:ext>
            </a:extLst>
          </p:cNvPr>
          <p:cNvCxnSpPr>
            <a:cxnSpLocks/>
          </p:cNvCxnSpPr>
          <p:nvPr/>
        </p:nvCxnSpPr>
        <p:spPr>
          <a:xfrm flipV="1">
            <a:off x="4399608" y="3429000"/>
            <a:ext cx="473779" cy="640717"/>
          </a:xfrm>
          <a:prstGeom prst="straightConnector1">
            <a:avLst/>
          </a:prstGeom>
          <a:ln w="53975">
            <a:solidFill>
              <a:schemeClr val="accent3">
                <a:shade val="95000"/>
                <a:satMod val="105000"/>
              </a:schemeClr>
            </a:solidFill>
            <a:prstDash val="solid"/>
            <a:tailEnd type="triangle"/>
          </a:ln>
        </p:spPr>
        <p:style>
          <a:lnRef idx="1">
            <a:schemeClr val="accent3"/>
          </a:lnRef>
          <a:fillRef idx="0">
            <a:schemeClr val="accent3"/>
          </a:fillRef>
          <a:effectRef idx="0">
            <a:schemeClr val="accent3"/>
          </a:effectRef>
          <a:fontRef idx="minor">
            <a:schemeClr val="tx1"/>
          </a:fontRef>
        </p:style>
      </p:cxnSp>
      <p:sp>
        <p:nvSpPr>
          <p:cNvPr id="102" name="Rectángulo redondeado 101">
            <a:extLst>
              <a:ext uri="{FF2B5EF4-FFF2-40B4-BE49-F238E27FC236}">
                <a16:creationId xmlns:a16="http://schemas.microsoft.com/office/drawing/2014/main" id="{07E2034D-B79E-1C1C-F753-8D1826F6A457}"/>
              </a:ext>
            </a:extLst>
          </p:cNvPr>
          <p:cNvSpPr/>
          <p:nvPr/>
        </p:nvSpPr>
        <p:spPr>
          <a:xfrm>
            <a:off x="6163694" y="4614113"/>
            <a:ext cx="872532" cy="619034"/>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pPr algn="ctr"/>
            <a:r>
              <a:rPr lang="en-US" sz="1400" dirty="0" err="1"/>
              <a:t>Corregir</a:t>
            </a:r>
            <a:r>
              <a:rPr lang="en-US" sz="1400" dirty="0"/>
              <a:t> </a:t>
            </a:r>
            <a:r>
              <a:rPr lang="en-US" sz="1400" dirty="0" err="1"/>
              <a:t>errores</a:t>
            </a:r>
            <a:endParaRPr lang="en-US" sz="1400" dirty="0"/>
          </a:p>
        </p:txBody>
      </p:sp>
      <p:sp>
        <p:nvSpPr>
          <p:cNvPr id="103" name="Rectángulo redondeado 102">
            <a:extLst>
              <a:ext uri="{FF2B5EF4-FFF2-40B4-BE49-F238E27FC236}">
                <a16:creationId xmlns:a16="http://schemas.microsoft.com/office/drawing/2014/main" id="{EFC4529D-268F-A712-CD0A-3D00B9D2109C}"/>
              </a:ext>
            </a:extLst>
          </p:cNvPr>
          <p:cNvSpPr/>
          <p:nvPr/>
        </p:nvSpPr>
        <p:spPr>
          <a:xfrm>
            <a:off x="5148064" y="3038566"/>
            <a:ext cx="955152" cy="619034"/>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pPr algn="ctr"/>
            <a:r>
              <a:rPr lang="en-US" sz="1400" dirty="0" err="1"/>
              <a:t>Ejecutar</a:t>
            </a:r>
            <a:r>
              <a:rPr lang="en-US" sz="1400" dirty="0"/>
              <a:t> </a:t>
            </a:r>
            <a:r>
              <a:rPr lang="en-US" sz="1400" dirty="0" err="1"/>
              <a:t>Pruebas</a:t>
            </a:r>
            <a:endParaRPr lang="en-US" sz="1400" dirty="0"/>
          </a:p>
        </p:txBody>
      </p:sp>
      <p:cxnSp>
        <p:nvCxnSpPr>
          <p:cNvPr id="118" name="Conector recto de flecha 117">
            <a:extLst>
              <a:ext uri="{FF2B5EF4-FFF2-40B4-BE49-F238E27FC236}">
                <a16:creationId xmlns:a16="http://schemas.microsoft.com/office/drawing/2014/main" id="{1074B154-4433-331F-7A27-B98B575F3870}"/>
              </a:ext>
            </a:extLst>
          </p:cNvPr>
          <p:cNvCxnSpPr>
            <a:cxnSpLocks/>
          </p:cNvCxnSpPr>
          <p:nvPr/>
        </p:nvCxnSpPr>
        <p:spPr>
          <a:xfrm>
            <a:off x="6077954" y="3384233"/>
            <a:ext cx="294246" cy="0"/>
          </a:xfrm>
          <a:prstGeom prst="straightConnector1">
            <a:avLst/>
          </a:prstGeom>
          <a:ln w="53975">
            <a:solidFill>
              <a:schemeClr val="accent3">
                <a:shade val="95000"/>
                <a:satMod val="105000"/>
              </a:schemeClr>
            </a:solidFill>
            <a:prstDash val="dash"/>
            <a:tailEnd type="triangle"/>
          </a:ln>
        </p:spPr>
        <p:style>
          <a:lnRef idx="1">
            <a:schemeClr val="accent3"/>
          </a:lnRef>
          <a:fillRef idx="0">
            <a:schemeClr val="accent3"/>
          </a:fillRef>
          <a:effectRef idx="0">
            <a:schemeClr val="accent3"/>
          </a:effectRef>
          <a:fontRef idx="minor">
            <a:schemeClr val="tx1"/>
          </a:fontRef>
        </p:style>
      </p:cxnSp>
      <p:cxnSp>
        <p:nvCxnSpPr>
          <p:cNvPr id="120" name="Conector recto de flecha 119">
            <a:extLst>
              <a:ext uri="{FF2B5EF4-FFF2-40B4-BE49-F238E27FC236}">
                <a16:creationId xmlns:a16="http://schemas.microsoft.com/office/drawing/2014/main" id="{9C387014-EF85-1490-DAD2-24E419079E39}"/>
              </a:ext>
            </a:extLst>
          </p:cNvPr>
          <p:cNvCxnSpPr>
            <a:cxnSpLocks/>
            <a:stCxn id="10" idx="2"/>
          </p:cNvCxnSpPr>
          <p:nvPr/>
        </p:nvCxnSpPr>
        <p:spPr>
          <a:xfrm>
            <a:off x="605724" y="2030197"/>
            <a:ext cx="548080" cy="1354036"/>
          </a:xfrm>
          <a:prstGeom prst="straightConnector1">
            <a:avLst/>
          </a:prstGeom>
          <a:ln w="53975">
            <a:solidFill>
              <a:schemeClr val="accent3">
                <a:shade val="95000"/>
                <a:satMod val="105000"/>
              </a:schemeClr>
            </a:solidFill>
            <a:prstDash val="dash"/>
            <a:tailEnd type="triangle"/>
          </a:ln>
        </p:spPr>
        <p:style>
          <a:lnRef idx="1">
            <a:schemeClr val="accent3"/>
          </a:lnRef>
          <a:fillRef idx="0">
            <a:schemeClr val="accent3"/>
          </a:fillRef>
          <a:effectRef idx="0">
            <a:schemeClr val="accent3"/>
          </a:effectRef>
          <a:fontRef idx="minor">
            <a:schemeClr val="tx1"/>
          </a:fontRef>
        </p:style>
      </p:cxnSp>
      <p:sp>
        <p:nvSpPr>
          <p:cNvPr id="124" name="Rombo 123">
            <a:extLst>
              <a:ext uri="{FF2B5EF4-FFF2-40B4-BE49-F238E27FC236}">
                <a16:creationId xmlns:a16="http://schemas.microsoft.com/office/drawing/2014/main" id="{254642E3-4CD7-3104-15D2-408BBADE1645}"/>
              </a:ext>
            </a:extLst>
          </p:cNvPr>
          <p:cNvSpPr/>
          <p:nvPr/>
        </p:nvSpPr>
        <p:spPr>
          <a:xfrm>
            <a:off x="6323672" y="3160295"/>
            <a:ext cx="508389" cy="457928"/>
          </a:xfrm>
          <a:prstGeom prst="diamond">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 name="CuadroTexto 127">
            <a:extLst>
              <a:ext uri="{FF2B5EF4-FFF2-40B4-BE49-F238E27FC236}">
                <a16:creationId xmlns:a16="http://schemas.microsoft.com/office/drawing/2014/main" id="{0CC74422-A71D-B7F8-9917-3065264DCDE0}"/>
              </a:ext>
            </a:extLst>
          </p:cNvPr>
          <p:cNvSpPr txBox="1"/>
          <p:nvPr/>
        </p:nvSpPr>
        <p:spPr>
          <a:xfrm>
            <a:off x="6271904" y="2430693"/>
            <a:ext cx="1242328" cy="461665"/>
          </a:xfrm>
          <a:prstGeom prst="rect">
            <a:avLst/>
          </a:prstGeom>
          <a:noFill/>
        </p:spPr>
        <p:txBody>
          <a:bodyPr wrap="none" rtlCol="0">
            <a:spAutoFit/>
          </a:bodyPr>
          <a:lstStyle/>
          <a:p>
            <a:r>
              <a:rPr lang="en-US" sz="1200" dirty="0"/>
              <a:t>¿Se </a:t>
            </a:r>
            <a:r>
              <a:rPr lang="en-US" sz="1200" dirty="0" err="1"/>
              <a:t>encontraron</a:t>
            </a:r>
            <a:r>
              <a:rPr lang="en-US" sz="1200" dirty="0"/>
              <a:t> </a:t>
            </a:r>
          </a:p>
          <a:p>
            <a:r>
              <a:rPr lang="en-US" sz="1200" dirty="0" err="1"/>
              <a:t>errores</a:t>
            </a:r>
            <a:r>
              <a:rPr lang="en-US" sz="1200" dirty="0"/>
              <a:t>?</a:t>
            </a:r>
          </a:p>
        </p:txBody>
      </p:sp>
      <p:cxnSp>
        <p:nvCxnSpPr>
          <p:cNvPr id="137" name="Conector recto 136">
            <a:extLst>
              <a:ext uri="{FF2B5EF4-FFF2-40B4-BE49-F238E27FC236}">
                <a16:creationId xmlns:a16="http://schemas.microsoft.com/office/drawing/2014/main" id="{25923079-D608-052E-615E-1BA802EB2AA8}"/>
              </a:ext>
            </a:extLst>
          </p:cNvPr>
          <p:cNvCxnSpPr>
            <a:cxnSpLocks/>
          </p:cNvCxnSpPr>
          <p:nvPr/>
        </p:nvCxnSpPr>
        <p:spPr>
          <a:xfrm flipV="1">
            <a:off x="6573475" y="3589969"/>
            <a:ext cx="21610" cy="1077189"/>
          </a:xfrm>
          <a:prstGeom prst="line">
            <a:avLst/>
          </a:prstGeom>
          <a:ln w="57150">
            <a:solidFill>
              <a:schemeClr val="accent3"/>
            </a:solidFill>
            <a:headEnd type="triangle"/>
          </a:ln>
        </p:spPr>
        <p:style>
          <a:lnRef idx="1">
            <a:schemeClr val="accent1"/>
          </a:lnRef>
          <a:fillRef idx="0">
            <a:schemeClr val="accent1"/>
          </a:fillRef>
          <a:effectRef idx="0">
            <a:schemeClr val="accent1"/>
          </a:effectRef>
          <a:fontRef idx="minor">
            <a:schemeClr val="tx1"/>
          </a:fontRef>
        </p:style>
      </p:cxnSp>
      <p:cxnSp>
        <p:nvCxnSpPr>
          <p:cNvPr id="139" name="Conector recto 138">
            <a:extLst>
              <a:ext uri="{FF2B5EF4-FFF2-40B4-BE49-F238E27FC236}">
                <a16:creationId xmlns:a16="http://schemas.microsoft.com/office/drawing/2014/main" id="{DC2E8F90-5BD4-A34B-462B-F5E6DD22F50E}"/>
              </a:ext>
            </a:extLst>
          </p:cNvPr>
          <p:cNvCxnSpPr>
            <a:cxnSpLocks/>
          </p:cNvCxnSpPr>
          <p:nvPr/>
        </p:nvCxnSpPr>
        <p:spPr>
          <a:xfrm>
            <a:off x="7728847" y="3828980"/>
            <a:ext cx="0" cy="1112188"/>
          </a:xfrm>
          <a:prstGeom prst="line">
            <a:avLst/>
          </a:prstGeom>
          <a:ln w="57150">
            <a:solidFill>
              <a:schemeClr val="accent3"/>
            </a:solidFill>
            <a:headEnd type="triangle"/>
          </a:ln>
        </p:spPr>
        <p:style>
          <a:lnRef idx="1">
            <a:schemeClr val="accent1"/>
          </a:lnRef>
          <a:fillRef idx="0">
            <a:schemeClr val="accent1"/>
          </a:fillRef>
          <a:effectRef idx="0">
            <a:schemeClr val="accent1"/>
          </a:effectRef>
          <a:fontRef idx="minor">
            <a:schemeClr val="tx1"/>
          </a:fontRef>
        </p:style>
      </p:cxnSp>
      <p:sp>
        <p:nvSpPr>
          <p:cNvPr id="140" name="CuadroTexto 139">
            <a:extLst>
              <a:ext uri="{FF2B5EF4-FFF2-40B4-BE49-F238E27FC236}">
                <a16:creationId xmlns:a16="http://schemas.microsoft.com/office/drawing/2014/main" id="{B931ACD6-7B74-F907-C1BB-CA191313EC43}"/>
              </a:ext>
            </a:extLst>
          </p:cNvPr>
          <p:cNvSpPr txBox="1"/>
          <p:nvPr/>
        </p:nvSpPr>
        <p:spPr>
          <a:xfrm>
            <a:off x="6722993" y="3020833"/>
            <a:ext cx="2858042" cy="369332"/>
          </a:xfrm>
          <a:prstGeom prst="rect">
            <a:avLst/>
          </a:prstGeom>
          <a:noFill/>
        </p:spPr>
        <p:txBody>
          <a:bodyPr wrap="square" rtlCol="0">
            <a:spAutoFit/>
          </a:bodyPr>
          <a:lstStyle/>
          <a:p>
            <a:r>
              <a:rPr lang="en-US" dirty="0"/>
              <a:t>No</a:t>
            </a:r>
          </a:p>
        </p:txBody>
      </p:sp>
      <p:sp>
        <p:nvSpPr>
          <p:cNvPr id="141" name="CuadroTexto 140">
            <a:extLst>
              <a:ext uri="{FF2B5EF4-FFF2-40B4-BE49-F238E27FC236}">
                <a16:creationId xmlns:a16="http://schemas.microsoft.com/office/drawing/2014/main" id="{9C566408-575B-E693-8E45-4404043C50C5}"/>
              </a:ext>
            </a:extLst>
          </p:cNvPr>
          <p:cNvSpPr txBox="1"/>
          <p:nvPr/>
        </p:nvSpPr>
        <p:spPr>
          <a:xfrm>
            <a:off x="6163488" y="3828980"/>
            <a:ext cx="2858042" cy="369332"/>
          </a:xfrm>
          <a:prstGeom prst="rect">
            <a:avLst/>
          </a:prstGeom>
          <a:noFill/>
        </p:spPr>
        <p:txBody>
          <a:bodyPr wrap="square" rtlCol="0">
            <a:spAutoFit/>
          </a:bodyPr>
          <a:lstStyle/>
          <a:p>
            <a:r>
              <a:rPr lang="en-US" dirty="0"/>
              <a:t>Si</a:t>
            </a:r>
          </a:p>
        </p:txBody>
      </p:sp>
      <p:grpSp>
        <p:nvGrpSpPr>
          <p:cNvPr id="4" name="Grupo 3">
            <a:extLst>
              <a:ext uri="{FF2B5EF4-FFF2-40B4-BE49-F238E27FC236}">
                <a16:creationId xmlns:a16="http://schemas.microsoft.com/office/drawing/2014/main" id="{28DCEC71-7ACF-DA50-10B5-03D1D8F7C8EA}"/>
              </a:ext>
            </a:extLst>
          </p:cNvPr>
          <p:cNvGrpSpPr/>
          <p:nvPr/>
        </p:nvGrpSpPr>
        <p:grpSpPr>
          <a:xfrm>
            <a:off x="349923" y="5213082"/>
            <a:ext cx="1059682" cy="650849"/>
            <a:chOff x="5357" y="1551582"/>
            <a:chExt cx="1601390" cy="960834"/>
          </a:xfrm>
        </p:grpSpPr>
        <p:sp>
          <p:nvSpPr>
            <p:cNvPr id="5" name="Rectángulo redondeado 4">
              <a:extLst>
                <a:ext uri="{FF2B5EF4-FFF2-40B4-BE49-F238E27FC236}">
                  <a16:creationId xmlns:a16="http://schemas.microsoft.com/office/drawing/2014/main" id="{8795AA38-DBE5-6A8B-9383-8C35F7828B06}"/>
                </a:ext>
              </a:extLst>
            </p:cNvPr>
            <p:cNvSpPr/>
            <p:nvPr/>
          </p:nvSpPr>
          <p:spPr>
            <a:xfrm>
              <a:off x="5357" y="1551582"/>
              <a:ext cx="1601390" cy="960834"/>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6" name="CuadroTexto 5">
              <a:extLst>
                <a:ext uri="{FF2B5EF4-FFF2-40B4-BE49-F238E27FC236}">
                  <a16:creationId xmlns:a16="http://schemas.microsoft.com/office/drawing/2014/main" id="{FCCF4F77-1BC6-6FD5-55BC-74C01B694EAC}"/>
                </a:ext>
              </a:extLst>
            </p:cNvPr>
            <p:cNvSpPr txBox="1"/>
            <p:nvPr/>
          </p:nvSpPr>
          <p:spPr>
            <a:xfrm>
              <a:off x="33499" y="1579724"/>
              <a:ext cx="1545106" cy="904550"/>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33350" tIns="133350" rIns="133350" bIns="133350" numCol="1" spcCol="1270" anchor="ctr" anchorCtr="0">
              <a:noAutofit/>
            </a:bodyPr>
            <a:lstStyle/>
            <a:p>
              <a:pPr marL="0" lvl="0" indent="0" algn="ctr" defTabSz="1555750">
                <a:lnSpc>
                  <a:spcPct val="90000"/>
                </a:lnSpc>
                <a:spcBef>
                  <a:spcPct val="0"/>
                </a:spcBef>
                <a:spcAft>
                  <a:spcPct val="35000"/>
                </a:spcAft>
                <a:buNone/>
              </a:pPr>
              <a:r>
                <a:rPr lang="es-MX" sz="1200" kern="1200" dirty="0"/>
                <a:t>Requsitos e historias de usuario</a:t>
              </a:r>
            </a:p>
          </p:txBody>
        </p:sp>
      </p:grpSp>
      <p:grpSp>
        <p:nvGrpSpPr>
          <p:cNvPr id="7" name="Grupo 6">
            <a:extLst>
              <a:ext uri="{FF2B5EF4-FFF2-40B4-BE49-F238E27FC236}">
                <a16:creationId xmlns:a16="http://schemas.microsoft.com/office/drawing/2014/main" id="{6A8AE1B6-375B-629E-C27D-E4DDC6975BCB}"/>
              </a:ext>
            </a:extLst>
          </p:cNvPr>
          <p:cNvGrpSpPr/>
          <p:nvPr/>
        </p:nvGrpSpPr>
        <p:grpSpPr>
          <a:xfrm>
            <a:off x="73078" y="4455245"/>
            <a:ext cx="1036230" cy="619034"/>
            <a:chOff x="5357" y="1551582"/>
            <a:chExt cx="1601390" cy="960834"/>
          </a:xfrm>
        </p:grpSpPr>
        <p:sp>
          <p:nvSpPr>
            <p:cNvPr id="8" name="Rectángulo redondeado 7">
              <a:extLst>
                <a:ext uri="{FF2B5EF4-FFF2-40B4-BE49-F238E27FC236}">
                  <a16:creationId xmlns:a16="http://schemas.microsoft.com/office/drawing/2014/main" id="{E8CF4E6A-3AFE-E066-1433-5FF0A768A41E}"/>
                </a:ext>
              </a:extLst>
            </p:cNvPr>
            <p:cNvSpPr/>
            <p:nvPr/>
          </p:nvSpPr>
          <p:spPr>
            <a:xfrm>
              <a:off x="5357" y="1551582"/>
              <a:ext cx="1601390" cy="960834"/>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2" name="CuadroTexto 11">
              <a:extLst>
                <a:ext uri="{FF2B5EF4-FFF2-40B4-BE49-F238E27FC236}">
                  <a16:creationId xmlns:a16="http://schemas.microsoft.com/office/drawing/2014/main" id="{4A1F2ED2-4BB5-8DBC-BB39-75ABD4780B19}"/>
                </a:ext>
              </a:extLst>
            </p:cNvPr>
            <p:cNvSpPr txBox="1"/>
            <p:nvPr/>
          </p:nvSpPr>
          <p:spPr>
            <a:xfrm>
              <a:off x="33499" y="1579724"/>
              <a:ext cx="1545106" cy="904550"/>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33350" tIns="133350" rIns="133350" bIns="133350" numCol="1" spcCol="1270" anchor="ctr" anchorCtr="0">
              <a:noAutofit/>
            </a:bodyPr>
            <a:lstStyle/>
            <a:p>
              <a:pPr marL="0" lvl="0" indent="0" algn="ctr" defTabSz="1555750">
                <a:lnSpc>
                  <a:spcPct val="90000"/>
                </a:lnSpc>
                <a:spcBef>
                  <a:spcPct val="0"/>
                </a:spcBef>
                <a:spcAft>
                  <a:spcPct val="35000"/>
                </a:spcAft>
                <a:buNone/>
              </a:pPr>
              <a:r>
                <a:rPr lang="es-MX" sz="1200" kern="1200" dirty="0"/>
                <a:t>Documento Diseño</a:t>
              </a:r>
            </a:p>
          </p:txBody>
        </p:sp>
      </p:grpSp>
      <p:grpSp>
        <p:nvGrpSpPr>
          <p:cNvPr id="14" name="Grupo 13">
            <a:extLst>
              <a:ext uri="{FF2B5EF4-FFF2-40B4-BE49-F238E27FC236}">
                <a16:creationId xmlns:a16="http://schemas.microsoft.com/office/drawing/2014/main" id="{E0BC7110-0A9B-57A3-84E2-B15DB153A96C}"/>
              </a:ext>
            </a:extLst>
          </p:cNvPr>
          <p:cNvGrpSpPr/>
          <p:nvPr/>
        </p:nvGrpSpPr>
        <p:grpSpPr>
          <a:xfrm>
            <a:off x="1568104" y="1816344"/>
            <a:ext cx="1266068" cy="694016"/>
            <a:chOff x="5357" y="1551582"/>
            <a:chExt cx="1759932" cy="960834"/>
          </a:xfrm>
        </p:grpSpPr>
        <p:sp>
          <p:nvSpPr>
            <p:cNvPr id="15" name="Rectángulo redondeado 14">
              <a:extLst>
                <a:ext uri="{FF2B5EF4-FFF2-40B4-BE49-F238E27FC236}">
                  <a16:creationId xmlns:a16="http://schemas.microsoft.com/office/drawing/2014/main" id="{1A95C01C-1D2E-68C1-13A0-48120CF439AD}"/>
                </a:ext>
              </a:extLst>
            </p:cNvPr>
            <p:cNvSpPr/>
            <p:nvPr/>
          </p:nvSpPr>
          <p:spPr>
            <a:xfrm>
              <a:off x="5357" y="1551582"/>
              <a:ext cx="1601390" cy="960834"/>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6" name="CuadroTexto 15">
              <a:extLst>
                <a:ext uri="{FF2B5EF4-FFF2-40B4-BE49-F238E27FC236}">
                  <a16:creationId xmlns:a16="http://schemas.microsoft.com/office/drawing/2014/main" id="{7C45A420-880D-A457-D4DD-2F8B63324D1D}"/>
                </a:ext>
              </a:extLst>
            </p:cNvPr>
            <p:cNvSpPr txBox="1"/>
            <p:nvPr/>
          </p:nvSpPr>
          <p:spPr>
            <a:xfrm>
              <a:off x="33499" y="1579724"/>
              <a:ext cx="1731790" cy="904550"/>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33350" tIns="133350" rIns="133350" bIns="133350" numCol="1" spcCol="1270" anchor="ctr" anchorCtr="0">
              <a:noAutofit/>
            </a:bodyPr>
            <a:lstStyle/>
            <a:p>
              <a:pPr marL="0" lvl="0" indent="0" algn="ctr" defTabSz="1555750">
                <a:lnSpc>
                  <a:spcPct val="90000"/>
                </a:lnSpc>
                <a:spcBef>
                  <a:spcPct val="0"/>
                </a:spcBef>
                <a:spcAft>
                  <a:spcPct val="35000"/>
                </a:spcAft>
                <a:buNone/>
              </a:pPr>
              <a:r>
                <a:rPr lang="es-MX" sz="1400" dirty="0"/>
                <a:t>Diseño de Pruebas Unitarias</a:t>
              </a:r>
              <a:endParaRPr lang="es-MX" sz="1400" kern="1200" dirty="0"/>
            </a:p>
          </p:txBody>
        </p:sp>
      </p:grpSp>
      <p:cxnSp>
        <p:nvCxnSpPr>
          <p:cNvPr id="25" name="Conector recto de flecha 24">
            <a:extLst>
              <a:ext uri="{FF2B5EF4-FFF2-40B4-BE49-F238E27FC236}">
                <a16:creationId xmlns:a16="http://schemas.microsoft.com/office/drawing/2014/main" id="{CA366FB4-3FB3-25D3-DDAD-47926DC7DB44}"/>
              </a:ext>
            </a:extLst>
          </p:cNvPr>
          <p:cNvCxnSpPr>
            <a:cxnSpLocks/>
          </p:cNvCxnSpPr>
          <p:nvPr/>
        </p:nvCxnSpPr>
        <p:spPr>
          <a:xfrm flipV="1">
            <a:off x="445143" y="3429000"/>
            <a:ext cx="653029" cy="1044376"/>
          </a:xfrm>
          <a:prstGeom prst="straightConnector1">
            <a:avLst/>
          </a:prstGeom>
          <a:ln w="53975">
            <a:solidFill>
              <a:schemeClr val="accent3">
                <a:shade val="95000"/>
                <a:satMod val="105000"/>
              </a:schemeClr>
            </a:solidFill>
            <a:prstDash val="dash"/>
            <a:tailEnd type="triangle"/>
          </a:ln>
        </p:spPr>
        <p:style>
          <a:lnRef idx="1">
            <a:schemeClr val="accent3"/>
          </a:lnRef>
          <a:fillRef idx="0">
            <a:schemeClr val="accent3"/>
          </a:fillRef>
          <a:effectRef idx="0">
            <a:schemeClr val="accent3"/>
          </a:effectRef>
          <a:fontRef idx="minor">
            <a:schemeClr val="tx1"/>
          </a:fontRef>
        </p:style>
      </p:cxnSp>
      <p:cxnSp>
        <p:nvCxnSpPr>
          <p:cNvPr id="28" name="Conector recto de flecha 27">
            <a:extLst>
              <a:ext uri="{FF2B5EF4-FFF2-40B4-BE49-F238E27FC236}">
                <a16:creationId xmlns:a16="http://schemas.microsoft.com/office/drawing/2014/main" id="{23FD6DAA-7268-371E-6A29-3213E5514656}"/>
              </a:ext>
            </a:extLst>
          </p:cNvPr>
          <p:cNvCxnSpPr>
            <a:cxnSpLocks/>
          </p:cNvCxnSpPr>
          <p:nvPr/>
        </p:nvCxnSpPr>
        <p:spPr>
          <a:xfrm flipH="1" flipV="1">
            <a:off x="1140643" y="3429000"/>
            <a:ext cx="30074" cy="1701898"/>
          </a:xfrm>
          <a:prstGeom prst="straightConnector1">
            <a:avLst/>
          </a:prstGeom>
          <a:ln w="53975">
            <a:solidFill>
              <a:schemeClr val="accent3">
                <a:shade val="95000"/>
                <a:satMod val="105000"/>
              </a:schemeClr>
            </a:solidFill>
            <a:prstDash val="dash"/>
            <a:tailEnd type="triangle"/>
          </a:ln>
        </p:spPr>
        <p:style>
          <a:lnRef idx="1">
            <a:schemeClr val="accent3"/>
          </a:lnRef>
          <a:fillRef idx="0">
            <a:schemeClr val="accent3"/>
          </a:fillRef>
          <a:effectRef idx="0">
            <a:schemeClr val="accent3"/>
          </a:effectRef>
          <a:fontRef idx="minor">
            <a:schemeClr val="tx1"/>
          </a:fontRef>
        </p:style>
      </p:cxnSp>
      <p:cxnSp>
        <p:nvCxnSpPr>
          <p:cNvPr id="36" name="Conector recto de flecha 35">
            <a:extLst>
              <a:ext uri="{FF2B5EF4-FFF2-40B4-BE49-F238E27FC236}">
                <a16:creationId xmlns:a16="http://schemas.microsoft.com/office/drawing/2014/main" id="{F9C753D6-2FEF-CD30-BC85-63E29D7F6E37}"/>
              </a:ext>
            </a:extLst>
          </p:cNvPr>
          <p:cNvCxnSpPr>
            <a:cxnSpLocks/>
          </p:cNvCxnSpPr>
          <p:nvPr/>
        </p:nvCxnSpPr>
        <p:spPr>
          <a:xfrm flipV="1">
            <a:off x="1247644" y="2418295"/>
            <a:ext cx="552336" cy="949195"/>
          </a:xfrm>
          <a:prstGeom prst="straightConnector1">
            <a:avLst/>
          </a:prstGeom>
          <a:ln w="53975">
            <a:solidFill>
              <a:schemeClr val="accent3">
                <a:shade val="95000"/>
                <a:satMod val="105000"/>
              </a:schemeClr>
            </a:solidFill>
            <a:prstDash val="solid"/>
            <a:tailEnd type="triangle"/>
          </a:ln>
        </p:spPr>
        <p:style>
          <a:lnRef idx="1">
            <a:schemeClr val="accent3"/>
          </a:lnRef>
          <a:fillRef idx="0">
            <a:schemeClr val="accent3"/>
          </a:fillRef>
          <a:effectRef idx="0">
            <a:schemeClr val="accent3"/>
          </a:effectRef>
          <a:fontRef idx="minor">
            <a:schemeClr val="tx1"/>
          </a:fontRef>
        </p:style>
      </p:cxnSp>
      <p:cxnSp>
        <p:nvCxnSpPr>
          <p:cNvPr id="38" name="Conector recto de flecha 37">
            <a:extLst>
              <a:ext uri="{FF2B5EF4-FFF2-40B4-BE49-F238E27FC236}">
                <a16:creationId xmlns:a16="http://schemas.microsoft.com/office/drawing/2014/main" id="{B6A13424-BAF4-ED65-C3B7-4A02228AB223}"/>
              </a:ext>
            </a:extLst>
          </p:cNvPr>
          <p:cNvCxnSpPr>
            <a:cxnSpLocks/>
          </p:cNvCxnSpPr>
          <p:nvPr/>
        </p:nvCxnSpPr>
        <p:spPr>
          <a:xfrm>
            <a:off x="1238852" y="3445677"/>
            <a:ext cx="572090" cy="702136"/>
          </a:xfrm>
          <a:prstGeom prst="straightConnector1">
            <a:avLst/>
          </a:prstGeom>
          <a:ln w="53975">
            <a:solidFill>
              <a:schemeClr val="accent3">
                <a:shade val="95000"/>
                <a:satMod val="105000"/>
              </a:schemeClr>
            </a:solidFill>
            <a:prstDash val="solid"/>
            <a:tailEnd type="triangle"/>
          </a:ln>
        </p:spPr>
        <p:style>
          <a:lnRef idx="1">
            <a:schemeClr val="accent3"/>
          </a:lnRef>
          <a:fillRef idx="0">
            <a:schemeClr val="accent3"/>
          </a:fillRef>
          <a:effectRef idx="0">
            <a:schemeClr val="accent3"/>
          </a:effectRef>
          <a:fontRef idx="minor">
            <a:schemeClr val="tx1"/>
          </a:fontRef>
        </p:style>
      </p:cxnSp>
      <p:cxnSp>
        <p:nvCxnSpPr>
          <p:cNvPr id="42" name="Conector recto de flecha 41">
            <a:extLst>
              <a:ext uri="{FF2B5EF4-FFF2-40B4-BE49-F238E27FC236}">
                <a16:creationId xmlns:a16="http://schemas.microsoft.com/office/drawing/2014/main" id="{ADFFF7B0-22DC-7137-F1F4-619B462CD21D}"/>
              </a:ext>
            </a:extLst>
          </p:cNvPr>
          <p:cNvCxnSpPr>
            <a:cxnSpLocks/>
          </p:cNvCxnSpPr>
          <p:nvPr/>
        </p:nvCxnSpPr>
        <p:spPr>
          <a:xfrm>
            <a:off x="2295978" y="2510251"/>
            <a:ext cx="328465" cy="497961"/>
          </a:xfrm>
          <a:prstGeom prst="straightConnector1">
            <a:avLst/>
          </a:prstGeom>
          <a:ln w="53975">
            <a:solidFill>
              <a:schemeClr val="accent3">
                <a:shade val="95000"/>
                <a:satMod val="105000"/>
              </a:schemeClr>
            </a:solidFill>
            <a:prstDash val="dash"/>
            <a:tailEnd type="triangle"/>
          </a:ln>
        </p:spPr>
        <p:style>
          <a:lnRef idx="1">
            <a:schemeClr val="accent3"/>
          </a:lnRef>
          <a:fillRef idx="0">
            <a:schemeClr val="accent3"/>
          </a:fillRef>
          <a:effectRef idx="0">
            <a:schemeClr val="accent3"/>
          </a:effectRef>
          <a:fontRef idx="minor">
            <a:schemeClr val="tx1"/>
          </a:fontRef>
        </p:style>
      </p:cxnSp>
      <p:cxnSp>
        <p:nvCxnSpPr>
          <p:cNvPr id="45" name="Conector recto de flecha 44">
            <a:extLst>
              <a:ext uri="{FF2B5EF4-FFF2-40B4-BE49-F238E27FC236}">
                <a16:creationId xmlns:a16="http://schemas.microsoft.com/office/drawing/2014/main" id="{68170743-5669-036E-33B0-1A69F0C613C2}"/>
              </a:ext>
            </a:extLst>
          </p:cNvPr>
          <p:cNvCxnSpPr>
            <a:cxnSpLocks/>
            <a:stCxn id="19" idx="0"/>
          </p:cNvCxnSpPr>
          <p:nvPr/>
        </p:nvCxnSpPr>
        <p:spPr>
          <a:xfrm flipV="1">
            <a:off x="2222307" y="3709962"/>
            <a:ext cx="297487" cy="398275"/>
          </a:xfrm>
          <a:prstGeom prst="straightConnector1">
            <a:avLst/>
          </a:prstGeom>
          <a:ln w="53975">
            <a:solidFill>
              <a:schemeClr val="accent3">
                <a:shade val="95000"/>
                <a:satMod val="105000"/>
              </a:schemeClr>
            </a:solidFill>
            <a:prstDash val="dash"/>
            <a:tailEnd type="triangle"/>
          </a:ln>
        </p:spPr>
        <p:style>
          <a:lnRef idx="1">
            <a:schemeClr val="accent3"/>
          </a:lnRef>
          <a:fillRef idx="0">
            <a:schemeClr val="accent3"/>
          </a:fillRef>
          <a:effectRef idx="0">
            <a:schemeClr val="accent3"/>
          </a:effectRef>
          <a:fontRef idx="minor">
            <a:schemeClr val="tx1"/>
          </a:fontRef>
        </p:style>
      </p:cxnSp>
      <p:cxnSp>
        <p:nvCxnSpPr>
          <p:cNvPr id="50" name="Conector recto 49">
            <a:extLst>
              <a:ext uri="{FF2B5EF4-FFF2-40B4-BE49-F238E27FC236}">
                <a16:creationId xmlns:a16="http://schemas.microsoft.com/office/drawing/2014/main" id="{9B985963-ABA2-045A-E522-B31555A6398C}"/>
              </a:ext>
            </a:extLst>
          </p:cNvPr>
          <p:cNvCxnSpPr>
            <a:cxnSpLocks/>
          </p:cNvCxnSpPr>
          <p:nvPr/>
        </p:nvCxnSpPr>
        <p:spPr>
          <a:xfrm>
            <a:off x="1229932" y="2806107"/>
            <a:ext cx="8920" cy="1392205"/>
          </a:xfrm>
          <a:prstGeom prst="line">
            <a:avLst/>
          </a:prstGeom>
          <a:ln w="4762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53" name="Conector recto 52">
            <a:extLst>
              <a:ext uri="{FF2B5EF4-FFF2-40B4-BE49-F238E27FC236}">
                <a16:creationId xmlns:a16="http://schemas.microsoft.com/office/drawing/2014/main" id="{024A8C20-0DDC-0E79-336C-E87F8172FBC1}"/>
              </a:ext>
            </a:extLst>
          </p:cNvPr>
          <p:cNvCxnSpPr>
            <a:cxnSpLocks/>
          </p:cNvCxnSpPr>
          <p:nvPr/>
        </p:nvCxnSpPr>
        <p:spPr>
          <a:xfrm>
            <a:off x="4896475" y="2856524"/>
            <a:ext cx="0" cy="1291289"/>
          </a:xfrm>
          <a:prstGeom prst="line">
            <a:avLst/>
          </a:prstGeom>
          <a:ln w="4762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58" name="Conector recto de flecha 57">
            <a:extLst>
              <a:ext uri="{FF2B5EF4-FFF2-40B4-BE49-F238E27FC236}">
                <a16:creationId xmlns:a16="http://schemas.microsoft.com/office/drawing/2014/main" id="{61E996F4-3858-B2CC-7064-1E8D3D73383E}"/>
              </a:ext>
            </a:extLst>
          </p:cNvPr>
          <p:cNvCxnSpPr>
            <a:cxnSpLocks/>
          </p:cNvCxnSpPr>
          <p:nvPr/>
        </p:nvCxnSpPr>
        <p:spPr>
          <a:xfrm>
            <a:off x="4925826" y="3429000"/>
            <a:ext cx="294246" cy="0"/>
          </a:xfrm>
          <a:prstGeom prst="straightConnector1">
            <a:avLst/>
          </a:prstGeom>
          <a:ln w="53975">
            <a:solidFill>
              <a:schemeClr val="accent3">
                <a:shade val="95000"/>
                <a:satMod val="105000"/>
              </a:schemeClr>
            </a:solidFill>
            <a:prstDash val="dash"/>
            <a:tailEnd type="triangle"/>
          </a:ln>
        </p:spPr>
        <p:style>
          <a:lnRef idx="1">
            <a:schemeClr val="accent3"/>
          </a:lnRef>
          <a:fillRef idx="0">
            <a:schemeClr val="accent3"/>
          </a:fillRef>
          <a:effectRef idx="0">
            <a:schemeClr val="accent3"/>
          </a:effectRef>
          <a:fontRef idx="minor">
            <a:schemeClr val="tx1"/>
          </a:fontRef>
        </p:style>
      </p:cxnSp>
      <p:cxnSp>
        <p:nvCxnSpPr>
          <p:cNvPr id="64" name="Conector recto de flecha 63">
            <a:extLst>
              <a:ext uri="{FF2B5EF4-FFF2-40B4-BE49-F238E27FC236}">
                <a16:creationId xmlns:a16="http://schemas.microsoft.com/office/drawing/2014/main" id="{6B48A321-F89C-26A5-DD66-062040CF1F17}"/>
              </a:ext>
            </a:extLst>
          </p:cNvPr>
          <p:cNvCxnSpPr>
            <a:cxnSpLocks/>
            <a:stCxn id="124" idx="3"/>
          </p:cNvCxnSpPr>
          <p:nvPr/>
        </p:nvCxnSpPr>
        <p:spPr>
          <a:xfrm>
            <a:off x="6832061" y="3389259"/>
            <a:ext cx="328933" cy="0"/>
          </a:xfrm>
          <a:prstGeom prst="straightConnector1">
            <a:avLst/>
          </a:prstGeom>
          <a:ln w="53975">
            <a:solidFill>
              <a:schemeClr val="accent3">
                <a:shade val="95000"/>
                <a:satMod val="105000"/>
              </a:schemeClr>
            </a:solidFill>
            <a:prstDash val="dash"/>
            <a:tailEnd type="triangle"/>
          </a:ln>
        </p:spPr>
        <p:style>
          <a:lnRef idx="1">
            <a:schemeClr val="accent3"/>
          </a:lnRef>
          <a:fillRef idx="0">
            <a:schemeClr val="accent3"/>
          </a:fillRef>
          <a:effectRef idx="0">
            <a:schemeClr val="accent3"/>
          </a:effectRef>
          <a:fontRef idx="minor">
            <a:schemeClr val="tx1"/>
          </a:fontRef>
        </p:style>
      </p:cxnSp>
      <p:cxnSp>
        <p:nvCxnSpPr>
          <p:cNvPr id="71" name="Conector recto de flecha 70">
            <a:extLst>
              <a:ext uri="{FF2B5EF4-FFF2-40B4-BE49-F238E27FC236}">
                <a16:creationId xmlns:a16="http://schemas.microsoft.com/office/drawing/2014/main" id="{4F5CEDE6-936A-A9BF-3EDF-6280C1ECA96B}"/>
              </a:ext>
            </a:extLst>
          </p:cNvPr>
          <p:cNvCxnSpPr>
            <a:cxnSpLocks/>
          </p:cNvCxnSpPr>
          <p:nvPr/>
        </p:nvCxnSpPr>
        <p:spPr>
          <a:xfrm>
            <a:off x="8347523" y="3429000"/>
            <a:ext cx="328933" cy="0"/>
          </a:xfrm>
          <a:prstGeom prst="straightConnector1">
            <a:avLst/>
          </a:prstGeom>
          <a:ln w="53975">
            <a:solidFill>
              <a:schemeClr val="accent3">
                <a:shade val="95000"/>
                <a:satMod val="105000"/>
              </a:schemeClr>
            </a:solidFill>
            <a:prstDash val="dash"/>
            <a:tailEnd type="triangle"/>
          </a:ln>
        </p:spPr>
        <p:style>
          <a:lnRef idx="1">
            <a:schemeClr val="accent3"/>
          </a:lnRef>
          <a:fillRef idx="0">
            <a:schemeClr val="accent3"/>
          </a:fillRef>
          <a:effectRef idx="0">
            <a:schemeClr val="accent3"/>
          </a:effectRef>
          <a:fontRef idx="minor">
            <a:schemeClr val="tx1"/>
          </a:fontRef>
        </p:style>
      </p:cxnSp>
      <p:cxnSp>
        <p:nvCxnSpPr>
          <p:cNvPr id="83" name="Conector recto 82">
            <a:extLst>
              <a:ext uri="{FF2B5EF4-FFF2-40B4-BE49-F238E27FC236}">
                <a16:creationId xmlns:a16="http://schemas.microsoft.com/office/drawing/2014/main" id="{50F85B65-D918-780F-CAC2-F20CF3B7297D}"/>
              </a:ext>
            </a:extLst>
          </p:cNvPr>
          <p:cNvCxnSpPr>
            <a:cxnSpLocks/>
            <a:endCxn id="102" idx="3"/>
          </p:cNvCxnSpPr>
          <p:nvPr/>
        </p:nvCxnSpPr>
        <p:spPr>
          <a:xfrm flipH="1">
            <a:off x="7036226" y="4915755"/>
            <a:ext cx="692621" cy="7875"/>
          </a:xfrm>
          <a:prstGeom prst="line">
            <a:avLst/>
          </a:prstGeom>
          <a:ln w="57150">
            <a:solidFill>
              <a:schemeClr val="accent3"/>
            </a:solidFill>
            <a:headEnd type="none"/>
          </a:ln>
        </p:spPr>
        <p:style>
          <a:lnRef idx="1">
            <a:schemeClr val="accent1"/>
          </a:lnRef>
          <a:fillRef idx="0">
            <a:schemeClr val="accent1"/>
          </a:fillRef>
          <a:effectRef idx="0">
            <a:schemeClr val="accent1"/>
          </a:effectRef>
          <a:fontRef idx="minor">
            <a:schemeClr val="tx1"/>
          </a:fontRef>
        </p:style>
      </p:cxnSp>
      <p:cxnSp>
        <p:nvCxnSpPr>
          <p:cNvPr id="90" name="Conector recto de flecha 89">
            <a:extLst>
              <a:ext uri="{FF2B5EF4-FFF2-40B4-BE49-F238E27FC236}">
                <a16:creationId xmlns:a16="http://schemas.microsoft.com/office/drawing/2014/main" id="{E2EBA5A7-0B65-A51C-7D17-F5B5971184F5}"/>
              </a:ext>
            </a:extLst>
          </p:cNvPr>
          <p:cNvCxnSpPr>
            <a:cxnSpLocks/>
          </p:cNvCxnSpPr>
          <p:nvPr/>
        </p:nvCxnSpPr>
        <p:spPr>
          <a:xfrm>
            <a:off x="2720119" y="2204864"/>
            <a:ext cx="836365" cy="0"/>
          </a:xfrm>
          <a:prstGeom prst="straightConnector1">
            <a:avLst/>
          </a:prstGeom>
          <a:ln w="53975">
            <a:solidFill>
              <a:schemeClr val="accent3">
                <a:shade val="95000"/>
                <a:satMod val="105000"/>
              </a:schemeClr>
            </a:solidFill>
            <a:prstDash val="solid"/>
            <a:tailEnd type="triangle"/>
          </a:ln>
        </p:spPr>
        <p:style>
          <a:lnRef idx="1">
            <a:schemeClr val="accent3"/>
          </a:lnRef>
          <a:fillRef idx="0">
            <a:schemeClr val="accent3"/>
          </a:fillRef>
          <a:effectRef idx="0">
            <a:schemeClr val="accent3"/>
          </a:effectRef>
          <a:fontRef idx="minor">
            <a:schemeClr val="tx1"/>
          </a:fontRef>
        </p:style>
      </p:cxnSp>
      <p:cxnSp>
        <p:nvCxnSpPr>
          <p:cNvPr id="94" name="Conector recto de flecha 93">
            <a:extLst>
              <a:ext uri="{FF2B5EF4-FFF2-40B4-BE49-F238E27FC236}">
                <a16:creationId xmlns:a16="http://schemas.microsoft.com/office/drawing/2014/main" id="{DAA53C3F-C909-365E-D078-4FD1321D228F}"/>
              </a:ext>
            </a:extLst>
          </p:cNvPr>
          <p:cNvCxnSpPr>
            <a:cxnSpLocks/>
          </p:cNvCxnSpPr>
          <p:nvPr/>
        </p:nvCxnSpPr>
        <p:spPr>
          <a:xfrm>
            <a:off x="2943547" y="4437112"/>
            <a:ext cx="713743" cy="0"/>
          </a:xfrm>
          <a:prstGeom prst="straightConnector1">
            <a:avLst/>
          </a:prstGeom>
          <a:ln w="53975">
            <a:solidFill>
              <a:schemeClr val="accent3">
                <a:shade val="95000"/>
                <a:satMod val="105000"/>
              </a:schemeClr>
            </a:solidFill>
            <a:prstDash val="solid"/>
            <a:tailEnd type="triangle"/>
          </a:ln>
        </p:spPr>
        <p:style>
          <a:lnRef idx="1">
            <a:schemeClr val="accent3"/>
          </a:lnRef>
          <a:fillRef idx="0">
            <a:schemeClr val="accent3"/>
          </a:fillRef>
          <a:effectRef idx="0">
            <a:schemeClr val="accent3"/>
          </a:effectRef>
          <a:fontRef idx="minor">
            <a:schemeClr val="tx1"/>
          </a:fontRef>
        </p:style>
      </p:cxnSp>
    </p:spTree>
    <p:extLst>
      <p:ext uri="{BB962C8B-B14F-4D97-AF65-F5344CB8AC3E}">
        <p14:creationId xmlns:p14="http://schemas.microsoft.com/office/powerpoint/2010/main" val="10159314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755576" y="0"/>
            <a:ext cx="8229600" cy="1143000"/>
          </a:xfrm>
        </p:spPr>
        <p:txBody>
          <a:bodyPr>
            <a:normAutofit/>
          </a:bodyPr>
          <a:lstStyle/>
          <a:p>
            <a:r>
              <a:rPr lang="es-CO" sz="2800" b="1" dirty="0"/>
              <a:t>Estrategias de las Pruebas</a:t>
            </a:r>
          </a:p>
        </p:txBody>
      </p:sp>
      <p:sp>
        <p:nvSpPr>
          <p:cNvPr id="3" name="CuadroTexto 2">
            <a:extLst>
              <a:ext uri="{FF2B5EF4-FFF2-40B4-BE49-F238E27FC236}">
                <a16:creationId xmlns:a16="http://schemas.microsoft.com/office/drawing/2014/main" id="{17FD4F7B-CCF2-2470-0DCF-2A8120F86B5E}"/>
              </a:ext>
            </a:extLst>
          </p:cNvPr>
          <p:cNvSpPr txBox="1"/>
          <p:nvPr/>
        </p:nvSpPr>
        <p:spPr>
          <a:xfrm>
            <a:off x="9828584" y="6313805"/>
            <a:ext cx="2880320" cy="646331"/>
          </a:xfrm>
          <a:prstGeom prst="rect">
            <a:avLst/>
          </a:prstGeom>
          <a:noFill/>
        </p:spPr>
        <p:txBody>
          <a:bodyPr wrap="square" rtlCol="0">
            <a:spAutoFit/>
          </a:bodyPr>
          <a:lstStyle/>
          <a:p>
            <a:endParaRPr lang="es-CO" b="1" dirty="0">
              <a:effectLst/>
              <a:latin typeface="Helvetica" pitchFamily="2" charset="0"/>
            </a:endParaRPr>
          </a:p>
          <a:p>
            <a:endParaRPr lang="en-US" dirty="0"/>
          </a:p>
        </p:txBody>
      </p:sp>
      <p:sp>
        <p:nvSpPr>
          <p:cNvPr id="23" name="CuadroTexto 22">
            <a:extLst>
              <a:ext uri="{FF2B5EF4-FFF2-40B4-BE49-F238E27FC236}">
                <a16:creationId xmlns:a16="http://schemas.microsoft.com/office/drawing/2014/main" id="{F07867C5-6E66-4C71-485D-6A73709C88E5}"/>
              </a:ext>
            </a:extLst>
          </p:cNvPr>
          <p:cNvSpPr txBox="1"/>
          <p:nvPr/>
        </p:nvSpPr>
        <p:spPr>
          <a:xfrm>
            <a:off x="457200" y="1205001"/>
            <a:ext cx="8229600" cy="5078313"/>
          </a:xfrm>
          <a:prstGeom prst="rect">
            <a:avLst/>
          </a:prstGeom>
          <a:noFill/>
        </p:spPr>
        <p:txBody>
          <a:bodyPr wrap="square" rtlCol="0">
            <a:spAutoFit/>
          </a:bodyPr>
          <a:lstStyle/>
          <a:p>
            <a:endParaRPr lang="es-CO" dirty="0">
              <a:latin typeface="Helvetica" pitchFamily="2" charset="0"/>
            </a:endParaRPr>
          </a:p>
          <a:p>
            <a:pPr marL="285750" indent="-285750">
              <a:buFont typeface="Arial" panose="020B0604020202020204" pitchFamily="34" charset="0"/>
              <a:buChar char="•"/>
            </a:pPr>
            <a:r>
              <a:rPr lang="es-CO" b="1" dirty="0">
                <a:solidFill>
                  <a:srgbClr val="FF0000"/>
                </a:solidFill>
                <a:latin typeface="Helvetica" pitchFamily="2" charset="0"/>
              </a:rPr>
              <a:t>Primero se debe diseñar las pruebas del software de forma clara y detallada, </a:t>
            </a:r>
            <a:r>
              <a:rPr lang="es-CO" dirty="0">
                <a:latin typeface="Helvetica" pitchFamily="2" charset="0"/>
              </a:rPr>
              <a:t>se deben seleccionar casos de prueba efectivos e interesantes y que tengan una alta probabilidad de detectar errores. </a:t>
            </a:r>
          </a:p>
          <a:p>
            <a:pPr marL="285750" indent="-285750">
              <a:buFont typeface="Arial" panose="020B0604020202020204" pitchFamily="34" charset="0"/>
              <a:buChar char="•"/>
            </a:pPr>
            <a:endParaRPr lang="es-CO" dirty="0">
              <a:latin typeface="Helvetica" pitchFamily="2" charset="0"/>
            </a:endParaRPr>
          </a:p>
          <a:p>
            <a:pPr marL="285750" indent="-285750">
              <a:buFont typeface="Arial" panose="020B0604020202020204" pitchFamily="34" charset="0"/>
              <a:buChar char="•"/>
            </a:pPr>
            <a:r>
              <a:rPr lang="es-CO" b="1" dirty="0">
                <a:solidFill>
                  <a:srgbClr val="FF0000"/>
                </a:solidFill>
                <a:latin typeface="Helvetica" pitchFamily="2" charset="0"/>
              </a:rPr>
              <a:t>Dependiendo del nivel de las pruebas se deben seleccionar la estrategia </a:t>
            </a:r>
            <a:r>
              <a:rPr lang="es-CO" dirty="0">
                <a:latin typeface="Helvetica" pitchFamily="2" charset="0"/>
              </a:rPr>
              <a:t>más apropiadas para las pruebas teniendo en cuenta los aspectos que se van probar.</a:t>
            </a:r>
          </a:p>
          <a:p>
            <a:pPr marL="285750" indent="-285750">
              <a:buFont typeface="Arial" panose="020B0604020202020204" pitchFamily="34" charset="0"/>
              <a:buChar char="•"/>
            </a:pPr>
            <a:endParaRPr lang="es-CO" dirty="0">
              <a:latin typeface="Helvetica" pitchFamily="2" charset="0"/>
            </a:endParaRPr>
          </a:p>
          <a:p>
            <a:pPr marL="285750" indent="-285750">
              <a:buFont typeface="Arial" panose="020B0604020202020204" pitchFamily="34" charset="0"/>
              <a:buChar char="•"/>
            </a:pPr>
            <a:r>
              <a:rPr lang="es-CO" b="1" dirty="0">
                <a:solidFill>
                  <a:srgbClr val="FF0000"/>
                </a:solidFill>
                <a:latin typeface="Helvetica" pitchFamily="2" charset="0"/>
              </a:rPr>
              <a:t>Una estrategia de prueba es una heurística o regla empírica para diseñar casos de prueba que sean efectivas.</a:t>
            </a:r>
          </a:p>
          <a:p>
            <a:pPr marL="285750" indent="-285750">
              <a:buFont typeface="Arial" panose="020B0604020202020204" pitchFamily="34" charset="0"/>
              <a:buChar char="•"/>
            </a:pPr>
            <a:endParaRPr lang="es-CO" dirty="0">
              <a:latin typeface="Helvetica" pitchFamily="2" charset="0"/>
            </a:endParaRPr>
          </a:p>
          <a:p>
            <a:endParaRPr lang="es-CO" dirty="0">
              <a:latin typeface="Helvetica" pitchFamily="2" charset="0"/>
            </a:endParaRPr>
          </a:p>
          <a:p>
            <a:endParaRPr lang="es-CO" dirty="0">
              <a:latin typeface="Helvetica" pitchFamily="2" charset="0"/>
            </a:endParaRPr>
          </a:p>
          <a:p>
            <a:endParaRPr lang="es-CO" dirty="0">
              <a:latin typeface="Helvetica" pitchFamily="2" charset="0"/>
            </a:endParaRPr>
          </a:p>
          <a:p>
            <a:endParaRPr lang="es-CO" dirty="0">
              <a:latin typeface="Helvetica" pitchFamily="2" charset="0"/>
            </a:endParaRPr>
          </a:p>
          <a:p>
            <a:endParaRPr lang="es-CO" dirty="0">
              <a:latin typeface="Helvetica" pitchFamily="2" charset="0"/>
            </a:endParaRPr>
          </a:p>
          <a:p>
            <a:endParaRPr lang="es-CO" dirty="0">
              <a:latin typeface="Helvetica" pitchFamily="2" charset="0"/>
            </a:endParaRPr>
          </a:p>
        </p:txBody>
      </p:sp>
    </p:spTree>
    <p:extLst>
      <p:ext uri="{BB962C8B-B14F-4D97-AF65-F5344CB8AC3E}">
        <p14:creationId xmlns:p14="http://schemas.microsoft.com/office/powerpoint/2010/main" val="5301309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188640"/>
            <a:ext cx="8229600" cy="1143000"/>
          </a:xfrm>
        </p:spPr>
        <p:txBody>
          <a:bodyPr>
            <a:normAutofit/>
          </a:bodyPr>
          <a:lstStyle/>
          <a:p>
            <a:r>
              <a:rPr lang="es-CO" sz="2800" b="1" dirty="0"/>
              <a:t>Estrategia Caja Negra</a:t>
            </a:r>
            <a:br>
              <a:rPr lang="es-CO" sz="2800" b="1" dirty="0"/>
            </a:br>
            <a:r>
              <a:rPr lang="es-CO" sz="2800" b="1" dirty="0"/>
              <a:t> (Black Box)</a:t>
            </a:r>
          </a:p>
        </p:txBody>
      </p:sp>
      <p:sp>
        <p:nvSpPr>
          <p:cNvPr id="3" name="CuadroTexto 2">
            <a:extLst>
              <a:ext uri="{FF2B5EF4-FFF2-40B4-BE49-F238E27FC236}">
                <a16:creationId xmlns:a16="http://schemas.microsoft.com/office/drawing/2014/main" id="{17FD4F7B-CCF2-2470-0DCF-2A8120F86B5E}"/>
              </a:ext>
            </a:extLst>
          </p:cNvPr>
          <p:cNvSpPr txBox="1"/>
          <p:nvPr/>
        </p:nvSpPr>
        <p:spPr>
          <a:xfrm>
            <a:off x="9828584" y="6313805"/>
            <a:ext cx="2880320" cy="646331"/>
          </a:xfrm>
          <a:prstGeom prst="rect">
            <a:avLst/>
          </a:prstGeom>
          <a:noFill/>
        </p:spPr>
        <p:txBody>
          <a:bodyPr wrap="square" rtlCol="0">
            <a:spAutoFit/>
          </a:bodyPr>
          <a:lstStyle/>
          <a:p>
            <a:endParaRPr lang="es-CO" b="1" dirty="0">
              <a:effectLst/>
              <a:latin typeface="Helvetica" pitchFamily="2" charset="0"/>
            </a:endParaRPr>
          </a:p>
          <a:p>
            <a:endParaRPr lang="en-US" dirty="0"/>
          </a:p>
        </p:txBody>
      </p:sp>
      <p:sp>
        <p:nvSpPr>
          <p:cNvPr id="23" name="CuadroTexto 22">
            <a:extLst>
              <a:ext uri="{FF2B5EF4-FFF2-40B4-BE49-F238E27FC236}">
                <a16:creationId xmlns:a16="http://schemas.microsoft.com/office/drawing/2014/main" id="{F07867C5-6E66-4C71-485D-6A73709C88E5}"/>
              </a:ext>
            </a:extLst>
          </p:cNvPr>
          <p:cNvSpPr txBox="1"/>
          <p:nvPr/>
        </p:nvSpPr>
        <p:spPr>
          <a:xfrm>
            <a:off x="457200" y="1177055"/>
            <a:ext cx="8229600" cy="4524315"/>
          </a:xfrm>
          <a:prstGeom prst="rect">
            <a:avLst/>
          </a:prstGeom>
          <a:noFill/>
        </p:spPr>
        <p:txBody>
          <a:bodyPr wrap="square" rtlCol="0">
            <a:spAutoFit/>
          </a:bodyPr>
          <a:lstStyle/>
          <a:p>
            <a:endParaRPr lang="es-CO" dirty="0">
              <a:latin typeface="Helvetica" pitchFamily="2" charset="0"/>
            </a:endParaRPr>
          </a:p>
          <a:p>
            <a:pPr marL="285750" indent="-285750">
              <a:buFont typeface="Arial" panose="020B0604020202020204" pitchFamily="34" charset="0"/>
              <a:buChar char="•"/>
            </a:pPr>
            <a:r>
              <a:rPr lang="es-CO" dirty="0">
                <a:latin typeface="Helvetica" pitchFamily="2" charset="0"/>
              </a:rPr>
              <a:t>Consiste en considerar que el software se va a probar como una caja negra que ejecuta determinadas funcionalidades, o tiene responsabilidades, cuya implementación o resultados se desconocen. Los casos de prueba se diseñan a partir de esta funcionalidad o responsabilidad</a:t>
            </a:r>
            <a:r>
              <a:rPr lang="es-CO" dirty="0">
                <a:solidFill>
                  <a:srgbClr val="FF0000"/>
                </a:solidFill>
                <a:latin typeface="Helvetica" pitchFamily="2" charset="0"/>
              </a:rPr>
              <a:t>. </a:t>
            </a:r>
            <a:r>
              <a:rPr lang="es-CO" b="1" dirty="0">
                <a:solidFill>
                  <a:srgbClr val="FF0000"/>
                </a:solidFill>
                <a:latin typeface="Helvetica" pitchFamily="2" charset="0"/>
              </a:rPr>
              <a:t>La estructura interna o código del programa se ignora.</a:t>
            </a:r>
            <a:r>
              <a:rPr lang="es-CO" b="1" dirty="0">
                <a:latin typeface="Helvetica" pitchFamily="2" charset="0"/>
              </a:rPr>
              <a:t> </a:t>
            </a:r>
            <a:r>
              <a:rPr lang="es-CO" dirty="0">
                <a:latin typeface="Helvetica" pitchFamily="2" charset="0"/>
              </a:rPr>
              <a:t>Los datos de prueba y los resultados esperados se determinan mediante técnicas de pruebas de caja negra que definen diferentes combinaciones de valores para los datos de entrada.</a:t>
            </a:r>
          </a:p>
          <a:p>
            <a:pPr marL="285750" indent="-285750">
              <a:buFont typeface="Arial" panose="020B0604020202020204" pitchFamily="34" charset="0"/>
              <a:buChar char="•"/>
            </a:pPr>
            <a:endParaRPr lang="es-CO" dirty="0">
              <a:latin typeface="Helvetica" pitchFamily="2" charset="0"/>
            </a:endParaRPr>
          </a:p>
          <a:p>
            <a:endParaRPr lang="es-CO" dirty="0">
              <a:latin typeface="Helvetica" pitchFamily="2" charset="0"/>
            </a:endParaRPr>
          </a:p>
          <a:p>
            <a:endParaRPr lang="es-CO" dirty="0">
              <a:latin typeface="Helvetica" pitchFamily="2" charset="0"/>
            </a:endParaRPr>
          </a:p>
          <a:p>
            <a:endParaRPr lang="es-CO" dirty="0">
              <a:latin typeface="Helvetica" pitchFamily="2" charset="0"/>
            </a:endParaRPr>
          </a:p>
          <a:p>
            <a:endParaRPr lang="es-CO" dirty="0">
              <a:latin typeface="Helvetica" pitchFamily="2" charset="0"/>
            </a:endParaRPr>
          </a:p>
          <a:p>
            <a:endParaRPr lang="es-CO" dirty="0">
              <a:latin typeface="Helvetica" pitchFamily="2" charset="0"/>
            </a:endParaRPr>
          </a:p>
          <a:p>
            <a:endParaRPr lang="es-CO" dirty="0">
              <a:latin typeface="Helvetica" pitchFamily="2" charset="0"/>
            </a:endParaRPr>
          </a:p>
        </p:txBody>
      </p:sp>
      <p:pic>
        <p:nvPicPr>
          <p:cNvPr id="5" name="Imagen 4">
            <a:extLst>
              <a:ext uri="{FF2B5EF4-FFF2-40B4-BE49-F238E27FC236}">
                <a16:creationId xmlns:a16="http://schemas.microsoft.com/office/drawing/2014/main" id="{F6F93231-7CDF-9868-F2A8-260AD11239F6}"/>
              </a:ext>
            </a:extLst>
          </p:cNvPr>
          <p:cNvPicPr>
            <a:picLocks noChangeAspect="1"/>
          </p:cNvPicPr>
          <p:nvPr/>
        </p:nvPicPr>
        <p:blipFill rotWithShape="1">
          <a:blip r:embed="rId2">
            <a:extLst>
              <a:ext uri="{28A0092B-C50C-407E-A947-70E740481C1C}">
                <a14:useLocalDpi xmlns:a14="http://schemas.microsoft.com/office/drawing/2010/main" val="0"/>
              </a:ext>
            </a:extLst>
          </a:blip>
          <a:srcRect l="11531" t="42777" r="8186" b="4857"/>
          <a:stretch/>
        </p:blipFill>
        <p:spPr>
          <a:xfrm>
            <a:off x="2627784" y="3789040"/>
            <a:ext cx="3456384" cy="2088232"/>
          </a:xfrm>
          <a:prstGeom prst="rect">
            <a:avLst/>
          </a:prstGeom>
        </p:spPr>
      </p:pic>
    </p:spTree>
    <p:extLst>
      <p:ext uri="{BB962C8B-B14F-4D97-AF65-F5344CB8AC3E}">
        <p14:creationId xmlns:p14="http://schemas.microsoft.com/office/powerpoint/2010/main" val="21682953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755576" y="0"/>
            <a:ext cx="8229600" cy="1143000"/>
          </a:xfrm>
        </p:spPr>
        <p:txBody>
          <a:bodyPr>
            <a:normAutofit/>
          </a:bodyPr>
          <a:lstStyle/>
          <a:p>
            <a:r>
              <a:rPr lang="es-CO" sz="2800" b="1" dirty="0"/>
              <a:t>Estrategia Caja Blanca</a:t>
            </a:r>
            <a:br>
              <a:rPr lang="es-CO" sz="2800" b="1" dirty="0"/>
            </a:br>
            <a:r>
              <a:rPr lang="es-CO" sz="2800" b="1" dirty="0"/>
              <a:t> (White Box)</a:t>
            </a:r>
          </a:p>
        </p:txBody>
      </p:sp>
      <p:sp>
        <p:nvSpPr>
          <p:cNvPr id="3" name="CuadroTexto 2">
            <a:extLst>
              <a:ext uri="{FF2B5EF4-FFF2-40B4-BE49-F238E27FC236}">
                <a16:creationId xmlns:a16="http://schemas.microsoft.com/office/drawing/2014/main" id="{17FD4F7B-CCF2-2470-0DCF-2A8120F86B5E}"/>
              </a:ext>
            </a:extLst>
          </p:cNvPr>
          <p:cNvSpPr txBox="1"/>
          <p:nvPr/>
        </p:nvSpPr>
        <p:spPr>
          <a:xfrm>
            <a:off x="9828584" y="6313805"/>
            <a:ext cx="2880320" cy="646331"/>
          </a:xfrm>
          <a:prstGeom prst="rect">
            <a:avLst/>
          </a:prstGeom>
          <a:noFill/>
        </p:spPr>
        <p:txBody>
          <a:bodyPr wrap="square" rtlCol="0">
            <a:spAutoFit/>
          </a:bodyPr>
          <a:lstStyle/>
          <a:p>
            <a:endParaRPr lang="es-CO" b="1" dirty="0">
              <a:effectLst/>
              <a:latin typeface="Helvetica" pitchFamily="2" charset="0"/>
            </a:endParaRPr>
          </a:p>
          <a:p>
            <a:endParaRPr lang="en-US" dirty="0"/>
          </a:p>
        </p:txBody>
      </p:sp>
      <p:sp>
        <p:nvSpPr>
          <p:cNvPr id="23" name="CuadroTexto 22">
            <a:extLst>
              <a:ext uri="{FF2B5EF4-FFF2-40B4-BE49-F238E27FC236}">
                <a16:creationId xmlns:a16="http://schemas.microsoft.com/office/drawing/2014/main" id="{F07867C5-6E66-4C71-485D-6A73709C88E5}"/>
              </a:ext>
            </a:extLst>
          </p:cNvPr>
          <p:cNvSpPr txBox="1"/>
          <p:nvPr/>
        </p:nvSpPr>
        <p:spPr>
          <a:xfrm>
            <a:off x="457200" y="980728"/>
            <a:ext cx="8229600" cy="4524315"/>
          </a:xfrm>
          <a:prstGeom prst="rect">
            <a:avLst/>
          </a:prstGeom>
          <a:noFill/>
        </p:spPr>
        <p:txBody>
          <a:bodyPr wrap="square" rtlCol="0">
            <a:spAutoFit/>
          </a:bodyPr>
          <a:lstStyle/>
          <a:p>
            <a:endParaRPr lang="es-CO" dirty="0">
              <a:latin typeface="Helvetica" pitchFamily="2" charset="0"/>
            </a:endParaRPr>
          </a:p>
          <a:p>
            <a:pPr marL="285750" indent="-285750">
              <a:buFont typeface="Arial" panose="020B0604020202020204" pitchFamily="34" charset="0"/>
              <a:buChar char="•"/>
            </a:pPr>
            <a:r>
              <a:rPr lang="es-CO" dirty="0">
                <a:latin typeface="Helvetica" pitchFamily="2" charset="0"/>
              </a:rPr>
              <a:t>A diferencia de la estrategia de caja negra, </a:t>
            </a:r>
            <a:r>
              <a:rPr lang="es-CO" b="1" dirty="0">
                <a:solidFill>
                  <a:srgbClr val="FF0000"/>
                </a:solidFill>
                <a:latin typeface="Helvetica" pitchFamily="2" charset="0"/>
              </a:rPr>
              <a:t>esta estrategia se centra en el análisis estructurado e implementación del programa que se someterá a prueba</a:t>
            </a:r>
            <a:r>
              <a:rPr lang="es-CO" dirty="0">
                <a:latin typeface="Helvetica" pitchFamily="2" charset="0"/>
              </a:rPr>
              <a:t>, consiste en:</a:t>
            </a:r>
          </a:p>
          <a:p>
            <a:endParaRPr lang="es-CO" dirty="0">
              <a:latin typeface="Helvetica" pitchFamily="2" charset="0"/>
            </a:endParaRPr>
          </a:p>
          <a:p>
            <a:pPr marL="800100" lvl="1" indent="-342900">
              <a:buFont typeface="+mj-lt"/>
              <a:buAutoNum type="arabicPeriod"/>
            </a:pPr>
            <a:r>
              <a:rPr lang="es-CO" dirty="0">
                <a:latin typeface="Helvetica" pitchFamily="2" charset="0"/>
              </a:rPr>
              <a:t>Analizar la estructura del código fuente del programa.</a:t>
            </a:r>
          </a:p>
          <a:p>
            <a:pPr marL="800100" lvl="1" indent="-342900">
              <a:buFont typeface="+mj-lt"/>
              <a:buAutoNum type="arabicPeriod"/>
            </a:pPr>
            <a:r>
              <a:rPr lang="es-CO" dirty="0">
                <a:latin typeface="Helvetica" pitchFamily="2" charset="0"/>
              </a:rPr>
              <a:t>Determinar los cambios lógicos o hilos de ejecución que tiene esa estructura.</a:t>
            </a:r>
          </a:p>
          <a:p>
            <a:pPr marL="800100" lvl="1" indent="-342900">
              <a:buFont typeface="+mj-lt"/>
              <a:buAutoNum type="arabicPeriod"/>
            </a:pPr>
            <a:r>
              <a:rPr lang="es-CO" dirty="0">
                <a:latin typeface="Helvetica" pitchFamily="2" charset="0"/>
              </a:rPr>
              <a:t>Diseñar los casos de prueba para cada uno de estos caminos lógicos.</a:t>
            </a:r>
          </a:p>
          <a:p>
            <a:pPr marL="285750" indent="-285750">
              <a:buFont typeface="Arial" panose="020B0604020202020204" pitchFamily="34" charset="0"/>
              <a:buChar char="•"/>
            </a:pPr>
            <a:endParaRPr lang="es-CO" dirty="0">
              <a:latin typeface="Helvetica" pitchFamily="2" charset="0"/>
            </a:endParaRPr>
          </a:p>
          <a:p>
            <a:endParaRPr lang="es-CO" dirty="0">
              <a:latin typeface="Helvetica" pitchFamily="2" charset="0"/>
            </a:endParaRPr>
          </a:p>
          <a:p>
            <a:endParaRPr lang="es-CO" dirty="0">
              <a:latin typeface="Helvetica" pitchFamily="2" charset="0"/>
            </a:endParaRPr>
          </a:p>
          <a:p>
            <a:endParaRPr lang="es-CO" dirty="0">
              <a:latin typeface="Helvetica" pitchFamily="2" charset="0"/>
            </a:endParaRPr>
          </a:p>
          <a:p>
            <a:endParaRPr lang="es-CO" dirty="0">
              <a:latin typeface="Helvetica" pitchFamily="2" charset="0"/>
            </a:endParaRPr>
          </a:p>
          <a:p>
            <a:endParaRPr lang="es-CO" dirty="0">
              <a:latin typeface="Helvetica" pitchFamily="2" charset="0"/>
            </a:endParaRPr>
          </a:p>
          <a:p>
            <a:endParaRPr lang="es-CO" dirty="0">
              <a:latin typeface="Helvetica" pitchFamily="2" charset="0"/>
            </a:endParaRPr>
          </a:p>
        </p:txBody>
      </p:sp>
      <p:pic>
        <p:nvPicPr>
          <p:cNvPr id="4" name="Imagen 3">
            <a:extLst>
              <a:ext uri="{FF2B5EF4-FFF2-40B4-BE49-F238E27FC236}">
                <a16:creationId xmlns:a16="http://schemas.microsoft.com/office/drawing/2014/main" id="{A251A5AA-8B4D-86CF-41DE-4DCAD6434881}"/>
              </a:ext>
            </a:extLst>
          </p:cNvPr>
          <p:cNvPicPr>
            <a:picLocks noChangeAspect="1"/>
          </p:cNvPicPr>
          <p:nvPr/>
        </p:nvPicPr>
        <p:blipFill rotWithShape="1">
          <a:blip r:embed="rId2">
            <a:extLst>
              <a:ext uri="{28A0092B-C50C-407E-A947-70E740481C1C}">
                <a14:useLocalDpi xmlns:a14="http://schemas.microsoft.com/office/drawing/2010/main" val="0"/>
              </a:ext>
            </a:extLst>
          </a:blip>
          <a:srcRect l="11708" r="9683" b="49748"/>
          <a:stretch/>
        </p:blipFill>
        <p:spPr>
          <a:xfrm>
            <a:off x="2699792" y="4005064"/>
            <a:ext cx="3384376" cy="2003966"/>
          </a:xfrm>
          <a:prstGeom prst="rect">
            <a:avLst/>
          </a:prstGeom>
        </p:spPr>
      </p:pic>
    </p:spTree>
    <p:extLst>
      <p:ext uri="{BB962C8B-B14F-4D97-AF65-F5344CB8AC3E}">
        <p14:creationId xmlns:p14="http://schemas.microsoft.com/office/powerpoint/2010/main" val="4688232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755576" y="0"/>
            <a:ext cx="8229600" cy="1143000"/>
          </a:xfrm>
        </p:spPr>
        <p:txBody>
          <a:bodyPr>
            <a:normAutofit/>
          </a:bodyPr>
          <a:lstStyle/>
          <a:p>
            <a:r>
              <a:rPr lang="es-CO" sz="2800" b="1" dirty="0"/>
              <a:t>Estrategia de Abajo hacia Arriba</a:t>
            </a:r>
            <a:br>
              <a:rPr lang="es-CO" sz="2800" b="1" dirty="0"/>
            </a:br>
            <a:r>
              <a:rPr lang="es-CO" sz="2800" b="1" dirty="0"/>
              <a:t> (Down to Top)</a:t>
            </a:r>
          </a:p>
        </p:txBody>
      </p:sp>
      <p:sp>
        <p:nvSpPr>
          <p:cNvPr id="3" name="CuadroTexto 2">
            <a:extLst>
              <a:ext uri="{FF2B5EF4-FFF2-40B4-BE49-F238E27FC236}">
                <a16:creationId xmlns:a16="http://schemas.microsoft.com/office/drawing/2014/main" id="{17FD4F7B-CCF2-2470-0DCF-2A8120F86B5E}"/>
              </a:ext>
            </a:extLst>
          </p:cNvPr>
          <p:cNvSpPr txBox="1"/>
          <p:nvPr/>
        </p:nvSpPr>
        <p:spPr>
          <a:xfrm>
            <a:off x="9828584" y="6313805"/>
            <a:ext cx="2880320" cy="646331"/>
          </a:xfrm>
          <a:prstGeom prst="rect">
            <a:avLst/>
          </a:prstGeom>
          <a:noFill/>
        </p:spPr>
        <p:txBody>
          <a:bodyPr wrap="square" rtlCol="0">
            <a:spAutoFit/>
          </a:bodyPr>
          <a:lstStyle/>
          <a:p>
            <a:endParaRPr lang="es-CO" b="1" dirty="0">
              <a:effectLst/>
              <a:latin typeface="Helvetica" pitchFamily="2" charset="0"/>
            </a:endParaRPr>
          </a:p>
          <a:p>
            <a:endParaRPr lang="en-US" dirty="0"/>
          </a:p>
        </p:txBody>
      </p:sp>
      <p:sp>
        <p:nvSpPr>
          <p:cNvPr id="23" name="CuadroTexto 22">
            <a:extLst>
              <a:ext uri="{FF2B5EF4-FFF2-40B4-BE49-F238E27FC236}">
                <a16:creationId xmlns:a16="http://schemas.microsoft.com/office/drawing/2014/main" id="{F07867C5-6E66-4C71-485D-6A73709C88E5}"/>
              </a:ext>
            </a:extLst>
          </p:cNvPr>
          <p:cNvSpPr txBox="1"/>
          <p:nvPr/>
        </p:nvSpPr>
        <p:spPr>
          <a:xfrm>
            <a:off x="457200" y="1443841"/>
            <a:ext cx="8229600" cy="3970318"/>
          </a:xfrm>
          <a:prstGeom prst="rect">
            <a:avLst/>
          </a:prstGeom>
          <a:noFill/>
        </p:spPr>
        <p:txBody>
          <a:bodyPr wrap="square" rtlCol="0">
            <a:spAutoFit/>
          </a:bodyPr>
          <a:lstStyle/>
          <a:p>
            <a:endParaRPr lang="es-CO" dirty="0">
              <a:latin typeface="Helvetica" pitchFamily="2" charset="0"/>
            </a:endParaRPr>
          </a:p>
          <a:p>
            <a:pPr marL="285750" indent="-285750">
              <a:buFont typeface="Arial" panose="020B0604020202020204" pitchFamily="34" charset="0"/>
              <a:buChar char="•"/>
            </a:pPr>
            <a:r>
              <a:rPr lang="es-CO" dirty="0">
                <a:latin typeface="Helvetica" pitchFamily="2" charset="0"/>
              </a:rPr>
              <a:t>Se basa en la arquitectura del software. Consiste en probar primero cada uno de los módulos o componentes de más bajo nivel que tiene la estructura del software. Seguidamente la prueba de integración de cada uno de los grupos de componentes relacionados que están en el mismo nivel o inmediatamente superior de la estructura del software. De esta forma se continua hasta llegar al componente del principal del software.</a:t>
            </a:r>
          </a:p>
          <a:p>
            <a:pPr marL="285750" indent="-285750">
              <a:buFont typeface="Arial" panose="020B0604020202020204" pitchFamily="34" charset="0"/>
              <a:buChar char="•"/>
            </a:pPr>
            <a:endParaRPr lang="es-CO" dirty="0">
              <a:latin typeface="Helvetica" pitchFamily="2" charset="0"/>
            </a:endParaRPr>
          </a:p>
          <a:p>
            <a:endParaRPr lang="es-CO" dirty="0">
              <a:latin typeface="Helvetica" pitchFamily="2" charset="0"/>
            </a:endParaRPr>
          </a:p>
          <a:p>
            <a:endParaRPr lang="es-CO" dirty="0">
              <a:latin typeface="Helvetica" pitchFamily="2" charset="0"/>
            </a:endParaRPr>
          </a:p>
          <a:p>
            <a:endParaRPr lang="es-CO" dirty="0">
              <a:latin typeface="Helvetica" pitchFamily="2" charset="0"/>
            </a:endParaRPr>
          </a:p>
          <a:p>
            <a:endParaRPr lang="es-CO" dirty="0">
              <a:latin typeface="Helvetica" pitchFamily="2" charset="0"/>
            </a:endParaRPr>
          </a:p>
          <a:p>
            <a:endParaRPr lang="es-CO" dirty="0">
              <a:latin typeface="Helvetica" pitchFamily="2" charset="0"/>
            </a:endParaRPr>
          </a:p>
          <a:p>
            <a:endParaRPr lang="es-CO" dirty="0">
              <a:latin typeface="Helvetica" pitchFamily="2" charset="0"/>
            </a:endParaRPr>
          </a:p>
        </p:txBody>
      </p:sp>
      <p:pic>
        <p:nvPicPr>
          <p:cNvPr id="1026" name="Picture 2">
            <a:extLst>
              <a:ext uri="{FF2B5EF4-FFF2-40B4-BE49-F238E27FC236}">
                <a16:creationId xmlns:a16="http://schemas.microsoft.com/office/drawing/2014/main" id="{C11B074F-0F76-2298-F838-9C119DF23AC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20077"/>
          <a:stretch/>
        </p:blipFill>
        <p:spPr bwMode="auto">
          <a:xfrm>
            <a:off x="3206216" y="3645023"/>
            <a:ext cx="3165984" cy="3038737"/>
          </a:xfrm>
          <a:prstGeom prst="rect">
            <a:avLst/>
          </a:prstGeom>
          <a:noFill/>
          <a:extLst>
            <a:ext uri="{909E8E84-426E-40DD-AFC4-6F175D3DCCD1}">
              <a14:hiddenFill xmlns:a14="http://schemas.microsoft.com/office/drawing/2010/main">
                <a:solidFill>
                  <a:srgbClr val="FFFFFF"/>
                </a:solidFill>
              </a14:hiddenFill>
            </a:ext>
          </a:extLst>
        </p:spPr>
      </p:pic>
      <p:sp>
        <p:nvSpPr>
          <p:cNvPr id="4" name="Flecha abajo 3">
            <a:extLst>
              <a:ext uri="{FF2B5EF4-FFF2-40B4-BE49-F238E27FC236}">
                <a16:creationId xmlns:a16="http://schemas.microsoft.com/office/drawing/2014/main" id="{819DE939-58B0-BE9A-95A0-218C16FFDE3D}"/>
              </a:ext>
            </a:extLst>
          </p:cNvPr>
          <p:cNvSpPr/>
          <p:nvPr/>
        </p:nvSpPr>
        <p:spPr>
          <a:xfrm rot="10800000">
            <a:off x="6876256" y="3933056"/>
            <a:ext cx="216024" cy="2380749"/>
          </a:xfrm>
          <a:prstGeom prst="down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CuadroTexto 4">
            <a:extLst>
              <a:ext uri="{FF2B5EF4-FFF2-40B4-BE49-F238E27FC236}">
                <a16:creationId xmlns:a16="http://schemas.microsoft.com/office/drawing/2014/main" id="{4FE7AF50-DB9F-D380-75E9-3242FACE60E8}"/>
              </a:ext>
            </a:extLst>
          </p:cNvPr>
          <p:cNvSpPr txBox="1"/>
          <p:nvPr/>
        </p:nvSpPr>
        <p:spPr>
          <a:xfrm>
            <a:off x="7357630" y="5950468"/>
            <a:ext cx="748475" cy="369332"/>
          </a:xfrm>
          <a:prstGeom prst="rect">
            <a:avLst/>
          </a:prstGeom>
          <a:noFill/>
        </p:spPr>
        <p:txBody>
          <a:bodyPr wrap="none" rtlCol="0">
            <a:spAutoFit/>
          </a:bodyPr>
          <a:lstStyle/>
          <a:p>
            <a:r>
              <a:rPr lang="en-US" b="1" dirty="0">
                <a:solidFill>
                  <a:srgbClr val="FF0000"/>
                </a:solidFill>
              </a:rPr>
              <a:t>Down</a:t>
            </a:r>
          </a:p>
        </p:txBody>
      </p:sp>
      <p:sp>
        <p:nvSpPr>
          <p:cNvPr id="6" name="CuadroTexto 5">
            <a:extLst>
              <a:ext uri="{FF2B5EF4-FFF2-40B4-BE49-F238E27FC236}">
                <a16:creationId xmlns:a16="http://schemas.microsoft.com/office/drawing/2014/main" id="{BA219327-8439-E2BE-BFF9-05B49D7D7382}"/>
              </a:ext>
            </a:extLst>
          </p:cNvPr>
          <p:cNvSpPr txBox="1"/>
          <p:nvPr/>
        </p:nvSpPr>
        <p:spPr>
          <a:xfrm>
            <a:off x="7334631" y="3748390"/>
            <a:ext cx="525400" cy="369332"/>
          </a:xfrm>
          <a:prstGeom prst="rect">
            <a:avLst/>
          </a:prstGeom>
          <a:noFill/>
        </p:spPr>
        <p:txBody>
          <a:bodyPr wrap="none" rtlCol="0">
            <a:spAutoFit/>
          </a:bodyPr>
          <a:lstStyle/>
          <a:p>
            <a:r>
              <a:rPr lang="en-US" b="1" dirty="0">
                <a:solidFill>
                  <a:srgbClr val="FF0000"/>
                </a:solidFill>
              </a:rPr>
              <a:t>Top</a:t>
            </a:r>
          </a:p>
        </p:txBody>
      </p:sp>
    </p:spTree>
    <p:extLst>
      <p:ext uri="{BB962C8B-B14F-4D97-AF65-F5344CB8AC3E}">
        <p14:creationId xmlns:p14="http://schemas.microsoft.com/office/powerpoint/2010/main" val="575117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755576" y="0"/>
            <a:ext cx="8229600" cy="1143000"/>
          </a:xfrm>
        </p:spPr>
        <p:txBody>
          <a:bodyPr>
            <a:normAutofit/>
          </a:bodyPr>
          <a:lstStyle/>
          <a:p>
            <a:r>
              <a:rPr lang="es-CO" sz="2800" b="1" dirty="0"/>
              <a:t>Estrategia de Arriba hacia Abajo (Top to Down)</a:t>
            </a:r>
          </a:p>
        </p:txBody>
      </p:sp>
      <p:sp>
        <p:nvSpPr>
          <p:cNvPr id="3" name="CuadroTexto 2">
            <a:extLst>
              <a:ext uri="{FF2B5EF4-FFF2-40B4-BE49-F238E27FC236}">
                <a16:creationId xmlns:a16="http://schemas.microsoft.com/office/drawing/2014/main" id="{17FD4F7B-CCF2-2470-0DCF-2A8120F86B5E}"/>
              </a:ext>
            </a:extLst>
          </p:cNvPr>
          <p:cNvSpPr txBox="1"/>
          <p:nvPr/>
        </p:nvSpPr>
        <p:spPr>
          <a:xfrm>
            <a:off x="9828584" y="6313805"/>
            <a:ext cx="2880320" cy="646331"/>
          </a:xfrm>
          <a:prstGeom prst="rect">
            <a:avLst/>
          </a:prstGeom>
          <a:noFill/>
        </p:spPr>
        <p:txBody>
          <a:bodyPr wrap="square" rtlCol="0">
            <a:spAutoFit/>
          </a:bodyPr>
          <a:lstStyle/>
          <a:p>
            <a:endParaRPr lang="es-CO" b="1" dirty="0">
              <a:effectLst/>
              <a:latin typeface="Helvetica" pitchFamily="2" charset="0"/>
            </a:endParaRPr>
          </a:p>
          <a:p>
            <a:endParaRPr lang="en-US" dirty="0"/>
          </a:p>
        </p:txBody>
      </p:sp>
      <p:sp>
        <p:nvSpPr>
          <p:cNvPr id="23" name="CuadroTexto 22">
            <a:extLst>
              <a:ext uri="{FF2B5EF4-FFF2-40B4-BE49-F238E27FC236}">
                <a16:creationId xmlns:a16="http://schemas.microsoft.com/office/drawing/2014/main" id="{F07867C5-6E66-4C71-485D-6A73709C88E5}"/>
              </a:ext>
            </a:extLst>
          </p:cNvPr>
          <p:cNvSpPr txBox="1"/>
          <p:nvPr/>
        </p:nvSpPr>
        <p:spPr>
          <a:xfrm>
            <a:off x="457200" y="980728"/>
            <a:ext cx="8229600" cy="3416320"/>
          </a:xfrm>
          <a:prstGeom prst="rect">
            <a:avLst/>
          </a:prstGeom>
          <a:noFill/>
        </p:spPr>
        <p:txBody>
          <a:bodyPr wrap="square" rtlCol="0">
            <a:spAutoFit/>
          </a:bodyPr>
          <a:lstStyle/>
          <a:p>
            <a:endParaRPr lang="es-CO" dirty="0">
              <a:latin typeface="Helvetica" pitchFamily="2" charset="0"/>
            </a:endParaRPr>
          </a:p>
          <a:p>
            <a:pPr marL="285750" indent="-285750">
              <a:buFont typeface="Arial" panose="020B0604020202020204" pitchFamily="34" charset="0"/>
              <a:buChar char="•"/>
            </a:pPr>
            <a:r>
              <a:rPr lang="es-CO" dirty="0">
                <a:latin typeface="Helvetica" pitchFamily="2" charset="0"/>
              </a:rPr>
              <a:t>Está estrategia es contraria a la estrategia de abajo hacia arriba, las pruebas se inician en el módulo principal del software de acuerdo con la arquitectura, y luego se procede a probar los módulos o componentes que están en los niveles inferiores del software.</a:t>
            </a:r>
          </a:p>
          <a:p>
            <a:pPr marL="285750" indent="-285750">
              <a:buFont typeface="Arial" panose="020B0604020202020204" pitchFamily="34" charset="0"/>
              <a:buChar char="•"/>
            </a:pPr>
            <a:endParaRPr lang="es-CO" dirty="0">
              <a:latin typeface="Helvetica" pitchFamily="2" charset="0"/>
            </a:endParaRPr>
          </a:p>
          <a:p>
            <a:endParaRPr lang="es-CO" dirty="0">
              <a:latin typeface="Helvetica" pitchFamily="2" charset="0"/>
            </a:endParaRPr>
          </a:p>
          <a:p>
            <a:endParaRPr lang="es-CO" dirty="0">
              <a:latin typeface="Helvetica" pitchFamily="2" charset="0"/>
            </a:endParaRPr>
          </a:p>
          <a:p>
            <a:endParaRPr lang="es-CO" dirty="0">
              <a:latin typeface="Helvetica" pitchFamily="2" charset="0"/>
            </a:endParaRPr>
          </a:p>
          <a:p>
            <a:endParaRPr lang="es-CO" dirty="0">
              <a:latin typeface="Helvetica" pitchFamily="2" charset="0"/>
            </a:endParaRPr>
          </a:p>
          <a:p>
            <a:endParaRPr lang="es-CO" dirty="0">
              <a:latin typeface="Helvetica" pitchFamily="2" charset="0"/>
            </a:endParaRPr>
          </a:p>
          <a:p>
            <a:endParaRPr lang="es-CO" dirty="0">
              <a:latin typeface="Helvetica" pitchFamily="2" charset="0"/>
            </a:endParaRPr>
          </a:p>
        </p:txBody>
      </p:sp>
      <p:pic>
        <p:nvPicPr>
          <p:cNvPr id="4" name="Picture 2">
            <a:extLst>
              <a:ext uri="{FF2B5EF4-FFF2-40B4-BE49-F238E27FC236}">
                <a16:creationId xmlns:a16="http://schemas.microsoft.com/office/drawing/2014/main" id="{1F93B217-2B30-AC93-3D7E-DDE5F6291E5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20077"/>
          <a:stretch/>
        </p:blipFill>
        <p:spPr bwMode="auto">
          <a:xfrm>
            <a:off x="2627784" y="2996952"/>
            <a:ext cx="3165984" cy="3038737"/>
          </a:xfrm>
          <a:prstGeom prst="rect">
            <a:avLst/>
          </a:prstGeom>
          <a:noFill/>
          <a:extLst>
            <a:ext uri="{909E8E84-426E-40DD-AFC4-6F175D3DCCD1}">
              <a14:hiddenFill xmlns:a14="http://schemas.microsoft.com/office/drawing/2010/main">
                <a:solidFill>
                  <a:srgbClr val="FFFFFF"/>
                </a:solidFill>
              </a14:hiddenFill>
            </a:ext>
          </a:extLst>
        </p:spPr>
      </p:pic>
      <p:sp>
        <p:nvSpPr>
          <p:cNvPr id="5" name="Flecha abajo 4">
            <a:extLst>
              <a:ext uri="{FF2B5EF4-FFF2-40B4-BE49-F238E27FC236}">
                <a16:creationId xmlns:a16="http://schemas.microsoft.com/office/drawing/2014/main" id="{22D41C14-3DF1-4932-C9B1-0CDF8BD481B6}"/>
              </a:ext>
            </a:extLst>
          </p:cNvPr>
          <p:cNvSpPr/>
          <p:nvPr/>
        </p:nvSpPr>
        <p:spPr>
          <a:xfrm>
            <a:off x="6297824" y="3284985"/>
            <a:ext cx="216024" cy="2380749"/>
          </a:xfrm>
          <a:prstGeom prst="down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uadroTexto 5">
            <a:extLst>
              <a:ext uri="{FF2B5EF4-FFF2-40B4-BE49-F238E27FC236}">
                <a16:creationId xmlns:a16="http://schemas.microsoft.com/office/drawing/2014/main" id="{94C1CF9D-F261-6430-AC5A-F03431957DC2}"/>
              </a:ext>
            </a:extLst>
          </p:cNvPr>
          <p:cNvSpPr txBox="1"/>
          <p:nvPr/>
        </p:nvSpPr>
        <p:spPr>
          <a:xfrm>
            <a:off x="6779198" y="5302397"/>
            <a:ext cx="748475" cy="369332"/>
          </a:xfrm>
          <a:prstGeom prst="rect">
            <a:avLst/>
          </a:prstGeom>
          <a:noFill/>
        </p:spPr>
        <p:txBody>
          <a:bodyPr wrap="none" rtlCol="0">
            <a:spAutoFit/>
          </a:bodyPr>
          <a:lstStyle/>
          <a:p>
            <a:r>
              <a:rPr lang="en-US" b="1" dirty="0">
                <a:solidFill>
                  <a:srgbClr val="FF0000"/>
                </a:solidFill>
              </a:rPr>
              <a:t>Down</a:t>
            </a:r>
          </a:p>
        </p:txBody>
      </p:sp>
      <p:sp>
        <p:nvSpPr>
          <p:cNvPr id="7" name="CuadroTexto 6">
            <a:extLst>
              <a:ext uri="{FF2B5EF4-FFF2-40B4-BE49-F238E27FC236}">
                <a16:creationId xmlns:a16="http://schemas.microsoft.com/office/drawing/2014/main" id="{322F0239-92A2-0815-1A89-10DAD372AC01}"/>
              </a:ext>
            </a:extLst>
          </p:cNvPr>
          <p:cNvSpPr txBox="1"/>
          <p:nvPr/>
        </p:nvSpPr>
        <p:spPr>
          <a:xfrm>
            <a:off x="6756199" y="3100319"/>
            <a:ext cx="525400" cy="369332"/>
          </a:xfrm>
          <a:prstGeom prst="rect">
            <a:avLst/>
          </a:prstGeom>
          <a:noFill/>
        </p:spPr>
        <p:txBody>
          <a:bodyPr wrap="none" rtlCol="0">
            <a:spAutoFit/>
          </a:bodyPr>
          <a:lstStyle/>
          <a:p>
            <a:r>
              <a:rPr lang="en-US" b="1" dirty="0">
                <a:solidFill>
                  <a:srgbClr val="FF0000"/>
                </a:solidFill>
              </a:rPr>
              <a:t>Top</a:t>
            </a:r>
          </a:p>
        </p:txBody>
      </p:sp>
    </p:spTree>
    <p:extLst>
      <p:ext uri="{BB962C8B-B14F-4D97-AF65-F5344CB8AC3E}">
        <p14:creationId xmlns:p14="http://schemas.microsoft.com/office/powerpoint/2010/main" val="25540399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755576" y="0"/>
            <a:ext cx="8229600" cy="1143000"/>
          </a:xfrm>
        </p:spPr>
        <p:txBody>
          <a:bodyPr>
            <a:normAutofit/>
          </a:bodyPr>
          <a:lstStyle/>
          <a:p>
            <a:r>
              <a:rPr lang="es-CO" sz="2800" b="1" dirty="0"/>
              <a:t>Estrategia de Automatización</a:t>
            </a:r>
          </a:p>
        </p:txBody>
      </p:sp>
      <p:sp>
        <p:nvSpPr>
          <p:cNvPr id="3" name="CuadroTexto 2">
            <a:extLst>
              <a:ext uri="{FF2B5EF4-FFF2-40B4-BE49-F238E27FC236}">
                <a16:creationId xmlns:a16="http://schemas.microsoft.com/office/drawing/2014/main" id="{17FD4F7B-CCF2-2470-0DCF-2A8120F86B5E}"/>
              </a:ext>
            </a:extLst>
          </p:cNvPr>
          <p:cNvSpPr txBox="1"/>
          <p:nvPr/>
        </p:nvSpPr>
        <p:spPr>
          <a:xfrm>
            <a:off x="9828584" y="6313805"/>
            <a:ext cx="2880320" cy="646331"/>
          </a:xfrm>
          <a:prstGeom prst="rect">
            <a:avLst/>
          </a:prstGeom>
          <a:noFill/>
        </p:spPr>
        <p:txBody>
          <a:bodyPr wrap="square" rtlCol="0">
            <a:spAutoFit/>
          </a:bodyPr>
          <a:lstStyle/>
          <a:p>
            <a:endParaRPr lang="es-CO" b="1" dirty="0">
              <a:effectLst/>
              <a:latin typeface="Helvetica" pitchFamily="2" charset="0"/>
            </a:endParaRPr>
          </a:p>
          <a:p>
            <a:endParaRPr lang="en-US" dirty="0"/>
          </a:p>
        </p:txBody>
      </p:sp>
      <p:sp>
        <p:nvSpPr>
          <p:cNvPr id="23" name="CuadroTexto 22">
            <a:extLst>
              <a:ext uri="{FF2B5EF4-FFF2-40B4-BE49-F238E27FC236}">
                <a16:creationId xmlns:a16="http://schemas.microsoft.com/office/drawing/2014/main" id="{F07867C5-6E66-4C71-485D-6A73709C88E5}"/>
              </a:ext>
            </a:extLst>
          </p:cNvPr>
          <p:cNvSpPr txBox="1"/>
          <p:nvPr/>
        </p:nvSpPr>
        <p:spPr>
          <a:xfrm>
            <a:off x="457200" y="980728"/>
            <a:ext cx="8229600" cy="3693319"/>
          </a:xfrm>
          <a:prstGeom prst="rect">
            <a:avLst/>
          </a:prstGeom>
          <a:noFill/>
        </p:spPr>
        <p:txBody>
          <a:bodyPr wrap="square" rtlCol="0">
            <a:spAutoFit/>
          </a:bodyPr>
          <a:lstStyle/>
          <a:p>
            <a:endParaRPr lang="es-CO" dirty="0">
              <a:latin typeface="Helvetica" pitchFamily="2" charset="0"/>
            </a:endParaRPr>
          </a:p>
          <a:p>
            <a:pPr marL="285750" indent="-285750">
              <a:buFont typeface="Arial" panose="020B0604020202020204" pitchFamily="34" charset="0"/>
              <a:buChar char="•"/>
            </a:pPr>
            <a:r>
              <a:rPr lang="es-CO" dirty="0">
                <a:latin typeface="Helvetica" pitchFamily="2" charset="0"/>
              </a:rPr>
              <a:t>Tiene como objetivo reducir el tiempo y el costo de las pruebas mediante la automatización del proceso o el uso de herramientas que automaticen diferentes aspectos de las prueba, como por ejemplo la generación automática de datos o la ejecución de pruebas, verificaciones, validaciones automáticas. Por ejemplo Junit, </a:t>
            </a:r>
            <a:r>
              <a:rPr lang="es-CO" dirty="0" err="1">
                <a:latin typeface="Helvetica" pitchFamily="2" charset="0"/>
              </a:rPr>
              <a:t>XUnit</a:t>
            </a:r>
            <a:endParaRPr lang="es-CO" dirty="0">
              <a:latin typeface="Helvetica" pitchFamily="2" charset="0"/>
            </a:endParaRPr>
          </a:p>
          <a:p>
            <a:pPr marL="285750" indent="-285750">
              <a:buFont typeface="Arial" panose="020B0604020202020204" pitchFamily="34" charset="0"/>
              <a:buChar char="•"/>
            </a:pPr>
            <a:endParaRPr lang="es-CO" dirty="0">
              <a:latin typeface="Helvetica" pitchFamily="2" charset="0"/>
            </a:endParaRPr>
          </a:p>
          <a:p>
            <a:endParaRPr lang="es-CO" dirty="0">
              <a:latin typeface="Helvetica" pitchFamily="2" charset="0"/>
            </a:endParaRPr>
          </a:p>
          <a:p>
            <a:endParaRPr lang="es-CO" dirty="0">
              <a:latin typeface="Helvetica" pitchFamily="2" charset="0"/>
            </a:endParaRPr>
          </a:p>
          <a:p>
            <a:endParaRPr lang="es-CO" dirty="0">
              <a:latin typeface="Helvetica" pitchFamily="2" charset="0"/>
            </a:endParaRPr>
          </a:p>
          <a:p>
            <a:endParaRPr lang="es-CO" dirty="0">
              <a:latin typeface="Helvetica" pitchFamily="2" charset="0"/>
            </a:endParaRPr>
          </a:p>
          <a:p>
            <a:endParaRPr lang="es-CO" dirty="0">
              <a:latin typeface="Helvetica" pitchFamily="2" charset="0"/>
            </a:endParaRPr>
          </a:p>
          <a:p>
            <a:endParaRPr lang="es-CO" dirty="0">
              <a:latin typeface="Helvetica" pitchFamily="2" charset="0"/>
            </a:endParaRPr>
          </a:p>
        </p:txBody>
      </p:sp>
      <p:pic>
        <p:nvPicPr>
          <p:cNvPr id="3074" name="Picture 2" descr="Automatización de Pruebas">
            <a:extLst>
              <a:ext uri="{FF2B5EF4-FFF2-40B4-BE49-F238E27FC236}">
                <a16:creationId xmlns:a16="http://schemas.microsoft.com/office/drawing/2014/main" id="{761DC1D1-4872-760A-14B5-E96D92BF13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3190" y="3282757"/>
            <a:ext cx="7577620" cy="30310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815706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755576" y="0"/>
            <a:ext cx="8229600" cy="1143000"/>
          </a:xfrm>
        </p:spPr>
        <p:txBody>
          <a:bodyPr>
            <a:normAutofit/>
          </a:bodyPr>
          <a:lstStyle/>
          <a:p>
            <a:r>
              <a:rPr lang="es-CO" sz="2800" b="1" dirty="0"/>
              <a:t>Técnicas de pruebas de caja negra</a:t>
            </a:r>
          </a:p>
        </p:txBody>
      </p:sp>
      <p:sp>
        <p:nvSpPr>
          <p:cNvPr id="3" name="CuadroTexto 2">
            <a:extLst>
              <a:ext uri="{FF2B5EF4-FFF2-40B4-BE49-F238E27FC236}">
                <a16:creationId xmlns:a16="http://schemas.microsoft.com/office/drawing/2014/main" id="{17FD4F7B-CCF2-2470-0DCF-2A8120F86B5E}"/>
              </a:ext>
            </a:extLst>
          </p:cNvPr>
          <p:cNvSpPr txBox="1"/>
          <p:nvPr/>
        </p:nvSpPr>
        <p:spPr>
          <a:xfrm>
            <a:off x="9828584" y="6313805"/>
            <a:ext cx="2880320" cy="646331"/>
          </a:xfrm>
          <a:prstGeom prst="rect">
            <a:avLst/>
          </a:prstGeom>
          <a:noFill/>
        </p:spPr>
        <p:txBody>
          <a:bodyPr wrap="square" rtlCol="0">
            <a:spAutoFit/>
          </a:bodyPr>
          <a:lstStyle/>
          <a:p>
            <a:endParaRPr lang="es-CO" b="1" dirty="0">
              <a:effectLst/>
              <a:latin typeface="Helvetica" pitchFamily="2" charset="0"/>
            </a:endParaRPr>
          </a:p>
          <a:p>
            <a:endParaRPr lang="en-US" dirty="0"/>
          </a:p>
        </p:txBody>
      </p:sp>
      <p:sp>
        <p:nvSpPr>
          <p:cNvPr id="23" name="CuadroTexto 22">
            <a:extLst>
              <a:ext uri="{FF2B5EF4-FFF2-40B4-BE49-F238E27FC236}">
                <a16:creationId xmlns:a16="http://schemas.microsoft.com/office/drawing/2014/main" id="{F07867C5-6E66-4C71-485D-6A73709C88E5}"/>
              </a:ext>
            </a:extLst>
          </p:cNvPr>
          <p:cNvSpPr txBox="1"/>
          <p:nvPr/>
        </p:nvSpPr>
        <p:spPr>
          <a:xfrm>
            <a:off x="457200" y="980728"/>
            <a:ext cx="8229600" cy="6186309"/>
          </a:xfrm>
          <a:prstGeom prst="rect">
            <a:avLst/>
          </a:prstGeom>
          <a:noFill/>
        </p:spPr>
        <p:txBody>
          <a:bodyPr wrap="square" rtlCol="0">
            <a:spAutoFit/>
          </a:bodyPr>
          <a:lstStyle/>
          <a:p>
            <a:endParaRPr lang="es-CO" dirty="0">
              <a:latin typeface="Helvetica" pitchFamily="2" charset="0"/>
            </a:endParaRPr>
          </a:p>
          <a:p>
            <a:pPr marL="285750" indent="-285750">
              <a:buFont typeface="Arial" panose="020B0604020202020204" pitchFamily="34" charset="0"/>
              <a:buChar char="•"/>
            </a:pPr>
            <a:r>
              <a:rPr lang="es-CO" dirty="0">
                <a:latin typeface="Helvetica" pitchFamily="2" charset="0"/>
              </a:rPr>
              <a:t>Las pruebas de caja negra se diseñan para probar la validez funcional, el rendimiento y el comportamiento de un software, sea en un componente, grupo de componentes integrados o el software completo, y deben responder a unos interrogantes:</a:t>
            </a:r>
          </a:p>
          <a:p>
            <a:pPr marL="285750" indent="-285750">
              <a:buFont typeface="Arial" panose="020B0604020202020204" pitchFamily="34" charset="0"/>
              <a:buChar char="•"/>
            </a:pPr>
            <a:endParaRPr lang="es-CO" dirty="0">
              <a:latin typeface="Helvetica" pitchFamily="2" charset="0"/>
            </a:endParaRPr>
          </a:p>
          <a:p>
            <a:pPr marL="742950" lvl="1" indent="-285750">
              <a:buFont typeface="Arial" panose="020B0604020202020204" pitchFamily="34" charset="0"/>
              <a:buChar char="•"/>
            </a:pPr>
            <a:r>
              <a:rPr lang="es-CO" dirty="0">
                <a:latin typeface="Helvetica" pitchFamily="2" charset="0"/>
              </a:rPr>
              <a:t>¿Qué datos generan buenos casos de prueba?</a:t>
            </a:r>
          </a:p>
          <a:p>
            <a:pPr marL="742950" lvl="1" indent="-285750">
              <a:buFont typeface="Arial" panose="020B0604020202020204" pitchFamily="34" charset="0"/>
              <a:buChar char="•"/>
            </a:pPr>
            <a:r>
              <a:rPr lang="es-CO" dirty="0">
                <a:latin typeface="Helvetica" pitchFamily="2" charset="0"/>
              </a:rPr>
              <a:t>¿El software es sensible a ciertos datos de prueba?</a:t>
            </a:r>
          </a:p>
          <a:p>
            <a:pPr marL="742950" lvl="1" indent="-285750">
              <a:buFont typeface="Arial" panose="020B0604020202020204" pitchFamily="34" charset="0"/>
              <a:buChar char="•"/>
            </a:pPr>
            <a:r>
              <a:rPr lang="es-CO" dirty="0">
                <a:latin typeface="Helvetica" pitchFamily="2" charset="0"/>
              </a:rPr>
              <a:t>¿Qué volumen y nivel de datos tolera el software?</a:t>
            </a:r>
          </a:p>
          <a:p>
            <a:pPr marL="742950" lvl="1" indent="-285750">
              <a:buFont typeface="Arial" panose="020B0604020202020204" pitchFamily="34" charset="0"/>
              <a:buChar char="•"/>
            </a:pPr>
            <a:r>
              <a:rPr lang="es-CO" dirty="0">
                <a:latin typeface="Helvetica" pitchFamily="2" charset="0"/>
              </a:rPr>
              <a:t>¿Qué efectos tendrán diferentes combinaciones de datos de entrada sobre el funcionamiento del software?</a:t>
            </a:r>
          </a:p>
          <a:p>
            <a:pPr marL="742950" lvl="1" indent="-285750">
              <a:buFont typeface="Arial" panose="020B0604020202020204" pitchFamily="34" charset="0"/>
              <a:buChar char="•"/>
            </a:pPr>
            <a:endParaRPr lang="es-CO" dirty="0">
              <a:latin typeface="Helvetica" pitchFamily="2" charset="0"/>
            </a:endParaRPr>
          </a:p>
          <a:p>
            <a:pPr marL="285750" indent="-285750">
              <a:buFont typeface="Arial" panose="020B0604020202020204" pitchFamily="34" charset="0"/>
              <a:buChar char="•"/>
            </a:pPr>
            <a:r>
              <a:rPr lang="es-CO" dirty="0">
                <a:latin typeface="Helvetica" pitchFamily="2" charset="0"/>
              </a:rPr>
              <a:t>Se centran en los requisitos funcionales y evalúan el comportamiento de los requisitos, para esto se deben conocer los datos de entrada, los resultados y los resultados esperados.</a:t>
            </a:r>
          </a:p>
          <a:p>
            <a:pPr marL="285750" indent="-285750">
              <a:buFont typeface="Arial" panose="020B0604020202020204" pitchFamily="34" charset="0"/>
              <a:buChar char="•"/>
            </a:pPr>
            <a:endParaRPr lang="es-CO" dirty="0">
              <a:latin typeface="Helvetica" pitchFamily="2" charset="0"/>
            </a:endParaRPr>
          </a:p>
          <a:p>
            <a:endParaRPr lang="es-CO" dirty="0">
              <a:latin typeface="Helvetica" pitchFamily="2" charset="0"/>
            </a:endParaRPr>
          </a:p>
          <a:p>
            <a:endParaRPr lang="es-CO" dirty="0">
              <a:latin typeface="Helvetica" pitchFamily="2" charset="0"/>
            </a:endParaRPr>
          </a:p>
          <a:p>
            <a:endParaRPr lang="es-CO" dirty="0">
              <a:latin typeface="Helvetica" pitchFamily="2" charset="0"/>
            </a:endParaRPr>
          </a:p>
          <a:p>
            <a:endParaRPr lang="es-CO" dirty="0">
              <a:latin typeface="Helvetica" pitchFamily="2" charset="0"/>
            </a:endParaRPr>
          </a:p>
          <a:p>
            <a:endParaRPr lang="es-CO" dirty="0">
              <a:latin typeface="Helvetica" pitchFamily="2" charset="0"/>
            </a:endParaRPr>
          </a:p>
          <a:p>
            <a:endParaRPr lang="es-CO" dirty="0">
              <a:latin typeface="Helvetica" pitchFamily="2" charset="0"/>
            </a:endParaRPr>
          </a:p>
        </p:txBody>
      </p:sp>
    </p:spTree>
    <p:extLst>
      <p:ext uri="{BB962C8B-B14F-4D97-AF65-F5344CB8AC3E}">
        <p14:creationId xmlns:p14="http://schemas.microsoft.com/office/powerpoint/2010/main" val="4801419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755576" y="0"/>
            <a:ext cx="8229600" cy="1143000"/>
          </a:xfrm>
        </p:spPr>
        <p:txBody>
          <a:bodyPr>
            <a:normAutofit/>
          </a:bodyPr>
          <a:lstStyle/>
          <a:p>
            <a:r>
              <a:rPr lang="es-CO" sz="2800" b="1" dirty="0"/>
              <a:t>Técnicas de pruebas de caja negra:</a:t>
            </a:r>
            <a:br>
              <a:rPr lang="es-CO" sz="2800" b="1" dirty="0"/>
            </a:br>
            <a:r>
              <a:rPr lang="es-CO" sz="2800" b="1" dirty="0"/>
              <a:t> Particiones Equivalentes</a:t>
            </a:r>
          </a:p>
        </p:txBody>
      </p:sp>
      <p:sp>
        <p:nvSpPr>
          <p:cNvPr id="3" name="CuadroTexto 2">
            <a:extLst>
              <a:ext uri="{FF2B5EF4-FFF2-40B4-BE49-F238E27FC236}">
                <a16:creationId xmlns:a16="http://schemas.microsoft.com/office/drawing/2014/main" id="{17FD4F7B-CCF2-2470-0DCF-2A8120F86B5E}"/>
              </a:ext>
            </a:extLst>
          </p:cNvPr>
          <p:cNvSpPr txBox="1"/>
          <p:nvPr/>
        </p:nvSpPr>
        <p:spPr>
          <a:xfrm>
            <a:off x="9828584" y="6313805"/>
            <a:ext cx="2880320" cy="646331"/>
          </a:xfrm>
          <a:prstGeom prst="rect">
            <a:avLst/>
          </a:prstGeom>
          <a:noFill/>
        </p:spPr>
        <p:txBody>
          <a:bodyPr wrap="square" rtlCol="0">
            <a:spAutoFit/>
          </a:bodyPr>
          <a:lstStyle/>
          <a:p>
            <a:endParaRPr lang="es-CO" b="1" dirty="0">
              <a:effectLst/>
              <a:latin typeface="Helvetica" pitchFamily="2" charset="0"/>
            </a:endParaRPr>
          </a:p>
          <a:p>
            <a:endParaRPr lang="en-US" dirty="0"/>
          </a:p>
        </p:txBody>
      </p:sp>
      <p:sp>
        <p:nvSpPr>
          <p:cNvPr id="23" name="CuadroTexto 22">
            <a:extLst>
              <a:ext uri="{FF2B5EF4-FFF2-40B4-BE49-F238E27FC236}">
                <a16:creationId xmlns:a16="http://schemas.microsoft.com/office/drawing/2014/main" id="{F07867C5-6E66-4C71-485D-6A73709C88E5}"/>
              </a:ext>
            </a:extLst>
          </p:cNvPr>
          <p:cNvSpPr txBox="1"/>
          <p:nvPr/>
        </p:nvSpPr>
        <p:spPr>
          <a:xfrm>
            <a:off x="457200" y="980728"/>
            <a:ext cx="8229600" cy="4524315"/>
          </a:xfrm>
          <a:prstGeom prst="rect">
            <a:avLst/>
          </a:prstGeom>
          <a:noFill/>
        </p:spPr>
        <p:txBody>
          <a:bodyPr wrap="square" rtlCol="0">
            <a:spAutoFit/>
          </a:bodyPr>
          <a:lstStyle/>
          <a:p>
            <a:endParaRPr lang="es-CO" dirty="0">
              <a:latin typeface="Helvetica" pitchFamily="2" charset="0"/>
            </a:endParaRPr>
          </a:p>
          <a:p>
            <a:pPr marL="285750" indent="-285750">
              <a:buFont typeface="Arial" panose="020B0604020202020204" pitchFamily="34" charset="0"/>
              <a:buChar char="•"/>
            </a:pPr>
            <a:r>
              <a:rPr lang="es-CO" b="1" dirty="0">
                <a:solidFill>
                  <a:srgbClr val="FF0000"/>
                </a:solidFill>
                <a:latin typeface="Helvetica" pitchFamily="2" charset="0"/>
              </a:rPr>
              <a:t>Esta técnica divide los datos de entrada del software en varios grupos de clases de equivalencia, </a:t>
            </a:r>
            <a:r>
              <a:rPr lang="es-CO" dirty="0">
                <a:latin typeface="Helvetica" pitchFamily="2" charset="0"/>
              </a:rPr>
              <a:t>para cada variable de entrada al software que se va a probar se especifica un grupo de clases de equivalencia.</a:t>
            </a:r>
          </a:p>
          <a:p>
            <a:pPr marL="285750" indent="-285750">
              <a:buFont typeface="Arial" panose="020B0604020202020204" pitchFamily="34" charset="0"/>
              <a:buChar char="•"/>
            </a:pPr>
            <a:endParaRPr lang="es-CO" dirty="0">
              <a:latin typeface="Helvetica" pitchFamily="2" charset="0"/>
            </a:endParaRPr>
          </a:p>
          <a:p>
            <a:pPr marL="285750" indent="-285750">
              <a:buFont typeface="Arial" panose="020B0604020202020204" pitchFamily="34" charset="0"/>
              <a:buChar char="•"/>
            </a:pPr>
            <a:r>
              <a:rPr lang="es-CO" dirty="0">
                <a:latin typeface="Helvetica" pitchFamily="2" charset="0"/>
              </a:rPr>
              <a:t>Una clase de equivalencia es un conjunto de calores de datos de la variable de entrada que cumple una condición dada. Esta condición es por lo general una restricción de la variable de entrada establecida como un requisito o regla de negocio.</a:t>
            </a:r>
          </a:p>
          <a:p>
            <a:pPr marL="285750" indent="-285750">
              <a:buFont typeface="Arial" panose="020B0604020202020204" pitchFamily="34" charset="0"/>
              <a:buChar char="•"/>
            </a:pPr>
            <a:endParaRPr lang="es-CO" dirty="0">
              <a:latin typeface="Helvetica" pitchFamily="2" charset="0"/>
            </a:endParaRPr>
          </a:p>
          <a:p>
            <a:endParaRPr lang="es-CO" dirty="0">
              <a:latin typeface="Helvetica" pitchFamily="2" charset="0"/>
            </a:endParaRPr>
          </a:p>
          <a:p>
            <a:endParaRPr lang="es-CO" dirty="0">
              <a:latin typeface="Helvetica" pitchFamily="2" charset="0"/>
            </a:endParaRPr>
          </a:p>
          <a:p>
            <a:endParaRPr lang="es-CO" dirty="0">
              <a:latin typeface="Helvetica" pitchFamily="2" charset="0"/>
            </a:endParaRPr>
          </a:p>
          <a:p>
            <a:endParaRPr lang="es-CO" dirty="0">
              <a:latin typeface="Helvetica" pitchFamily="2" charset="0"/>
            </a:endParaRPr>
          </a:p>
          <a:p>
            <a:endParaRPr lang="es-CO" dirty="0">
              <a:latin typeface="Helvetica" pitchFamily="2" charset="0"/>
            </a:endParaRPr>
          </a:p>
          <a:p>
            <a:endParaRPr lang="es-CO" dirty="0">
              <a:latin typeface="Helvetica" pitchFamily="2" charset="0"/>
            </a:endParaRPr>
          </a:p>
        </p:txBody>
      </p:sp>
    </p:spTree>
    <p:extLst>
      <p:ext uri="{BB962C8B-B14F-4D97-AF65-F5344CB8AC3E}">
        <p14:creationId xmlns:p14="http://schemas.microsoft.com/office/powerpoint/2010/main" val="168411307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755576" y="0"/>
            <a:ext cx="8229600" cy="1143000"/>
          </a:xfrm>
        </p:spPr>
        <p:txBody>
          <a:bodyPr>
            <a:normAutofit/>
          </a:bodyPr>
          <a:lstStyle/>
          <a:p>
            <a:r>
              <a:rPr lang="es-CO" sz="2800" b="1" dirty="0"/>
              <a:t>Técnicas de pruebas de caja negra:</a:t>
            </a:r>
            <a:br>
              <a:rPr lang="es-CO" sz="2800" b="1" dirty="0"/>
            </a:br>
            <a:r>
              <a:rPr lang="es-CO" sz="2800" b="1" dirty="0"/>
              <a:t> Análisis de Valores Limites</a:t>
            </a:r>
          </a:p>
        </p:txBody>
      </p:sp>
      <p:sp>
        <p:nvSpPr>
          <p:cNvPr id="3" name="CuadroTexto 2">
            <a:extLst>
              <a:ext uri="{FF2B5EF4-FFF2-40B4-BE49-F238E27FC236}">
                <a16:creationId xmlns:a16="http://schemas.microsoft.com/office/drawing/2014/main" id="{17FD4F7B-CCF2-2470-0DCF-2A8120F86B5E}"/>
              </a:ext>
            </a:extLst>
          </p:cNvPr>
          <p:cNvSpPr txBox="1"/>
          <p:nvPr/>
        </p:nvSpPr>
        <p:spPr>
          <a:xfrm>
            <a:off x="9828584" y="6313805"/>
            <a:ext cx="2880320" cy="646331"/>
          </a:xfrm>
          <a:prstGeom prst="rect">
            <a:avLst/>
          </a:prstGeom>
          <a:noFill/>
        </p:spPr>
        <p:txBody>
          <a:bodyPr wrap="square" rtlCol="0">
            <a:spAutoFit/>
          </a:bodyPr>
          <a:lstStyle/>
          <a:p>
            <a:endParaRPr lang="es-CO" b="1" dirty="0">
              <a:effectLst/>
              <a:latin typeface="Helvetica" pitchFamily="2" charset="0"/>
            </a:endParaRPr>
          </a:p>
          <a:p>
            <a:endParaRPr lang="en-US" dirty="0"/>
          </a:p>
        </p:txBody>
      </p:sp>
      <p:sp>
        <p:nvSpPr>
          <p:cNvPr id="23" name="CuadroTexto 22">
            <a:extLst>
              <a:ext uri="{FF2B5EF4-FFF2-40B4-BE49-F238E27FC236}">
                <a16:creationId xmlns:a16="http://schemas.microsoft.com/office/drawing/2014/main" id="{F07867C5-6E66-4C71-485D-6A73709C88E5}"/>
              </a:ext>
            </a:extLst>
          </p:cNvPr>
          <p:cNvSpPr txBox="1"/>
          <p:nvPr/>
        </p:nvSpPr>
        <p:spPr>
          <a:xfrm>
            <a:off x="457200" y="1789490"/>
            <a:ext cx="8229600" cy="4524315"/>
          </a:xfrm>
          <a:prstGeom prst="rect">
            <a:avLst/>
          </a:prstGeom>
          <a:noFill/>
        </p:spPr>
        <p:txBody>
          <a:bodyPr wrap="square" rtlCol="0">
            <a:spAutoFit/>
          </a:bodyPr>
          <a:lstStyle/>
          <a:p>
            <a:endParaRPr lang="es-CO" dirty="0">
              <a:latin typeface="Helvetica" pitchFamily="2" charset="0"/>
            </a:endParaRPr>
          </a:p>
          <a:p>
            <a:pPr marL="285750" indent="-285750">
              <a:buFont typeface="Arial" panose="020B0604020202020204" pitchFamily="34" charset="0"/>
              <a:buChar char="•"/>
            </a:pPr>
            <a:r>
              <a:rPr lang="es-CO" dirty="0">
                <a:latin typeface="Helvetica" pitchFamily="2" charset="0"/>
              </a:rPr>
              <a:t>Esta técnica es  una extensión de la anterior, consiste en diseñar los casos de prueba a partir de las clases de equivalencia, las cuales se definen usando la técnica de particiones equivalentes. Para cada clase equivalente valida e invalida se toman, como casos de prueba, los valores mínimos y máximos de esa clase, por ejemplo si la clase de equivalencia valida de la </a:t>
            </a:r>
            <a:r>
              <a:rPr lang="es-CO" b="1" dirty="0">
                <a:solidFill>
                  <a:srgbClr val="FF0000"/>
                </a:solidFill>
                <a:latin typeface="Helvetica" pitchFamily="2" charset="0"/>
              </a:rPr>
              <a:t>variable costo de un producto esta en el rango de [0, 10.000) se seleccionarían, como casos de prueba los valores 0 y 9.999 como valores limites.</a:t>
            </a:r>
          </a:p>
          <a:p>
            <a:pPr marL="285750" indent="-285750">
              <a:buFont typeface="Arial" panose="020B0604020202020204" pitchFamily="34" charset="0"/>
              <a:buChar char="•"/>
            </a:pPr>
            <a:endParaRPr lang="es-CO" dirty="0">
              <a:latin typeface="Helvetica" pitchFamily="2" charset="0"/>
            </a:endParaRPr>
          </a:p>
          <a:p>
            <a:endParaRPr lang="es-CO" dirty="0">
              <a:latin typeface="Helvetica" pitchFamily="2" charset="0"/>
            </a:endParaRPr>
          </a:p>
          <a:p>
            <a:endParaRPr lang="es-CO" dirty="0">
              <a:latin typeface="Helvetica" pitchFamily="2" charset="0"/>
            </a:endParaRPr>
          </a:p>
          <a:p>
            <a:endParaRPr lang="es-CO" dirty="0">
              <a:latin typeface="Helvetica" pitchFamily="2" charset="0"/>
            </a:endParaRPr>
          </a:p>
          <a:p>
            <a:endParaRPr lang="es-CO" dirty="0">
              <a:latin typeface="Helvetica" pitchFamily="2" charset="0"/>
            </a:endParaRPr>
          </a:p>
          <a:p>
            <a:endParaRPr lang="es-CO" dirty="0">
              <a:latin typeface="Helvetica" pitchFamily="2" charset="0"/>
            </a:endParaRPr>
          </a:p>
          <a:p>
            <a:endParaRPr lang="es-CO" dirty="0">
              <a:latin typeface="Helvetica" pitchFamily="2" charset="0"/>
            </a:endParaRPr>
          </a:p>
        </p:txBody>
      </p:sp>
    </p:spTree>
    <p:extLst>
      <p:ext uri="{BB962C8B-B14F-4D97-AF65-F5344CB8AC3E}">
        <p14:creationId xmlns:p14="http://schemas.microsoft.com/office/powerpoint/2010/main" val="17356935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755576" y="196720"/>
            <a:ext cx="8229600" cy="1143000"/>
          </a:xfrm>
        </p:spPr>
        <p:txBody>
          <a:bodyPr>
            <a:normAutofit/>
          </a:bodyPr>
          <a:lstStyle/>
          <a:p>
            <a:r>
              <a:rPr lang="es-CO" sz="2800" b="1" dirty="0"/>
              <a:t>Técnicas de pruebas de caja negra: </a:t>
            </a:r>
            <a:br>
              <a:rPr lang="es-CO" sz="2800" b="1" dirty="0"/>
            </a:br>
            <a:r>
              <a:rPr lang="es-CO" sz="2800" b="1" dirty="0"/>
              <a:t>Conjetura de errores</a:t>
            </a:r>
          </a:p>
        </p:txBody>
      </p:sp>
      <p:sp>
        <p:nvSpPr>
          <p:cNvPr id="3" name="CuadroTexto 2">
            <a:extLst>
              <a:ext uri="{FF2B5EF4-FFF2-40B4-BE49-F238E27FC236}">
                <a16:creationId xmlns:a16="http://schemas.microsoft.com/office/drawing/2014/main" id="{17FD4F7B-CCF2-2470-0DCF-2A8120F86B5E}"/>
              </a:ext>
            </a:extLst>
          </p:cNvPr>
          <p:cNvSpPr txBox="1"/>
          <p:nvPr/>
        </p:nvSpPr>
        <p:spPr>
          <a:xfrm>
            <a:off x="9828584" y="6313805"/>
            <a:ext cx="2880320" cy="646331"/>
          </a:xfrm>
          <a:prstGeom prst="rect">
            <a:avLst/>
          </a:prstGeom>
          <a:noFill/>
        </p:spPr>
        <p:txBody>
          <a:bodyPr wrap="square" rtlCol="0">
            <a:spAutoFit/>
          </a:bodyPr>
          <a:lstStyle/>
          <a:p>
            <a:endParaRPr lang="es-CO" b="1" dirty="0">
              <a:effectLst/>
              <a:latin typeface="Helvetica" pitchFamily="2" charset="0"/>
            </a:endParaRPr>
          </a:p>
          <a:p>
            <a:endParaRPr lang="en-US" dirty="0"/>
          </a:p>
        </p:txBody>
      </p:sp>
      <p:sp>
        <p:nvSpPr>
          <p:cNvPr id="23" name="CuadroTexto 22">
            <a:extLst>
              <a:ext uri="{FF2B5EF4-FFF2-40B4-BE49-F238E27FC236}">
                <a16:creationId xmlns:a16="http://schemas.microsoft.com/office/drawing/2014/main" id="{F07867C5-6E66-4C71-485D-6A73709C88E5}"/>
              </a:ext>
            </a:extLst>
          </p:cNvPr>
          <p:cNvSpPr txBox="1"/>
          <p:nvPr/>
        </p:nvSpPr>
        <p:spPr>
          <a:xfrm>
            <a:off x="457200" y="1305341"/>
            <a:ext cx="8229600" cy="4524315"/>
          </a:xfrm>
          <a:prstGeom prst="rect">
            <a:avLst/>
          </a:prstGeom>
          <a:noFill/>
        </p:spPr>
        <p:txBody>
          <a:bodyPr wrap="square" rtlCol="0">
            <a:spAutoFit/>
          </a:bodyPr>
          <a:lstStyle/>
          <a:p>
            <a:endParaRPr lang="es-CO" dirty="0">
              <a:latin typeface="Helvetica" pitchFamily="2" charset="0"/>
            </a:endParaRPr>
          </a:p>
          <a:p>
            <a:pPr marL="285750" indent="-285750">
              <a:buFont typeface="Arial" panose="020B0604020202020204" pitchFamily="34" charset="0"/>
              <a:buChar char="•"/>
            </a:pPr>
            <a:r>
              <a:rPr lang="es-CO" b="1" dirty="0">
                <a:solidFill>
                  <a:srgbClr val="FF0000"/>
                </a:solidFill>
                <a:latin typeface="Helvetica" pitchFamily="2" charset="0"/>
              </a:rPr>
              <a:t>Esta técnica se basa en la intuición y experiencia del ingeniero de pruebas quien es el que establece un </a:t>
            </a:r>
            <a:r>
              <a:rPr lang="es-CO" dirty="0">
                <a:latin typeface="Helvetica" pitchFamily="2" charset="0"/>
              </a:rPr>
              <a:t>conjunto de casos que sospecha puede fallar en el software, consiste en:</a:t>
            </a:r>
          </a:p>
          <a:p>
            <a:endParaRPr lang="es-CO" dirty="0">
              <a:latin typeface="Helvetica" pitchFamily="2" charset="0"/>
            </a:endParaRPr>
          </a:p>
          <a:p>
            <a:pPr marL="800100" lvl="1" indent="-342900">
              <a:buFont typeface="+mj-lt"/>
              <a:buAutoNum type="arabicPeriod"/>
            </a:pPr>
            <a:r>
              <a:rPr lang="es-CO" dirty="0">
                <a:latin typeface="Helvetica" pitchFamily="2" charset="0"/>
              </a:rPr>
              <a:t>Elaborar una lista de errores posibles, situaciones propensas a errores y falsos supuestos o interpretaciones erróneas de los requisitos que el software debe cumplir</a:t>
            </a:r>
          </a:p>
          <a:p>
            <a:pPr marL="800100" lvl="1" indent="-342900">
              <a:buFont typeface="+mj-lt"/>
              <a:buAutoNum type="arabicPeriod"/>
            </a:pPr>
            <a:r>
              <a:rPr lang="es-CO" dirty="0">
                <a:latin typeface="Helvetica" pitchFamily="2" charset="0"/>
              </a:rPr>
              <a:t>Elaborar casos de prueba con base en la lista.</a:t>
            </a:r>
          </a:p>
          <a:p>
            <a:pPr marL="285750" indent="-285750">
              <a:buFont typeface="Arial" panose="020B0604020202020204" pitchFamily="34" charset="0"/>
              <a:buChar char="•"/>
            </a:pPr>
            <a:endParaRPr lang="es-CO" dirty="0">
              <a:latin typeface="Helvetica" pitchFamily="2" charset="0"/>
            </a:endParaRPr>
          </a:p>
          <a:p>
            <a:endParaRPr lang="es-CO" dirty="0">
              <a:latin typeface="Helvetica" pitchFamily="2" charset="0"/>
            </a:endParaRPr>
          </a:p>
          <a:p>
            <a:endParaRPr lang="es-CO" dirty="0">
              <a:latin typeface="Helvetica" pitchFamily="2" charset="0"/>
            </a:endParaRPr>
          </a:p>
          <a:p>
            <a:endParaRPr lang="es-CO" dirty="0">
              <a:latin typeface="Helvetica" pitchFamily="2" charset="0"/>
            </a:endParaRPr>
          </a:p>
          <a:p>
            <a:endParaRPr lang="es-CO" dirty="0">
              <a:latin typeface="Helvetica" pitchFamily="2" charset="0"/>
            </a:endParaRPr>
          </a:p>
          <a:p>
            <a:endParaRPr lang="es-CO" dirty="0">
              <a:latin typeface="Helvetica" pitchFamily="2" charset="0"/>
            </a:endParaRPr>
          </a:p>
          <a:p>
            <a:endParaRPr lang="es-CO" dirty="0">
              <a:latin typeface="Helvetica" pitchFamily="2" charset="0"/>
            </a:endParaRPr>
          </a:p>
        </p:txBody>
      </p:sp>
    </p:spTree>
    <p:extLst>
      <p:ext uri="{BB962C8B-B14F-4D97-AF65-F5344CB8AC3E}">
        <p14:creationId xmlns:p14="http://schemas.microsoft.com/office/powerpoint/2010/main" val="37541011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755576" y="0"/>
            <a:ext cx="8229600" cy="1143000"/>
          </a:xfrm>
        </p:spPr>
        <p:txBody>
          <a:bodyPr>
            <a:normAutofit/>
          </a:bodyPr>
          <a:lstStyle/>
          <a:p>
            <a:r>
              <a:rPr lang="es-CO" sz="2800" b="1" dirty="0"/>
              <a:t>Técnicas de pruebas de caja negra:</a:t>
            </a:r>
            <a:br>
              <a:rPr lang="es-CO" sz="2800" b="1" dirty="0"/>
            </a:br>
            <a:r>
              <a:rPr lang="es-CO" sz="2800" b="1" dirty="0"/>
              <a:t> Pruebas aleatorias</a:t>
            </a:r>
          </a:p>
        </p:txBody>
      </p:sp>
      <p:sp>
        <p:nvSpPr>
          <p:cNvPr id="3" name="CuadroTexto 2">
            <a:extLst>
              <a:ext uri="{FF2B5EF4-FFF2-40B4-BE49-F238E27FC236}">
                <a16:creationId xmlns:a16="http://schemas.microsoft.com/office/drawing/2014/main" id="{17FD4F7B-CCF2-2470-0DCF-2A8120F86B5E}"/>
              </a:ext>
            </a:extLst>
          </p:cNvPr>
          <p:cNvSpPr txBox="1"/>
          <p:nvPr/>
        </p:nvSpPr>
        <p:spPr>
          <a:xfrm>
            <a:off x="9828584" y="6313805"/>
            <a:ext cx="2880320" cy="646331"/>
          </a:xfrm>
          <a:prstGeom prst="rect">
            <a:avLst/>
          </a:prstGeom>
          <a:noFill/>
        </p:spPr>
        <p:txBody>
          <a:bodyPr wrap="square" rtlCol="0">
            <a:spAutoFit/>
          </a:bodyPr>
          <a:lstStyle/>
          <a:p>
            <a:endParaRPr lang="es-CO" b="1" dirty="0">
              <a:effectLst/>
              <a:latin typeface="Helvetica" pitchFamily="2" charset="0"/>
            </a:endParaRPr>
          </a:p>
          <a:p>
            <a:endParaRPr lang="en-US" dirty="0"/>
          </a:p>
        </p:txBody>
      </p:sp>
      <p:sp>
        <p:nvSpPr>
          <p:cNvPr id="23" name="CuadroTexto 22">
            <a:extLst>
              <a:ext uri="{FF2B5EF4-FFF2-40B4-BE49-F238E27FC236}">
                <a16:creationId xmlns:a16="http://schemas.microsoft.com/office/drawing/2014/main" id="{F07867C5-6E66-4C71-485D-6A73709C88E5}"/>
              </a:ext>
            </a:extLst>
          </p:cNvPr>
          <p:cNvSpPr txBox="1"/>
          <p:nvPr/>
        </p:nvSpPr>
        <p:spPr>
          <a:xfrm>
            <a:off x="457200" y="1582340"/>
            <a:ext cx="8229600" cy="3693319"/>
          </a:xfrm>
          <a:prstGeom prst="rect">
            <a:avLst/>
          </a:prstGeom>
          <a:noFill/>
        </p:spPr>
        <p:txBody>
          <a:bodyPr wrap="square" rtlCol="0">
            <a:spAutoFit/>
          </a:bodyPr>
          <a:lstStyle/>
          <a:p>
            <a:endParaRPr lang="es-CO" dirty="0">
              <a:latin typeface="Helvetica" pitchFamily="2" charset="0"/>
            </a:endParaRPr>
          </a:p>
          <a:p>
            <a:pPr marL="285750" indent="-285750">
              <a:buFont typeface="Arial" panose="020B0604020202020204" pitchFamily="34" charset="0"/>
              <a:buChar char="•"/>
            </a:pPr>
            <a:r>
              <a:rPr lang="es-CO" b="1" dirty="0">
                <a:solidFill>
                  <a:srgbClr val="FF0000"/>
                </a:solidFill>
                <a:latin typeface="Helvetica" pitchFamily="2" charset="0"/>
              </a:rPr>
              <a:t>Esta técnica se basa en la selección de valores al azar, </a:t>
            </a:r>
            <a:r>
              <a:rPr lang="es-CO" dirty="0">
                <a:latin typeface="Helvetica" pitchFamily="2" charset="0"/>
              </a:rPr>
              <a:t>la selección aleatoria garantiza que todos los valores de una variable tentas la misma probabilidad de ser escogidos para los casos de prueba, es muy útil cuando:</a:t>
            </a:r>
          </a:p>
          <a:p>
            <a:pPr marL="742950" lvl="1" indent="-285750">
              <a:buFont typeface="Arial" panose="020B0604020202020204" pitchFamily="34" charset="0"/>
              <a:buChar char="•"/>
            </a:pPr>
            <a:endParaRPr lang="es-CO" dirty="0">
              <a:latin typeface="Helvetica" pitchFamily="2" charset="0"/>
            </a:endParaRPr>
          </a:p>
          <a:p>
            <a:pPr marL="742950" lvl="1" indent="-285750">
              <a:buFont typeface="Arial" panose="020B0604020202020204" pitchFamily="34" charset="0"/>
              <a:buChar char="•"/>
            </a:pPr>
            <a:r>
              <a:rPr lang="es-CO" dirty="0">
                <a:latin typeface="Helvetica" pitchFamily="2" charset="0"/>
              </a:rPr>
              <a:t>No es fácil decidir que valores de prueba se debe utilizar.</a:t>
            </a:r>
          </a:p>
          <a:p>
            <a:pPr marL="742950" lvl="1" indent="-285750">
              <a:buFont typeface="Arial" panose="020B0604020202020204" pitchFamily="34" charset="0"/>
              <a:buChar char="•"/>
            </a:pPr>
            <a:r>
              <a:rPr lang="es-CO" dirty="0">
                <a:latin typeface="Helvetica" pitchFamily="2" charset="0"/>
              </a:rPr>
              <a:t>Se emplean herramientas automatizadas para realizar las pruebas.</a:t>
            </a:r>
          </a:p>
          <a:p>
            <a:endParaRPr lang="es-CO" dirty="0">
              <a:latin typeface="Helvetica" pitchFamily="2" charset="0"/>
            </a:endParaRPr>
          </a:p>
          <a:p>
            <a:endParaRPr lang="es-CO" dirty="0">
              <a:latin typeface="Helvetica" pitchFamily="2" charset="0"/>
            </a:endParaRPr>
          </a:p>
          <a:p>
            <a:endParaRPr lang="es-CO" dirty="0">
              <a:latin typeface="Helvetica" pitchFamily="2" charset="0"/>
            </a:endParaRPr>
          </a:p>
          <a:p>
            <a:endParaRPr lang="es-CO" dirty="0">
              <a:latin typeface="Helvetica" pitchFamily="2" charset="0"/>
            </a:endParaRPr>
          </a:p>
          <a:p>
            <a:endParaRPr lang="es-CO" dirty="0">
              <a:latin typeface="Helvetica" pitchFamily="2" charset="0"/>
            </a:endParaRPr>
          </a:p>
          <a:p>
            <a:endParaRPr lang="es-CO" dirty="0">
              <a:latin typeface="Helvetica" pitchFamily="2" charset="0"/>
            </a:endParaRPr>
          </a:p>
        </p:txBody>
      </p:sp>
    </p:spTree>
    <p:extLst>
      <p:ext uri="{BB962C8B-B14F-4D97-AF65-F5344CB8AC3E}">
        <p14:creationId xmlns:p14="http://schemas.microsoft.com/office/powerpoint/2010/main" val="18577779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755576" y="0"/>
            <a:ext cx="8229600" cy="1143000"/>
          </a:xfrm>
        </p:spPr>
        <p:txBody>
          <a:bodyPr>
            <a:normAutofit/>
          </a:bodyPr>
          <a:lstStyle/>
          <a:p>
            <a:r>
              <a:rPr lang="es-CO" sz="2800" b="1" dirty="0"/>
              <a:t>Técnicas de pruebas de caja blanca</a:t>
            </a:r>
          </a:p>
        </p:txBody>
      </p:sp>
      <p:sp>
        <p:nvSpPr>
          <p:cNvPr id="3" name="CuadroTexto 2">
            <a:extLst>
              <a:ext uri="{FF2B5EF4-FFF2-40B4-BE49-F238E27FC236}">
                <a16:creationId xmlns:a16="http://schemas.microsoft.com/office/drawing/2014/main" id="{17FD4F7B-CCF2-2470-0DCF-2A8120F86B5E}"/>
              </a:ext>
            </a:extLst>
          </p:cNvPr>
          <p:cNvSpPr txBox="1"/>
          <p:nvPr/>
        </p:nvSpPr>
        <p:spPr>
          <a:xfrm>
            <a:off x="9828584" y="6313805"/>
            <a:ext cx="2880320" cy="646331"/>
          </a:xfrm>
          <a:prstGeom prst="rect">
            <a:avLst/>
          </a:prstGeom>
          <a:noFill/>
        </p:spPr>
        <p:txBody>
          <a:bodyPr wrap="square" rtlCol="0">
            <a:spAutoFit/>
          </a:bodyPr>
          <a:lstStyle/>
          <a:p>
            <a:endParaRPr lang="es-CO" b="1" dirty="0">
              <a:effectLst/>
              <a:latin typeface="Helvetica" pitchFamily="2" charset="0"/>
            </a:endParaRPr>
          </a:p>
          <a:p>
            <a:endParaRPr lang="en-US" dirty="0"/>
          </a:p>
        </p:txBody>
      </p:sp>
      <p:sp>
        <p:nvSpPr>
          <p:cNvPr id="23" name="CuadroTexto 22">
            <a:extLst>
              <a:ext uri="{FF2B5EF4-FFF2-40B4-BE49-F238E27FC236}">
                <a16:creationId xmlns:a16="http://schemas.microsoft.com/office/drawing/2014/main" id="{F07867C5-6E66-4C71-485D-6A73709C88E5}"/>
              </a:ext>
            </a:extLst>
          </p:cNvPr>
          <p:cNvSpPr txBox="1"/>
          <p:nvPr/>
        </p:nvSpPr>
        <p:spPr>
          <a:xfrm>
            <a:off x="457200" y="980728"/>
            <a:ext cx="8229600" cy="7017306"/>
          </a:xfrm>
          <a:prstGeom prst="rect">
            <a:avLst/>
          </a:prstGeom>
          <a:noFill/>
        </p:spPr>
        <p:txBody>
          <a:bodyPr wrap="square" rtlCol="0">
            <a:spAutoFit/>
          </a:bodyPr>
          <a:lstStyle/>
          <a:p>
            <a:endParaRPr lang="es-CO" dirty="0">
              <a:latin typeface="Helvetica" pitchFamily="2" charset="0"/>
            </a:endParaRPr>
          </a:p>
          <a:p>
            <a:pPr marL="285750" indent="-285750">
              <a:buFont typeface="Arial" panose="020B0604020202020204" pitchFamily="34" charset="0"/>
              <a:buChar char="•"/>
            </a:pPr>
            <a:r>
              <a:rPr lang="es-CO" dirty="0">
                <a:latin typeface="Helvetica" pitchFamily="2" charset="0"/>
              </a:rPr>
              <a:t>Las pruebas de caja blanca tienen en cuenta la estructura interna (código fuente del software), no tienen en cuenta las entradas y salidas, por lo que constituyen pruebas complementarias a las de la caja negra, también se pueden llamar caja de cristal o pruebas estructurales.</a:t>
            </a:r>
          </a:p>
          <a:p>
            <a:pPr marL="285750" indent="-285750">
              <a:buFont typeface="Arial" panose="020B0604020202020204" pitchFamily="34" charset="0"/>
              <a:buChar char="•"/>
            </a:pPr>
            <a:r>
              <a:rPr lang="es-CO" b="1" dirty="0">
                <a:solidFill>
                  <a:srgbClr val="FF0000"/>
                </a:solidFill>
                <a:latin typeface="Helvetica" pitchFamily="2" charset="0"/>
              </a:rPr>
              <a:t>La prueba de caja blanca es aquella que recorre cada uno de los posibles caminos lógicos del software, un camino lógico es un flujo o ruta del software.</a:t>
            </a:r>
          </a:p>
          <a:p>
            <a:pPr marL="285750" indent="-285750">
              <a:buFont typeface="Arial" panose="020B0604020202020204" pitchFamily="34" charset="0"/>
              <a:buChar char="•"/>
            </a:pPr>
            <a:r>
              <a:rPr lang="es-CO" dirty="0">
                <a:latin typeface="Helvetica" pitchFamily="2" charset="0"/>
              </a:rPr>
              <a:t>Se establecen criterios que permitan probar el código fuente del software de una forma eficaz y eficiente, para no entrar en ciclos infinitos o innecesarios.</a:t>
            </a:r>
          </a:p>
          <a:p>
            <a:endParaRPr lang="es-CO" dirty="0">
              <a:latin typeface="Helvetica" pitchFamily="2" charset="0"/>
            </a:endParaRPr>
          </a:p>
          <a:p>
            <a:pPr marL="800100" lvl="1" indent="-342900">
              <a:buFont typeface="+mj-lt"/>
              <a:buAutoNum type="arabicPeriod"/>
            </a:pPr>
            <a:r>
              <a:rPr lang="es-CO" b="1" dirty="0">
                <a:latin typeface="Helvetica" pitchFamily="2" charset="0"/>
              </a:rPr>
              <a:t>Criterio de cobertura de instrucciones: </a:t>
            </a:r>
            <a:r>
              <a:rPr lang="es-CO" dirty="0">
                <a:latin typeface="Helvetica" pitchFamily="2" charset="0"/>
              </a:rPr>
              <a:t>cada instrucción del software se debe ejecutar al menos una vez.</a:t>
            </a:r>
          </a:p>
          <a:p>
            <a:pPr marL="800100" lvl="1" indent="-342900">
              <a:buFont typeface="+mj-lt"/>
              <a:buAutoNum type="arabicPeriod"/>
            </a:pPr>
            <a:r>
              <a:rPr lang="es-CO" b="1" dirty="0">
                <a:latin typeface="Helvetica" pitchFamily="2" charset="0"/>
              </a:rPr>
              <a:t>Criterio de cobertura de decisiones: </a:t>
            </a:r>
            <a:r>
              <a:rPr lang="es-CO" dirty="0">
                <a:latin typeface="Helvetica" pitchFamily="2" charset="0"/>
              </a:rPr>
              <a:t>Asegura que cada una de los flujos posibles del software de cada estructura de decisión que tenga el software se ejecute una vez</a:t>
            </a:r>
          </a:p>
          <a:p>
            <a:pPr marL="800100" lvl="1" indent="-342900">
              <a:buFont typeface="+mj-lt"/>
              <a:buAutoNum type="arabicPeriod"/>
            </a:pPr>
            <a:r>
              <a:rPr lang="es-CO" b="1" dirty="0">
                <a:latin typeface="Helvetica" pitchFamily="2" charset="0"/>
              </a:rPr>
              <a:t>Criterio de cobertura de condición: </a:t>
            </a:r>
            <a:r>
              <a:rPr lang="es-CO" dirty="0">
                <a:latin typeface="Helvetica" pitchFamily="2" charset="0"/>
              </a:rPr>
              <a:t>Establece que cada condicional individual es una decisión debe ser ejecutada con todos los resultados posibles al menos una vez.</a:t>
            </a:r>
          </a:p>
          <a:p>
            <a:endParaRPr lang="es-CO" dirty="0">
              <a:latin typeface="Helvetica" pitchFamily="2" charset="0"/>
            </a:endParaRPr>
          </a:p>
          <a:p>
            <a:endParaRPr lang="es-CO" dirty="0">
              <a:latin typeface="Helvetica" pitchFamily="2" charset="0"/>
            </a:endParaRPr>
          </a:p>
          <a:p>
            <a:endParaRPr lang="es-CO" dirty="0">
              <a:latin typeface="Helvetica" pitchFamily="2" charset="0"/>
            </a:endParaRPr>
          </a:p>
          <a:p>
            <a:endParaRPr lang="es-CO" dirty="0">
              <a:latin typeface="Helvetica" pitchFamily="2" charset="0"/>
            </a:endParaRPr>
          </a:p>
          <a:p>
            <a:endParaRPr lang="es-CO" dirty="0">
              <a:latin typeface="Helvetica" pitchFamily="2" charset="0"/>
            </a:endParaRPr>
          </a:p>
          <a:p>
            <a:endParaRPr lang="es-CO" dirty="0">
              <a:latin typeface="Helvetica" pitchFamily="2" charset="0"/>
            </a:endParaRPr>
          </a:p>
        </p:txBody>
      </p:sp>
    </p:spTree>
    <p:extLst>
      <p:ext uri="{BB962C8B-B14F-4D97-AF65-F5344CB8AC3E}">
        <p14:creationId xmlns:p14="http://schemas.microsoft.com/office/powerpoint/2010/main" val="143451638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683568" y="278642"/>
            <a:ext cx="8229600" cy="1143000"/>
          </a:xfrm>
        </p:spPr>
        <p:txBody>
          <a:bodyPr>
            <a:normAutofit/>
          </a:bodyPr>
          <a:lstStyle/>
          <a:p>
            <a:r>
              <a:rPr lang="es-CO" sz="2800" b="1" dirty="0"/>
              <a:t>Técnicas de pruebas de caja blanca: </a:t>
            </a:r>
            <a:br>
              <a:rPr lang="es-CO" sz="2800" b="1" dirty="0"/>
            </a:br>
            <a:r>
              <a:rPr lang="es-CO" sz="2800" b="1" dirty="0"/>
              <a:t>Pruebas del camino básico</a:t>
            </a:r>
          </a:p>
        </p:txBody>
      </p:sp>
      <p:sp>
        <p:nvSpPr>
          <p:cNvPr id="3" name="CuadroTexto 2">
            <a:extLst>
              <a:ext uri="{FF2B5EF4-FFF2-40B4-BE49-F238E27FC236}">
                <a16:creationId xmlns:a16="http://schemas.microsoft.com/office/drawing/2014/main" id="{17FD4F7B-CCF2-2470-0DCF-2A8120F86B5E}"/>
              </a:ext>
            </a:extLst>
          </p:cNvPr>
          <p:cNvSpPr txBox="1"/>
          <p:nvPr/>
        </p:nvSpPr>
        <p:spPr>
          <a:xfrm>
            <a:off x="9828584" y="6313805"/>
            <a:ext cx="2880320" cy="646331"/>
          </a:xfrm>
          <a:prstGeom prst="rect">
            <a:avLst/>
          </a:prstGeom>
          <a:noFill/>
        </p:spPr>
        <p:txBody>
          <a:bodyPr wrap="square" rtlCol="0">
            <a:spAutoFit/>
          </a:bodyPr>
          <a:lstStyle/>
          <a:p>
            <a:endParaRPr lang="es-CO" b="1" dirty="0">
              <a:effectLst/>
              <a:latin typeface="Helvetica" pitchFamily="2" charset="0"/>
            </a:endParaRPr>
          </a:p>
          <a:p>
            <a:endParaRPr lang="en-US" dirty="0"/>
          </a:p>
        </p:txBody>
      </p:sp>
      <p:sp>
        <p:nvSpPr>
          <p:cNvPr id="23" name="CuadroTexto 22">
            <a:extLst>
              <a:ext uri="{FF2B5EF4-FFF2-40B4-BE49-F238E27FC236}">
                <a16:creationId xmlns:a16="http://schemas.microsoft.com/office/drawing/2014/main" id="{F07867C5-6E66-4C71-485D-6A73709C88E5}"/>
              </a:ext>
            </a:extLst>
          </p:cNvPr>
          <p:cNvSpPr txBox="1"/>
          <p:nvPr/>
        </p:nvSpPr>
        <p:spPr>
          <a:xfrm>
            <a:off x="457200" y="1412776"/>
            <a:ext cx="8229600" cy="3693319"/>
          </a:xfrm>
          <a:prstGeom prst="rect">
            <a:avLst/>
          </a:prstGeom>
          <a:noFill/>
        </p:spPr>
        <p:txBody>
          <a:bodyPr wrap="square" rtlCol="0">
            <a:spAutoFit/>
          </a:bodyPr>
          <a:lstStyle/>
          <a:p>
            <a:endParaRPr lang="es-CO" dirty="0">
              <a:latin typeface="Helvetica" pitchFamily="2" charset="0"/>
            </a:endParaRPr>
          </a:p>
          <a:p>
            <a:pPr marL="285750" indent="-285750">
              <a:buFont typeface="Arial" panose="020B0604020202020204" pitchFamily="34" charset="0"/>
              <a:buChar char="•"/>
            </a:pPr>
            <a:r>
              <a:rPr lang="es-CO" dirty="0">
                <a:latin typeface="Helvetica" pitchFamily="2" charset="0"/>
              </a:rPr>
              <a:t>Consisten en definir un conjunto básico de caminos de ejecución del componente que garanticen que cada instrucción es ejecutada por lo menos una vez. Se debe modelar el software como un grafo o un diagrama de flujo, y a partir de este análisis, se determina el conjunto de caminos básicos.</a:t>
            </a:r>
          </a:p>
          <a:p>
            <a:pPr marL="285750" indent="-285750">
              <a:buFont typeface="Arial" panose="020B0604020202020204" pitchFamily="34" charset="0"/>
              <a:buChar char="•"/>
            </a:pPr>
            <a:endParaRPr lang="es-CO" dirty="0">
              <a:latin typeface="Helvetica" pitchFamily="2" charset="0"/>
            </a:endParaRPr>
          </a:p>
          <a:p>
            <a:endParaRPr lang="es-CO" dirty="0">
              <a:latin typeface="Helvetica" pitchFamily="2" charset="0"/>
            </a:endParaRPr>
          </a:p>
          <a:p>
            <a:endParaRPr lang="es-CO" dirty="0">
              <a:latin typeface="Helvetica" pitchFamily="2" charset="0"/>
            </a:endParaRPr>
          </a:p>
          <a:p>
            <a:endParaRPr lang="es-CO" dirty="0">
              <a:latin typeface="Helvetica" pitchFamily="2" charset="0"/>
            </a:endParaRPr>
          </a:p>
          <a:p>
            <a:endParaRPr lang="es-CO" dirty="0">
              <a:latin typeface="Helvetica" pitchFamily="2" charset="0"/>
            </a:endParaRPr>
          </a:p>
          <a:p>
            <a:endParaRPr lang="es-CO" dirty="0">
              <a:latin typeface="Helvetica" pitchFamily="2" charset="0"/>
            </a:endParaRPr>
          </a:p>
          <a:p>
            <a:endParaRPr lang="es-CO" dirty="0">
              <a:latin typeface="Helvetica" pitchFamily="2" charset="0"/>
            </a:endParaRPr>
          </a:p>
          <a:p>
            <a:endParaRPr lang="es-CO" dirty="0">
              <a:latin typeface="Helvetica" pitchFamily="2" charset="0"/>
            </a:endParaRPr>
          </a:p>
        </p:txBody>
      </p:sp>
      <p:pic>
        <p:nvPicPr>
          <p:cNvPr id="4098" name="Picture 2" descr="Teoría de grafos - Wikipedia, la enciclopedia libre">
            <a:extLst>
              <a:ext uri="{FF2B5EF4-FFF2-40B4-BE49-F238E27FC236}">
                <a16:creationId xmlns:a16="http://schemas.microsoft.com/office/drawing/2014/main" id="{82712032-8FF3-60B4-8400-481022064AB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11760" y="3645024"/>
            <a:ext cx="4102100" cy="19939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291840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755576" y="0"/>
            <a:ext cx="8229600" cy="1143000"/>
          </a:xfrm>
        </p:spPr>
        <p:txBody>
          <a:bodyPr>
            <a:normAutofit/>
          </a:bodyPr>
          <a:lstStyle/>
          <a:p>
            <a:r>
              <a:rPr lang="es-CO" sz="2800" b="1" dirty="0"/>
              <a:t>Técnicas de pruebas de caja blanca:</a:t>
            </a:r>
            <a:br>
              <a:rPr lang="es-CO" sz="2800" b="1" dirty="0"/>
            </a:br>
            <a:r>
              <a:rPr lang="es-CO" sz="2800" b="1" dirty="0"/>
              <a:t> Pruebas de condición</a:t>
            </a:r>
          </a:p>
        </p:txBody>
      </p:sp>
      <p:sp>
        <p:nvSpPr>
          <p:cNvPr id="3" name="CuadroTexto 2">
            <a:extLst>
              <a:ext uri="{FF2B5EF4-FFF2-40B4-BE49-F238E27FC236}">
                <a16:creationId xmlns:a16="http://schemas.microsoft.com/office/drawing/2014/main" id="{17FD4F7B-CCF2-2470-0DCF-2A8120F86B5E}"/>
              </a:ext>
            </a:extLst>
          </p:cNvPr>
          <p:cNvSpPr txBox="1"/>
          <p:nvPr/>
        </p:nvSpPr>
        <p:spPr>
          <a:xfrm>
            <a:off x="9828584" y="6313805"/>
            <a:ext cx="2880320" cy="646331"/>
          </a:xfrm>
          <a:prstGeom prst="rect">
            <a:avLst/>
          </a:prstGeom>
          <a:noFill/>
        </p:spPr>
        <p:txBody>
          <a:bodyPr wrap="square" rtlCol="0">
            <a:spAutoFit/>
          </a:bodyPr>
          <a:lstStyle/>
          <a:p>
            <a:endParaRPr lang="es-CO" b="1" dirty="0">
              <a:effectLst/>
              <a:latin typeface="Helvetica" pitchFamily="2" charset="0"/>
            </a:endParaRPr>
          </a:p>
          <a:p>
            <a:endParaRPr lang="en-US" dirty="0"/>
          </a:p>
        </p:txBody>
      </p:sp>
      <p:sp>
        <p:nvSpPr>
          <p:cNvPr id="23" name="CuadroTexto 22">
            <a:extLst>
              <a:ext uri="{FF2B5EF4-FFF2-40B4-BE49-F238E27FC236}">
                <a16:creationId xmlns:a16="http://schemas.microsoft.com/office/drawing/2014/main" id="{F07867C5-6E66-4C71-485D-6A73709C88E5}"/>
              </a:ext>
            </a:extLst>
          </p:cNvPr>
          <p:cNvSpPr txBox="1"/>
          <p:nvPr/>
        </p:nvSpPr>
        <p:spPr>
          <a:xfrm>
            <a:off x="457200" y="1412776"/>
            <a:ext cx="8229600" cy="5909310"/>
          </a:xfrm>
          <a:prstGeom prst="rect">
            <a:avLst/>
          </a:prstGeom>
          <a:noFill/>
        </p:spPr>
        <p:txBody>
          <a:bodyPr wrap="square" rtlCol="0">
            <a:spAutoFit/>
          </a:bodyPr>
          <a:lstStyle/>
          <a:p>
            <a:endParaRPr lang="es-CO" dirty="0">
              <a:latin typeface="Helvetica" pitchFamily="2" charset="0"/>
            </a:endParaRPr>
          </a:p>
          <a:p>
            <a:pPr marL="285750" indent="-285750">
              <a:buFont typeface="Arial" panose="020B0604020202020204" pitchFamily="34" charset="0"/>
              <a:buChar char="•"/>
            </a:pPr>
            <a:r>
              <a:rPr lang="es-CO" dirty="0">
                <a:latin typeface="Helvetica" pitchFamily="2" charset="0"/>
              </a:rPr>
              <a:t>Es una técnica rigurosa, se basa en el criterio de cobertura de condición que establece la necesidad de elaborar un número de casos de prueba suficiente para que, en cada condición de cada decisión lógica del software, se prueben todos los resultados posibles por lo menos una vez, por ejemplo ‹‹ </a:t>
            </a:r>
            <a:r>
              <a:rPr lang="es-CO" dirty="0" err="1">
                <a:latin typeface="Helvetica" pitchFamily="2" charset="0"/>
              </a:rPr>
              <a:t>if</a:t>
            </a:r>
            <a:r>
              <a:rPr lang="es-CO" dirty="0">
                <a:latin typeface="Helvetica" pitchFamily="2" charset="0"/>
              </a:rPr>
              <a:t>(sueldo › 300000 OR cargo = ‹‹ gerente ››) </a:t>
            </a:r>
            <a:r>
              <a:rPr lang="es-CO" dirty="0" err="1">
                <a:latin typeface="Helvetica" pitchFamily="2" charset="0"/>
              </a:rPr>
              <a:t>then</a:t>
            </a:r>
            <a:r>
              <a:rPr lang="es-CO" dirty="0">
                <a:latin typeface="Helvetica" pitchFamily="2" charset="0"/>
              </a:rPr>
              <a:t> …. </a:t>
            </a:r>
            <a:r>
              <a:rPr lang="es-CO" dirty="0" err="1">
                <a:latin typeface="Helvetica" pitchFamily="2" charset="0"/>
              </a:rPr>
              <a:t>Else</a:t>
            </a:r>
            <a:r>
              <a:rPr lang="es-CO" dirty="0">
                <a:latin typeface="Helvetica" pitchFamily="2" charset="0"/>
              </a:rPr>
              <a:t>…. ››</a:t>
            </a:r>
          </a:p>
          <a:p>
            <a:endParaRPr lang="es-CO" dirty="0">
              <a:latin typeface="Helvetica" pitchFamily="2" charset="0"/>
            </a:endParaRPr>
          </a:p>
          <a:p>
            <a:pPr marL="285750" indent="-285750">
              <a:buFont typeface="Arial" panose="020B0604020202020204" pitchFamily="34" charset="0"/>
              <a:buChar char="•"/>
            </a:pPr>
            <a:r>
              <a:rPr lang="es-CO" dirty="0">
                <a:latin typeface="Helvetica" pitchFamily="2" charset="0"/>
              </a:rPr>
              <a:t>	sueldo › 300000 </a:t>
            </a:r>
          </a:p>
          <a:p>
            <a:pPr marL="285750" indent="-285750">
              <a:buFont typeface="Arial" panose="020B0604020202020204" pitchFamily="34" charset="0"/>
              <a:buChar char="•"/>
            </a:pPr>
            <a:r>
              <a:rPr lang="es-CO" dirty="0">
                <a:latin typeface="Helvetica" pitchFamily="2" charset="0"/>
              </a:rPr>
              <a:t>          sueldo ‹= 300000</a:t>
            </a:r>
          </a:p>
          <a:p>
            <a:pPr marL="285750" indent="-285750">
              <a:buFont typeface="Arial" panose="020B0604020202020204" pitchFamily="34" charset="0"/>
              <a:buChar char="•"/>
            </a:pPr>
            <a:r>
              <a:rPr lang="es-CO" dirty="0">
                <a:latin typeface="Helvetica" pitchFamily="2" charset="0"/>
              </a:rPr>
              <a:t> 	cargo = ‹‹ gerente ››</a:t>
            </a:r>
          </a:p>
          <a:p>
            <a:pPr lvl="2"/>
            <a:r>
              <a:rPr lang="es-CO" dirty="0">
                <a:latin typeface="Helvetica" pitchFamily="2" charset="0"/>
              </a:rPr>
              <a:t>cargo !=  gerente ››</a:t>
            </a:r>
          </a:p>
          <a:p>
            <a:pPr marL="285750" indent="-285750">
              <a:buFont typeface="Arial" panose="020B0604020202020204" pitchFamily="34" charset="0"/>
              <a:buChar char="•"/>
            </a:pPr>
            <a:endParaRPr lang="es-CO" dirty="0">
              <a:latin typeface="Helvetica" pitchFamily="2" charset="0"/>
            </a:endParaRPr>
          </a:p>
          <a:p>
            <a:pPr marL="1200150" lvl="2" indent="-285750">
              <a:buFont typeface="Arial" panose="020B0604020202020204" pitchFamily="34" charset="0"/>
              <a:buChar char="•"/>
            </a:pPr>
            <a:endParaRPr lang="es-CO" dirty="0">
              <a:latin typeface="Helvetica" pitchFamily="2" charset="0"/>
            </a:endParaRPr>
          </a:p>
          <a:p>
            <a:pPr marL="285750" indent="-285750">
              <a:buFont typeface="Arial" panose="020B0604020202020204" pitchFamily="34" charset="0"/>
              <a:buChar char="•"/>
            </a:pPr>
            <a:endParaRPr lang="es-CO" dirty="0">
              <a:latin typeface="Helvetica" pitchFamily="2" charset="0"/>
            </a:endParaRPr>
          </a:p>
          <a:p>
            <a:endParaRPr lang="es-CO" dirty="0">
              <a:latin typeface="Helvetica" pitchFamily="2" charset="0"/>
            </a:endParaRPr>
          </a:p>
          <a:p>
            <a:endParaRPr lang="es-CO" dirty="0">
              <a:latin typeface="Helvetica" pitchFamily="2" charset="0"/>
            </a:endParaRPr>
          </a:p>
          <a:p>
            <a:endParaRPr lang="es-CO" dirty="0">
              <a:latin typeface="Helvetica" pitchFamily="2" charset="0"/>
            </a:endParaRPr>
          </a:p>
          <a:p>
            <a:endParaRPr lang="es-CO" dirty="0">
              <a:latin typeface="Helvetica" pitchFamily="2" charset="0"/>
            </a:endParaRPr>
          </a:p>
          <a:p>
            <a:endParaRPr lang="es-CO" dirty="0">
              <a:latin typeface="Helvetica" pitchFamily="2" charset="0"/>
            </a:endParaRPr>
          </a:p>
          <a:p>
            <a:endParaRPr lang="es-CO" dirty="0">
              <a:latin typeface="Helvetica" pitchFamily="2" charset="0"/>
            </a:endParaRPr>
          </a:p>
          <a:p>
            <a:endParaRPr lang="es-CO" dirty="0">
              <a:latin typeface="Helvetica" pitchFamily="2" charset="0"/>
            </a:endParaRPr>
          </a:p>
        </p:txBody>
      </p:sp>
    </p:spTree>
    <p:extLst>
      <p:ext uri="{BB962C8B-B14F-4D97-AF65-F5344CB8AC3E}">
        <p14:creationId xmlns:p14="http://schemas.microsoft.com/office/powerpoint/2010/main" val="425635874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755576" y="0"/>
            <a:ext cx="8229600" cy="1143000"/>
          </a:xfrm>
        </p:spPr>
        <p:txBody>
          <a:bodyPr>
            <a:normAutofit/>
          </a:bodyPr>
          <a:lstStyle/>
          <a:p>
            <a:r>
              <a:rPr lang="es-CO" sz="2800" b="1" dirty="0"/>
              <a:t>Técnicas de pruebas de caja blanca: </a:t>
            </a:r>
            <a:br>
              <a:rPr lang="es-CO" sz="2800" b="1" dirty="0"/>
            </a:br>
            <a:r>
              <a:rPr lang="es-CO" sz="2800" b="1" dirty="0"/>
              <a:t>Pruebas de lazos o bucles</a:t>
            </a:r>
          </a:p>
        </p:txBody>
      </p:sp>
      <p:sp>
        <p:nvSpPr>
          <p:cNvPr id="3" name="CuadroTexto 2">
            <a:extLst>
              <a:ext uri="{FF2B5EF4-FFF2-40B4-BE49-F238E27FC236}">
                <a16:creationId xmlns:a16="http://schemas.microsoft.com/office/drawing/2014/main" id="{17FD4F7B-CCF2-2470-0DCF-2A8120F86B5E}"/>
              </a:ext>
            </a:extLst>
          </p:cNvPr>
          <p:cNvSpPr txBox="1"/>
          <p:nvPr/>
        </p:nvSpPr>
        <p:spPr>
          <a:xfrm>
            <a:off x="9828584" y="6313805"/>
            <a:ext cx="2880320" cy="646331"/>
          </a:xfrm>
          <a:prstGeom prst="rect">
            <a:avLst/>
          </a:prstGeom>
          <a:noFill/>
        </p:spPr>
        <p:txBody>
          <a:bodyPr wrap="square" rtlCol="0">
            <a:spAutoFit/>
          </a:bodyPr>
          <a:lstStyle/>
          <a:p>
            <a:endParaRPr lang="es-CO" b="1" dirty="0">
              <a:effectLst/>
              <a:latin typeface="Helvetica" pitchFamily="2" charset="0"/>
            </a:endParaRPr>
          </a:p>
          <a:p>
            <a:endParaRPr lang="en-US" dirty="0"/>
          </a:p>
        </p:txBody>
      </p:sp>
      <p:sp>
        <p:nvSpPr>
          <p:cNvPr id="23" name="CuadroTexto 22">
            <a:extLst>
              <a:ext uri="{FF2B5EF4-FFF2-40B4-BE49-F238E27FC236}">
                <a16:creationId xmlns:a16="http://schemas.microsoft.com/office/drawing/2014/main" id="{F07867C5-6E66-4C71-485D-6A73709C88E5}"/>
              </a:ext>
            </a:extLst>
          </p:cNvPr>
          <p:cNvSpPr txBox="1"/>
          <p:nvPr/>
        </p:nvSpPr>
        <p:spPr>
          <a:xfrm>
            <a:off x="457200" y="980728"/>
            <a:ext cx="8229600" cy="8125301"/>
          </a:xfrm>
          <a:prstGeom prst="rect">
            <a:avLst/>
          </a:prstGeom>
          <a:noFill/>
        </p:spPr>
        <p:txBody>
          <a:bodyPr wrap="square" rtlCol="0">
            <a:spAutoFit/>
          </a:bodyPr>
          <a:lstStyle/>
          <a:p>
            <a:endParaRPr lang="es-CO" dirty="0">
              <a:latin typeface="Helvetica" pitchFamily="2" charset="0"/>
            </a:endParaRPr>
          </a:p>
          <a:p>
            <a:pPr marL="285750" indent="-285750">
              <a:buFont typeface="Arial" panose="020B0604020202020204" pitchFamily="34" charset="0"/>
              <a:buChar char="•"/>
            </a:pPr>
            <a:r>
              <a:rPr lang="es-CO" dirty="0">
                <a:latin typeface="Helvetica" pitchFamily="2" charset="0"/>
              </a:rPr>
              <a:t>Este tipo de pruebas se centra en probar la validez de los lazos o bucles o ciclos que tiene un software, estos ciclos pueden ser de los siguientes tipos:</a:t>
            </a:r>
          </a:p>
          <a:p>
            <a:pPr marL="800100" lvl="1" indent="-342900">
              <a:buFont typeface="+mj-lt"/>
              <a:buAutoNum type="arabicPeriod"/>
            </a:pPr>
            <a:r>
              <a:rPr lang="es-CO" dirty="0">
                <a:latin typeface="Helvetica" pitchFamily="2" charset="0"/>
              </a:rPr>
              <a:t>Ciclo simple que contiene un solo ciclo</a:t>
            </a:r>
          </a:p>
          <a:p>
            <a:pPr marL="800100" lvl="1" indent="-342900">
              <a:buFont typeface="+mj-lt"/>
              <a:buAutoNum type="arabicPeriod"/>
            </a:pPr>
            <a:r>
              <a:rPr lang="es-CO" dirty="0">
                <a:latin typeface="Helvetica" pitchFamily="2" charset="0"/>
              </a:rPr>
              <a:t>Ciclos anidades en los que un ciclo exterior contiene uno o más ciclos internos anidados</a:t>
            </a:r>
          </a:p>
          <a:p>
            <a:pPr marL="800100" lvl="1" indent="-342900">
              <a:buFont typeface="+mj-lt"/>
              <a:buAutoNum type="arabicPeriod"/>
            </a:pPr>
            <a:r>
              <a:rPr lang="es-CO" dirty="0">
                <a:latin typeface="Helvetica" pitchFamily="2" charset="0"/>
              </a:rPr>
              <a:t>Ciclos concatenados en los que a un primer ciclo le siguen uno o más ciclos consecutivos</a:t>
            </a:r>
          </a:p>
          <a:p>
            <a:pPr marL="800100" lvl="1" indent="-342900">
              <a:buFont typeface="+mj-lt"/>
              <a:buAutoNum type="arabicPeriod"/>
            </a:pPr>
            <a:r>
              <a:rPr lang="es-CO" dirty="0">
                <a:latin typeface="Helvetica" pitchFamily="2" charset="0"/>
              </a:rPr>
              <a:t>Ciclos no estructurados en los que los ciclos no tienen un orden lógico.</a:t>
            </a:r>
          </a:p>
          <a:p>
            <a:pPr marL="800100" lvl="1" indent="-342900">
              <a:buFont typeface="+mj-lt"/>
              <a:buAutoNum type="arabicPeriod"/>
            </a:pPr>
            <a:endParaRPr lang="es-CO" dirty="0">
              <a:latin typeface="Helvetica" pitchFamily="2" charset="0"/>
            </a:endParaRPr>
          </a:p>
          <a:p>
            <a:pPr marL="342900" indent="-342900">
              <a:buFont typeface="Arial" panose="020B0604020202020204" pitchFamily="34" charset="0"/>
              <a:buChar char="•"/>
            </a:pPr>
            <a:r>
              <a:rPr lang="es-CO" dirty="0">
                <a:latin typeface="Helvetica" pitchFamily="2" charset="0"/>
              </a:rPr>
              <a:t>En el caso particular del ciclo simple, el diseño de la prueba consiste en elaborar un caso de prueba para cada una de las situaciones siguientes en las que n es el número máximo de repeticiones que el ciclo permite por ejemplo </a:t>
            </a:r>
            <a:r>
              <a:rPr lang="es-CO" dirty="0" err="1">
                <a:latin typeface="Helvetica" pitchFamily="2" charset="0"/>
              </a:rPr>
              <a:t>for</a:t>
            </a:r>
            <a:r>
              <a:rPr lang="es-CO" dirty="0">
                <a:latin typeface="Helvetica" pitchFamily="2" charset="0"/>
              </a:rPr>
              <a:t>, </a:t>
            </a:r>
            <a:r>
              <a:rPr lang="es-CO" dirty="0" err="1">
                <a:latin typeface="Helvetica" pitchFamily="2" charset="0"/>
              </a:rPr>
              <a:t>while</a:t>
            </a:r>
            <a:r>
              <a:rPr lang="es-CO" dirty="0">
                <a:latin typeface="Helvetica" pitchFamily="2" charset="0"/>
              </a:rPr>
              <a:t>, do…. </a:t>
            </a:r>
            <a:r>
              <a:rPr lang="es-CO" dirty="0" err="1">
                <a:latin typeface="Helvetica" pitchFamily="2" charset="0"/>
              </a:rPr>
              <a:t>While</a:t>
            </a:r>
            <a:r>
              <a:rPr lang="es-CO" dirty="0">
                <a:latin typeface="Helvetica" pitchFamily="2" charset="0"/>
              </a:rPr>
              <a:t>.</a:t>
            </a:r>
          </a:p>
          <a:p>
            <a:pPr marL="342900" indent="-342900">
              <a:buFont typeface="Arial" panose="020B0604020202020204" pitchFamily="34" charset="0"/>
              <a:buChar char="•"/>
            </a:pPr>
            <a:endParaRPr lang="es-CO" dirty="0">
              <a:latin typeface="Helvetica" pitchFamily="2" charset="0"/>
            </a:endParaRPr>
          </a:p>
          <a:p>
            <a:pPr marL="800100" lvl="1" indent="-342900">
              <a:buFont typeface="Arial" panose="020B0604020202020204" pitchFamily="34" charset="0"/>
              <a:buChar char="•"/>
            </a:pPr>
            <a:r>
              <a:rPr lang="es-CO" dirty="0" err="1">
                <a:latin typeface="Helvetica" pitchFamily="2" charset="0"/>
              </a:rPr>
              <a:t>While</a:t>
            </a:r>
            <a:r>
              <a:rPr lang="es-CO" dirty="0">
                <a:latin typeface="Helvetica" pitchFamily="2" charset="0"/>
              </a:rPr>
              <a:t> (0 ‹ i ‹ n….):</a:t>
            </a:r>
          </a:p>
          <a:p>
            <a:pPr marL="1257300" lvl="2" indent="-342900">
              <a:buFont typeface="Arial" panose="020B0604020202020204" pitchFamily="34" charset="0"/>
              <a:buChar char="•"/>
            </a:pPr>
            <a:r>
              <a:rPr lang="es-CO" dirty="0">
                <a:latin typeface="Helvetica" pitchFamily="2" charset="0"/>
              </a:rPr>
              <a:t>No entrar la ciclo (i=0)</a:t>
            </a:r>
          </a:p>
          <a:p>
            <a:pPr marL="1257300" lvl="2" indent="-342900">
              <a:buFont typeface="Arial" panose="020B0604020202020204" pitchFamily="34" charset="0"/>
              <a:buChar char="•"/>
            </a:pPr>
            <a:r>
              <a:rPr lang="es-CO" dirty="0">
                <a:latin typeface="Helvetica" pitchFamily="2" charset="0"/>
              </a:rPr>
              <a:t>Entrar y recorrer una sola vez (i=1)</a:t>
            </a:r>
          </a:p>
          <a:p>
            <a:pPr marL="1257300" lvl="2" indent="-342900">
              <a:buFont typeface="Arial" panose="020B0604020202020204" pitchFamily="34" charset="0"/>
              <a:buChar char="•"/>
            </a:pPr>
            <a:r>
              <a:rPr lang="es-CO" dirty="0">
                <a:latin typeface="Helvetica" pitchFamily="2" charset="0"/>
              </a:rPr>
              <a:t>Entrar y recorrer m veces (</a:t>
            </a:r>
            <a:r>
              <a:rPr lang="es-CO" dirty="0" err="1">
                <a:latin typeface="Helvetica" pitchFamily="2" charset="0"/>
              </a:rPr>
              <a:t>m‹n</a:t>
            </a:r>
            <a:r>
              <a:rPr lang="es-CO" dirty="0">
                <a:latin typeface="Helvetica" pitchFamily="2" charset="0"/>
              </a:rPr>
              <a:t>)</a:t>
            </a:r>
          </a:p>
          <a:p>
            <a:pPr marL="1257300" lvl="2" indent="-342900">
              <a:buFont typeface="Arial" panose="020B0604020202020204" pitchFamily="34" charset="0"/>
              <a:buChar char="•"/>
            </a:pPr>
            <a:r>
              <a:rPr lang="es-CO" dirty="0">
                <a:latin typeface="Helvetica" pitchFamily="2" charset="0"/>
              </a:rPr>
              <a:t>Entrar y recorrer para i= n-1; i=n; i=n+1.</a:t>
            </a:r>
          </a:p>
          <a:p>
            <a:pPr marL="1200150" lvl="2" indent="-285750">
              <a:buFont typeface="Arial" panose="020B0604020202020204" pitchFamily="34" charset="0"/>
              <a:buChar char="•"/>
            </a:pPr>
            <a:endParaRPr lang="es-CO" dirty="0">
              <a:latin typeface="Helvetica" pitchFamily="2" charset="0"/>
            </a:endParaRPr>
          </a:p>
          <a:p>
            <a:pPr marL="285750" indent="-285750">
              <a:buFont typeface="Arial" panose="020B0604020202020204" pitchFamily="34" charset="0"/>
              <a:buChar char="•"/>
            </a:pPr>
            <a:endParaRPr lang="es-CO" dirty="0">
              <a:latin typeface="Helvetica" pitchFamily="2" charset="0"/>
            </a:endParaRPr>
          </a:p>
          <a:p>
            <a:endParaRPr lang="es-CO" dirty="0">
              <a:latin typeface="Helvetica" pitchFamily="2" charset="0"/>
            </a:endParaRPr>
          </a:p>
          <a:p>
            <a:endParaRPr lang="es-CO" dirty="0">
              <a:latin typeface="Helvetica" pitchFamily="2" charset="0"/>
            </a:endParaRPr>
          </a:p>
          <a:p>
            <a:endParaRPr lang="es-CO" dirty="0">
              <a:latin typeface="Helvetica" pitchFamily="2" charset="0"/>
            </a:endParaRPr>
          </a:p>
          <a:p>
            <a:endParaRPr lang="es-CO" dirty="0">
              <a:latin typeface="Helvetica" pitchFamily="2" charset="0"/>
            </a:endParaRPr>
          </a:p>
          <a:p>
            <a:endParaRPr lang="es-CO" dirty="0">
              <a:latin typeface="Helvetica" pitchFamily="2" charset="0"/>
            </a:endParaRPr>
          </a:p>
          <a:p>
            <a:endParaRPr lang="es-CO" dirty="0">
              <a:latin typeface="Helvetica" pitchFamily="2" charset="0"/>
            </a:endParaRPr>
          </a:p>
          <a:p>
            <a:endParaRPr lang="es-CO" dirty="0">
              <a:latin typeface="Helvetica" pitchFamily="2" charset="0"/>
            </a:endParaRPr>
          </a:p>
        </p:txBody>
      </p:sp>
    </p:spTree>
    <p:extLst>
      <p:ext uri="{BB962C8B-B14F-4D97-AF65-F5344CB8AC3E}">
        <p14:creationId xmlns:p14="http://schemas.microsoft.com/office/powerpoint/2010/main" val="426441376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755576" y="0"/>
            <a:ext cx="8229600" cy="1143000"/>
          </a:xfrm>
        </p:spPr>
        <p:txBody>
          <a:bodyPr>
            <a:normAutofit/>
          </a:bodyPr>
          <a:lstStyle/>
          <a:p>
            <a:r>
              <a:rPr lang="es-CO" sz="2800" b="1" dirty="0"/>
              <a:t>Técnicas basadas en el objetivo de la prueba</a:t>
            </a:r>
          </a:p>
        </p:txBody>
      </p:sp>
      <p:sp>
        <p:nvSpPr>
          <p:cNvPr id="3" name="CuadroTexto 2">
            <a:extLst>
              <a:ext uri="{FF2B5EF4-FFF2-40B4-BE49-F238E27FC236}">
                <a16:creationId xmlns:a16="http://schemas.microsoft.com/office/drawing/2014/main" id="{17FD4F7B-CCF2-2470-0DCF-2A8120F86B5E}"/>
              </a:ext>
            </a:extLst>
          </p:cNvPr>
          <p:cNvSpPr txBox="1"/>
          <p:nvPr/>
        </p:nvSpPr>
        <p:spPr>
          <a:xfrm>
            <a:off x="9828584" y="6313805"/>
            <a:ext cx="2880320" cy="646331"/>
          </a:xfrm>
          <a:prstGeom prst="rect">
            <a:avLst/>
          </a:prstGeom>
          <a:noFill/>
        </p:spPr>
        <p:txBody>
          <a:bodyPr wrap="square" rtlCol="0">
            <a:spAutoFit/>
          </a:bodyPr>
          <a:lstStyle/>
          <a:p>
            <a:endParaRPr lang="es-CO" b="1" dirty="0">
              <a:effectLst/>
              <a:latin typeface="Helvetica" pitchFamily="2" charset="0"/>
            </a:endParaRPr>
          </a:p>
          <a:p>
            <a:endParaRPr lang="en-US" dirty="0"/>
          </a:p>
        </p:txBody>
      </p:sp>
      <p:sp>
        <p:nvSpPr>
          <p:cNvPr id="23" name="CuadroTexto 22">
            <a:extLst>
              <a:ext uri="{FF2B5EF4-FFF2-40B4-BE49-F238E27FC236}">
                <a16:creationId xmlns:a16="http://schemas.microsoft.com/office/drawing/2014/main" id="{F07867C5-6E66-4C71-485D-6A73709C88E5}"/>
              </a:ext>
            </a:extLst>
          </p:cNvPr>
          <p:cNvSpPr txBox="1"/>
          <p:nvPr/>
        </p:nvSpPr>
        <p:spPr>
          <a:xfrm>
            <a:off x="457200" y="980728"/>
            <a:ext cx="8229600" cy="4524315"/>
          </a:xfrm>
          <a:prstGeom prst="rect">
            <a:avLst/>
          </a:prstGeom>
          <a:noFill/>
        </p:spPr>
        <p:txBody>
          <a:bodyPr wrap="square" rtlCol="0">
            <a:spAutoFit/>
          </a:bodyPr>
          <a:lstStyle/>
          <a:p>
            <a:endParaRPr lang="es-CO" dirty="0">
              <a:latin typeface="Helvetica" pitchFamily="2" charset="0"/>
            </a:endParaRPr>
          </a:p>
          <a:p>
            <a:pPr marL="285750" indent="-285750">
              <a:buFont typeface="Arial" panose="020B0604020202020204" pitchFamily="34" charset="0"/>
              <a:buChar char="•"/>
            </a:pPr>
            <a:r>
              <a:rPr lang="es-CO" dirty="0">
                <a:latin typeface="Helvetica" pitchFamily="2" charset="0"/>
              </a:rPr>
              <a:t>Esta clasificación de las pruebas se basa en el objetivo que ellas persiguen, tratan de responder a las preguntas: ¿qué objetivo tiene la prueba?¿para qué probar? Estas pruebas verifican diferentes aspectos del software que están asociados a los requisitos funcionales y no funcionales, tales como: rendimiento, utilizada, operación, sobrecarga, ergonomía, aceptación, regresión, estrés, funcionalidades basadas en casos de uso, historias de usuario, documentación.</a:t>
            </a:r>
          </a:p>
          <a:p>
            <a:pPr marL="285750" indent="-285750">
              <a:buFont typeface="Arial" panose="020B0604020202020204" pitchFamily="34" charset="0"/>
              <a:buChar char="•"/>
            </a:pPr>
            <a:endParaRPr lang="es-CO" dirty="0">
              <a:latin typeface="Helvetica" pitchFamily="2" charset="0"/>
            </a:endParaRPr>
          </a:p>
          <a:p>
            <a:endParaRPr lang="es-CO" dirty="0">
              <a:latin typeface="Helvetica" pitchFamily="2" charset="0"/>
            </a:endParaRPr>
          </a:p>
          <a:p>
            <a:endParaRPr lang="es-CO" dirty="0">
              <a:latin typeface="Helvetica" pitchFamily="2" charset="0"/>
            </a:endParaRPr>
          </a:p>
          <a:p>
            <a:endParaRPr lang="es-CO" dirty="0">
              <a:latin typeface="Helvetica" pitchFamily="2" charset="0"/>
            </a:endParaRPr>
          </a:p>
          <a:p>
            <a:endParaRPr lang="es-CO" dirty="0">
              <a:latin typeface="Helvetica" pitchFamily="2" charset="0"/>
            </a:endParaRPr>
          </a:p>
          <a:p>
            <a:endParaRPr lang="es-CO" dirty="0">
              <a:latin typeface="Helvetica" pitchFamily="2" charset="0"/>
            </a:endParaRPr>
          </a:p>
          <a:p>
            <a:endParaRPr lang="es-CO" dirty="0">
              <a:latin typeface="Helvetica" pitchFamily="2" charset="0"/>
            </a:endParaRPr>
          </a:p>
          <a:p>
            <a:endParaRPr lang="es-CO" dirty="0">
              <a:latin typeface="Helvetica" pitchFamily="2" charset="0"/>
            </a:endParaRPr>
          </a:p>
        </p:txBody>
      </p:sp>
    </p:spTree>
    <p:extLst>
      <p:ext uri="{BB962C8B-B14F-4D97-AF65-F5344CB8AC3E}">
        <p14:creationId xmlns:p14="http://schemas.microsoft.com/office/powerpoint/2010/main" val="74818499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1 Título"/>
          <p:cNvSpPr>
            <a:spLocks noGrp="1"/>
          </p:cNvSpPr>
          <p:nvPr>
            <p:ph type="title"/>
          </p:nvPr>
        </p:nvSpPr>
        <p:spPr>
          <a:xfrm>
            <a:off x="628650" y="-292045"/>
            <a:ext cx="7886700" cy="1325563"/>
          </a:xfrm>
        </p:spPr>
        <p:txBody>
          <a:bodyPr/>
          <a:lstStyle/>
          <a:p>
            <a:r>
              <a:rPr lang="es-CO" dirty="0"/>
              <a:t>Requisitos y Pruebas</a:t>
            </a:r>
          </a:p>
        </p:txBody>
      </p:sp>
      <p:pic>
        <p:nvPicPr>
          <p:cNvPr id="7" name="Imagen 6">
            <a:extLst>
              <a:ext uri="{FF2B5EF4-FFF2-40B4-BE49-F238E27FC236}">
                <a16:creationId xmlns:a16="http://schemas.microsoft.com/office/drawing/2014/main" id="{C5E1CCC6-571E-59F4-154A-179D5E384A8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58597" y="764704"/>
            <a:ext cx="6026806" cy="6093296"/>
          </a:xfrm>
          <a:prstGeom prst="rect">
            <a:avLst/>
          </a:prstGeom>
        </p:spPr>
      </p:pic>
    </p:spTree>
    <p:extLst>
      <p:ext uri="{BB962C8B-B14F-4D97-AF65-F5344CB8AC3E}">
        <p14:creationId xmlns:p14="http://schemas.microsoft.com/office/powerpoint/2010/main" val="349627359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1 Título"/>
          <p:cNvSpPr>
            <a:spLocks noGrp="1"/>
          </p:cNvSpPr>
          <p:nvPr>
            <p:ph type="title"/>
          </p:nvPr>
        </p:nvSpPr>
        <p:spPr>
          <a:xfrm>
            <a:off x="628650" y="-292045"/>
            <a:ext cx="7886700" cy="1325563"/>
          </a:xfrm>
        </p:spPr>
        <p:txBody>
          <a:bodyPr/>
          <a:lstStyle/>
          <a:p>
            <a:r>
              <a:rPr lang="es-CO" dirty="0"/>
              <a:t>Requisitos y Pruebas</a:t>
            </a:r>
          </a:p>
        </p:txBody>
      </p:sp>
      <p:pic>
        <p:nvPicPr>
          <p:cNvPr id="4" name="Imagen 3">
            <a:extLst>
              <a:ext uri="{FF2B5EF4-FFF2-40B4-BE49-F238E27FC236}">
                <a16:creationId xmlns:a16="http://schemas.microsoft.com/office/drawing/2014/main" id="{B62F17F5-F704-A879-5879-77FA8A6E070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23728" y="692696"/>
            <a:ext cx="4467775" cy="5824482"/>
          </a:xfrm>
          <a:prstGeom prst="rect">
            <a:avLst/>
          </a:prstGeom>
        </p:spPr>
      </p:pic>
      <p:sp>
        <p:nvSpPr>
          <p:cNvPr id="2" name="Rectángulo 1">
            <a:extLst>
              <a:ext uri="{FF2B5EF4-FFF2-40B4-BE49-F238E27FC236}">
                <a16:creationId xmlns:a16="http://schemas.microsoft.com/office/drawing/2014/main" id="{67D16FF5-3982-D9D7-92BA-CE798C22E1C7}"/>
              </a:ext>
            </a:extLst>
          </p:cNvPr>
          <p:cNvSpPr/>
          <p:nvPr/>
        </p:nvSpPr>
        <p:spPr>
          <a:xfrm>
            <a:off x="4067944" y="916886"/>
            <a:ext cx="1944216" cy="5824482"/>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9194354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1661" t="20206" r="47990" b="30243"/>
          <a:stretch/>
        </p:blipFill>
        <p:spPr bwMode="auto">
          <a:xfrm>
            <a:off x="394448" y="1246095"/>
            <a:ext cx="8355104" cy="538184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1 Título"/>
          <p:cNvSpPr>
            <a:spLocks noGrp="1"/>
          </p:cNvSpPr>
          <p:nvPr>
            <p:ph type="title"/>
          </p:nvPr>
        </p:nvSpPr>
        <p:spPr>
          <a:xfrm>
            <a:off x="527050" y="192406"/>
            <a:ext cx="7886700" cy="1325563"/>
          </a:xfrm>
        </p:spPr>
        <p:txBody>
          <a:bodyPr/>
          <a:lstStyle/>
          <a:p>
            <a:r>
              <a:rPr lang="es-CO" dirty="0"/>
              <a:t>Historias de usuario y Pruebas</a:t>
            </a:r>
          </a:p>
        </p:txBody>
      </p:sp>
      <p:sp>
        <p:nvSpPr>
          <p:cNvPr id="5" name="Rectángulo 4">
            <a:extLst>
              <a:ext uri="{FF2B5EF4-FFF2-40B4-BE49-F238E27FC236}">
                <a16:creationId xmlns:a16="http://schemas.microsoft.com/office/drawing/2014/main" id="{9B838E3A-150E-6160-A27A-E339C69135C9}"/>
              </a:ext>
            </a:extLst>
          </p:cNvPr>
          <p:cNvSpPr/>
          <p:nvPr/>
        </p:nvSpPr>
        <p:spPr>
          <a:xfrm>
            <a:off x="394448" y="4725144"/>
            <a:ext cx="8355104" cy="2016224"/>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8105350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title"/>
          </p:nvPr>
        </p:nvSpPr>
        <p:spPr/>
        <p:txBody>
          <a:bodyPr/>
          <a:lstStyle/>
          <a:p>
            <a:r>
              <a:rPr lang="es-CO" dirty="0"/>
              <a:t>Historias de usuario y Pruebas</a:t>
            </a:r>
          </a:p>
        </p:txBody>
      </p:sp>
      <p:pic>
        <p:nvPicPr>
          <p:cNvPr id="102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7059" t="52078" r="24444" b="27634"/>
          <a:stretch/>
        </p:blipFill>
        <p:spPr bwMode="auto">
          <a:xfrm>
            <a:off x="107504" y="1990165"/>
            <a:ext cx="9036496" cy="173915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Rectángulo 1">
            <a:extLst>
              <a:ext uri="{FF2B5EF4-FFF2-40B4-BE49-F238E27FC236}">
                <a16:creationId xmlns:a16="http://schemas.microsoft.com/office/drawing/2014/main" id="{23DE5FDB-5ADA-754D-AFD2-AAC8F3F9E074}"/>
              </a:ext>
            </a:extLst>
          </p:cNvPr>
          <p:cNvSpPr/>
          <p:nvPr/>
        </p:nvSpPr>
        <p:spPr>
          <a:xfrm>
            <a:off x="3059832" y="1713093"/>
            <a:ext cx="5976664" cy="2016224"/>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558466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794"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20000" t="32271" r="36472" b="43750"/>
          <a:stretch/>
        </p:blipFill>
        <p:spPr bwMode="auto">
          <a:xfrm>
            <a:off x="1568624" y="1124744"/>
            <a:ext cx="5638800" cy="17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795" name="Picture 3"/>
          <p:cNvPicPr>
            <a:picLocks noChangeAspect="1" noChangeArrowheads="1"/>
          </p:cNvPicPr>
          <p:nvPr/>
        </p:nvPicPr>
        <p:blipFill>
          <a:blip r:embed="rId3">
            <a:extLst>
              <a:ext uri="{28A0092B-C50C-407E-A947-70E740481C1C}">
                <a14:useLocalDpi xmlns:a14="http://schemas.microsoft.com/office/drawing/2010/main" val="0"/>
              </a:ext>
            </a:extLst>
          </a:blip>
          <a:srcRect l="20589" t="35417" r="30000" b="15625"/>
          <a:stretch>
            <a:fillRect/>
          </a:stretch>
        </p:blipFill>
        <p:spPr bwMode="auto">
          <a:xfrm>
            <a:off x="1187624" y="2878832"/>
            <a:ext cx="6400800" cy="358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3 Título">
            <a:extLst>
              <a:ext uri="{FF2B5EF4-FFF2-40B4-BE49-F238E27FC236}">
                <a16:creationId xmlns:a16="http://schemas.microsoft.com/office/drawing/2014/main" id="{6A5A00A4-4329-B9CE-2E2A-AE0995A0EF09}"/>
              </a:ext>
            </a:extLst>
          </p:cNvPr>
          <p:cNvSpPr txBox="1">
            <a:spLocks/>
          </p:cNvSpPr>
          <p:nvPr/>
        </p:nvSpPr>
        <p:spPr>
          <a:xfrm>
            <a:off x="457200" y="274638"/>
            <a:ext cx="8229600" cy="11430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s-CO" dirty="0"/>
              <a:t>Historias de usuario y Pruebas</a:t>
            </a:r>
          </a:p>
        </p:txBody>
      </p:sp>
      <p:sp>
        <p:nvSpPr>
          <p:cNvPr id="2" name="Rectángulo 1">
            <a:extLst>
              <a:ext uri="{FF2B5EF4-FFF2-40B4-BE49-F238E27FC236}">
                <a16:creationId xmlns:a16="http://schemas.microsoft.com/office/drawing/2014/main" id="{0D7D924B-7432-5378-5128-D75B92A04276}"/>
              </a:ext>
            </a:extLst>
          </p:cNvPr>
          <p:cNvSpPr/>
          <p:nvPr/>
        </p:nvSpPr>
        <p:spPr>
          <a:xfrm>
            <a:off x="1187624" y="2878832"/>
            <a:ext cx="3960440" cy="3581400"/>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7924428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a:extLst>
              <a:ext uri="{FF2B5EF4-FFF2-40B4-BE49-F238E27FC236}">
                <a16:creationId xmlns:a16="http://schemas.microsoft.com/office/drawing/2014/main" id="{6A5A00A4-4329-B9CE-2E2A-AE0995A0EF09}"/>
              </a:ext>
            </a:extLst>
          </p:cNvPr>
          <p:cNvSpPr txBox="1">
            <a:spLocks/>
          </p:cNvSpPr>
          <p:nvPr/>
        </p:nvSpPr>
        <p:spPr>
          <a:xfrm>
            <a:off x="457200" y="0"/>
            <a:ext cx="8229600" cy="11430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s-CO" dirty="0"/>
              <a:t>Caos de Uso y Pruebas</a:t>
            </a:r>
          </a:p>
        </p:txBody>
      </p:sp>
      <p:pic>
        <p:nvPicPr>
          <p:cNvPr id="3" name="Imagen 2">
            <a:extLst>
              <a:ext uri="{FF2B5EF4-FFF2-40B4-BE49-F238E27FC236}">
                <a16:creationId xmlns:a16="http://schemas.microsoft.com/office/drawing/2014/main" id="{4ADCC928-46CE-A14E-9031-F370B7EC326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72983" y="692696"/>
            <a:ext cx="5091305" cy="6151994"/>
          </a:xfrm>
          <a:prstGeom prst="rect">
            <a:avLst/>
          </a:prstGeom>
        </p:spPr>
      </p:pic>
      <p:sp>
        <p:nvSpPr>
          <p:cNvPr id="2" name="Rectángulo 1">
            <a:extLst>
              <a:ext uri="{FF2B5EF4-FFF2-40B4-BE49-F238E27FC236}">
                <a16:creationId xmlns:a16="http://schemas.microsoft.com/office/drawing/2014/main" id="{0555D088-7681-EDD0-9F07-73F41977EE3C}"/>
              </a:ext>
            </a:extLst>
          </p:cNvPr>
          <p:cNvSpPr/>
          <p:nvPr/>
        </p:nvSpPr>
        <p:spPr>
          <a:xfrm>
            <a:off x="2411760" y="2996952"/>
            <a:ext cx="4536504" cy="3744416"/>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3569527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a:extLst>
              <a:ext uri="{FF2B5EF4-FFF2-40B4-BE49-F238E27FC236}">
                <a16:creationId xmlns:a16="http://schemas.microsoft.com/office/drawing/2014/main" id="{6A5A00A4-4329-B9CE-2E2A-AE0995A0EF09}"/>
              </a:ext>
            </a:extLst>
          </p:cNvPr>
          <p:cNvSpPr txBox="1">
            <a:spLocks/>
          </p:cNvSpPr>
          <p:nvPr/>
        </p:nvSpPr>
        <p:spPr>
          <a:xfrm>
            <a:off x="457200" y="274638"/>
            <a:ext cx="8229600" cy="11430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s-CO" dirty="0"/>
              <a:t>Caos de Uso y Pruebas</a:t>
            </a:r>
          </a:p>
        </p:txBody>
      </p:sp>
      <p:pic>
        <p:nvPicPr>
          <p:cNvPr id="3" name="Imagen 2">
            <a:extLst>
              <a:ext uri="{FF2B5EF4-FFF2-40B4-BE49-F238E27FC236}">
                <a16:creationId xmlns:a16="http://schemas.microsoft.com/office/drawing/2014/main" id="{B1F60F59-BA4B-EAC6-DED0-A61CC08DF51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62050" y="1022350"/>
            <a:ext cx="6819900" cy="4813300"/>
          </a:xfrm>
          <a:prstGeom prst="rect">
            <a:avLst/>
          </a:prstGeom>
        </p:spPr>
      </p:pic>
      <p:sp>
        <p:nvSpPr>
          <p:cNvPr id="2" name="Rectángulo 1">
            <a:extLst>
              <a:ext uri="{FF2B5EF4-FFF2-40B4-BE49-F238E27FC236}">
                <a16:creationId xmlns:a16="http://schemas.microsoft.com/office/drawing/2014/main" id="{0DC3E354-9E8B-E0BB-CA27-7D95BA93EF98}"/>
              </a:ext>
            </a:extLst>
          </p:cNvPr>
          <p:cNvSpPr/>
          <p:nvPr/>
        </p:nvSpPr>
        <p:spPr>
          <a:xfrm>
            <a:off x="2843808" y="1268760"/>
            <a:ext cx="4968552" cy="3096344"/>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5084016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9" name="CuadroTexto 1">
            <a:extLst>
              <a:ext uri="{FF2B5EF4-FFF2-40B4-BE49-F238E27FC236}">
                <a16:creationId xmlns:a16="http://schemas.microsoft.com/office/drawing/2014/main" id="{C3AD37CF-45E7-CE4B-AA86-A16D4DB4F040}"/>
              </a:ext>
            </a:extLst>
          </p:cNvPr>
          <p:cNvSpPr txBox="1">
            <a:spLocks noChangeArrowheads="1"/>
          </p:cNvSpPr>
          <p:nvPr/>
        </p:nvSpPr>
        <p:spPr bwMode="auto">
          <a:xfrm>
            <a:off x="2915816" y="0"/>
            <a:ext cx="4235455"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es-MX" altLang="es-CO" sz="5400" dirty="0">
                <a:solidFill>
                  <a:srgbClr val="C00000"/>
                </a:solidFill>
                <a:latin typeface="Berlin Sans FB Demi" panose="020E0602020502020306" pitchFamily="34" charset="77"/>
              </a:rPr>
              <a:t>Taller 1 – 15%</a:t>
            </a:r>
            <a:endParaRPr lang="es-CO" altLang="es-CO" sz="1350" dirty="0">
              <a:solidFill>
                <a:srgbClr val="C00000"/>
              </a:solidFill>
              <a:latin typeface="Berlin Sans FB Demi" panose="020E0602020502020306" pitchFamily="34" charset="77"/>
            </a:endParaRPr>
          </a:p>
        </p:txBody>
      </p:sp>
      <p:sp>
        <p:nvSpPr>
          <p:cNvPr id="2" name="CuadroTexto 1">
            <a:extLst>
              <a:ext uri="{FF2B5EF4-FFF2-40B4-BE49-F238E27FC236}">
                <a16:creationId xmlns:a16="http://schemas.microsoft.com/office/drawing/2014/main" id="{184E28E6-0666-E346-1D63-CDB4B88F053D}"/>
              </a:ext>
            </a:extLst>
          </p:cNvPr>
          <p:cNvSpPr txBox="1"/>
          <p:nvPr/>
        </p:nvSpPr>
        <p:spPr>
          <a:xfrm>
            <a:off x="457200" y="980728"/>
            <a:ext cx="8229600" cy="5355312"/>
          </a:xfrm>
          <a:prstGeom prst="rect">
            <a:avLst/>
          </a:prstGeom>
          <a:noFill/>
        </p:spPr>
        <p:txBody>
          <a:bodyPr wrap="square" rtlCol="0">
            <a:spAutoFit/>
          </a:bodyPr>
          <a:lstStyle/>
          <a:p>
            <a:endParaRPr lang="es-CO" dirty="0">
              <a:latin typeface="Helvetica" pitchFamily="2" charset="0"/>
            </a:endParaRPr>
          </a:p>
          <a:p>
            <a:r>
              <a:rPr lang="es-CO" dirty="0">
                <a:latin typeface="Helvetica" pitchFamily="2" charset="0"/>
              </a:rPr>
              <a:t>Diseñar un plan de pruebas de un software (Web, Móvil, etc.) que su grupo seleccione. El plan de pruebas debe contener lo siguiente:</a:t>
            </a:r>
          </a:p>
          <a:p>
            <a:pPr marL="285750" indent="-285750">
              <a:buFont typeface="Arial" panose="020B0604020202020204" pitchFamily="34" charset="0"/>
              <a:buChar char="•"/>
            </a:pPr>
            <a:endParaRPr lang="es-CO" dirty="0">
              <a:latin typeface="Helvetica" pitchFamily="2" charset="0"/>
            </a:endParaRPr>
          </a:p>
          <a:p>
            <a:pPr marL="285750" indent="-285750">
              <a:buFont typeface="Arial" panose="020B0604020202020204" pitchFamily="34" charset="0"/>
              <a:buChar char="•"/>
            </a:pPr>
            <a:r>
              <a:rPr lang="es-CO" dirty="0">
                <a:latin typeface="Helvetica" pitchFamily="2" charset="0"/>
              </a:rPr>
              <a:t>Presentación del plan de pruebas, Introducción, Información y descripción del software, descripción del proceso del plan de pruebas, descripción de las estrategias de validación y verificación, descripción de usuarios, responsables del plan de pruebas.</a:t>
            </a:r>
          </a:p>
          <a:p>
            <a:pPr marL="285750" indent="-285750">
              <a:buFont typeface="Arial" panose="020B0604020202020204" pitchFamily="34" charset="0"/>
              <a:buChar char="•"/>
            </a:pPr>
            <a:endParaRPr lang="es-CO" dirty="0">
              <a:latin typeface="Helvetica" pitchFamily="2" charset="0"/>
            </a:endParaRPr>
          </a:p>
          <a:p>
            <a:pPr marL="285750" indent="-285750">
              <a:buFont typeface="Arial" panose="020B0604020202020204" pitchFamily="34" charset="0"/>
              <a:buChar char="•"/>
            </a:pPr>
            <a:r>
              <a:rPr lang="es-CO" dirty="0">
                <a:latin typeface="Helvetica" pitchFamily="2" charset="0"/>
              </a:rPr>
              <a:t>Responder las preguntas ¿Qué?, ¿Por qué ? y ¿Para qué? de las Pruebas,  Tipos de pruebas, Estrategias de pruebas, Técnicas pruebas? Todo relacionado sobre el software al que van a diseñar el plan de pruebas.</a:t>
            </a:r>
          </a:p>
          <a:p>
            <a:pPr marL="285750" indent="-285750">
              <a:buFont typeface="Arial" panose="020B0604020202020204" pitchFamily="34" charset="0"/>
              <a:buChar char="•"/>
            </a:pPr>
            <a:r>
              <a:rPr lang="es-CO" dirty="0">
                <a:latin typeface="Helvetica" pitchFamily="2" charset="0"/>
              </a:rPr>
              <a:t> Alcance de las pruebas, criterios de aceptación o rechazo, datos de las pruebas, entregables, recursos, costos y resultados.</a:t>
            </a:r>
          </a:p>
          <a:p>
            <a:pPr marL="285750" indent="-285750">
              <a:buFont typeface="Arial" panose="020B0604020202020204" pitchFamily="34" charset="0"/>
              <a:buChar char="•"/>
            </a:pPr>
            <a:endParaRPr lang="es-CO" dirty="0">
              <a:latin typeface="Helvetica" pitchFamily="2" charset="0"/>
            </a:endParaRPr>
          </a:p>
          <a:p>
            <a:pPr marL="285750" indent="-285750">
              <a:buFont typeface="Arial" panose="020B0604020202020204" pitchFamily="34" charset="0"/>
              <a:buChar char="•"/>
            </a:pPr>
            <a:r>
              <a:rPr lang="es-CO" b="1" dirty="0">
                <a:latin typeface="Helvetica" pitchFamily="2" charset="0"/>
              </a:rPr>
              <a:t>Documento presentado de acuerdo a las normas APA, citas y referencias, realizar la presentación con los integrantes del grupo, la tabla de contenido.</a:t>
            </a:r>
          </a:p>
          <a:p>
            <a:pPr marL="285750" indent="-285750">
              <a:buFont typeface="Arial" panose="020B0604020202020204" pitchFamily="34" charset="0"/>
              <a:buChar char="•"/>
            </a:pPr>
            <a:endParaRPr lang="es-CO" dirty="0">
              <a:latin typeface="Helvetica" pitchFamily="2" charset="0"/>
            </a:endParaRPr>
          </a:p>
        </p:txBody>
      </p:sp>
    </p:spTree>
    <p:extLst>
      <p:ext uri="{BB962C8B-B14F-4D97-AF65-F5344CB8AC3E}">
        <p14:creationId xmlns:p14="http://schemas.microsoft.com/office/powerpoint/2010/main" val="50579431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9" name="CuadroTexto 1">
            <a:extLst>
              <a:ext uri="{FF2B5EF4-FFF2-40B4-BE49-F238E27FC236}">
                <a16:creationId xmlns:a16="http://schemas.microsoft.com/office/drawing/2014/main" id="{C3AD37CF-45E7-CE4B-AA86-A16D4DB4F040}"/>
              </a:ext>
            </a:extLst>
          </p:cNvPr>
          <p:cNvSpPr txBox="1">
            <a:spLocks noChangeArrowheads="1"/>
          </p:cNvSpPr>
          <p:nvPr/>
        </p:nvSpPr>
        <p:spPr bwMode="auto">
          <a:xfrm>
            <a:off x="1857154" y="0"/>
            <a:ext cx="5429692"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es-MX" altLang="es-CO" sz="4000" dirty="0">
                <a:solidFill>
                  <a:srgbClr val="C00000"/>
                </a:solidFill>
                <a:latin typeface="Berlin Sans FB Demi" panose="020E0602020502020306" pitchFamily="34" charset="77"/>
              </a:rPr>
              <a:t>Rúbrica de Calificación</a:t>
            </a:r>
            <a:endParaRPr lang="es-CO" altLang="es-CO" sz="4000" dirty="0">
              <a:solidFill>
                <a:srgbClr val="C00000"/>
              </a:solidFill>
              <a:latin typeface="Berlin Sans FB Demi" panose="020E0602020502020306" pitchFamily="34" charset="77"/>
            </a:endParaRPr>
          </a:p>
        </p:txBody>
      </p:sp>
      <p:graphicFrame>
        <p:nvGraphicFramePr>
          <p:cNvPr id="2" name="Tabla 3">
            <a:extLst>
              <a:ext uri="{FF2B5EF4-FFF2-40B4-BE49-F238E27FC236}">
                <a16:creationId xmlns:a16="http://schemas.microsoft.com/office/drawing/2014/main" id="{6AA360B5-A4CF-EEAE-2930-44EEA02C79BE}"/>
              </a:ext>
            </a:extLst>
          </p:cNvPr>
          <p:cNvGraphicFramePr>
            <a:graphicFrameLocks noGrp="1"/>
          </p:cNvGraphicFramePr>
          <p:nvPr/>
        </p:nvGraphicFramePr>
        <p:xfrm>
          <a:off x="187126" y="734214"/>
          <a:ext cx="8769748" cy="5944111"/>
        </p:xfrm>
        <a:graphic>
          <a:graphicData uri="http://schemas.openxmlformats.org/drawingml/2006/table">
            <a:tbl>
              <a:tblPr firstRow="1" bandRow="1">
                <a:tableStyleId>{5C22544A-7EE6-4342-B048-85BDC9FD1C3A}</a:tableStyleId>
              </a:tblPr>
              <a:tblGrid>
                <a:gridCol w="1864594">
                  <a:extLst>
                    <a:ext uri="{9D8B030D-6E8A-4147-A177-3AD203B41FA5}">
                      <a16:colId xmlns:a16="http://schemas.microsoft.com/office/drawing/2014/main" val="2638107347"/>
                    </a:ext>
                  </a:extLst>
                </a:gridCol>
                <a:gridCol w="2160240">
                  <a:extLst>
                    <a:ext uri="{9D8B030D-6E8A-4147-A177-3AD203B41FA5}">
                      <a16:colId xmlns:a16="http://schemas.microsoft.com/office/drawing/2014/main" val="3357183207"/>
                    </a:ext>
                  </a:extLst>
                </a:gridCol>
                <a:gridCol w="2304256">
                  <a:extLst>
                    <a:ext uri="{9D8B030D-6E8A-4147-A177-3AD203B41FA5}">
                      <a16:colId xmlns:a16="http://schemas.microsoft.com/office/drawing/2014/main" val="1815455772"/>
                    </a:ext>
                  </a:extLst>
                </a:gridCol>
                <a:gridCol w="2440658">
                  <a:extLst>
                    <a:ext uri="{9D8B030D-6E8A-4147-A177-3AD203B41FA5}">
                      <a16:colId xmlns:a16="http://schemas.microsoft.com/office/drawing/2014/main" val="2900293083"/>
                    </a:ext>
                  </a:extLst>
                </a:gridCol>
              </a:tblGrid>
              <a:tr h="358050">
                <a:tc>
                  <a:txBody>
                    <a:bodyPr/>
                    <a:lstStyle/>
                    <a:p>
                      <a:pPr algn="ctr"/>
                      <a:r>
                        <a:rPr lang="en-US" dirty="0" err="1"/>
                        <a:t>Evaluación</a:t>
                      </a:r>
                      <a:endParaRPr lang="en-US" dirty="0"/>
                    </a:p>
                  </a:txBody>
                  <a:tcPr/>
                </a:tc>
                <a:tc>
                  <a:txBody>
                    <a:bodyPr/>
                    <a:lstStyle/>
                    <a:p>
                      <a:pPr algn="ctr"/>
                      <a:r>
                        <a:rPr lang="en-US" dirty="0"/>
                        <a:t>Bajo</a:t>
                      </a:r>
                    </a:p>
                  </a:txBody>
                  <a:tcPr/>
                </a:tc>
                <a:tc>
                  <a:txBody>
                    <a:bodyPr/>
                    <a:lstStyle/>
                    <a:p>
                      <a:pPr algn="ctr"/>
                      <a:r>
                        <a:rPr lang="en-US" dirty="0"/>
                        <a:t>Medio</a:t>
                      </a:r>
                    </a:p>
                  </a:txBody>
                  <a:tcPr/>
                </a:tc>
                <a:tc>
                  <a:txBody>
                    <a:bodyPr/>
                    <a:lstStyle/>
                    <a:p>
                      <a:pPr algn="ctr"/>
                      <a:r>
                        <a:rPr lang="en-US" dirty="0"/>
                        <a:t>Alto</a:t>
                      </a:r>
                    </a:p>
                  </a:txBody>
                  <a:tcPr/>
                </a:tc>
                <a:extLst>
                  <a:ext uri="{0D108BD9-81ED-4DB2-BD59-A6C34878D82A}">
                    <a16:rowId xmlns:a16="http://schemas.microsoft.com/office/drawing/2014/main" val="857032341"/>
                  </a:ext>
                </a:extLst>
              </a:tr>
              <a:tr h="714360">
                <a:tc>
                  <a:txBody>
                    <a:bodyPr/>
                    <a:lstStyle/>
                    <a:p>
                      <a:r>
                        <a:rPr lang="en-US" sz="1100" b="1" dirty="0"/>
                        <a:t>Respuesta a las </a:t>
                      </a:r>
                      <a:r>
                        <a:rPr lang="en-US" sz="1100" b="1" dirty="0" err="1"/>
                        <a:t>preguntas</a:t>
                      </a:r>
                      <a:endParaRPr lang="en-US" sz="1100" b="1"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El </a:t>
                      </a:r>
                      <a:r>
                        <a:rPr lang="en-US" sz="1100" dirty="0" err="1"/>
                        <a:t>diseño</a:t>
                      </a:r>
                      <a:r>
                        <a:rPr lang="en-US" sz="1100" dirty="0"/>
                        <a:t> del  plan de </a:t>
                      </a:r>
                      <a:r>
                        <a:rPr lang="en-US" sz="1100" dirty="0" err="1"/>
                        <a:t>pruebas</a:t>
                      </a:r>
                      <a:r>
                        <a:rPr lang="en-US" sz="1100" dirty="0"/>
                        <a:t> no  </a:t>
                      </a:r>
                      <a:r>
                        <a:rPr lang="en-US" sz="1100" dirty="0" err="1"/>
                        <a:t>responde</a:t>
                      </a:r>
                      <a:r>
                        <a:rPr lang="en-US" sz="1100" dirty="0"/>
                        <a:t> a las </a:t>
                      </a:r>
                      <a:r>
                        <a:rPr lang="en-US" sz="1100" dirty="0" err="1"/>
                        <a:t>preguntas</a:t>
                      </a:r>
                      <a:r>
                        <a:rPr lang="en-US" sz="1100" dirty="0"/>
                        <a:t> </a:t>
                      </a:r>
                      <a:r>
                        <a:rPr lang="en-US" sz="1100" dirty="0" err="1"/>
                        <a:t>planteadas</a:t>
                      </a:r>
                      <a:endParaRPr lang="en-US" sz="11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b="1" dirty="0"/>
                        <a:t>Puntos 0</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El </a:t>
                      </a:r>
                      <a:r>
                        <a:rPr lang="en-US" sz="1100" dirty="0" err="1"/>
                        <a:t>diseño</a:t>
                      </a:r>
                      <a:r>
                        <a:rPr lang="en-US" sz="1100" dirty="0"/>
                        <a:t> del  plan de </a:t>
                      </a:r>
                      <a:r>
                        <a:rPr lang="en-US" sz="1100" dirty="0" err="1"/>
                        <a:t>pruebas</a:t>
                      </a:r>
                      <a:r>
                        <a:rPr lang="en-US" sz="1100" dirty="0"/>
                        <a:t>  </a:t>
                      </a:r>
                      <a:r>
                        <a:rPr lang="en-US" sz="1100" dirty="0" err="1"/>
                        <a:t>responde</a:t>
                      </a:r>
                      <a:r>
                        <a:rPr lang="en-US" sz="1100" dirty="0"/>
                        <a:t> </a:t>
                      </a:r>
                      <a:r>
                        <a:rPr lang="en-US" sz="1100" dirty="0" err="1"/>
                        <a:t>correctamente</a:t>
                      </a:r>
                      <a:r>
                        <a:rPr lang="en-US" sz="1100" dirty="0"/>
                        <a:t> a </a:t>
                      </a:r>
                      <a:r>
                        <a:rPr lang="en-US" sz="1100" dirty="0" err="1"/>
                        <a:t>algunas</a:t>
                      </a:r>
                      <a:r>
                        <a:rPr lang="en-US" sz="1100" dirty="0"/>
                        <a:t> de las </a:t>
                      </a:r>
                      <a:r>
                        <a:rPr lang="en-US" sz="1100" dirty="0" err="1"/>
                        <a:t>preguntas</a:t>
                      </a:r>
                      <a:r>
                        <a:rPr lang="en-US" sz="1100" dirty="0"/>
                        <a:t> </a:t>
                      </a:r>
                      <a:r>
                        <a:rPr lang="en-US" sz="1100" dirty="0" err="1"/>
                        <a:t>planteadas</a:t>
                      </a:r>
                      <a:endParaRPr lang="en-US" sz="11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b="1"/>
                        <a:t>Puntos </a:t>
                      </a:r>
                      <a:r>
                        <a:rPr lang="en-US" sz="1100" b="1" dirty="0"/>
                        <a:t>7</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El </a:t>
                      </a:r>
                      <a:r>
                        <a:rPr lang="en-US" sz="1100" dirty="0" err="1"/>
                        <a:t>diseño</a:t>
                      </a:r>
                      <a:r>
                        <a:rPr lang="en-US" sz="1100" dirty="0"/>
                        <a:t> del  plan de </a:t>
                      </a:r>
                      <a:r>
                        <a:rPr lang="en-US" sz="1100" dirty="0" err="1"/>
                        <a:t>pruebas</a:t>
                      </a:r>
                      <a:r>
                        <a:rPr lang="en-US" sz="1100" dirty="0"/>
                        <a:t>  </a:t>
                      </a:r>
                      <a:r>
                        <a:rPr lang="en-US" sz="1100" dirty="0" err="1"/>
                        <a:t>responde</a:t>
                      </a:r>
                      <a:r>
                        <a:rPr lang="en-US" sz="1100" dirty="0"/>
                        <a:t> </a:t>
                      </a:r>
                      <a:r>
                        <a:rPr lang="en-US" sz="1100" dirty="0" err="1"/>
                        <a:t>correctamente</a:t>
                      </a:r>
                      <a:r>
                        <a:rPr lang="en-US" sz="1100" dirty="0"/>
                        <a:t> a </a:t>
                      </a:r>
                      <a:r>
                        <a:rPr lang="en-US" sz="1100" dirty="0" err="1"/>
                        <a:t>todas</a:t>
                      </a:r>
                      <a:r>
                        <a:rPr lang="en-US" sz="1100" dirty="0"/>
                        <a:t> las </a:t>
                      </a:r>
                      <a:r>
                        <a:rPr lang="en-US" sz="1100" dirty="0" err="1"/>
                        <a:t>preguntas</a:t>
                      </a:r>
                      <a:r>
                        <a:rPr lang="en-US" sz="1100" dirty="0"/>
                        <a:t> </a:t>
                      </a:r>
                      <a:r>
                        <a:rPr lang="en-US" sz="1100" dirty="0" err="1"/>
                        <a:t>planteadas</a:t>
                      </a:r>
                      <a:endParaRPr lang="en-US" sz="1100" dirty="0"/>
                    </a:p>
                    <a:p>
                      <a:r>
                        <a:rPr lang="en-US" sz="1100" b="1" dirty="0"/>
                        <a:t>Puntos 10</a:t>
                      </a:r>
                    </a:p>
                  </a:txBody>
                  <a:tcPr/>
                </a:tc>
                <a:extLst>
                  <a:ext uri="{0D108BD9-81ED-4DB2-BD59-A6C34878D82A}">
                    <a16:rowId xmlns:a16="http://schemas.microsoft.com/office/drawing/2014/main" val="2657729950"/>
                  </a:ext>
                </a:extLst>
              </a:tr>
              <a:tr h="1147722">
                <a:tc>
                  <a:txBody>
                    <a:bodyPr/>
                    <a:lstStyle/>
                    <a:p>
                      <a:r>
                        <a:rPr lang="en-US" sz="1100" b="1" dirty="0" err="1"/>
                        <a:t>Contenido</a:t>
                      </a:r>
                      <a:endParaRPr lang="en-US" sz="1100" b="1"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El </a:t>
                      </a:r>
                      <a:r>
                        <a:rPr lang="en-US" sz="1100" dirty="0" err="1"/>
                        <a:t>diseño</a:t>
                      </a:r>
                      <a:r>
                        <a:rPr lang="en-US" sz="1100" dirty="0"/>
                        <a:t> del plan de </a:t>
                      </a:r>
                      <a:r>
                        <a:rPr lang="en-US" sz="1100" dirty="0" err="1"/>
                        <a:t>pruebas</a:t>
                      </a:r>
                      <a:r>
                        <a:rPr lang="en-US" sz="1100" dirty="0"/>
                        <a:t> no </a:t>
                      </a:r>
                      <a:r>
                        <a:rPr lang="en-US" sz="1100" dirty="0" err="1"/>
                        <a:t>presenta</a:t>
                      </a:r>
                      <a:r>
                        <a:rPr lang="en-US" sz="1100" dirty="0"/>
                        <a:t> </a:t>
                      </a:r>
                      <a:r>
                        <a:rPr lang="en-US" sz="1100" dirty="0" err="1"/>
                        <a:t>todos</a:t>
                      </a:r>
                      <a:r>
                        <a:rPr lang="en-US" sz="1100" dirty="0"/>
                        <a:t> </a:t>
                      </a:r>
                      <a:r>
                        <a:rPr lang="en-US" sz="1100" dirty="0" err="1"/>
                        <a:t>los</a:t>
                      </a:r>
                      <a:r>
                        <a:rPr lang="en-US" sz="1100" dirty="0"/>
                        <a:t> </a:t>
                      </a:r>
                      <a:r>
                        <a:rPr lang="en-US" sz="1100" dirty="0" err="1"/>
                        <a:t>elementos</a:t>
                      </a:r>
                      <a:r>
                        <a:rPr lang="en-US" sz="1100" dirty="0"/>
                        <a:t>  </a:t>
                      </a:r>
                      <a:r>
                        <a:rPr lang="en-US" sz="1100" dirty="0" err="1"/>
                        <a:t>solicitados</a:t>
                      </a:r>
                      <a:r>
                        <a:rPr lang="en-US" sz="1100" dirty="0"/>
                        <a:t> de forma </a:t>
                      </a:r>
                      <a:r>
                        <a:rPr lang="en-US" sz="1100" dirty="0" err="1"/>
                        <a:t>coherente</a:t>
                      </a:r>
                      <a:r>
                        <a:rPr lang="en-US" sz="1100" dirty="0"/>
                        <a:t>, </a:t>
                      </a:r>
                      <a:r>
                        <a:rPr lang="en-US" sz="1100" dirty="0" err="1"/>
                        <a:t>clara</a:t>
                      </a:r>
                      <a:r>
                        <a:rPr lang="en-US" sz="1100" dirty="0"/>
                        <a:t> y </a:t>
                      </a:r>
                      <a:r>
                        <a:rPr lang="en-US" sz="1100" dirty="0" err="1"/>
                        <a:t>correcta</a:t>
                      </a:r>
                      <a:r>
                        <a:rPr lang="en-US" sz="1100" dirty="0"/>
                        <a:t>, no </a:t>
                      </a:r>
                      <a:r>
                        <a:rPr lang="en-US" sz="1100" dirty="0" err="1"/>
                        <a:t>todos</a:t>
                      </a:r>
                      <a:r>
                        <a:rPr lang="en-US" sz="1100" dirty="0"/>
                        <a:t> </a:t>
                      </a:r>
                      <a:r>
                        <a:rPr lang="en-US" sz="1100" dirty="0" err="1"/>
                        <a:t>los</a:t>
                      </a:r>
                      <a:r>
                        <a:rPr lang="en-US" sz="1100" dirty="0"/>
                        <a:t> </a:t>
                      </a:r>
                      <a:r>
                        <a:rPr lang="en-US" sz="1100" dirty="0" err="1"/>
                        <a:t>conceptos</a:t>
                      </a:r>
                      <a:r>
                        <a:rPr lang="en-US" sz="1100" dirty="0"/>
                        <a:t> </a:t>
                      </a:r>
                      <a:r>
                        <a:rPr lang="en-US" sz="1100" dirty="0" err="1"/>
                        <a:t>están</a:t>
                      </a:r>
                      <a:r>
                        <a:rPr lang="en-US" sz="1100" dirty="0"/>
                        <a:t> bien </a:t>
                      </a:r>
                      <a:r>
                        <a:rPr lang="en-US" sz="1100" dirty="0" err="1"/>
                        <a:t>definidos</a:t>
                      </a:r>
                      <a:r>
                        <a:rPr lang="en-US" sz="1100"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b="1" dirty="0"/>
                        <a:t>Puntos 0</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El </a:t>
                      </a:r>
                      <a:r>
                        <a:rPr lang="en-US" sz="1100" dirty="0" err="1"/>
                        <a:t>diseño</a:t>
                      </a:r>
                      <a:r>
                        <a:rPr lang="en-US" sz="1100" dirty="0"/>
                        <a:t> del plan de </a:t>
                      </a:r>
                      <a:r>
                        <a:rPr lang="en-US" sz="1100" dirty="0" err="1"/>
                        <a:t>pruebas</a:t>
                      </a:r>
                      <a:r>
                        <a:rPr lang="en-US" sz="1100" dirty="0"/>
                        <a:t> </a:t>
                      </a:r>
                      <a:r>
                        <a:rPr lang="en-US" sz="1100" dirty="0" err="1"/>
                        <a:t>presenta</a:t>
                      </a:r>
                      <a:r>
                        <a:rPr lang="en-US" sz="1100" dirty="0"/>
                        <a:t> </a:t>
                      </a:r>
                      <a:r>
                        <a:rPr lang="en-US" sz="1100" dirty="0" err="1"/>
                        <a:t>algunos</a:t>
                      </a:r>
                      <a:r>
                        <a:rPr lang="en-US" sz="1100" dirty="0"/>
                        <a:t> de </a:t>
                      </a:r>
                      <a:r>
                        <a:rPr lang="en-US" sz="1100" dirty="0" err="1"/>
                        <a:t>los</a:t>
                      </a:r>
                      <a:r>
                        <a:rPr lang="en-US" sz="1100" dirty="0"/>
                        <a:t> </a:t>
                      </a:r>
                      <a:r>
                        <a:rPr lang="en-US" sz="1100" dirty="0" err="1"/>
                        <a:t>elementos</a:t>
                      </a:r>
                      <a:r>
                        <a:rPr lang="en-US" sz="1100" dirty="0"/>
                        <a:t> </a:t>
                      </a:r>
                      <a:r>
                        <a:rPr lang="en-US" sz="1100" dirty="0" err="1"/>
                        <a:t>solicitados</a:t>
                      </a:r>
                      <a:r>
                        <a:rPr lang="en-US" sz="1100" dirty="0"/>
                        <a:t> de forma </a:t>
                      </a:r>
                      <a:r>
                        <a:rPr lang="en-US" sz="1100" dirty="0" err="1"/>
                        <a:t>coherente</a:t>
                      </a:r>
                      <a:r>
                        <a:rPr lang="en-US" sz="1100" dirty="0"/>
                        <a:t>, </a:t>
                      </a:r>
                      <a:r>
                        <a:rPr lang="en-US" sz="1100" dirty="0" err="1"/>
                        <a:t>clara</a:t>
                      </a:r>
                      <a:r>
                        <a:rPr lang="en-US" sz="1100" dirty="0"/>
                        <a:t> y </a:t>
                      </a:r>
                      <a:r>
                        <a:rPr lang="en-US" sz="1100" dirty="0" err="1"/>
                        <a:t>correcta</a:t>
                      </a:r>
                      <a:r>
                        <a:rPr lang="en-US" sz="1100" dirty="0"/>
                        <a:t>, </a:t>
                      </a:r>
                      <a:r>
                        <a:rPr lang="en-US" sz="1100" dirty="0" err="1"/>
                        <a:t>algunos</a:t>
                      </a:r>
                      <a:r>
                        <a:rPr lang="en-US" sz="1100" dirty="0"/>
                        <a:t> de </a:t>
                      </a:r>
                      <a:r>
                        <a:rPr lang="en-US" sz="1100" dirty="0" err="1"/>
                        <a:t>los</a:t>
                      </a:r>
                      <a:r>
                        <a:rPr lang="en-US" sz="1100" dirty="0"/>
                        <a:t> </a:t>
                      </a:r>
                      <a:r>
                        <a:rPr lang="en-US" sz="1100" dirty="0" err="1"/>
                        <a:t>conceptos</a:t>
                      </a:r>
                      <a:r>
                        <a:rPr lang="en-US" sz="1100" dirty="0"/>
                        <a:t> </a:t>
                      </a:r>
                      <a:r>
                        <a:rPr lang="en-US" sz="1100" dirty="0" err="1"/>
                        <a:t>están</a:t>
                      </a:r>
                      <a:r>
                        <a:rPr lang="en-US" sz="1100" dirty="0"/>
                        <a:t> bien </a:t>
                      </a:r>
                      <a:r>
                        <a:rPr lang="en-US" sz="1100" dirty="0" err="1"/>
                        <a:t>definidos</a:t>
                      </a:r>
                      <a:r>
                        <a:rPr lang="en-US" sz="1100"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b="1" dirty="0"/>
                        <a:t>Puntos 7</a:t>
                      </a:r>
                    </a:p>
                  </a:txBody>
                  <a:tcPr/>
                </a:tc>
                <a:tc>
                  <a:txBody>
                    <a:bodyPr/>
                    <a:lstStyle/>
                    <a:p>
                      <a:r>
                        <a:rPr lang="en-US" sz="1100" dirty="0"/>
                        <a:t>El </a:t>
                      </a:r>
                      <a:r>
                        <a:rPr lang="en-US" sz="1100" dirty="0" err="1"/>
                        <a:t>diseño</a:t>
                      </a:r>
                      <a:r>
                        <a:rPr lang="en-US" sz="1100" dirty="0"/>
                        <a:t> del plan de </a:t>
                      </a:r>
                      <a:r>
                        <a:rPr lang="en-US" sz="1100" dirty="0" err="1"/>
                        <a:t>pruebas</a:t>
                      </a:r>
                      <a:r>
                        <a:rPr lang="en-US" sz="1100" dirty="0"/>
                        <a:t> </a:t>
                      </a:r>
                      <a:r>
                        <a:rPr lang="en-US" sz="1100" dirty="0" err="1"/>
                        <a:t>presenta</a:t>
                      </a:r>
                      <a:r>
                        <a:rPr lang="en-US" sz="1100" dirty="0"/>
                        <a:t> </a:t>
                      </a:r>
                      <a:r>
                        <a:rPr lang="en-US" sz="1100" dirty="0" err="1"/>
                        <a:t>todos</a:t>
                      </a:r>
                      <a:r>
                        <a:rPr lang="en-US" sz="1100" dirty="0"/>
                        <a:t> </a:t>
                      </a:r>
                      <a:r>
                        <a:rPr lang="en-US" sz="1100" dirty="0" err="1"/>
                        <a:t>los</a:t>
                      </a:r>
                      <a:r>
                        <a:rPr lang="en-US" sz="1100" dirty="0"/>
                        <a:t> </a:t>
                      </a:r>
                      <a:r>
                        <a:rPr lang="en-US" sz="1100" dirty="0" err="1"/>
                        <a:t>elementostos</a:t>
                      </a:r>
                      <a:r>
                        <a:rPr lang="en-US" sz="1100" dirty="0"/>
                        <a:t> </a:t>
                      </a:r>
                      <a:r>
                        <a:rPr lang="en-US" sz="1100" dirty="0" err="1"/>
                        <a:t>solicitados</a:t>
                      </a:r>
                      <a:r>
                        <a:rPr lang="en-US" sz="1100" dirty="0"/>
                        <a:t> de forma </a:t>
                      </a:r>
                      <a:r>
                        <a:rPr lang="en-US" sz="1100" dirty="0" err="1"/>
                        <a:t>coherente</a:t>
                      </a:r>
                      <a:r>
                        <a:rPr lang="en-US" sz="1100" dirty="0"/>
                        <a:t>, </a:t>
                      </a:r>
                      <a:r>
                        <a:rPr lang="en-US" sz="1100" dirty="0" err="1"/>
                        <a:t>clara</a:t>
                      </a:r>
                      <a:r>
                        <a:rPr lang="en-US" sz="1100" dirty="0"/>
                        <a:t> y </a:t>
                      </a:r>
                      <a:r>
                        <a:rPr lang="en-US" sz="1100" dirty="0" err="1"/>
                        <a:t>correcta</a:t>
                      </a:r>
                      <a:r>
                        <a:rPr lang="en-US" sz="1100" dirty="0"/>
                        <a:t>, </a:t>
                      </a:r>
                      <a:r>
                        <a:rPr lang="en-US" sz="1100" dirty="0" err="1"/>
                        <a:t>todos</a:t>
                      </a:r>
                      <a:r>
                        <a:rPr lang="en-US" sz="1100" dirty="0"/>
                        <a:t> </a:t>
                      </a:r>
                      <a:r>
                        <a:rPr lang="en-US" sz="1100" dirty="0" err="1"/>
                        <a:t>los</a:t>
                      </a:r>
                      <a:r>
                        <a:rPr lang="en-US" sz="1100" dirty="0"/>
                        <a:t> </a:t>
                      </a:r>
                      <a:r>
                        <a:rPr lang="en-US" sz="1100" dirty="0" err="1"/>
                        <a:t>conceptos</a:t>
                      </a:r>
                      <a:r>
                        <a:rPr lang="en-US" sz="1100" dirty="0"/>
                        <a:t> </a:t>
                      </a:r>
                      <a:r>
                        <a:rPr lang="en-US" sz="1100" dirty="0" err="1"/>
                        <a:t>están</a:t>
                      </a:r>
                      <a:r>
                        <a:rPr lang="en-US" sz="1100" dirty="0"/>
                        <a:t> bien </a:t>
                      </a:r>
                      <a:r>
                        <a:rPr lang="en-US" sz="1100" dirty="0" err="1"/>
                        <a:t>definidos</a:t>
                      </a:r>
                      <a:r>
                        <a:rPr lang="en-US" sz="1100"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b="1" dirty="0"/>
                        <a:t>Puntos 10</a:t>
                      </a:r>
                    </a:p>
                  </a:txBody>
                  <a:tcPr/>
                </a:tc>
                <a:extLst>
                  <a:ext uri="{0D108BD9-81ED-4DB2-BD59-A6C34878D82A}">
                    <a16:rowId xmlns:a16="http://schemas.microsoft.com/office/drawing/2014/main" val="1028986650"/>
                  </a:ext>
                </a:extLst>
              </a:tr>
              <a:tr h="1500867">
                <a:tc>
                  <a:txBody>
                    <a:bodyPr/>
                    <a:lstStyle/>
                    <a:p>
                      <a:r>
                        <a:rPr lang="en-US" sz="1100" b="1" dirty="0" err="1"/>
                        <a:t>Diseño</a:t>
                      </a:r>
                      <a:r>
                        <a:rPr lang="en-US" sz="1100" b="1" dirty="0"/>
                        <a:t> del plan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El </a:t>
                      </a:r>
                      <a:r>
                        <a:rPr lang="en-US" sz="1100" dirty="0" err="1"/>
                        <a:t>diseño</a:t>
                      </a:r>
                      <a:r>
                        <a:rPr lang="en-US" sz="1100" dirty="0"/>
                        <a:t> del plan de </a:t>
                      </a:r>
                      <a:r>
                        <a:rPr lang="en-US" sz="1100" dirty="0" err="1"/>
                        <a:t>pruebas</a:t>
                      </a:r>
                      <a:r>
                        <a:rPr lang="en-US" sz="1100" dirty="0"/>
                        <a:t> no es claro, no se </a:t>
                      </a:r>
                      <a:r>
                        <a:rPr lang="en-US" sz="1100" dirty="0" err="1"/>
                        <a:t>entiende</a:t>
                      </a:r>
                      <a:r>
                        <a:rPr lang="en-US" sz="1100" dirty="0"/>
                        <a:t> y no </a:t>
                      </a:r>
                      <a:r>
                        <a:rPr lang="en-US" sz="1100" dirty="0" err="1"/>
                        <a:t>cumple</a:t>
                      </a:r>
                      <a:r>
                        <a:rPr lang="en-US" sz="1100" dirty="0"/>
                        <a:t> con lo </a:t>
                      </a:r>
                      <a:r>
                        <a:rPr lang="en-US" sz="1100" dirty="0" err="1"/>
                        <a:t>solicitado</a:t>
                      </a:r>
                      <a:r>
                        <a:rPr lang="en-US" sz="1100"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b="1" dirty="0"/>
                        <a:t>Puntos 0</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El </a:t>
                      </a:r>
                      <a:r>
                        <a:rPr lang="en-US" sz="1100" dirty="0" err="1"/>
                        <a:t>diseño</a:t>
                      </a:r>
                      <a:r>
                        <a:rPr lang="en-US" sz="1100" dirty="0"/>
                        <a:t> del plan de </a:t>
                      </a:r>
                      <a:r>
                        <a:rPr lang="en-US" sz="1100" dirty="0" err="1"/>
                        <a:t>pruebas</a:t>
                      </a:r>
                      <a:r>
                        <a:rPr lang="en-US" sz="1100" dirty="0"/>
                        <a:t>  es </a:t>
                      </a:r>
                      <a:r>
                        <a:rPr lang="en-US" sz="1100" dirty="0" err="1"/>
                        <a:t>parcialmente</a:t>
                      </a:r>
                      <a:r>
                        <a:rPr lang="en-US" sz="1100" dirty="0"/>
                        <a:t> claro, se </a:t>
                      </a:r>
                      <a:r>
                        <a:rPr lang="en-US" sz="1100" dirty="0" err="1"/>
                        <a:t>entiende</a:t>
                      </a:r>
                      <a:r>
                        <a:rPr lang="en-US" sz="1100" dirty="0"/>
                        <a:t> y se </a:t>
                      </a:r>
                      <a:r>
                        <a:rPr lang="en-US" sz="1100" dirty="0" err="1"/>
                        <a:t>cumple</a:t>
                      </a:r>
                      <a:r>
                        <a:rPr lang="en-US" sz="1100" dirty="0"/>
                        <a:t>  </a:t>
                      </a:r>
                      <a:r>
                        <a:rPr lang="en-US" sz="1100" dirty="0" err="1"/>
                        <a:t>algunos</a:t>
                      </a:r>
                      <a:r>
                        <a:rPr lang="en-US" sz="1100" dirty="0"/>
                        <a:t> </a:t>
                      </a:r>
                      <a:r>
                        <a:rPr lang="en-US" sz="1100" dirty="0" err="1"/>
                        <a:t>elemetos</a:t>
                      </a:r>
                      <a:r>
                        <a:rPr lang="en-US" sz="1100" dirty="0"/>
                        <a:t> de lo </a:t>
                      </a:r>
                      <a:r>
                        <a:rPr lang="en-US" sz="1100" dirty="0" err="1"/>
                        <a:t>solicitado</a:t>
                      </a:r>
                      <a:r>
                        <a:rPr lang="en-US" sz="1100"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b="1" dirty="0"/>
                        <a:t>Puntos 12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El </a:t>
                      </a:r>
                      <a:r>
                        <a:rPr lang="en-US" sz="1100" dirty="0" err="1"/>
                        <a:t>diseño</a:t>
                      </a:r>
                      <a:r>
                        <a:rPr lang="en-US" sz="1100" dirty="0"/>
                        <a:t> del plan de </a:t>
                      </a:r>
                      <a:r>
                        <a:rPr lang="en-US" sz="1100" dirty="0" err="1"/>
                        <a:t>pruebas</a:t>
                      </a:r>
                      <a:r>
                        <a:rPr lang="en-US" sz="1100" dirty="0"/>
                        <a:t>  es  claro, se </a:t>
                      </a:r>
                      <a:r>
                        <a:rPr lang="en-US" sz="1100" dirty="0" err="1"/>
                        <a:t>entiende</a:t>
                      </a:r>
                      <a:r>
                        <a:rPr lang="en-US" sz="1100" dirty="0"/>
                        <a:t> y se </a:t>
                      </a:r>
                      <a:r>
                        <a:rPr lang="en-US" sz="1100" dirty="0" err="1"/>
                        <a:t>cumple</a:t>
                      </a:r>
                      <a:r>
                        <a:rPr lang="en-US" sz="1100" dirty="0"/>
                        <a:t>  </a:t>
                      </a:r>
                      <a:r>
                        <a:rPr lang="en-US" sz="1100" dirty="0" err="1"/>
                        <a:t>todos</a:t>
                      </a:r>
                      <a:r>
                        <a:rPr lang="en-US" sz="1100" dirty="0"/>
                        <a:t> </a:t>
                      </a:r>
                      <a:r>
                        <a:rPr lang="en-US" sz="1100" dirty="0" err="1"/>
                        <a:t>los</a:t>
                      </a:r>
                      <a:r>
                        <a:rPr lang="en-US" sz="1100" dirty="0"/>
                        <a:t> </a:t>
                      </a:r>
                      <a:r>
                        <a:rPr lang="en-US" sz="1100" dirty="0" err="1"/>
                        <a:t>elemetos</a:t>
                      </a:r>
                      <a:r>
                        <a:rPr lang="en-US" sz="1100" dirty="0"/>
                        <a:t> de lo </a:t>
                      </a:r>
                      <a:r>
                        <a:rPr lang="en-US" sz="1100" dirty="0" err="1"/>
                        <a:t>solicitados</a:t>
                      </a:r>
                      <a:r>
                        <a:rPr lang="en-US" sz="1100" dirty="0"/>
                        <a:t>: </a:t>
                      </a:r>
                      <a:r>
                        <a:rPr lang="en-US" sz="1100" dirty="0" err="1"/>
                        <a:t>Introducción</a:t>
                      </a:r>
                      <a:r>
                        <a:rPr lang="en-US" sz="1100" dirty="0"/>
                        <a:t>, </a:t>
                      </a:r>
                      <a:r>
                        <a:rPr lang="en-US" sz="1100" dirty="0" err="1"/>
                        <a:t>información</a:t>
                      </a:r>
                      <a:r>
                        <a:rPr lang="en-US" sz="1100" dirty="0"/>
                        <a:t> y </a:t>
                      </a:r>
                      <a:r>
                        <a:rPr lang="en-US" sz="1100" dirty="0" err="1"/>
                        <a:t>descripción</a:t>
                      </a:r>
                      <a:r>
                        <a:rPr lang="en-US" sz="1100" dirty="0"/>
                        <a:t> del software, </a:t>
                      </a:r>
                      <a:r>
                        <a:rPr lang="en-US" sz="1100" dirty="0" err="1"/>
                        <a:t>estrategias</a:t>
                      </a:r>
                      <a:r>
                        <a:rPr lang="en-US" sz="1100" dirty="0"/>
                        <a:t> </a:t>
                      </a:r>
                      <a:r>
                        <a:rPr lang="en-US" sz="1100" dirty="0" err="1"/>
                        <a:t>VyV</a:t>
                      </a:r>
                      <a:r>
                        <a:rPr lang="en-US" sz="1100" dirty="0"/>
                        <a:t>, </a:t>
                      </a:r>
                      <a:r>
                        <a:rPr lang="en-US" sz="1100" dirty="0" err="1"/>
                        <a:t>descripción</a:t>
                      </a:r>
                      <a:r>
                        <a:rPr lang="en-US" sz="1100" dirty="0"/>
                        <a:t> de </a:t>
                      </a:r>
                      <a:r>
                        <a:rPr lang="en-US" sz="1100" dirty="0" err="1"/>
                        <a:t>usuarios</a:t>
                      </a:r>
                      <a:r>
                        <a:rPr lang="en-US" sz="1100" dirty="0"/>
                        <a:t>, </a:t>
                      </a:r>
                      <a:r>
                        <a:rPr lang="en-US" sz="1100" dirty="0" err="1"/>
                        <a:t>responsables</a:t>
                      </a:r>
                      <a:r>
                        <a:rPr lang="en-US" sz="1100" dirty="0"/>
                        <a:t>, </a:t>
                      </a:r>
                      <a:r>
                        <a:rPr lang="en-US" sz="1100" dirty="0" err="1"/>
                        <a:t>preguntas</a:t>
                      </a:r>
                      <a:r>
                        <a:rPr lang="en-US" sz="1100" dirty="0"/>
                        <a:t>, </a:t>
                      </a:r>
                      <a:r>
                        <a:rPr lang="en-US" sz="1100" dirty="0" err="1"/>
                        <a:t>pruebas</a:t>
                      </a:r>
                      <a:r>
                        <a:rPr lang="en-US" sz="1100" dirty="0"/>
                        <a:t>, </a:t>
                      </a:r>
                      <a:r>
                        <a:rPr lang="en-US" sz="1100" dirty="0" err="1"/>
                        <a:t>tipos</a:t>
                      </a:r>
                      <a:r>
                        <a:rPr lang="en-US" sz="1100" dirty="0"/>
                        <a:t> de </a:t>
                      </a:r>
                      <a:r>
                        <a:rPr lang="en-US" sz="1100" dirty="0" err="1"/>
                        <a:t>pruebas</a:t>
                      </a:r>
                      <a:r>
                        <a:rPr lang="en-US" sz="1100" dirty="0"/>
                        <a:t>, </a:t>
                      </a:r>
                      <a:r>
                        <a:rPr lang="en-US" sz="1100" dirty="0" err="1"/>
                        <a:t>estraegias</a:t>
                      </a:r>
                      <a:r>
                        <a:rPr lang="en-US" sz="1100" dirty="0"/>
                        <a:t>, </a:t>
                      </a:r>
                      <a:r>
                        <a:rPr lang="en-US" sz="1100" dirty="0" err="1"/>
                        <a:t>técnicas</a:t>
                      </a:r>
                      <a:r>
                        <a:rPr lang="en-US" sz="1100" dirty="0"/>
                        <a:t> de </a:t>
                      </a:r>
                      <a:r>
                        <a:rPr lang="en-US" sz="1100" dirty="0" err="1"/>
                        <a:t>pruebas</a:t>
                      </a:r>
                      <a:r>
                        <a:rPr lang="en-US" sz="1100" dirty="0"/>
                        <a:t>, </a:t>
                      </a:r>
                      <a:r>
                        <a:rPr lang="en-US" sz="1100" dirty="0" err="1"/>
                        <a:t>alcance</a:t>
                      </a:r>
                      <a:r>
                        <a:rPr lang="en-US" sz="1100" dirty="0"/>
                        <a:t>, </a:t>
                      </a:r>
                      <a:r>
                        <a:rPr lang="en-US" sz="1100" dirty="0" err="1"/>
                        <a:t>criterios</a:t>
                      </a:r>
                      <a:r>
                        <a:rPr lang="en-US" sz="1100" dirty="0"/>
                        <a:t>, </a:t>
                      </a:r>
                      <a:r>
                        <a:rPr lang="en-US" sz="1100" dirty="0" err="1"/>
                        <a:t>datos</a:t>
                      </a:r>
                      <a:r>
                        <a:rPr lang="en-US" sz="1100" dirty="0"/>
                        <a:t> , </a:t>
                      </a:r>
                      <a:r>
                        <a:rPr lang="en-US" sz="1100" dirty="0" err="1"/>
                        <a:t>entregables</a:t>
                      </a:r>
                      <a:r>
                        <a:rPr lang="en-US" sz="1100" dirty="0"/>
                        <a:t>, </a:t>
                      </a:r>
                      <a:r>
                        <a:rPr lang="en-US" sz="1100" dirty="0" err="1"/>
                        <a:t>recursos</a:t>
                      </a:r>
                      <a:r>
                        <a:rPr lang="en-US" sz="1100" dirty="0"/>
                        <a:t> y </a:t>
                      </a:r>
                      <a:r>
                        <a:rPr lang="en-US" sz="1100" dirty="0" err="1"/>
                        <a:t>resultados</a:t>
                      </a:r>
                      <a:endParaRPr lang="en-US" sz="11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b="1" dirty="0"/>
                        <a:t>Puntos 20</a:t>
                      </a:r>
                    </a:p>
                  </a:txBody>
                  <a:tcPr/>
                </a:tc>
                <a:extLst>
                  <a:ext uri="{0D108BD9-81ED-4DB2-BD59-A6C34878D82A}">
                    <a16:rowId xmlns:a16="http://schemas.microsoft.com/office/drawing/2014/main" val="378449359"/>
                  </a:ext>
                </a:extLst>
              </a:tr>
              <a:tr h="710342">
                <a:tc>
                  <a:txBody>
                    <a:bodyPr/>
                    <a:lstStyle/>
                    <a:p>
                      <a:r>
                        <a:rPr lang="en-US" sz="1100" b="1" dirty="0" err="1"/>
                        <a:t>Organización</a:t>
                      </a:r>
                      <a:r>
                        <a:rPr lang="en-US" sz="1100" b="1" dirty="0"/>
                        <a:t> de </a:t>
                      </a:r>
                      <a:r>
                        <a:rPr lang="en-US" sz="1100" b="1" dirty="0" err="1"/>
                        <a:t>acuerdo</a:t>
                      </a:r>
                      <a:r>
                        <a:rPr lang="en-US" sz="1100" b="1" dirty="0"/>
                        <a:t> a las </a:t>
                      </a:r>
                      <a:r>
                        <a:rPr lang="en-US" sz="1100" b="1" dirty="0" err="1"/>
                        <a:t>normas</a:t>
                      </a:r>
                      <a:r>
                        <a:rPr lang="en-US" sz="1100" b="1" dirty="0"/>
                        <a:t> APA</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El plan de </a:t>
                      </a:r>
                      <a:r>
                        <a:rPr lang="en-US" sz="1100" dirty="0" err="1"/>
                        <a:t>pruebas</a:t>
                      </a:r>
                      <a:r>
                        <a:rPr lang="en-US" sz="1100" dirty="0"/>
                        <a:t> no se </a:t>
                      </a:r>
                      <a:r>
                        <a:rPr lang="en-US" sz="1100" dirty="0" err="1"/>
                        <a:t>presenta</a:t>
                      </a:r>
                      <a:r>
                        <a:rPr lang="en-US" sz="1100" dirty="0"/>
                        <a:t> de </a:t>
                      </a:r>
                      <a:r>
                        <a:rPr lang="en-US" sz="1100" dirty="0" err="1"/>
                        <a:t>acuerdo</a:t>
                      </a:r>
                      <a:r>
                        <a:rPr lang="en-US" sz="1100" dirty="0"/>
                        <a:t> a las </a:t>
                      </a:r>
                      <a:r>
                        <a:rPr lang="en-US" sz="1100" dirty="0" err="1"/>
                        <a:t>normas</a:t>
                      </a:r>
                      <a:r>
                        <a:rPr lang="en-US" sz="1100" dirty="0"/>
                        <a:t> APA.</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b="1" dirty="0"/>
                        <a:t>Puntos 0</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err="1"/>
                        <a:t>Algunas</a:t>
                      </a:r>
                      <a:r>
                        <a:rPr lang="en-US" sz="1100" dirty="0"/>
                        <a:t> </a:t>
                      </a:r>
                      <a:r>
                        <a:rPr lang="en-US" sz="1100" dirty="0" err="1"/>
                        <a:t>partes</a:t>
                      </a:r>
                      <a:r>
                        <a:rPr lang="en-US" sz="1100" dirty="0"/>
                        <a:t> del plan de </a:t>
                      </a:r>
                      <a:r>
                        <a:rPr lang="en-US" sz="1100" dirty="0" err="1"/>
                        <a:t>pruebas</a:t>
                      </a:r>
                      <a:r>
                        <a:rPr lang="en-US" sz="1100" dirty="0"/>
                        <a:t> se </a:t>
                      </a:r>
                      <a:r>
                        <a:rPr lang="en-US" sz="1100" dirty="0" err="1"/>
                        <a:t>presento</a:t>
                      </a:r>
                      <a:r>
                        <a:rPr lang="en-US" sz="1100" dirty="0"/>
                        <a:t> de </a:t>
                      </a:r>
                      <a:r>
                        <a:rPr lang="en-US" sz="1100" dirty="0" err="1"/>
                        <a:t>acuerdo</a:t>
                      </a:r>
                      <a:r>
                        <a:rPr lang="en-US" sz="1100" dirty="0"/>
                        <a:t> a las </a:t>
                      </a:r>
                      <a:r>
                        <a:rPr lang="en-US" sz="1100" dirty="0" err="1"/>
                        <a:t>normas</a:t>
                      </a:r>
                      <a:r>
                        <a:rPr lang="en-US" sz="1100" dirty="0"/>
                        <a:t> APA.</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b="1" dirty="0"/>
                        <a:t>Puntos 3</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El plan de </a:t>
                      </a:r>
                      <a:r>
                        <a:rPr lang="en-US" sz="1100" dirty="0" err="1"/>
                        <a:t>pruebas</a:t>
                      </a:r>
                      <a:r>
                        <a:rPr lang="en-US" sz="1100" dirty="0"/>
                        <a:t> se </a:t>
                      </a:r>
                      <a:r>
                        <a:rPr lang="en-US" sz="1100" dirty="0" err="1"/>
                        <a:t>presento</a:t>
                      </a:r>
                      <a:r>
                        <a:rPr lang="en-US" sz="1100" dirty="0"/>
                        <a:t> de </a:t>
                      </a:r>
                      <a:r>
                        <a:rPr lang="en-US" sz="1100" dirty="0" err="1"/>
                        <a:t>acuerdo</a:t>
                      </a:r>
                      <a:r>
                        <a:rPr lang="en-US" sz="1100" dirty="0"/>
                        <a:t> a las </a:t>
                      </a:r>
                      <a:r>
                        <a:rPr lang="en-US" sz="1100" dirty="0" err="1"/>
                        <a:t>normas</a:t>
                      </a:r>
                      <a:r>
                        <a:rPr lang="en-US" sz="1100" dirty="0"/>
                        <a:t> APA.</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b="1" dirty="0"/>
                        <a:t>Puntos 5</a:t>
                      </a:r>
                    </a:p>
                  </a:txBody>
                  <a:tcPr/>
                </a:tc>
                <a:extLst>
                  <a:ext uri="{0D108BD9-81ED-4DB2-BD59-A6C34878D82A}">
                    <a16:rowId xmlns:a16="http://schemas.microsoft.com/office/drawing/2014/main" val="1163756735"/>
                  </a:ext>
                </a:extLst>
              </a:tr>
              <a:tr h="971149">
                <a:tc>
                  <a:txBody>
                    <a:bodyPr/>
                    <a:lstStyle/>
                    <a:p>
                      <a:r>
                        <a:rPr lang="en-US" sz="1100" b="1" dirty="0" err="1"/>
                        <a:t>Redacción</a:t>
                      </a:r>
                      <a:r>
                        <a:rPr lang="en-US" sz="1100" b="1" dirty="0"/>
                        <a:t> y </a:t>
                      </a:r>
                      <a:r>
                        <a:rPr lang="en-US" sz="1100" b="1" dirty="0" err="1"/>
                        <a:t>Ortografía</a:t>
                      </a:r>
                      <a:endParaRPr lang="en-US" sz="1100" b="1"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Los </a:t>
                      </a:r>
                      <a:r>
                        <a:rPr lang="en-US" sz="1100" dirty="0" err="1"/>
                        <a:t>textos</a:t>
                      </a:r>
                      <a:r>
                        <a:rPr lang="en-US" sz="1100" dirty="0"/>
                        <a:t> no </a:t>
                      </a:r>
                      <a:r>
                        <a:rPr lang="en-US" sz="1100" dirty="0" err="1"/>
                        <a:t>están</a:t>
                      </a:r>
                      <a:r>
                        <a:rPr lang="en-US" sz="1100" dirty="0"/>
                        <a:t> </a:t>
                      </a:r>
                      <a:r>
                        <a:rPr lang="en-US" sz="1100" dirty="0" err="1"/>
                        <a:t>escritos</a:t>
                      </a:r>
                      <a:r>
                        <a:rPr lang="en-US" sz="1100" dirty="0"/>
                        <a:t> de forma </a:t>
                      </a:r>
                      <a:r>
                        <a:rPr lang="en-US" sz="1100" dirty="0" err="1"/>
                        <a:t>correcta</a:t>
                      </a:r>
                      <a:r>
                        <a:rPr lang="en-US" sz="1100" dirty="0"/>
                        <a:t>, con </a:t>
                      </a:r>
                      <a:r>
                        <a:rPr lang="en-US" sz="1100" dirty="0" err="1"/>
                        <a:t>una</a:t>
                      </a:r>
                      <a:r>
                        <a:rPr lang="en-US" sz="1100" dirty="0"/>
                        <a:t> </a:t>
                      </a:r>
                      <a:r>
                        <a:rPr lang="en-US" sz="1100" dirty="0" err="1"/>
                        <a:t>correcta</a:t>
                      </a:r>
                      <a:r>
                        <a:rPr lang="en-US" sz="1100" dirty="0"/>
                        <a:t> </a:t>
                      </a:r>
                      <a:r>
                        <a:rPr lang="en-US" sz="1100" dirty="0" err="1"/>
                        <a:t>redacción</a:t>
                      </a:r>
                      <a:r>
                        <a:rPr lang="en-US" sz="1100" dirty="0"/>
                        <a:t> y </a:t>
                      </a:r>
                      <a:r>
                        <a:rPr lang="en-US" sz="1100" dirty="0" err="1"/>
                        <a:t>ortografía</a:t>
                      </a:r>
                      <a:r>
                        <a:rPr lang="en-US" sz="1100"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b="1" dirty="0"/>
                        <a:t>Puntos 0</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err="1"/>
                        <a:t>Algunos</a:t>
                      </a:r>
                      <a:r>
                        <a:rPr lang="en-US" sz="1100" dirty="0"/>
                        <a:t> de </a:t>
                      </a:r>
                      <a:r>
                        <a:rPr lang="en-US" sz="1100" dirty="0" err="1"/>
                        <a:t>los</a:t>
                      </a:r>
                      <a:r>
                        <a:rPr lang="en-US" sz="1100" dirty="0"/>
                        <a:t> </a:t>
                      </a:r>
                      <a:r>
                        <a:rPr lang="en-US" sz="1100" dirty="0" err="1"/>
                        <a:t>textos</a:t>
                      </a:r>
                      <a:r>
                        <a:rPr lang="en-US" sz="1100" dirty="0"/>
                        <a:t> </a:t>
                      </a:r>
                      <a:r>
                        <a:rPr lang="en-US" sz="1100" dirty="0" err="1"/>
                        <a:t>están</a:t>
                      </a:r>
                      <a:r>
                        <a:rPr lang="en-US" sz="1100" dirty="0"/>
                        <a:t> </a:t>
                      </a:r>
                      <a:r>
                        <a:rPr lang="en-US" sz="1100" dirty="0" err="1"/>
                        <a:t>escritos</a:t>
                      </a:r>
                      <a:r>
                        <a:rPr lang="en-US" sz="1100" dirty="0"/>
                        <a:t> de forma </a:t>
                      </a:r>
                      <a:r>
                        <a:rPr lang="en-US" sz="1100" dirty="0" err="1"/>
                        <a:t>correcta</a:t>
                      </a:r>
                      <a:r>
                        <a:rPr lang="en-US" sz="1100" dirty="0"/>
                        <a:t>, con </a:t>
                      </a:r>
                      <a:r>
                        <a:rPr lang="en-US" sz="1100" dirty="0" err="1"/>
                        <a:t>una</a:t>
                      </a:r>
                      <a:r>
                        <a:rPr lang="en-US" sz="1100" dirty="0"/>
                        <a:t> </a:t>
                      </a:r>
                      <a:r>
                        <a:rPr lang="en-US" sz="1100" dirty="0" err="1"/>
                        <a:t>correcta</a:t>
                      </a:r>
                      <a:r>
                        <a:rPr lang="en-US" sz="1100" dirty="0"/>
                        <a:t> </a:t>
                      </a:r>
                      <a:r>
                        <a:rPr lang="en-US" sz="1100" dirty="0" err="1"/>
                        <a:t>redacción</a:t>
                      </a:r>
                      <a:r>
                        <a:rPr lang="en-US" sz="1100" dirty="0"/>
                        <a:t> y </a:t>
                      </a:r>
                      <a:r>
                        <a:rPr lang="en-US" sz="1100" dirty="0" err="1"/>
                        <a:t>ortografía</a:t>
                      </a:r>
                      <a:r>
                        <a:rPr lang="en-US" sz="1100"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b="1" dirty="0"/>
                        <a:t>Puntos 3</a:t>
                      </a:r>
                      <a:endParaRPr lang="en-US" sz="1100" dirty="0"/>
                    </a:p>
                    <a:p>
                      <a:endParaRPr lang="en-US" sz="1100" dirty="0"/>
                    </a:p>
                  </a:txBody>
                  <a:tcPr/>
                </a:tc>
                <a:tc>
                  <a:txBody>
                    <a:bodyPr/>
                    <a:lstStyle/>
                    <a:p>
                      <a:r>
                        <a:rPr lang="en-US" sz="1100" dirty="0"/>
                        <a:t>Los </a:t>
                      </a:r>
                      <a:r>
                        <a:rPr lang="en-US" sz="1100" dirty="0" err="1"/>
                        <a:t>textos</a:t>
                      </a:r>
                      <a:r>
                        <a:rPr lang="en-US" sz="1100" dirty="0"/>
                        <a:t> </a:t>
                      </a:r>
                      <a:r>
                        <a:rPr lang="en-US" sz="1100" dirty="0" err="1"/>
                        <a:t>están</a:t>
                      </a:r>
                      <a:r>
                        <a:rPr lang="en-US" sz="1100" dirty="0"/>
                        <a:t> </a:t>
                      </a:r>
                      <a:r>
                        <a:rPr lang="en-US" sz="1100" dirty="0" err="1"/>
                        <a:t>escritos</a:t>
                      </a:r>
                      <a:r>
                        <a:rPr lang="en-US" sz="1100" dirty="0"/>
                        <a:t> de forma </a:t>
                      </a:r>
                      <a:r>
                        <a:rPr lang="en-US" sz="1100" dirty="0" err="1"/>
                        <a:t>correcta</a:t>
                      </a:r>
                      <a:r>
                        <a:rPr lang="en-US" sz="1100" dirty="0"/>
                        <a:t>, con </a:t>
                      </a:r>
                      <a:r>
                        <a:rPr lang="en-US" sz="1100" dirty="0" err="1"/>
                        <a:t>una</a:t>
                      </a:r>
                      <a:r>
                        <a:rPr lang="en-US" sz="1100" dirty="0"/>
                        <a:t> </a:t>
                      </a:r>
                      <a:r>
                        <a:rPr lang="en-US" sz="1100" dirty="0" err="1"/>
                        <a:t>correcta</a:t>
                      </a:r>
                      <a:r>
                        <a:rPr lang="en-US" sz="1100" dirty="0"/>
                        <a:t> </a:t>
                      </a:r>
                      <a:r>
                        <a:rPr lang="en-US" sz="1100" dirty="0" err="1"/>
                        <a:t>redacción</a:t>
                      </a:r>
                      <a:r>
                        <a:rPr lang="en-US" sz="1100" dirty="0"/>
                        <a:t> y </a:t>
                      </a:r>
                      <a:r>
                        <a:rPr lang="en-US" sz="1100" dirty="0" err="1"/>
                        <a:t>ortografía</a:t>
                      </a:r>
                      <a:r>
                        <a:rPr lang="en-US" sz="1100"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b="1" dirty="0"/>
                        <a:t>Puntos 5</a:t>
                      </a:r>
                    </a:p>
                  </a:txBody>
                  <a:tcPr/>
                </a:tc>
                <a:extLst>
                  <a:ext uri="{0D108BD9-81ED-4DB2-BD59-A6C34878D82A}">
                    <a16:rowId xmlns:a16="http://schemas.microsoft.com/office/drawing/2014/main" val="2886786995"/>
                  </a:ext>
                </a:extLst>
              </a:tr>
            </a:tbl>
          </a:graphicData>
        </a:graphic>
      </p:graphicFrame>
    </p:spTree>
    <p:extLst>
      <p:ext uri="{BB962C8B-B14F-4D97-AF65-F5344CB8AC3E}">
        <p14:creationId xmlns:p14="http://schemas.microsoft.com/office/powerpoint/2010/main" val="275684902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5538" name="Imagen 3">
            <a:extLst>
              <a:ext uri="{FF2B5EF4-FFF2-40B4-BE49-F238E27FC236}">
                <a16:creationId xmlns:a16="http://schemas.microsoft.com/office/drawing/2014/main" id="{C0ECBFF5-E346-A54A-8920-BD98DC71879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891779"/>
            <a:ext cx="9144000" cy="50934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5539" name="CuadroTexto 1">
            <a:extLst>
              <a:ext uri="{FF2B5EF4-FFF2-40B4-BE49-F238E27FC236}">
                <a16:creationId xmlns:a16="http://schemas.microsoft.com/office/drawing/2014/main" id="{C3AD37CF-45E7-CE4B-AA86-A16D4DB4F040}"/>
              </a:ext>
            </a:extLst>
          </p:cNvPr>
          <p:cNvSpPr txBox="1">
            <a:spLocks noChangeArrowheads="1"/>
          </p:cNvSpPr>
          <p:nvPr/>
        </p:nvSpPr>
        <p:spPr bwMode="auto">
          <a:xfrm>
            <a:off x="2687241" y="2865835"/>
            <a:ext cx="3355406"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es-MX" altLang="es-CO" sz="5400">
                <a:solidFill>
                  <a:srgbClr val="C00000"/>
                </a:solidFill>
                <a:latin typeface="Berlin Sans FB Demi" panose="020E0602020502020306" pitchFamily="34" charset="77"/>
              </a:rPr>
              <a:t>Preguntas</a:t>
            </a:r>
            <a:endParaRPr lang="es-CO" altLang="es-CO" sz="1350">
              <a:solidFill>
                <a:srgbClr val="C00000"/>
              </a:solidFill>
              <a:latin typeface="Berlin Sans FB Demi" panose="020E0602020502020306" pitchFamily="34" charset="77"/>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7586" name="Imagen 1">
            <a:extLst>
              <a:ext uri="{FF2B5EF4-FFF2-40B4-BE49-F238E27FC236}">
                <a16:creationId xmlns:a16="http://schemas.microsoft.com/office/drawing/2014/main" id="{BD7134BB-9EBA-8F4C-93D1-E0627BD66519}"/>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866775"/>
            <a:ext cx="9144000" cy="51113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6111</TotalTime>
  <Words>3232</Words>
  <Application>Microsoft Macintosh PowerPoint</Application>
  <PresentationFormat>Presentación en pantalla (4:3)</PresentationFormat>
  <Paragraphs>407</Paragraphs>
  <Slides>42</Slides>
  <Notes>5</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42</vt:i4>
      </vt:variant>
    </vt:vector>
  </HeadingPairs>
  <TitlesOfParts>
    <vt:vector size="47" baseType="lpstr">
      <vt:lpstr>Arial</vt:lpstr>
      <vt:lpstr>Berlin Sans FB Demi</vt:lpstr>
      <vt:lpstr>Calibri</vt:lpstr>
      <vt:lpstr>Helvetica</vt:lpstr>
      <vt:lpstr>Tema de Office</vt:lpstr>
      <vt:lpstr>Presentación de PowerPoint</vt:lpstr>
      <vt:lpstr>Costo de las Fallas y Pruebas en el Ciclo de Vida</vt:lpstr>
      <vt:lpstr>Costos vs Ganancias</vt:lpstr>
      <vt:lpstr>Flujo de  Trabajo Validación y Verificación</vt:lpstr>
      <vt:lpstr>Proceso Validación y Verificación</vt:lpstr>
      <vt:lpstr>Ciclo de Vida de las Pruebas</vt:lpstr>
      <vt:lpstr>Pruebas</vt:lpstr>
      <vt:lpstr>Pruebas</vt:lpstr>
      <vt:lpstr>Productos de las Pruebas</vt:lpstr>
      <vt:lpstr>Productos de las Pruebas</vt:lpstr>
      <vt:lpstr>Procesos de las Pruebas</vt:lpstr>
      <vt:lpstr>Procesos de las Pruebas</vt:lpstr>
      <vt:lpstr>Procesos de las Pruebas</vt:lpstr>
      <vt:lpstr>Procesos de las Pruebas</vt:lpstr>
      <vt:lpstr>Flujo de Pruebas</vt:lpstr>
      <vt:lpstr>Estrategias de las Pruebas</vt:lpstr>
      <vt:lpstr>Estrategia Caja Negra  (Black Box)</vt:lpstr>
      <vt:lpstr>Estrategia Caja Blanca  (White Box)</vt:lpstr>
      <vt:lpstr>Estrategia de Abajo hacia Arriba  (Down to Top)</vt:lpstr>
      <vt:lpstr>Estrategia de Arriba hacia Abajo (Top to Down)</vt:lpstr>
      <vt:lpstr>Estrategia de Automatización</vt:lpstr>
      <vt:lpstr>Técnicas de pruebas de caja negra</vt:lpstr>
      <vt:lpstr>Técnicas de pruebas de caja negra:  Particiones Equivalentes</vt:lpstr>
      <vt:lpstr>Técnicas de pruebas de caja negra:  Análisis de Valores Limites</vt:lpstr>
      <vt:lpstr>Técnicas de pruebas de caja negra:  Conjetura de errores</vt:lpstr>
      <vt:lpstr>Técnicas de pruebas de caja negra:  Pruebas aleatorias</vt:lpstr>
      <vt:lpstr>Técnicas de pruebas de caja blanca</vt:lpstr>
      <vt:lpstr>Técnicas de pruebas de caja blanca:  Pruebas del camino básico</vt:lpstr>
      <vt:lpstr>Técnicas de pruebas de caja blanca:  Pruebas de condición</vt:lpstr>
      <vt:lpstr>Técnicas de pruebas de caja blanca:  Pruebas de lazos o bucles</vt:lpstr>
      <vt:lpstr>Técnicas basadas en el objetivo de la prueba</vt:lpstr>
      <vt:lpstr>Requisitos y Pruebas</vt:lpstr>
      <vt:lpstr>Requisitos y Pruebas</vt:lpstr>
      <vt:lpstr>Historias de usuario y Pruebas</vt:lpstr>
      <vt:lpstr>Historias de usuario y Pruebas</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UdeM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Liliana Gonzalez Palacio</dc:creator>
  <cp:lastModifiedBy>Gabriel Mauricio Ramírez Villegas</cp:lastModifiedBy>
  <cp:revision>74</cp:revision>
  <dcterms:created xsi:type="dcterms:W3CDTF">2012-08-10T19:33:56Z</dcterms:created>
  <dcterms:modified xsi:type="dcterms:W3CDTF">2025-02-10T14:39:17Z</dcterms:modified>
</cp:coreProperties>
</file>