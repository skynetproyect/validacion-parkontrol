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311" r:id="rId2"/>
    <p:sldId id="787" r:id="rId3"/>
    <p:sldId id="790" r:id="rId4"/>
    <p:sldId id="791" r:id="rId5"/>
    <p:sldId id="794" r:id="rId6"/>
    <p:sldId id="795" r:id="rId7"/>
    <p:sldId id="796" r:id="rId8"/>
    <p:sldId id="797" r:id="rId9"/>
    <p:sldId id="798" r:id="rId10"/>
    <p:sldId id="799" r:id="rId11"/>
    <p:sldId id="800" r:id="rId12"/>
    <p:sldId id="804" r:id="rId13"/>
    <p:sldId id="803" r:id="rId14"/>
    <p:sldId id="805" r:id="rId15"/>
    <p:sldId id="806" r:id="rId16"/>
    <p:sldId id="807" r:id="rId17"/>
    <p:sldId id="808" r:id="rId18"/>
    <p:sldId id="809" r:id="rId19"/>
    <p:sldId id="810" r:id="rId20"/>
    <p:sldId id="811" r:id="rId21"/>
    <p:sldId id="812" r:id="rId22"/>
    <p:sldId id="813" r:id="rId23"/>
    <p:sldId id="814" r:id="rId24"/>
    <p:sldId id="815" r:id="rId25"/>
    <p:sldId id="816" r:id="rId26"/>
    <p:sldId id="817" r:id="rId27"/>
    <p:sldId id="818" r:id="rId28"/>
    <p:sldId id="819" r:id="rId29"/>
    <p:sldId id="820" r:id="rId30"/>
    <p:sldId id="821" r:id="rId31"/>
    <p:sldId id="822" r:id="rId32"/>
    <p:sldId id="823" r:id="rId33"/>
    <p:sldId id="824" r:id="rId34"/>
    <p:sldId id="825" r:id="rId35"/>
    <p:sldId id="826" r:id="rId36"/>
    <p:sldId id="827" r:id="rId37"/>
    <p:sldId id="828" r:id="rId38"/>
    <p:sldId id="829" r:id="rId39"/>
    <p:sldId id="830" r:id="rId40"/>
    <p:sldId id="831" r:id="rId41"/>
    <p:sldId id="832" r:id="rId42"/>
    <p:sldId id="833" r:id="rId43"/>
    <p:sldId id="834" r:id="rId44"/>
    <p:sldId id="835" r:id="rId45"/>
    <p:sldId id="836" r:id="rId46"/>
    <p:sldId id="837" r:id="rId47"/>
    <p:sldId id="838" r:id="rId48"/>
    <p:sldId id="839" r:id="rId49"/>
    <p:sldId id="840" r:id="rId50"/>
    <p:sldId id="841" r:id="rId51"/>
    <p:sldId id="842" r:id="rId52"/>
    <p:sldId id="843" r:id="rId53"/>
    <p:sldId id="844" r:id="rId54"/>
    <p:sldId id="259" r:id="rId55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40"/>
    <p:restoredTop sz="94628"/>
  </p:normalViewPr>
  <p:slideViewPr>
    <p:cSldViewPr>
      <p:cViewPr varScale="1">
        <p:scale>
          <a:sx n="119" d="100"/>
          <a:sy n="119" d="100"/>
        </p:scale>
        <p:origin x="131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C39FE1-158E-45EC-B581-84D0C075B0A5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BD412-B683-424A-B022-9DBF11AF83D1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15180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ADE16FA2-9656-BF4A-9875-F571C12792E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23D1283B-10B7-064E-AAFB-4EC586450B0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53ADA2E-09BF-6548-B1E6-80BD2EA9B8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13BA33E-0F4B-7847-A712-6A2FA6CCD335}" type="slidenum">
              <a:rPr lang="es-ES_tradnl" altLang="es-ES_tradnl" smtClean="0"/>
              <a:pPr/>
              <a:t>1</a:t>
            </a:fld>
            <a:endParaRPr lang="es-ES_tradnl" altLang="es-ES_tradn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416357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7889449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4855188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5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2777437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6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052231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7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5165904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8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0481068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9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517875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10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1848456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11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489244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268650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6865605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14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1480523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15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963608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16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132294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17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8210993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18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6357837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19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2911263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20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5276467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21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4103432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3469514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1129695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24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16496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25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5821376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26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9469511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27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112822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28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4889366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29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2997694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30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42104700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31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375586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96463473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5970844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34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9996980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35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54025338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36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986696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37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71466769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38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11052311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39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6610351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40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5910115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41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13502598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32489520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8383807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44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08151510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45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0394950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46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106060024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47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78807079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48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07169230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49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44521061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50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97644731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51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290867071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52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9809286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D5AF1AC9-A6E1-E404-4D0E-310A9F11EA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Gill Sans" panose="020B0502020104020203" pitchFamily="34" charset="-79"/>
                <a:ea typeface="MS PGothic" panose="020B0600070205080204" pitchFamily="34" charset="-128"/>
              </a:defRPr>
            </a:lvl9pPr>
          </a:lstStyle>
          <a:p>
            <a:fld id="{03279C4F-2BB6-924B-8E50-7BB2A3D03441}" type="slidenum">
              <a:rPr lang="en-US" altLang="es-CO" smtClean="0">
                <a:solidFill>
                  <a:srgbClr val="000000"/>
                </a:solidFill>
                <a:ea typeface="ヒラギノ角ゴ Pro W3" panose="020B0300000000000000" pitchFamily="34" charset="-128"/>
              </a:rPr>
              <a:pPr/>
              <a:t>53</a:t>
            </a:fld>
            <a:endParaRPr lang="en-US" altLang="es-CO">
              <a:solidFill>
                <a:srgbClr val="000000"/>
              </a:solidFill>
              <a:ea typeface="ヒラギノ角ゴ Pro W3" panose="020B0300000000000000" pitchFamily="34" charset="-128"/>
            </a:endParaRPr>
          </a:p>
        </p:txBody>
      </p:sp>
      <p:sp>
        <p:nvSpPr>
          <p:cNvPr id="21506" name="Rectangle 1">
            <a:extLst>
              <a:ext uri="{FF2B5EF4-FFF2-40B4-BE49-F238E27FC236}">
                <a16:creationId xmlns:a16="http://schemas.microsoft.com/office/drawing/2014/main" id="{E4EB24E2-15F1-BD5D-298F-F0463210BD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5F8CD815-823E-E76E-D6AD-87557133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s-CO" sz="1600">
                <a:latin typeface="Lucida Grande" panose="020B0600040502020204" pitchFamily="34" charset="0"/>
                <a:sym typeface="Lucida Grande" panose="020B0600040502020204" pitchFamily="34" charset="0"/>
              </a:rPr>
              <a:t>would be nice to include a quote from Wicked Problems here</a:t>
            </a:r>
          </a:p>
        </p:txBody>
      </p:sp>
    </p:spTree>
    <p:extLst>
      <p:ext uri="{BB962C8B-B14F-4D97-AF65-F5344CB8AC3E}">
        <p14:creationId xmlns:p14="http://schemas.microsoft.com/office/powerpoint/2010/main" val="342019824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Marcador de imagen de diapositiva 1">
            <a:extLst>
              <a:ext uri="{FF2B5EF4-FFF2-40B4-BE49-F238E27FC236}">
                <a16:creationId xmlns:a16="http://schemas.microsoft.com/office/drawing/2014/main" id="{82BD881E-150D-4B49-9283-85CE434FA9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Marcador de notas 2">
            <a:extLst>
              <a:ext uri="{FF2B5EF4-FFF2-40B4-BE49-F238E27FC236}">
                <a16:creationId xmlns:a16="http://schemas.microsoft.com/office/drawing/2014/main" id="{88054687-5C54-9D43-8334-4CF54F6E0C3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ES_tradnl" altLang="es-ES_tradnl"/>
          </a:p>
        </p:txBody>
      </p:sp>
      <p:sp>
        <p:nvSpPr>
          <p:cNvPr id="68612" name="Marcador de número de diapositiva 3">
            <a:extLst>
              <a:ext uri="{FF2B5EF4-FFF2-40B4-BE49-F238E27FC236}">
                <a16:creationId xmlns:a16="http://schemas.microsoft.com/office/drawing/2014/main" id="{FB407F55-1150-C847-920B-292070AEA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4C73578-01C6-6D4B-B299-89C8470C66EB}" type="slidenum">
              <a:rPr lang="es-ES_tradnl" altLang="es-ES_tradnl" smtClean="0"/>
              <a:pPr/>
              <a:t>54</a:t>
            </a:fld>
            <a:endParaRPr lang="es-ES_tradnl" altLang="es-ES_tradn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4415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171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9262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343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2797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121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656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29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5022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993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0661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141AD4-6AD6-47D3-AF00-9057D02D0A5E}" type="datetimeFigureOut">
              <a:rPr lang="es-CO" smtClean="0"/>
              <a:pPr/>
              <a:t>12/03/25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1995C-B7BA-48F2-B671-DECB025FA5A6}" type="slidenum">
              <a:rPr lang="es-CO" smtClean="0"/>
              <a:pPr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7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n 8">
            <a:extLst>
              <a:ext uri="{FF2B5EF4-FFF2-40B4-BE49-F238E27FC236}">
                <a16:creationId xmlns:a16="http://schemas.microsoft.com/office/drawing/2014/main" id="{A395BFF2-624B-5B43-9CEE-2F8593F639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sz="3600" b="1" dirty="0" err="1"/>
              <a:t>Indicadores</a:t>
            </a:r>
            <a:r>
              <a:rPr lang="en-US" sz="3600" b="1" dirty="0"/>
              <a:t> y </a:t>
            </a:r>
            <a:r>
              <a:rPr lang="en-US" sz="3600" b="1" dirty="0" err="1"/>
              <a:t>Métricas</a:t>
            </a:r>
            <a:endParaRPr lang="en-US" sz="3600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490649" y="1417638"/>
            <a:ext cx="739268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La </a:t>
            </a:r>
            <a:r>
              <a:rPr lang="en-US" sz="2800" dirty="0" err="1"/>
              <a:t>usabilidad</a:t>
            </a:r>
            <a:r>
              <a:rPr lang="en-US" sz="2800" dirty="0"/>
              <a:t> se </a:t>
            </a:r>
            <a:r>
              <a:rPr lang="en-US" sz="2800" dirty="0" err="1"/>
              <a:t>mide</a:t>
            </a:r>
            <a:r>
              <a:rPr lang="en-US" sz="2800" dirty="0"/>
              <a:t> </a:t>
            </a:r>
            <a:r>
              <a:rPr lang="en-US" sz="2800" dirty="0" err="1"/>
              <a:t>generalmente</a:t>
            </a:r>
            <a:r>
              <a:rPr lang="en-US" sz="2800" dirty="0"/>
              <a:t> </a:t>
            </a:r>
            <a:r>
              <a:rPr lang="en-US" sz="2800" dirty="0" err="1"/>
              <a:t>haciendo</a:t>
            </a:r>
            <a:r>
              <a:rPr lang="en-US" sz="2800" dirty="0"/>
              <a:t> </a:t>
            </a:r>
            <a:r>
              <a:rPr lang="en-US" sz="2800" dirty="0" err="1"/>
              <a:t>uso</a:t>
            </a:r>
            <a:r>
              <a:rPr lang="en-US" sz="2800" dirty="0"/>
              <a:t> de </a:t>
            </a:r>
            <a:r>
              <a:rPr lang="en-US" sz="2800" b="1" dirty="0" err="1"/>
              <a:t>indicadores</a:t>
            </a:r>
            <a:r>
              <a:rPr lang="en-US" sz="2800" dirty="0"/>
              <a:t> que se </a:t>
            </a:r>
            <a:r>
              <a:rPr lang="en-US" sz="2800" dirty="0" err="1"/>
              <a:t>pueden</a:t>
            </a:r>
            <a:r>
              <a:rPr lang="en-US" sz="2800" dirty="0"/>
              <a:t> </a:t>
            </a:r>
            <a:r>
              <a:rPr lang="en-US" sz="2800" b="1" dirty="0" err="1"/>
              <a:t>observar</a:t>
            </a:r>
            <a:r>
              <a:rPr lang="en-US" sz="2800" b="1" dirty="0"/>
              <a:t> y </a:t>
            </a:r>
            <a:r>
              <a:rPr lang="en-US" sz="2800" b="1" dirty="0" err="1"/>
              <a:t>cuantificar</a:t>
            </a:r>
            <a:r>
              <a:rPr lang="en-US" sz="2800" b="1" dirty="0"/>
              <a:t>, </a:t>
            </a:r>
            <a:r>
              <a:rPr lang="en-US" sz="2800" dirty="0"/>
              <a:t>que </a:t>
            </a:r>
            <a:r>
              <a:rPr lang="en-US" sz="2800" dirty="0" err="1"/>
              <a:t>permiten</a:t>
            </a:r>
            <a:r>
              <a:rPr lang="en-US" sz="2800" dirty="0"/>
              <a:t> </a:t>
            </a:r>
            <a:r>
              <a:rPr lang="en-US" sz="2800" dirty="0" err="1"/>
              <a:t>obtener</a:t>
            </a:r>
            <a:r>
              <a:rPr lang="en-US" sz="2800" dirty="0"/>
              <a:t> </a:t>
            </a:r>
            <a:r>
              <a:rPr lang="en-US" sz="2800" dirty="0" err="1"/>
              <a:t>resultados</a:t>
            </a:r>
            <a:r>
              <a:rPr lang="en-US" sz="2800" dirty="0"/>
              <a:t> tangibles y </a:t>
            </a:r>
            <a:r>
              <a:rPr lang="en-US" sz="2800" dirty="0" err="1"/>
              <a:t>medibles</a:t>
            </a:r>
            <a:r>
              <a:rPr lang="en-US" sz="2800" dirty="0"/>
              <a:t>.</a:t>
            </a:r>
          </a:p>
          <a:p>
            <a:endParaRPr lang="en-US" sz="2800" dirty="0"/>
          </a:p>
          <a:p>
            <a:r>
              <a:rPr lang="en-US" sz="2800" dirty="0"/>
              <a:t>Las </a:t>
            </a:r>
            <a:r>
              <a:rPr lang="en-US" sz="2800" b="1" dirty="0" err="1"/>
              <a:t>métricas</a:t>
            </a:r>
            <a:r>
              <a:rPr lang="en-US" sz="2800" dirty="0"/>
              <a:t> son las </a:t>
            </a:r>
            <a:r>
              <a:rPr lang="en-US" sz="2800" b="1" dirty="0" err="1"/>
              <a:t>medidas</a:t>
            </a:r>
            <a:r>
              <a:rPr lang="en-US" sz="2800" dirty="0"/>
              <a:t> que son </a:t>
            </a:r>
            <a:r>
              <a:rPr lang="en-US" sz="2800" dirty="0" err="1"/>
              <a:t>destinadas</a:t>
            </a:r>
            <a:r>
              <a:rPr lang="en-US" sz="2800" dirty="0"/>
              <a:t> a </a:t>
            </a:r>
            <a:r>
              <a:rPr lang="en-US" sz="2800" b="1" dirty="0" err="1"/>
              <a:t>conocer</a:t>
            </a:r>
            <a:r>
              <a:rPr lang="en-US" sz="2800" b="1" dirty="0"/>
              <a:t> o </a:t>
            </a:r>
            <a:r>
              <a:rPr lang="en-US" sz="2800" b="1" dirty="0" err="1"/>
              <a:t>estimar</a:t>
            </a:r>
            <a:r>
              <a:rPr lang="en-US" sz="2800" b="1" dirty="0"/>
              <a:t> </a:t>
            </a:r>
            <a:r>
              <a:rPr lang="en-US" sz="2800" dirty="0" err="1"/>
              <a:t>una</a:t>
            </a:r>
            <a:r>
              <a:rPr lang="en-US" sz="2800" dirty="0"/>
              <a:t> o </a:t>
            </a:r>
            <a:r>
              <a:rPr lang="en-US" sz="2800" dirty="0" err="1"/>
              <a:t>varias</a:t>
            </a:r>
            <a:r>
              <a:rPr lang="en-US" sz="2800" dirty="0"/>
              <a:t> </a:t>
            </a:r>
          </a:p>
          <a:p>
            <a:r>
              <a:rPr lang="en-US" sz="2800" dirty="0" err="1"/>
              <a:t>características</a:t>
            </a:r>
            <a:r>
              <a:rPr lang="en-US" sz="2800" dirty="0"/>
              <a:t> o </a:t>
            </a:r>
            <a:r>
              <a:rPr lang="en-US" sz="2800" dirty="0" err="1"/>
              <a:t>cosas</a:t>
            </a:r>
            <a:r>
              <a:rPr lang="en-US" sz="2800" dirty="0"/>
              <a:t>  que </a:t>
            </a:r>
            <a:r>
              <a:rPr lang="en-US" sz="2800" dirty="0" err="1"/>
              <a:t>surgen</a:t>
            </a:r>
            <a:r>
              <a:rPr lang="en-US" sz="2800" dirty="0"/>
              <a:t> de la </a:t>
            </a:r>
            <a:r>
              <a:rPr lang="en-US" sz="2800" b="1" dirty="0" err="1"/>
              <a:t>relación</a:t>
            </a:r>
            <a:r>
              <a:rPr lang="en-US" sz="2800" b="1" dirty="0"/>
              <a:t> entre </a:t>
            </a:r>
            <a:r>
              <a:rPr lang="en-US" sz="2800" b="1" dirty="0" err="1"/>
              <a:t>una</a:t>
            </a:r>
            <a:r>
              <a:rPr lang="en-US" sz="2800" b="1" dirty="0"/>
              <a:t> </a:t>
            </a:r>
            <a:r>
              <a:rPr lang="en-US" sz="2800" b="1" dirty="0" err="1"/>
              <a:t>interfaz</a:t>
            </a:r>
            <a:r>
              <a:rPr lang="en-US" sz="2800" b="1" dirty="0"/>
              <a:t> o </a:t>
            </a:r>
            <a:r>
              <a:rPr lang="en-US" sz="2800" b="1" dirty="0" err="1"/>
              <a:t>sistema</a:t>
            </a:r>
            <a:r>
              <a:rPr lang="en-US" sz="2800" b="1" dirty="0"/>
              <a:t> o software y un </a:t>
            </a:r>
            <a:r>
              <a:rPr lang="en-US" sz="2800" b="1" dirty="0" err="1"/>
              <a:t>usuario</a:t>
            </a:r>
            <a:endParaRPr lang="en-US" sz="2800" b="1" dirty="0"/>
          </a:p>
          <a:p>
            <a:endParaRPr lang="en-US" sz="2800" dirty="0"/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708075727"/>
      </p:ext>
    </p:extLst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Indicadores</a:t>
            </a:r>
            <a:r>
              <a:rPr lang="en-US" b="1" dirty="0"/>
              <a:t> y </a:t>
            </a:r>
            <a:r>
              <a:rPr lang="en-US" b="1" dirty="0" err="1"/>
              <a:t>Métricas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359532" y="2279454"/>
            <a:ext cx="855455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Las </a:t>
            </a:r>
            <a:r>
              <a:rPr lang="en-US" sz="2400" b="1" dirty="0" err="1">
                <a:solidFill>
                  <a:srgbClr val="FF0000"/>
                </a:solidFill>
              </a:rPr>
              <a:t>métricas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siguen</a:t>
            </a:r>
            <a:r>
              <a:rPr lang="en-US" sz="2400" dirty="0">
                <a:solidFill>
                  <a:srgbClr val="FF0000"/>
                </a:solidFill>
              </a:rPr>
              <a:t> en </a:t>
            </a:r>
            <a:r>
              <a:rPr lang="en-US" sz="2400" dirty="0" err="1">
                <a:solidFill>
                  <a:srgbClr val="FF0000"/>
                </a:solidFill>
              </a:rPr>
              <a:t>su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mayoría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 err="1">
                <a:solidFill>
                  <a:srgbClr val="FF0000"/>
                </a:solidFill>
              </a:rPr>
              <a:t>los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principios</a:t>
            </a:r>
            <a:r>
              <a:rPr lang="en-US" sz="2400" b="1" dirty="0">
                <a:solidFill>
                  <a:srgbClr val="FF0000"/>
                </a:solidFill>
              </a:rPr>
              <a:t> de SMART (Specific, </a:t>
            </a:r>
            <a:r>
              <a:rPr lang="en-US" sz="2400" b="1" dirty="0" err="1">
                <a:solidFill>
                  <a:srgbClr val="FF0000"/>
                </a:solidFill>
              </a:rPr>
              <a:t>Measurabble</a:t>
            </a:r>
            <a:r>
              <a:rPr lang="en-US" sz="2400" b="1" dirty="0">
                <a:solidFill>
                  <a:srgbClr val="FF0000"/>
                </a:solidFill>
              </a:rPr>
              <a:t>, Achievable, Relevant, Timely o </a:t>
            </a:r>
            <a:r>
              <a:rPr lang="en-US" sz="2400" b="1" dirty="0" err="1">
                <a:solidFill>
                  <a:srgbClr val="FF0000"/>
                </a:solidFill>
              </a:rPr>
              <a:t>Específico</a:t>
            </a:r>
            <a:r>
              <a:rPr lang="en-US" sz="2400" b="1" dirty="0">
                <a:solidFill>
                  <a:srgbClr val="FF0000"/>
                </a:solidFill>
              </a:rPr>
              <a:t>,  </a:t>
            </a:r>
            <a:r>
              <a:rPr lang="en-US" sz="2400" b="1" dirty="0" err="1">
                <a:solidFill>
                  <a:srgbClr val="FF0000"/>
                </a:solidFill>
              </a:rPr>
              <a:t>Medible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Alcanzable</a:t>
            </a:r>
            <a:r>
              <a:rPr lang="en-US" sz="2400" b="1" dirty="0">
                <a:solidFill>
                  <a:srgbClr val="FF0000"/>
                </a:solidFill>
              </a:rPr>
              <a:t>, </a:t>
            </a:r>
            <a:r>
              <a:rPr lang="en-US" sz="2400" b="1" dirty="0" err="1">
                <a:solidFill>
                  <a:srgbClr val="FF0000"/>
                </a:solidFill>
              </a:rPr>
              <a:t>Relevante</a:t>
            </a:r>
            <a:r>
              <a:rPr lang="en-US" sz="2400" b="1" dirty="0">
                <a:solidFill>
                  <a:srgbClr val="FF0000"/>
                </a:solidFill>
              </a:rPr>
              <a:t>, Temporal) </a:t>
            </a:r>
            <a:r>
              <a:rPr lang="en-US" sz="2400" dirty="0">
                <a:solidFill>
                  <a:srgbClr val="FF0000"/>
                </a:solidFill>
              </a:rPr>
              <a:t>que se </a:t>
            </a:r>
            <a:r>
              <a:rPr lang="en-US" sz="2400" dirty="0" err="1">
                <a:solidFill>
                  <a:srgbClr val="FF0000"/>
                </a:solidFill>
              </a:rPr>
              <a:t>aplican</a:t>
            </a:r>
            <a:r>
              <a:rPr lang="en-US" sz="2400" dirty="0">
                <a:solidFill>
                  <a:srgbClr val="FF0000"/>
                </a:solidFill>
              </a:rPr>
              <a:t> a </a:t>
            </a:r>
            <a:r>
              <a:rPr lang="en-US" sz="2400" dirty="0" err="1">
                <a:solidFill>
                  <a:srgbClr val="FF0000"/>
                </a:solidFill>
              </a:rPr>
              <a:t>los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b="1" dirty="0">
                <a:solidFill>
                  <a:srgbClr val="FF0000"/>
                </a:solidFill>
              </a:rPr>
              <a:t>KPI (Key Performance Indicator o </a:t>
            </a:r>
            <a:r>
              <a:rPr lang="en-US" sz="2400" b="1" dirty="0" err="1">
                <a:solidFill>
                  <a:srgbClr val="FF0000"/>
                </a:solidFill>
              </a:rPr>
              <a:t>Indicador</a:t>
            </a:r>
            <a:r>
              <a:rPr lang="en-US" sz="2400" b="1" dirty="0">
                <a:solidFill>
                  <a:srgbClr val="FF0000"/>
                </a:solidFill>
              </a:rPr>
              <a:t> Clave de </a:t>
            </a:r>
            <a:r>
              <a:rPr lang="en-US" sz="2400" b="1" dirty="0" err="1">
                <a:solidFill>
                  <a:srgbClr val="FF0000"/>
                </a:solidFill>
              </a:rPr>
              <a:t>Rendimiento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3380036"/>
      </p:ext>
    </p:extLst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err="1"/>
              <a:t>Indicadores</a:t>
            </a:r>
            <a:r>
              <a:rPr lang="en-US" b="1" dirty="0"/>
              <a:t> y </a:t>
            </a:r>
            <a:r>
              <a:rPr lang="en-US" b="1" dirty="0" err="1"/>
              <a:t>Métricas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454209" y="1416996"/>
            <a:ext cx="8554551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Las </a:t>
            </a:r>
            <a:r>
              <a:rPr lang="en-US" sz="2200" b="1" dirty="0" err="1"/>
              <a:t>métricas</a:t>
            </a:r>
            <a:r>
              <a:rPr lang="en-US" sz="2200" dirty="0"/>
              <a:t> de </a:t>
            </a:r>
            <a:r>
              <a:rPr lang="en-US" sz="2200" dirty="0" err="1"/>
              <a:t>usabilidad</a:t>
            </a:r>
            <a:r>
              <a:rPr lang="en-US" sz="2200" dirty="0"/>
              <a:t> </a:t>
            </a:r>
            <a:r>
              <a:rPr lang="en-US" sz="2200" dirty="0" err="1"/>
              <a:t>revelan</a:t>
            </a:r>
            <a:r>
              <a:rPr lang="en-US" sz="2200" dirty="0"/>
              <a:t> </a:t>
            </a:r>
            <a:r>
              <a:rPr lang="en-US" sz="2200" b="1" dirty="0"/>
              <a:t>la </a:t>
            </a:r>
            <a:r>
              <a:rPr lang="en-US" sz="2200" b="1" dirty="0" err="1"/>
              <a:t>experiencia</a:t>
            </a:r>
            <a:r>
              <a:rPr lang="en-US" sz="2200" b="1" dirty="0"/>
              <a:t> de </a:t>
            </a:r>
            <a:r>
              <a:rPr lang="en-US" sz="2200" b="1" dirty="0" err="1"/>
              <a:t>los</a:t>
            </a:r>
            <a:r>
              <a:rPr lang="en-US" sz="2200" b="1" dirty="0"/>
              <a:t> </a:t>
            </a:r>
            <a:r>
              <a:rPr lang="en-US" sz="2200" b="1" dirty="0" err="1"/>
              <a:t>Usuarios</a:t>
            </a:r>
            <a:r>
              <a:rPr lang="en-US" sz="2200" dirty="0"/>
              <a:t> y la </a:t>
            </a:r>
            <a:r>
              <a:rPr lang="en-US" sz="2200" dirty="0" err="1"/>
              <a:t>relación</a:t>
            </a:r>
            <a:r>
              <a:rPr lang="en-US" sz="2200" dirty="0"/>
              <a:t> </a:t>
            </a:r>
            <a:r>
              <a:rPr lang="en-US" sz="2200" dirty="0" err="1"/>
              <a:t>existente</a:t>
            </a:r>
            <a:r>
              <a:rPr lang="en-US" sz="2200" dirty="0"/>
              <a:t> entre </a:t>
            </a:r>
            <a:r>
              <a:rPr lang="en-US" sz="2200" dirty="0" err="1"/>
              <a:t>ellos</a:t>
            </a:r>
            <a:r>
              <a:rPr lang="en-US" sz="2200" dirty="0"/>
              <a:t> y </a:t>
            </a:r>
            <a:r>
              <a:rPr lang="en-US" sz="2200" b="1" dirty="0"/>
              <a:t>la </a:t>
            </a:r>
            <a:r>
              <a:rPr lang="en-US" sz="2200" b="1" dirty="0" err="1"/>
              <a:t>interfaz</a:t>
            </a:r>
            <a:r>
              <a:rPr lang="en-US" sz="2200" b="1" dirty="0"/>
              <a:t> y </a:t>
            </a:r>
            <a:r>
              <a:rPr lang="en-US" sz="2200" b="1" dirty="0" err="1"/>
              <a:t>el</a:t>
            </a:r>
            <a:r>
              <a:rPr lang="en-US" sz="2200" b="1" dirty="0"/>
              <a:t> Sistema o software.</a:t>
            </a:r>
          </a:p>
          <a:p>
            <a:r>
              <a:rPr lang="en-US" sz="2200" dirty="0"/>
              <a:t>En </a:t>
            </a:r>
            <a:r>
              <a:rPr lang="en-US" sz="2200" dirty="0" err="1"/>
              <a:t>esta</a:t>
            </a:r>
            <a:r>
              <a:rPr lang="en-US" sz="2200" dirty="0"/>
              <a:t> </a:t>
            </a:r>
            <a:r>
              <a:rPr lang="en-US" sz="2200" dirty="0" err="1"/>
              <a:t>relación</a:t>
            </a:r>
            <a:r>
              <a:rPr lang="en-US" sz="2200" dirty="0"/>
              <a:t> se </a:t>
            </a:r>
            <a:r>
              <a:rPr lang="en-US" sz="2200" dirty="0" err="1"/>
              <a:t>puede</a:t>
            </a:r>
            <a:r>
              <a:rPr lang="en-US" sz="2200" dirty="0"/>
              <a:t> </a:t>
            </a:r>
            <a:r>
              <a:rPr lang="en-US" sz="2200" dirty="0" err="1"/>
              <a:t>medir</a:t>
            </a:r>
            <a:r>
              <a:rPr lang="en-US" sz="2200" dirty="0"/>
              <a:t> la </a:t>
            </a:r>
            <a:r>
              <a:rPr lang="en-US" sz="2200" dirty="0" err="1"/>
              <a:t>efectividad</a:t>
            </a:r>
            <a:r>
              <a:rPr lang="en-US" sz="2200" dirty="0"/>
              <a:t>, </a:t>
            </a:r>
            <a:r>
              <a:rPr lang="en-US" sz="2200" dirty="0" err="1"/>
              <a:t>eficiencia</a:t>
            </a:r>
            <a:r>
              <a:rPr lang="en-US" sz="2200" dirty="0"/>
              <a:t> y </a:t>
            </a:r>
            <a:r>
              <a:rPr lang="en-US" sz="2200" dirty="0" err="1"/>
              <a:t>eficacia</a:t>
            </a:r>
            <a:r>
              <a:rPr lang="en-US" sz="2200" dirty="0"/>
              <a:t> de las </a:t>
            </a:r>
            <a:r>
              <a:rPr lang="en-US" sz="2200" dirty="0" err="1"/>
              <a:t>acciones</a:t>
            </a:r>
            <a:r>
              <a:rPr lang="en-US" sz="2200" dirty="0"/>
              <a:t> de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usuarios</a:t>
            </a:r>
            <a:r>
              <a:rPr lang="en-US" sz="2200" dirty="0"/>
              <a:t>.</a:t>
            </a:r>
          </a:p>
          <a:p>
            <a:r>
              <a:rPr lang="en-US" sz="2200" dirty="0"/>
              <a:t>La </a:t>
            </a:r>
            <a:r>
              <a:rPr lang="en-US" sz="2200" dirty="0" err="1"/>
              <a:t>capacidad</a:t>
            </a:r>
            <a:r>
              <a:rPr lang="en-US" sz="2200" dirty="0"/>
              <a:t> de </a:t>
            </a:r>
            <a:r>
              <a:rPr lang="en-US" sz="2200" dirty="0" err="1"/>
              <a:t>ejecutar</a:t>
            </a:r>
            <a:r>
              <a:rPr lang="en-US" sz="2200" dirty="0"/>
              <a:t> y </a:t>
            </a:r>
            <a:r>
              <a:rPr lang="en-US" sz="2200" dirty="0" err="1"/>
              <a:t>finalizar</a:t>
            </a:r>
            <a:r>
              <a:rPr lang="en-US" sz="2200" dirty="0"/>
              <a:t> la </a:t>
            </a:r>
            <a:r>
              <a:rPr lang="en-US" sz="2200" dirty="0" err="1"/>
              <a:t>tarea</a:t>
            </a:r>
            <a:r>
              <a:rPr lang="en-US" sz="2200" dirty="0"/>
              <a:t> y la </a:t>
            </a:r>
            <a:r>
              <a:rPr lang="en-US" sz="2200" dirty="0" err="1"/>
              <a:t>satisfacción</a:t>
            </a:r>
            <a:r>
              <a:rPr lang="en-US" sz="2200" dirty="0"/>
              <a:t> del </a:t>
            </a:r>
            <a:r>
              <a:rPr lang="en-US" sz="2200" dirty="0" err="1"/>
              <a:t>usuario</a:t>
            </a:r>
            <a:r>
              <a:rPr lang="en-US" sz="2200" dirty="0"/>
              <a:t> al </a:t>
            </a:r>
            <a:r>
              <a:rPr lang="en-US" sz="2200" dirty="0" err="1"/>
              <a:t>realizar</a:t>
            </a:r>
            <a:r>
              <a:rPr lang="en-US" sz="2200" dirty="0"/>
              <a:t> la </a:t>
            </a:r>
            <a:r>
              <a:rPr lang="en-US" sz="2200" dirty="0" err="1"/>
              <a:t>tarea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dirty="0"/>
              <a:t>Las </a:t>
            </a:r>
            <a:r>
              <a:rPr lang="en-US" sz="2200" b="1" dirty="0" err="1"/>
              <a:t>métricas</a:t>
            </a:r>
            <a:r>
              <a:rPr lang="en-US" sz="2200" dirty="0"/>
              <a:t> de </a:t>
            </a:r>
            <a:r>
              <a:rPr lang="en-US" sz="2200" dirty="0" err="1"/>
              <a:t>usabilidad</a:t>
            </a:r>
            <a:r>
              <a:rPr lang="en-US" sz="2200" dirty="0"/>
              <a:t> </a:t>
            </a:r>
            <a:r>
              <a:rPr lang="en-US" sz="2200" dirty="0" err="1"/>
              <a:t>tienen</a:t>
            </a:r>
            <a:r>
              <a:rPr lang="en-US" sz="2200" dirty="0"/>
              <a:t> </a:t>
            </a:r>
            <a:r>
              <a:rPr lang="en-US" sz="2200" dirty="0" err="1"/>
              <a:t>como</a:t>
            </a:r>
            <a:r>
              <a:rPr lang="en-US" sz="2200" dirty="0"/>
              <a:t> </a:t>
            </a:r>
            <a:r>
              <a:rPr lang="en-US" sz="2200" dirty="0" err="1"/>
              <a:t>objetivo</a:t>
            </a:r>
            <a:r>
              <a:rPr lang="en-US" sz="2200" dirty="0"/>
              <a:t> </a:t>
            </a:r>
            <a:r>
              <a:rPr lang="en-US" sz="2200" dirty="0" err="1"/>
              <a:t>proporcionar</a:t>
            </a:r>
            <a:r>
              <a:rPr lang="en-US" sz="2200" dirty="0"/>
              <a:t> </a:t>
            </a:r>
            <a:r>
              <a:rPr lang="en-US" sz="2200" dirty="0" err="1"/>
              <a:t>datos</a:t>
            </a:r>
            <a:r>
              <a:rPr lang="en-US" sz="2200" dirty="0"/>
              <a:t>, </a:t>
            </a:r>
            <a:r>
              <a:rPr lang="en-US" sz="2200" dirty="0" err="1"/>
              <a:t>información</a:t>
            </a:r>
            <a:r>
              <a:rPr lang="en-US" sz="2200" dirty="0"/>
              <a:t> y </a:t>
            </a:r>
            <a:r>
              <a:rPr lang="en-US" sz="2200" dirty="0" err="1"/>
              <a:t>respuestas</a:t>
            </a:r>
            <a:r>
              <a:rPr lang="en-US" sz="2200" dirty="0"/>
              <a:t> a las </a:t>
            </a:r>
            <a:r>
              <a:rPr lang="en-US" sz="2200" dirty="0" err="1"/>
              <a:t>preguntas</a:t>
            </a:r>
            <a:r>
              <a:rPr lang="en-US" sz="2200" dirty="0"/>
              <a:t> de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equipos</a:t>
            </a:r>
            <a:r>
              <a:rPr lang="en-US" sz="2200" dirty="0"/>
              <a:t> de </a:t>
            </a:r>
            <a:r>
              <a:rPr lang="en-US" sz="2200" dirty="0" err="1"/>
              <a:t>diseño</a:t>
            </a:r>
            <a:r>
              <a:rPr lang="en-US" sz="2200" dirty="0"/>
              <a:t> y </a:t>
            </a:r>
            <a:r>
              <a:rPr lang="en-US" sz="2200" dirty="0" err="1"/>
              <a:t>desarrollo</a:t>
            </a:r>
            <a:r>
              <a:rPr lang="en-US" sz="2200" dirty="0"/>
              <a:t>.</a:t>
            </a:r>
          </a:p>
          <a:p>
            <a:endParaRPr lang="en-US" sz="2200" dirty="0"/>
          </a:p>
          <a:p>
            <a:r>
              <a:rPr lang="en-US" sz="2200" b="1" dirty="0">
                <a:solidFill>
                  <a:srgbClr val="FF0000"/>
                </a:solidFill>
              </a:rPr>
              <a:t>Los </a:t>
            </a:r>
            <a:r>
              <a:rPr lang="en-US" sz="2200" b="1" dirty="0" err="1">
                <a:solidFill>
                  <a:srgbClr val="FF0000"/>
                </a:solidFill>
              </a:rPr>
              <a:t>datos</a:t>
            </a:r>
            <a:r>
              <a:rPr lang="en-US" sz="2200" b="1" dirty="0">
                <a:solidFill>
                  <a:srgbClr val="FF0000"/>
                </a:solidFill>
              </a:rPr>
              <a:t> se </a:t>
            </a:r>
            <a:r>
              <a:rPr lang="en-US" sz="2200" b="1" dirty="0" err="1">
                <a:solidFill>
                  <a:srgbClr val="FF0000"/>
                </a:solidFill>
              </a:rPr>
              <a:t>pueden</a:t>
            </a:r>
            <a:r>
              <a:rPr lang="en-US" sz="2200" b="1" dirty="0">
                <a:solidFill>
                  <a:srgbClr val="FF0000"/>
                </a:solidFill>
              </a:rPr>
              <a:t> </a:t>
            </a:r>
            <a:r>
              <a:rPr lang="en-US" sz="2200" b="1" dirty="0" err="1">
                <a:solidFill>
                  <a:srgbClr val="FF0000"/>
                </a:solidFill>
              </a:rPr>
              <a:t>obtener</a:t>
            </a:r>
            <a:r>
              <a:rPr lang="en-US" sz="2200" b="1" dirty="0">
                <a:solidFill>
                  <a:srgbClr val="FF0000"/>
                </a:solidFill>
              </a:rPr>
              <a:t> de dos </a:t>
            </a:r>
            <a:r>
              <a:rPr lang="en-US" sz="2200" b="1" dirty="0" err="1">
                <a:solidFill>
                  <a:srgbClr val="FF0000"/>
                </a:solidFill>
              </a:rPr>
              <a:t>formas</a:t>
            </a:r>
            <a:r>
              <a:rPr lang="en-US" sz="2200" b="1" dirty="0">
                <a:solidFill>
                  <a:srgbClr val="FF0000"/>
                </a:solidFill>
              </a:rPr>
              <a:t>: </a:t>
            </a:r>
            <a:r>
              <a:rPr lang="en-US" sz="2200" b="1" dirty="0" err="1">
                <a:solidFill>
                  <a:srgbClr val="FF0000"/>
                </a:solidFill>
              </a:rPr>
              <a:t>cuantitativos</a:t>
            </a:r>
            <a:r>
              <a:rPr lang="en-US" sz="2200" b="1" dirty="0">
                <a:solidFill>
                  <a:srgbClr val="FF0000"/>
                </a:solidFill>
              </a:rPr>
              <a:t> y </a:t>
            </a:r>
            <a:r>
              <a:rPr lang="en-US" sz="2200" b="1" dirty="0" err="1">
                <a:solidFill>
                  <a:srgbClr val="FF0000"/>
                </a:solidFill>
              </a:rPr>
              <a:t>cualitativos</a:t>
            </a:r>
            <a:r>
              <a:rPr lang="en-US" sz="2200" dirty="0">
                <a:solidFill>
                  <a:srgbClr val="FF0000"/>
                </a:solidFill>
              </a:rPr>
              <a:t>.</a:t>
            </a:r>
          </a:p>
          <a:p>
            <a:endParaRPr lang="en-US" sz="2200" dirty="0">
              <a:solidFill>
                <a:srgbClr val="FF0000"/>
              </a:solidFill>
            </a:endParaRPr>
          </a:p>
          <a:p>
            <a:r>
              <a:rPr lang="en-US" sz="2200" dirty="0" err="1">
                <a:solidFill>
                  <a:srgbClr val="FF0000"/>
                </a:solidFill>
              </a:rPr>
              <a:t>Esto</a:t>
            </a:r>
            <a:r>
              <a:rPr lang="en-US" sz="2200" dirty="0">
                <a:solidFill>
                  <a:srgbClr val="FF0000"/>
                </a:solidFill>
              </a:rPr>
              <a:t> se </a:t>
            </a:r>
            <a:r>
              <a:rPr lang="en-US" sz="2200" dirty="0" err="1">
                <a:solidFill>
                  <a:srgbClr val="FF0000"/>
                </a:solidFill>
              </a:rPr>
              <a:t>hace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por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diferentes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 err="1">
                <a:solidFill>
                  <a:srgbClr val="FF0000"/>
                </a:solidFill>
              </a:rPr>
              <a:t>medios</a:t>
            </a:r>
            <a:r>
              <a:rPr lang="en-US" sz="2200" dirty="0">
                <a:solidFill>
                  <a:srgbClr val="FF0000"/>
                </a:solidFill>
              </a:rPr>
              <a:t>, </a:t>
            </a:r>
            <a:r>
              <a:rPr lang="en-US" sz="2200" dirty="0" err="1">
                <a:solidFill>
                  <a:srgbClr val="FF0000"/>
                </a:solidFill>
              </a:rPr>
              <a:t>métodos</a:t>
            </a:r>
            <a:r>
              <a:rPr lang="en-US" sz="2200" dirty="0">
                <a:solidFill>
                  <a:srgbClr val="FF0000"/>
                </a:solidFill>
              </a:rPr>
              <a:t> y </a:t>
            </a:r>
            <a:r>
              <a:rPr lang="en-US" sz="2200" dirty="0" err="1">
                <a:solidFill>
                  <a:srgbClr val="FF0000"/>
                </a:solidFill>
              </a:rPr>
              <a:t>técnicas</a:t>
            </a:r>
            <a:r>
              <a:rPr lang="en-US" sz="2200" dirty="0">
                <a:solidFill>
                  <a:srgbClr val="FF0000"/>
                </a:solidFill>
              </a:rPr>
              <a:t>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25772613"/>
      </p:ext>
    </p:extLst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/>
              <a:t>Indicadores</a:t>
            </a:r>
            <a:r>
              <a:rPr lang="en-US" b="1" dirty="0"/>
              <a:t> y </a:t>
            </a:r>
            <a:r>
              <a:rPr lang="en-US" b="1" dirty="0" err="1"/>
              <a:t>Métricas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556792"/>
            <a:ext cx="855455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Se </a:t>
            </a:r>
            <a:r>
              <a:rPr lang="en-US" sz="2400" dirty="0" err="1"/>
              <a:t>pueden</a:t>
            </a:r>
            <a:r>
              <a:rPr lang="en-US" sz="2400" dirty="0"/>
              <a:t> </a:t>
            </a:r>
            <a:r>
              <a:rPr lang="en-US" sz="2400" dirty="0" err="1"/>
              <a:t>demostrar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comportamientos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usuarios</a:t>
            </a:r>
            <a:r>
              <a:rPr lang="en-US" sz="2400" dirty="0"/>
              <a:t> con </a:t>
            </a:r>
            <a:r>
              <a:rPr lang="en-US" sz="2400" dirty="0" err="1"/>
              <a:t>los</a:t>
            </a:r>
            <a:r>
              <a:rPr lang="en-US" sz="2400" dirty="0"/>
              <a:t> software o </a:t>
            </a:r>
            <a:r>
              <a:rPr lang="en-US" sz="2400" dirty="0" err="1"/>
              <a:t>sistemas</a:t>
            </a:r>
            <a:r>
              <a:rPr lang="en-US" sz="2400" dirty="0"/>
              <a:t> a </a:t>
            </a:r>
            <a:r>
              <a:rPr lang="en-US" sz="2400" dirty="0" err="1"/>
              <a:t>partir</a:t>
            </a:r>
            <a:r>
              <a:rPr lang="en-US" sz="2400" dirty="0"/>
              <a:t> de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datos</a:t>
            </a:r>
            <a:r>
              <a:rPr lang="en-US" sz="2400" dirty="0"/>
              <a:t> que se </a:t>
            </a:r>
            <a:r>
              <a:rPr lang="en-US" sz="2400" dirty="0" err="1"/>
              <a:t>obtienden</a:t>
            </a:r>
            <a:r>
              <a:rPr lang="en-US" sz="2400" dirty="0"/>
              <a:t>, </a:t>
            </a:r>
            <a:r>
              <a:rPr lang="en-US" sz="2400" dirty="0" err="1"/>
              <a:t>como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ejemplo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 de un </a:t>
            </a:r>
            <a:r>
              <a:rPr lang="en-US" sz="2400" dirty="0" err="1"/>
              <a:t>botón</a:t>
            </a:r>
            <a:r>
              <a:rPr lang="en-US" sz="2400" dirty="0"/>
              <a:t>, la </a:t>
            </a:r>
            <a:r>
              <a:rPr lang="en-US" sz="2400" dirty="0" err="1"/>
              <a:t>atención</a:t>
            </a:r>
            <a:r>
              <a:rPr lang="en-US" sz="2400" dirty="0"/>
              <a:t>, </a:t>
            </a:r>
            <a:r>
              <a:rPr lang="en-US" sz="2400" dirty="0" err="1"/>
              <a:t>tasas</a:t>
            </a:r>
            <a:r>
              <a:rPr lang="en-US" sz="2400" dirty="0"/>
              <a:t> de abandon, </a:t>
            </a:r>
            <a:r>
              <a:rPr lang="en-US" sz="2400" dirty="0" err="1"/>
              <a:t>diligenciamiento</a:t>
            </a:r>
            <a:r>
              <a:rPr lang="en-US" sz="2400" dirty="0"/>
              <a:t> de </a:t>
            </a:r>
            <a:r>
              <a:rPr lang="en-US" sz="2400" dirty="0" err="1"/>
              <a:t>información</a:t>
            </a:r>
            <a:r>
              <a:rPr lang="en-US" sz="2400" dirty="0"/>
              <a:t>, etc.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1780482"/>
      </p:ext>
    </p:extLst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Métricas</a:t>
            </a:r>
            <a:r>
              <a:rPr lang="en-US" b="1" dirty="0"/>
              <a:t> </a:t>
            </a:r>
            <a:r>
              <a:rPr lang="en-US" b="1" dirty="0" err="1"/>
              <a:t>Cuantitativas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628800"/>
            <a:ext cx="85545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Una </a:t>
            </a:r>
            <a:r>
              <a:rPr lang="en-US" sz="2400" b="1" dirty="0" err="1"/>
              <a:t>métrica</a:t>
            </a:r>
            <a:r>
              <a:rPr lang="en-US" sz="2400" b="1" dirty="0"/>
              <a:t> </a:t>
            </a:r>
            <a:r>
              <a:rPr lang="en-US" sz="2400" b="1" dirty="0" err="1"/>
              <a:t>cuantitativa</a:t>
            </a:r>
            <a:r>
              <a:rPr lang="en-US" sz="2400" b="1" dirty="0"/>
              <a:t> es un </a:t>
            </a:r>
            <a:r>
              <a:rPr lang="en-US" sz="2400" b="1" dirty="0" err="1"/>
              <a:t>medida</a:t>
            </a:r>
            <a:r>
              <a:rPr lang="en-US" sz="2400" b="1" dirty="0"/>
              <a:t> </a:t>
            </a:r>
            <a:r>
              <a:rPr lang="en-US" sz="2400" b="1" dirty="0" err="1"/>
              <a:t>objetiva</a:t>
            </a:r>
            <a:r>
              <a:rPr lang="en-US" sz="2400" b="1" dirty="0"/>
              <a:t> para </a:t>
            </a:r>
            <a:r>
              <a:rPr lang="en-US" sz="2400" b="1" dirty="0" err="1"/>
              <a:t>hacer</a:t>
            </a:r>
            <a:r>
              <a:rPr lang="en-US" sz="2400" b="1" dirty="0"/>
              <a:t> </a:t>
            </a:r>
            <a:r>
              <a:rPr lang="en-US" sz="2400" b="1" dirty="0" err="1"/>
              <a:t>referencia</a:t>
            </a:r>
            <a:r>
              <a:rPr lang="en-US" sz="2400" b="1" dirty="0"/>
              <a:t> a un valor </a:t>
            </a:r>
            <a:r>
              <a:rPr lang="en-US" sz="2400" b="1" dirty="0" err="1"/>
              <a:t>específico</a:t>
            </a:r>
            <a:r>
              <a:rPr lang="en-US" sz="2400" b="1" dirty="0"/>
              <a:t> que </a:t>
            </a:r>
            <a:r>
              <a:rPr lang="en-US" sz="2400" b="1" dirty="0" err="1"/>
              <a:t>representa</a:t>
            </a:r>
            <a:r>
              <a:rPr lang="en-US" sz="2400" b="1" dirty="0"/>
              <a:t> </a:t>
            </a:r>
            <a:r>
              <a:rPr lang="en-US" sz="2400" b="1" dirty="0" err="1"/>
              <a:t>una</a:t>
            </a:r>
            <a:r>
              <a:rPr lang="en-US" sz="2400" b="1" dirty="0"/>
              <a:t> </a:t>
            </a:r>
            <a:r>
              <a:rPr lang="en-US" sz="2400" b="1" dirty="0" err="1"/>
              <a:t>cuantia</a:t>
            </a:r>
            <a:r>
              <a:rPr lang="en-US" sz="2400" b="1" dirty="0"/>
              <a:t>, </a:t>
            </a:r>
            <a:r>
              <a:rPr lang="en-US" sz="2400" b="1" dirty="0" err="1"/>
              <a:t>mágnitud</a:t>
            </a:r>
            <a:r>
              <a:rPr lang="en-US" sz="2400" b="1" dirty="0"/>
              <a:t> o </a:t>
            </a:r>
            <a:r>
              <a:rPr lang="en-US" sz="2400" b="1" dirty="0" err="1"/>
              <a:t>número</a:t>
            </a:r>
            <a:r>
              <a:rPr lang="en-US" sz="2400" b="1" dirty="0"/>
              <a:t> de </a:t>
            </a:r>
            <a:r>
              <a:rPr lang="en-US" sz="2400" b="1" dirty="0" err="1"/>
              <a:t>cosas</a:t>
            </a:r>
            <a:r>
              <a:rPr lang="en-US" sz="2400" b="1" dirty="0"/>
              <a:t>. </a:t>
            </a:r>
          </a:p>
          <a:p>
            <a:endParaRPr lang="en-US" sz="2400" b="1" dirty="0"/>
          </a:p>
          <a:p>
            <a:r>
              <a:rPr lang="en-US" sz="2400" dirty="0"/>
              <a:t>Las </a:t>
            </a:r>
            <a:r>
              <a:rPr lang="en-US" sz="2400" dirty="0" err="1"/>
              <a:t>métricas</a:t>
            </a:r>
            <a:r>
              <a:rPr lang="en-US" sz="2400" dirty="0"/>
              <a:t> </a:t>
            </a:r>
            <a:r>
              <a:rPr lang="en-US" sz="2400" dirty="0" err="1"/>
              <a:t>cuantitativas</a:t>
            </a:r>
            <a:r>
              <a:rPr lang="en-US" sz="2400" dirty="0"/>
              <a:t> </a:t>
            </a:r>
            <a:r>
              <a:rPr lang="en-US" sz="2400" dirty="0" err="1"/>
              <a:t>tienen</a:t>
            </a:r>
            <a:r>
              <a:rPr lang="en-US" sz="2400" dirty="0"/>
              <a:t> en </a:t>
            </a:r>
            <a:r>
              <a:rPr lang="en-US" sz="2400" dirty="0" err="1"/>
              <a:t>cuenta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tiempo</a:t>
            </a:r>
            <a:r>
              <a:rPr lang="en-US" sz="2400" dirty="0"/>
              <a:t>, la </a:t>
            </a:r>
            <a:r>
              <a:rPr lang="en-US" sz="2400" dirty="0" err="1"/>
              <a:t>cantidad</a:t>
            </a:r>
            <a:r>
              <a:rPr lang="en-US" sz="2400" dirty="0"/>
              <a:t>, las </a:t>
            </a:r>
            <a:r>
              <a:rPr lang="en-US" sz="2400" dirty="0" err="1"/>
              <a:t>repeticiones</a:t>
            </a:r>
            <a:r>
              <a:rPr lang="en-US" sz="2400" dirty="0"/>
              <a:t>, entre </a:t>
            </a:r>
            <a:r>
              <a:rPr lang="en-US" sz="2400" dirty="0" err="1"/>
              <a:t>otros</a:t>
            </a:r>
            <a:r>
              <a:rPr lang="en-US" sz="2400" dirty="0"/>
              <a:t>, para </a:t>
            </a:r>
            <a:r>
              <a:rPr lang="en-US" sz="2400" dirty="0" err="1"/>
              <a:t>medir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nivel</a:t>
            </a:r>
            <a:r>
              <a:rPr lang="en-US" sz="2400" dirty="0"/>
              <a:t> de </a:t>
            </a:r>
            <a:r>
              <a:rPr lang="en-US" sz="2400" dirty="0" err="1"/>
              <a:t>productividad</a:t>
            </a:r>
            <a:r>
              <a:rPr lang="en-US" sz="2400" dirty="0"/>
              <a:t> del </a:t>
            </a:r>
            <a:r>
              <a:rPr lang="en-US" sz="2400" dirty="0" err="1"/>
              <a:t>negocio</a:t>
            </a:r>
            <a:r>
              <a:rPr lang="en-US" sz="2400" dirty="0"/>
              <a:t> y </a:t>
            </a:r>
            <a:r>
              <a:rPr lang="en-US" sz="2400" dirty="0" err="1"/>
              <a:t>definir</a:t>
            </a:r>
            <a:r>
              <a:rPr lang="en-US" sz="2400" dirty="0"/>
              <a:t> </a:t>
            </a:r>
            <a:r>
              <a:rPr lang="en-US" sz="2400" dirty="0" err="1"/>
              <a:t>acciones</a:t>
            </a:r>
            <a:r>
              <a:rPr lang="en-US" sz="2400" dirty="0"/>
              <a:t> </a:t>
            </a:r>
            <a:r>
              <a:rPr lang="en-US" sz="2400" dirty="0" err="1"/>
              <a:t>futuras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8070604"/>
      </p:ext>
    </p:extLst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Eficacia</a:t>
            </a:r>
            <a:r>
              <a:rPr lang="en-US" b="1" dirty="0"/>
              <a:t> de la </a:t>
            </a:r>
            <a:r>
              <a:rPr lang="en-US" b="1" dirty="0" err="1"/>
              <a:t>eliminación</a:t>
            </a:r>
            <a:r>
              <a:rPr lang="en-US" b="1" dirty="0"/>
              <a:t> de </a:t>
            </a:r>
            <a:r>
              <a:rPr lang="en-US" b="1" dirty="0" err="1"/>
              <a:t>defectos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458062"/>
            <a:ext cx="8554551" cy="329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Este </a:t>
            </a:r>
            <a:r>
              <a:rPr lang="en-US" sz="2400" dirty="0" err="1"/>
              <a:t>indicador</a:t>
            </a:r>
            <a:r>
              <a:rPr lang="en-US" sz="2400" dirty="0"/>
              <a:t> es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métrica</a:t>
            </a:r>
            <a:r>
              <a:rPr lang="en-US" sz="2400" dirty="0"/>
              <a:t> de </a:t>
            </a:r>
            <a:r>
              <a:rPr lang="en-US" sz="2400" dirty="0" err="1"/>
              <a:t>eficiencia</a:t>
            </a:r>
            <a:r>
              <a:rPr lang="en-US" sz="2400" dirty="0"/>
              <a:t> que </a:t>
            </a:r>
            <a:r>
              <a:rPr lang="en-US" sz="2400" dirty="0" err="1"/>
              <a:t>mide</a:t>
            </a:r>
            <a:r>
              <a:rPr lang="en-US" sz="2400" dirty="0"/>
              <a:t> la </a:t>
            </a:r>
            <a:r>
              <a:rPr lang="en-US" sz="2400" dirty="0" err="1"/>
              <a:t>eficacia</a:t>
            </a:r>
            <a:r>
              <a:rPr lang="en-US" sz="2400" dirty="0"/>
              <a:t> entre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errores</a:t>
            </a:r>
            <a:r>
              <a:rPr lang="en-US" sz="2400" dirty="0"/>
              <a:t> </a:t>
            </a:r>
            <a:r>
              <a:rPr lang="en-US" sz="2400" dirty="0" err="1"/>
              <a:t>encontrados</a:t>
            </a:r>
            <a:r>
              <a:rPr lang="en-US" sz="2400" dirty="0"/>
              <a:t> </a:t>
            </a:r>
            <a:r>
              <a:rPr lang="en-US" sz="2400" dirty="0" err="1"/>
              <a:t>durante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proceso</a:t>
            </a:r>
            <a:r>
              <a:rPr lang="en-US" sz="2400" dirty="0"/>
              <a:t> de </a:t>
            </a:r>
            <a:r>
              <a:rPr lang="en-US" sz="2400" dirty="0" err="1"/>
              <a:t>desarrollo</a:t>
            </a:r>
            <a:r>
              <a:rPr lang="en-US" sz="2400" dirty="0"/>
              <a:t> y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errores</a:t>
            </a:r>
            <a:r>
              <a:rPr lang="en-US" sz="2400" dirty="0"/>
              <a:t> </a:t>
            </a:r>
            <a:r>
              <a:rPr lang="en-US" sz="2400" dirty="0" err="1"/>
              <a:t>encontrados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los</a:t>
            </a:r>
            <a:r>
              <a:rPr lang="en-US" sz="2400" dirty="0"/>
              <a:t> </a:t>
            </a:r>
            <a:r>
              <a:rPr lang="en-US" sz="2400" dirty="0" err="1"/>
              <a:t>usuarios</a:t>
            </a:r>
            <a:r>
              <a:rPr lang="en-US" sz="2400" dirty="0"/>
              <a:t> </a:t>
            </a:r>
            <a:r>
              <a:rPr lang="en-US" sz="2400" dirty="0" err="1"/>
              <a:t>después</a:t>
            </a:r>
            <a:r>
              <a:rPr lang="en-US" sz="2400" dirty="0"/>
              <a:t> de la </a:t>
            </a:r>
            <a:r>
              <a:rPr lang="en-US" sz="2400" dirty="0" err="1"/>
              <a:t>entrega</a:t>
            </a:r>
            <a:r>
              <a:rPr lang="en-US" sz="2400" dirty="0"/>
              <a:t>.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EED=E/(E+D)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EED= </a:t>
            </a:r>
            <a:r>
              <a:rPr lang="en-US" sz="2400" b="1" dirty="0" err="1">
                <a:solidFill>
                  <a:srgbClr val="FF0000"/>
                </a:solidFill>
              </a:rPr>
              <a:t>Eficacia</a:t>
            </a:r>
            <a:r>
              <a:rPr lang="en-US" sz="2400" b="1" dirty="0">
                <a:solidFill>
                  <a:srgbClr val="FF0000"/>
                </a:solidFill>
              </a:rPr>
              <a:t> de la </a:t>
            </a:r>
            <a:r>
              <a:rPr lang="en-US" sz="2400" b="1" dirty="0" err="1">
                <a:solidFill>
                  <a:srgbClr val="FF0000"/>
                </a:solidFill>
              </a:rPr>
              <a:t>eliminación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defectos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E=</a:t>
            </a:r>
            <a:r>
              <a:rPr lang="en-US" sz="2400" b="1" dirty="0" err="1">
                <a:solidFill>
                  <a:srgbClr val="FF0000"/>
                </a:solidFill>
              </a:rPr>
              <a:t>número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errores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encontrados</a:t>
            </a:r>
            <a:r>
              <a:rPr lang="en-US" sz="2400" b="1" dirty="0">
                <a:solidFill>
                  <a:srgbClr val="FF0000"/>
                </a:solidFill>
              </a:rPr>
              <a:t> antes de la </a:t>
            </a:r>
            <a:r>
              <a:rPr lang="en-US" sz="2400" b="1" dirty="0" err="1">
                <a:solidFill>
                  <a:srgbClr val="FF0000"/>
                </a:solidFill>
              </a:rPr>
              <a:t>entrega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D= </a:t>
            </a:r>
            <a:r>
              <a:rPr lang="en-US" sz="2400" b="1" dirty="0" err="1">
                <a:solidFill>
                  <a:srgbClr val="FF0000"/>
                </a:solidFill>
              </a:rPr>
              <a:t>número</a:t>
            </a:r>
            <a:r>
              <a:rPr lang="en-US" sz="2400" b="1" dirty="0">
                <a:solidFill>
                  <a:srgbClr val="FF0000"/>
                </a:solidFill>
              </a:rPr>
              <a:t> de </a:t>
            </a:r>
            <a:r>
              <a:rPr lang="en-US" sz="2400" b="1" dirty="0" err="1">
                <a:solidFill>
                  <a:srgbClr val="FF0000"/>
                </a:solidFill>
              </a:rPr>
              <a:t>errores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encontrados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despúes</a:t>
            </a:r>
            <a:r>
              <a:rPr lang="en-US" sz="2400" b="1" dirty="0">
                <a:solidFill>
                  <a:srgbClr val="FF0000"/>
                </a:solidFill>
              </a:rPr>
              <a:t> de la </a:t>
            </a:r>
            <a:r>
              <a:rPr lang="en-US" sz="2400" b="1" dirty="0" err="1">
                <a:solidFill>
                  <a:srgbClr val="FF0000"/>
                </a:solidFill>
              </a:rPr>
              <a:t>entrega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1620" b="1" dirty="0"/>
          </a:p>
        </p:txBody>
      </p:sp>
    </p:spTree>
    <p:extLst>
      <p:ext uri="{BB962C8B-B14F-4D97-AF65-F5344CB8AC3E}">
        <p14:creationId xmlns:p14="http://schemas.microsoft.com/office/powerpoint/2010/main" val="3551820593"/>
      </p:ext>
    </p:extLst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45126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Disponibilidad</a:t>
            </a:r>
            <a:r>
              <a:rPr lang="en-US" b="1" dirty="0"/>
              <a:t> de la </a:t>
            </a:r>
            <a:r>
              <a:rPr lang="en-US" b="1" dirty="0" err="1"/>
              <a:t>interfaz</a:t>
            </a:r>
            <a:r>
              <a:rPr lang="en-US" b="1" dirty="0"/>
              <a:t> o </a:t>
            </a:r>
            <a:r>
              <a:rPr lang="en-US" b="1" dirty="0" err="1"/>
              <a:t>sistema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290363"/>
            <a:ext cx="8554551" cy="440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 </a:t>
            </a:r>
            <a:r>
              <a:rPr lang="en-US" sz="2400" dirty="0" err="1"/>
              <a:t>métrica</a:t>
            </a:r>
            <a:r>
              <a:rPr lang="en-US" sz="2400" dirty="0"/>
              <a:t> de </a:t>
            </a:r>
            <a:r>
              <a:rPr lang="en-US" sz="2400" dirty="0" err="1"/>
              <a:t>disponibilidad</a:t>
            </a:r>
            <a:r>
              <a:rPr lang="en-US" sz="2400" dirty="0"/>
              <a:t> se </a:t>
            </a:r>
            <a:r>
              <a:rPr lang="en-US" sz="2400" dirty="0" err="1"/>
              <a:t>utiliza</a:t>
            </a:r>
            <a:r>
              <a:rPr lang="en-US" sz="2400" dirty="0"/>
              <a:t> para </a:t>
            </a:r>
            <a:r>
              <a:rPr lang="en-US" sz="2400" dirty="0" err="1"/>
              <a:t>medir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tiempo</a:t>
            </a:r>
            <a:r>
              <a:rPr lang="en-US" sz="2400" dirty="0"/>
              <a:t> que un </a:t>
            </a:r>
            <a:r>
              <a:rPr lang="en-US" sz="2400" dirty="0" err="1"/>
              <a:t>sistema</a:t>
            </a:r>
            <a:r>
              <a:rPr lang="en-US" sz="2400" dirty="0"/>
              <a:t> o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interfaz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disponible para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. La </a:t>
            </a:r>
            <a:r>
              <a:rPr lang="en-US" sz="2400" dirty="0" err="1"/>
              <a:t>disponibilidad</a:t>
            </a:r>
            <a:r>
              <a:rPr lang="en-US" sz="2400" dirty="0"/>
              <a:t> se define </a:t>
            </a:r>
            <a:r>
              <a:rPr lang="en-US" sz="2400" dirty="0" err="1"/>
              <a:t>como</a:t>
            </a:r>
            <a:r>
              <a:rPr lang="en-US" sz="2400" dirty="0"/>
              <a:t> la </a:t>
            </a:r>
            <a:r>
              <a:rPr lang="en-US" sz="2400" dirty="0" err="1"/>
              <a:t>proporción</a:t>
            </a:r>
            <a:r>
              <a:rPr lang="en-US" sz="2400" dirty="0"/>
              <a:t> del </a:t>
            </a:r>
            <a:r>
              <a:rPr lang="en-US" sz="2400" dirty="0" err="1"/>
              <a:t>tiempo</a:t>
            </a:r>
            <a:r>
              <a:rPr lang="en-US" sz="2400" dirty="0"/>
              <a:t> total que un </a:t>
            </a:r>
            <a:r>
              <a:rPr lang="en-US" sz="2400" dirty="0" err="1"/>
              <a:t>sistema</a:t>
            </a:r>
            <a:r>
              <a:rPr lang="en-US" sz="2400" dirty="0"/>
              <a:t> </a:t>
            </a:r>
            <a:r>
              <a:rPr lang="en-US" sz="2400" dirty="0" err="1"/>
              <a:t>está</a:t>
            </a:r>
            <a:r>
              <a:rPr lang="en-US" sz="2400" dirty="0"/>
              <a:t> disponible para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, en </a:t>
            </a:r>
            <a:r>
              <a:rPr lang="en-US" sz="2400" dirty="0" err="1"/>
              <a:t>comparación</a:t>
            </a:r>
            <a:r>
              <a:rPr lang="en-US" sz="2400" dirty="0"/>
              <a:t> con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tiempo</a:t>
            </a:r>
            <a:r>
              <a:rPr lang="en-US" sz="2400" dirty="0"/>
              <a:t> total de un </a:t>
            </a:r>
            <a:r>
              <a:rPr lang="en-US" sz="2400" dirty="0" err="1"/>
              <a:t>período</a:t>
            </a:r>
            <a:r>
              <a:rPr lang="en-US" sz="2400" dirty="0"/>
              <a:t> de </a:t>
            </a:r>
            <a:r>
              <a:rPr lang="en-US" sz="2400" dirty="0" err="1"/>
              <a:t>tiempo</a:t>
            </a:r>
            <a:r>
              <a:rPr lang="en-US" sz="2400" dirty="0"/>
              <a:t> </a:t>
            </a:r>
            <a:r>
              <a:rPr lang="en-US" sz="2400" dirty="0" err="1"/>
              <a:t>determinado</a:t>
            </a:r>
            <a:r>
              <a:rPr lang="en-US" sz="2400" dirty="0"/>
              <a:t>.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D=(TMDF/(TMDF+ TMDR))*100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D= </a:t>
            </a:r>
            <a:r>
              <a:rPr lang="en-US" sz="2400" b="1" dirty="0" err="1">
                <a:solidFill>
                  <a:srgbClr val="FF0000"/>
                </a:solidFill>
              </a:rPr>
              <a:t>Disponibilidad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TMDF= </a:t>
            </a:r>
            <a:r>
              <a:rPr lang="en-US" sz="2400" b="1" dirty="0" err="1">
                <a:solidFill>
                  <a:srgbClr val="FF0000"/>
                </a:solidFill>
              </a:rPr>
              <a:t>Tiempo</a:t>
            </a:r>
            <a:r>
              <a:rPr lang="en-US" sz="2400" b="1" dirty="0">
                <a:solidFill>
                  <a:srgbClr val="FF0000"/>
                </a:solidFill>
              </a:rPr>
              <a:t> medio </a:t>
            </a:r>
            <a:r>
              <a:rPr lang="en-US" sz="2400" b="1" dirty="0" err="1">
                <a:solidFill>
                  <a:srgbClr val="FF0000"/>
                </a:solidFill>
              </a:rPr>
              <a:t>por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fallo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TMDR= </a:t>
            </a:r>
            <a:r>
              <a:rPr lang="en-US" sz="2400" b="1" dirty="0" err="1">
                <a:solidFill>
                  <a:srgbClr val="FF0000"/>
                </a:solidFill>
              </a:rPr>
              <a:t>Tiempo</a:t>
            </a:r>
            <a:r>
              <a:rPr lang="en-US" sz="2400" b="1" dirty="0">
                <a:solidFill>
                  <a:srgbClr val="FF0000"/>
                </a:solidFill>
              </a:rPr>
              <a:t> medio de </a:t>
            </a:r>
            <a:r>
              <a:rPr lang="en-US" sz="2400" b="1" dirty="0" err="1">
                <a:solidFill>
                  <a:srgbClr val="FF0000"/>
                </a:solidFill>
              </a:rPr>
              <a:t>recuperación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1620" b="1" dirty="0"/>
          </a:p>
        </p:txBody>
      </p:sp>
    </p:spTree>
    <p:extLst>
      <p:ext uri="{BB962C8B-B14F-4D97-AF65-F5344CB8AC3E}">
        <p14:creationId xmlns:p14="http://schemas.microsoft.com/office/powerpoint/2010/main" val="2906064459"/>
      </p:ext>
    </p:extLst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45126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Disponibilidad</a:t>
            </a:r>
            <a:r>
              <a:rPr lang="en-US" b="1" dirty="0"/>
              <a:t> de la </a:t>
            </a:r>
            <a:r>
              <a:rPr lang="en-US" b="1" dirty="0" err="1"/>
              <a:t>interfaz</a:t>
            </a:r>
            <a:r>
              <a:rPr lang="en-US" b="1" dirty="0"/>
              <a:t> o </a:t>
            </a:r>
            <a:r>
              <a:rPr lang="en-US" b="1" dirty="0" err="1"/>
              <a:t>sistema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290362"/>
            <a:ext cx="8554551" cy="4404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La </a:t>
            </a:r>
            <a:r>
              <a:rPr lang="en-US" sz="2400" dirty="0" err="1"/>
              <a:t>métrica</a:t>
            </a:r>
            <a:r>
              <a:rPr lang="en-US" sz="2400" dirty="0"/>
              <a:t> de </a:t>
            </a:r>
            <a:r>
              <a:rPr lang="en-US" sz="2400" dirty="0" err="1"/>
              <a:t>fiabilidad</a:t>
            </a:r>
            <a:r>
              <a:rPr lang="en-US" sz="2400" dirty="0"/>
              <a:t> se </a:t>
            </a:r>
            <a:r>
              <a:rPr lang="en-US" sz="2400" dirty="0" err="1"/>
              <a:t>utiliza</a:t>
            </a:r>
            <a:r>
              <a:rPr lang="en-US" sz="2400" dirty="0"/>
              <a:t> para </a:t>
            </a:r>
            <a:r>
              <a:rPr lang="en-US" sz="2400" dirty="0" err="1"/>
              <a:t>medir</a:t>
            </a:r>
            <a:r>
              <a:rPr lang="en-US" sz="2400" dirty="0"/>
              <a:t> la </a:t>
            </a:r>
            <a:r>
              <a:rPr lang="en-US" sz="2400" dirty="0" err="1"/>
              <a:t>probabilidad</a:t>
            </a:r>
            <a:r>
              <a:rPr lang="en-US" sz="2400" dirty="0"/>
              <a:t> de que un </a:t>
            </a:r>
            <a:r>
              <a:rPr lang="en-US" sz="2400" dirty="0" err="1"/>
              <a:t>sistema</a:t>
            </a:r>
            <a:r>
              <a:rPr lang="en-US" sz="2400" dirty="0"/>
              <a:t> o </a:t>
            </a:r>
            <a:r>
              <a:rPr lang="en-US" sz="2400" dirty="0" err="1"/>
              <a:t>una</a:t>
            </a:r>
            <a:r>
              <a:rPr lang="en-US" sz="2400" dirty="0"/>
              <a:t> </a:t>
            </a:r>
            <a:r>
              <a:rPr lang="en-US" sz="2400" dirty="0" err="1"/>
              <a:t>interfaz</a:t>
            </a:r>
            <a:r>
              <a:rPr lang="en-US" sz="2400" dirty="0"/>
              <a:t> </a:t>
            </a:r>
            <a:r>
              <a:rPr lang="en-US" sz="2400" dirty="0" err="1"/>
              <a:t>funcionen</a:t>
            </a:r>
            <a:r>
              <a:rPr lang="en-US" sz="2400" dirty="0"/>
              <a:t> </a:t>
            </a:r>
            <a:r>
              <a:rPr lang="en-US" sz="2400" dirty="0" err="1"/>
              <a:t>correctamente</a:t>
            </a:r>
            <a:r>
              <a:rPr lang="en-US" sz="2400" dirty="0"/>
              <a:t> </a:t>
            </a:r>
            <a:r>
              <a:rPr lang="en-US" sz="2400" dirty="0" err="1"/>
              <a:t>durante</a:t>
            </a:r>
            <a:r>
              <a:rPr lang="en-US" sz="2400" dirty="0"/>
              <a:t> un </a:t>
            </a:r>
            <a:r>
              <a:rPr lang="en-US" sz="2400" dirty="0" err="1"/>
              <a:t>período</a:t>
            </a:r>
            <a:r>
              <a:rPr lang="en-US" sz="2400" dirty="0"/>
              <a:t> de </a:t>
            </a:r>
            <a:r>
              <a:rPr lang="en-US" sz="2400" dirty="0" err="1"/>
              <a:t>tiempo</a:t>
            </a:r>
            <a:r>
              <a:rPr lang="en-US" sz="2400" dirty="0"/>
              <a:t> </a:t>
            </a:r>
            <a:r>
              <a:rPr lang="en-US" sz="2400" dirty="0" err="1"/>
              <a:t>determinado</a:t>
            </a:r>
            <a:r>
              <a:rPr lang="en-US" sz="2400" dirty="0"/>
              <a:t>. La </a:t>
            </a:r>
            <a:r>
              <a:rPr lang="en-US" sz="2400" dirty="0" err="1"/>
              <a:t>fiabilidad</a:t>
            </a:r>
            <a:r>
              <a:rPr lang="en-US" sz="2400" dirty="0"/>
              <a:t> se </a:t>
            </a:r>
            <a:r>
              <a:rPr lang="en-US" sz="2400" dirty="0" err="1"/>
              <a:t>refiere</a:t>
            </a:r>
            <a:r>
              <a:rPr lang="en-US" sz="2400" dirty="0"/>
              <a:t> a la </a:t>
            </a:r>
            <a:r>
              <a:rPr lang="en-US" sz="2400" dirty="0" err="1"/>
              <a:t>capacidad</a:t>
            </a:r>
            <a:r>
              <a:rPr lang="en-US" sz="2400" dirty="0"/>
              <a:t> de un </a:t>
            </a:r>
            <a:r>
              <a:rPr lang="en-US" sz="2400" dirty="0" err="1"/>
              <a:t>sistema</a:t>
            </a:r>
            <a:r>
              <a:rPr lang="en-US" sz="2400" dirty="0"/>
              <a:t> o </a:t>
            </a:r>
            <a:r>
              <a:rPr lang="en-US" sz="2400" dirty="0" err="1"/>
              <a:t>interfaz</a:t>
            </a:r>
            <a:r>
              <a:rPr lang="en-US" sz="2400" dirty="0"/>
              <a:t> para </a:t>
            </a:r>
            <a:r>
              <a:rPr lang="en-US" sz="2400" dirty="0" err="1"/>
              <a:t>funcionar</a:t>
            </a:r>
            <a:r>
              <a:rPr lang="en-US" sz="2400" dirty="0"/>
              <a:t> sin </a:t>
            </a:r>
            <a:r>
              <a:rPr lang="en-US" sz="2400" dirty="0" err="1"/>
              <a:t>interrupciones</a:t>
            </a:r>
            <a:r>
              <a:rPr lang="en-US" sz="2400" dirty="0"/>
              <a:t> o </a:t>
            </a:r>
            <a:r>
              <a:rPr lang="en-US" sz="2400" dirty="0" err="1"/>
              <a:t>fallas</a:t>
            </a:r>
            <a:r>
              <a:rPr lang="en-US" sz="2400" dirty="0"/>
              <a:t> </a:t>
            </a:r>
            <a:r>
              <a:rPr lang="en-US" sz="2400" dirty="0" err="1"/>
              <a:t>durante</a:t>
            </a:r>
            <a:r>
              <a:rPr lang="en-US" sz="2400" dirty="0"/>
              <a:t> </a:t>
            </a:r>
            <a:r>
              <a:rPr lang="en-US" sz="2400" dirty="0" err="1"/>
              <a:t>el</a:t>
            </a:r>
            <a:r>
              <a:rPr lang="en-US" sz="2400" dirty="0"/>
              <a:t> </a:t>
            </a:r>
            <a:r>
              <a:rPr lang="en-US" sz="2400" dirty="0" err="1"/>
              <a:t>uso</a:t>
            </a:r>
            <a:r>
              <a:rPr lang="en-US" sz="2400" dirty="0"/>
              <a:t> normal.</a:t>
            </a:r>
          </a:p>
          <a:p>
            <a:endParaRPr lang="en-US" sz="2400" b="1" dirty="0"/>
          </a:p>
          <a:p>
            <a:r>
              <a:rPr lang="en-US" sz="2400" b="1" dirty="0">
                <a:solidFill>
                  <a:srgbClr val="FF0000"/>
                </a:solidFill>
              </a:rPr>
              <a:t>TMEF =TMDF+ TMDR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TMEF = </a:t>
            </a:r>
            <a:r>
              <a:rPr lang="en-US" sz="2400" b="1" dirty="0" err="1">
                <a:solidFill>
                  <a:srgbClr val="FF0000"/>
                </a:solidFill>
              </a:rPr>
              <a:t>Tiempo</a:t>
            </a:r>
            <a:r>
              <a:rPr lang="en-US" sz="2400" b="1" dirty="0">
                <a:solidFill>
                  <a:srgbClr val="FF0000"/>
                </a:solidFill>
              </a:rPr>
              <a:t> medio entre </a:t>
            </a:r>
            <a:r>
              <a:rPr lang="en-US" sz="2400" b="1" dirty="0" err="1">
                <a:solidFill>
                  <a:srgbClr val="FF0000"/>
                </a:solidFill>
              </a:rPr>
              <a:t>fallos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TMDF= </a:t>
            </a:r>
            <a:r>
              <a:rPr lang="en-US" sz="2400" b="1" dirty="0" err="1">
                <a:solidFill>
                  <a:srgbClr val="FF0000"/>
                </a:solidFill>
              </a:rPr>
              <a:t>Tiempo</a:t>
            </a:r>
            <a:r>
              <a:rPr lang="en-US" sz="2400" b="1" dirty="0">
                <a:solidFill>
                  <a:srgbClr val="FF0000"/>
                </a:solidFill>
              </a:rPr>
              <a:t> medio </a:t>
            </a:r>
            <a:r>
              <a:rPr lang="en-US" sz="2400" b="1" dirty="0" err="1">
                <a:solidFill>
                  <a:srgbClr val="FF0000"/>
                </a:solidFill>
              </a:rPr>
              <a:t>por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fallo</a:t>
            </a:r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TMDR= </a:t>
            </a:r>
            <a:r>
              <a:rPr lang="en-US" sz="2400" b="1" dirty="0" err="1">
                <a:solidFill>
                  <a:srgbClr val="FF0000"/>
                </a:solidFill>
              </a:rPr>
              <a:t>Tiempo</a:t>
            </a:r>
            <a:r>
              <a:rPr lang="en-US" sz="2400" b="1" dirty="0">
                <a:solidFill>
                  <a:srgbClr val="FF0000"/>
                </a:solidFill>
              </a:rPr>
              <a:t> medio de </a:t>
            </a:r>
            <a:r>
              <a:rPr lang="en-US" sz="2400" b="1" dirty="0" err="1">
                <a:solidFill>
                  <a:srgbClr val="FF0000"/>
                </a:solidFill>
              </a:rPr>
              <a:t>recuperación</a:t>
            </a:r>
            <a:endParaRPr lang="en-US" sz="2400" b="1" dirty="0">
              <a:solidFill>
                <a:srgbClr val="FF0000"/>
              </a:solidFill>
            </a:endParaRPr>
          </a:p>
          <a:p>
            <a:endParaRPr lang="en-US" sz="1620" b="1" dirty="0"/>
          </a:p>
        </p:txBody>
      </p:sp>
    </p:spTree>
    <p:extLst>
      <p:ext uri="{BB962C8B-B14F-4D97-AF65-F5344CB8AC3E}">
        <p14:creationId xmlns:p14="http://schemas.microsoft.com/office/powerpoint/2010/main" val="165545216"/>
      </p:ext>
    </p:extLst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-329817"/>
            <a:ext cx="7886700" cy="1324452"/>
          </a:xfrm>
        </p:spPr>
        <p:txBody>
          <a:bodyPr/>
          <a:lstStyle/>
          <a:p>
            <a:r>
              <a:rPr lang="en-US" b="1" dirty="0" err="1"/>
              <a:t>Número</a:t>
            </a:r>
            <a:r>
              <a:rPr lang="en-US" b="1" dirty="0"/>
              <a:t> de </a:t>
            </a:r>
            <a:r>
              <a:rPr lang="en-US" b="1" dirty="0" err="1"/>
              <a:t>errores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060659"/>
            <a:ext cx="8554551" cy="4745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20" dirty="0"/>
              <a:t>La </a:t>
            </a:r>
            <a:r>
              <a:rPr lang="en-US" sz="2520" dirty="0" err="1"/>
              <a:t>métrica</a:t>
            </a:r>
            <a:r>
              <a:rPr lang="en-US" sz="2520" dirty="0"/>
              <a:t> de </a:t>
            </a:r>
            <a:r>
              <a:rPr lang="en-US" sz="2520" dirty="0" err="1"/>
              <a:t>número</a:t>
            </a:r>
            <a:r>
              <a:rPr lang="en-US" sz="2520" dirty="0"/>
              <a:t> de </a:t>
            </a:r>
            <a:r>
              <a:rPr lang="en-US" sz="2520" dirty="0" err="1"/>
              <a:t>errores</a:t>
            </a:r>
            <a:r>
              <a:rPr lang="en-US" sz="2520" dirty="0"/>
              <a:t> es </a:t>
            </a:r>
            <a:r>
              <a:rPr lang="en-US" sz="2520" dirty="0" err="1"/>
              <a:t>una</a:t>
            </a:r>
            <a:r>
              <a:rPr lang="en-US" sz="2520" dirty="0"/>
              <a:t> </a:t>
            </a:r>
            <a:r>
              <a:rPr lang="en-US" sz="2520" dirty="0" err="1"/>
              <a:t>medida</a:t>
            </a:r>
            <a:r>
              <a:rPr lang="en-US" sz="2520" dirty="0"/>
              <a:t> </a:t>
            </a:r>
            <a:r>
              <a:rPr lang="en-US" sz="2520" dirty="0" err="1"/>
              <a:t>utilizada</a:t>
            </a:r>
            <a:r>
              <a:rPr lang="en-US" sz="2520" dirty="0"/>
              <a:t> en </a:t>
            </a:r>
            <a:r>
              <a:rPr lang="en-US" sz="2520" dirty="0" err="1"/>
              <a:t>el</a:t>
            </a:r>
            <a:r>
              <a:rPr lang="en-US" sz="2520" dirty="0"/>
              <a:t> </a:t>
            </a:r>
            <a:r>
              <a:rPr lang="en-US" sz="2520" dirty="0" err="1"/>
              <a:t>proceso</a:t>
            </a:r>
            <a:r>
              <a:rPr lang="en-US" sz="2520" dirty="0"/>
              <a:t> de </a:t>
            </a:r>
            <a:r>
              <a:rPr lang="en-US" sz="2520" dirty="0" err="1"/>
              <a:t>desarrollo</a:t>
            </a:r>
            <a:r>
              <a:rPr lang="en-US" sz="2520" dirty="0"/>
              <a:t> de software para </a:t>
            </a:r>
            <a:r>
              <a:rPr lang="en-US" sz="2520" dirty="0" err="1"/>
              <a:t>evaluar</a:t>
            </a:r>
            <a:r>
              <a:rPr lang="en-US" sz="2520" dirty="0"/>
              <a:t> la </a:t>
            </a:r>
            <a:r>
              <a:rPr lang="en-US" sz="2520" dirty="0" err="1"/>
              <a:t>cantidad</a:t>
            </a:r>
            <a:r>
              <a:rPr lang="en-US" sz="2520" dirty="0"/>
              <a:t> de </a:t>
            </a:r>
            <a:r>
              <a:rPr lang="en-US" sz="2520" dirty="0" err="1"/>
              <a:t>errores</a:t>
            </a:r>
            <a:r>
              <a:rPr lang="en-US" sz="2520" dirty="0"/>
              <a:t> o </a:t>
            </a:r>
            <a:r>
              <a:rPr lang="en-US" sz="2520" dirty="0" err="1"/>
              <a:t>defectos</a:t>
            </a:r>
            <a:r>
              <a:rPr lang="en-US" sz="2520" dirty="0"/>
              <a:t> </a:t>
            </a:r>
            <a:r>
              <a:rPr lang="en-US" sz="2520" dirty="0" err="1"/>
              <a:t>presentes</a:t>
            </a:r>
            <a:r>
              <a:rPr lang="en-US" sz="2520" dirty="0"/>
              <a:t> en un </a:t>
            </a:r>
            <a:r>
              <a:rPr lang="en-US" sz="2520" dirty="0" err="1"/>
              <a:t>sistema</a:t>
            </a:r>
            <a:r>
              <a:rPr lang="en-US" sz="2520" dirty="0"/>
              <a:t> o </a:t>
            </a:r>
            <a:r>
              <a:rPr lang="en-US" sz="2520" dirty="0" err="1"/>
              <a:t>aplicación</a:t>
            </a:r>
            <a:r>
              <a:rPr lang="en-US" sz="2520" dirty="0"/>
              <a:t>. Los </a:t>
            </a:r>
            <a:r>
              <a:rPr lang="en-US" sz="2520" dirty="0" err="1"/>
              <a:t>errores</a:t>
            </a:r>
            <a:r>
              <a:rPr lang="en-US" sz="2520" dirty="0"/>
              <a:t> </a:t>
            </a:r>
            <a:r>
              <a:rPr lang="en-US" sz="2520" dirty="0" err="1"/>
              <a:t>pueden</a:t>
            </a:r>
            <a:r>
              <a:rPr lang="en-US" sz="2520" dirty="0"/>
              <a:t> </a:t>
            </a:r>
            <a:r>
              <a:rPr lang="en-US" sz="2520" dirty="0" err="1"/>
              <a:t>surgir</a:t>
            </a:r>
            <a:r>
              <a:rPr lang="en-US" sz="2520" dirty="0"/>
              <a:t> en </a:t>
            </a:r>
            <a:r>
              <a:rPr lang="en-US" sz="2520" dirty="0" err="1"/>
              <a:t>diferentes</a:t>
            </a:r>
            <a:r>
              <a:rPr lang="en-US" sz="2520" dirty="0"/>
              <a:t> </a:t>
            </a:r>
            <a:r>
              <a:rPr lang="en-US" sz="2520" dirty="0" err="1"/>
              <a:t>etapas</a:t>
            </a:r>
            <a:r>
              <a:rPr lang="en-US" sz="2520" dirty="0"/>
              <a:t> del </a:t>
            </a:r>
            <a:r>
              <a:rPr lang="en-US" sz="2520" dirty="0" err="1"/>
              <a:t>proceso</a:t>
            </a:r>
            <a:r>
              <a:rPr lang="en-US" sz="2520" dirty="0"/>
              <a:t> de </a:t>
            </a:r>
            <a:r>
              <a:rPr lang="en-US" sz="2520" dirty="0" err="1"/>
              <a:t>desarrollo</a:t>
            </a:r>
            <a:r>
              <a:rPr lang="en-US" sz="2520" dirty="0"/>
              <a:t>, </a:t>
            </a:r>
            <a:r>
              <a:rPr lang="en-US" sz="2520" dirty="0" err="1"/>
              <a:t>incluyendo</a:t>
            </a:r>
            <a:r>
              <a:rPr lang="en-US" sz="2520" dirty="0"/>
              <a:t> </a:t>
            </a:r>
            <a:r>
              <a:rPr lang="en-US" sz="2520" dirty="0" err="1"/>
              <a:t>el</a:t>
            </a:r>
            <a:r>
              <a:rPr lang="en-US" sz="2520" dirty="0"/>
              <a:t> </a:t>
            </a:r>
            <a:r>
              <a:rPr lang="en-US" sz="2520" dirty="0" err="1"/>
              <a:t>diseño</a:t>
            </a:r>
            <a:r>
              <a:rPr lang="en-US" sz="2520" dirty="0"/>
              <a:t>, la </a:t>
            </a:r>
            <a:r>
              <a:rPr lang="en-US" sz="2520" dirty="0" err="1"/>
              <a:t>codificación</a:t>
            </a:r>
            <a:r>
              <a:rPr lang="en-US" sz="2520" dirty="0"/>
              <a:t>, la </a:t>
            </a:r>
            <a:r>
              <a:rPr lang="en-US" sz="2520" dirty="0" err="1"/>
              <a:t>implementación</a:t>
            </a:r>
            <a:r>
              <a:rPr lang="en-US" sz="2520" dirty="0"/>
              <a:t> y la </a:t>
            </a:r>
            <a:r>
              <a:rPr lang="en-US" sz="2520" dirty="0" err="1"/>
              <a:t>integración</a:t>
            </a:r>
            <a:r>
              <a:rPr lang="en-US" sz="2520" dirty="0"/>
              <a:t>.</a:t>
            </a:r>
          </a:p>
          <a:p>
            <a:endParaRPr lang="en-US" sz="2520" dirty="0"/>
          </a:p>
          <a:p>
            <a:r>
              <a:rPr lang="en-US" sz="2520" b="1" dirty="0"/>
              <a:t>La </a:t>
            </a:r>
            <a:r>
              <a:rPr lang="en-US" sz="2520" b="1" dirty="0" err="1"/>
              <a:t>métrica</a:t>
            </a:r>
            <a:r>
              <a:rPr lang="en-US" sz="2520" b="1" dirty="0"/>
              <a:t> de </a:t>
            </a:r>
            <a:r>
              <a:rPr lang="en-US" sz="2520" b="1" dirty="0" err="1"/>
              <a:t>número</a:t>
            </a:r>
            <a:r>
              <a:rPr lang="en-US" sz="2520" b="1" dirty="0"/>
              <a:t> de </a:t>
            </a:r>
            <a:r>
              <a:rPr lang="en-US" sz="2520" b="1" dirty="0" err="1"/>
              <a:t>errores</a:t>
            </a:r>
            <a:r>
              <a:rPr lang="en-US" sz="2520" b="1" dirty="0"/>
              <a:t> se </a:t>
            </a:r>
            <a:r>
              <a:rPr lang="en-US" sz="2520" b="1" dirty="0" err="1"/>
              <a:t>utiliza</a:t>
            </a:r>
            <a:r>
              <a:rPr lang="en-US" sz="2520" b="1" dirty="0"/>
              <a:t> para </a:t>
            </a:r>
            <a:r>
              <a:rPr lang="en-US" sz="2520" b="1" dirty="0" err="1"/>
              <a:t>identificar</a:t>
            </a:r>
            <a:r>
              <a:rPr lang="en-US" sz="2520" b="1" dirty="0"/>
              <a:t> y </a:t>
            </a:r>
            <a:r>
              <a:rPr lang="en-US" sz="2520" b="1" dirty="0" err="1"/>
              <a:t>monitorear</a:t>
            </a:r>
            <a:r>
              <a:rPr lang="en-US" sz="2520" b="1" dirty="0"/>
              <a:t> la </a:t>
            </a:r>
            <a:r>
              <a:rPr lang="en-US" sz="2520" b="1" dirty="0" err="1"/>
              <a:t>cantidad</a:t>
            </a:r>
            <a:r>
              <a:rPr lang="en-US" sz="2520" b="1" dirty="0"/>
              <a:t> de </a:t>
            </a:r>
            <a:r>
              <a:rPr lang="en-US" sz="2520" b="1" dirty="0" err="1"/>
              <a:t>errores</a:t>
            </a:r>
            <a:r>
              <a:rPr lang="en-US" sz="2520" b="1" dirty="0"/>
              <a:t> en un </a:t>
            </a:r>
            <a:r>
              <a:rPr lang="en-US" sz="2520" b="1" dirty="0" err="1"/>
              <a:t>sistema</a:t>
            </a:r>
            <a:r>
              <a:rPr lang="en-US" sz="2520" b="1" dirty="0"/>
              <a:t> o </a:t>
            </a:r>
            <a:r>
              <a:rPr lang="en-US" sz="2520" b="1" dirty="0" err="1"/>
              <a:t>aplicación</a:t>
            </a:r>
            <a:r>
              <a:rPr lang="en-US" sz="2520" b="1" dirty="0"/>
              <a:t> y para </a:t>
            </a:r>
            <a:r>
              <a:rPr lang="en-US" sz="2520" b="1" dirty="0" err="1"/>
              <a:t>medir</a:t>
            </a:r>
            <a:r>
              <a:rPr lang="en-US" sz="2520" b="1" dirty="0"/>
              <a:t> </a:t>
            </a:r>
            <a:r>
              <a:rPr lang="en-US" sz="2520" b="1" dirty="0" err="1"/>
              <a:t>el</a:t>
            </a:r>
            <a:r>
              <a:rPr lang="en-US" sz="2520" b="1" dirty="0"/>
              <a:t> </a:t>
            </a:r>
            <a:r>
              <a:rPr lang="en-US" sz="2520" b="1" dirty="0" err="1"/>
              <a:t>progreso</a:t>
            </a:r>
            <a:r>
              <a:rPr lang="en-US" sz="2520" b="1" dirty="0"/>
              <a:t> en la </a:t>
            </a:r>
            <a:r>
              <a:rPr lang="en-US" sz="2520" b="1" dirty="0" err="1"/>
              <a:t>corrección</a:t>
            </a:r>
            <a:r>
              <a:rPr lang="en-US" sz="2520" b="1" dirty="0"/>
              <a:t> de </a:t>
            </a:r>
            <a:r>
              <a:rPr lang="en-US" sz="2520" b="1" dirty="0" err="1"/>
              <a:t>los</a:t>
            </a:r>
            <a:r>
              <a:rPr lang="en-US" sz="2520" b="1" dirty="0"/>
              <a:t> </a:t>
            </a:r>
            <a:r>
              <a:rPr lang="en-US" sz="2520" b="1" dirty="0" err="1"/>
              <a:t>mismos</a:t>
            </a:r>
            <a:r>
              <a:rPr lang="en-US" sz="2520" b="1" dirty="0"/>
              <a:t>. La </a:t>
            </a:r>
            <a:r>
              <a:rPr lang="en-US" sz="2520" b="1" dirty="0" err="1"/>
              <a:t>métrica</a:t>
            </a:r>
            <a:r>
              <a:rPr lang="en-US" sz="2520" b="1" dirty="0"/>
              <a:t> </a:t>
            </a:r>
            <a:r>
              <a:rPr lang="en-US" sz="2520" b="1" dirty="0" err="1"/>
              <a:t>puede</a:t>
            </a:r>
            <a:r>
              <a:rPr lang="en-US" sz="2520" b="1" dirty="0"/>
              <a:t> ser </a:t>
            </a:r>
            <a:r>
              <a:rPr lang="en-US" sz="2520" b="1" dirty="0" err="1"/>
              <a:t>cuantitativa</a:t>
            </a:r>
            <a:r>
              <a:rPr lang="en-US" sz="2520" b="1" dirty="0"/>
              <a:t> o </a:t>
            </a:r>
            <a:r>
              <a:rPr lang="en-US" sz="2520" b="1" dirty="0" err="1"/>
              <a:t>cualitativa</a:t>
            </a:r>
            <a:r>
              <a:rPr lang="en-US" sz="2520" b="1" dirty="0"/>
              <a:t>, </a:t>
            </a:r>
            <a:r>
              <a:rPr lang="en-US" sz="2520" b="1" dirty="0" err="1"/>
              <a:t>dependiendo</a:t>
            </a:r>
            <a:r>
              <a:rPr lang="en-US" sz="2520" b="1" dirty="0"/>
              <a:t> de </a:t>
            </a:r>
            <a:r>
              <a:rPr lang="en-US" sz="2520" b="1" dirty="0" err="1"/>
              <a:t>cómo</a:t>
            </a:r>
            <a:r>
              <a:rPr lang="en-US" sz="2520" b="1" dirty="0"/>
              <a:t> se </a:t>
            </a:r>
            <a:r>
              <a:rPr lang="en-US" sz="2520" b="1" dirty="0" err="1"/>
              <a:t>cuente</a:t>
            </a:r>
            <a:r>
              <a:rPr lang="en-US" sz="2520" b="1" dirty="0"/>
              <a:t> o se </a:t>
            </a:r>
            <a:r>
              <a:rPr lang="en-US" sz="2520" b="1" dirty="0" err="1"/>
              <a:t>clasifiquen</a:t>
            </a:r>
            <a:r>
              <a:rPr lang="en-US" sz="2520" b="1" dirty="0"/>
              <a:t> </a:t>
            </a:r>
            <a:r>
              <a:rPr lang="en-US" sz="2520" b="1" dirty="0" err="1"/>
              <a:t>los</a:t>
            </a:r>
            <a:r>
              <a:rPr lang="en-US" sz="2520" b="1" dirty="0"/>
              <a:t> </a:t>
            </a:r>
            <a:r>
              <a:rPr lang="en-US" sz="2520" b="1" dirty="0" err="1"/>
              <a:t>errores</a:t>
            </a:r>
            <a:r>
              <a:rPr lang="en-US" sz="252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6150278"/>
      </p:ext>
    </p:extLst>
  </p:cSld>
  <p:clrMapOvr>
    <a:masterClrMapping/>
  </p:clrMapOvr>
  <p:transition spd="med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-329817"/>
            <a:ext cx="7886700" cy="1324452"/>
          </a:xfrm>
        </p:spPr>
        <p:txBody>
          <a:bodyPr/>
          <a:lstStyle/>
          <a:p>
            <a:r>
              <a:rPr lang="en-US" b="1" dirty="0" err="1"/>
              <a:t>Número</a:t>
            </a:r>
            <a:r>
              <a:rPr lang="en-US" b="1" dirty="0"/>
              <a:t> de </a:t>
            </a:r>
            <a:r>
              <a:rPr lang="en-US" b="1" dirty="0" err="1"/>
              <a:t>errores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994634"/>
            <a:ext cx="8554551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cuantitativa</a:t>
            </a:r>
            <a:r>
              <a:rPr lang="en-US" sz="2000" dirty="0"/>
              <a:t> se </a:t>
            </a:r>
            <a:r>
              <a:rPr lang="en-US" sz="2000" dirty="0" err="1"/>
              <a:t>expresa</a:t>
            </a:r>
            <a:r>
              <a:rPr lang="en-US" sz="2000" dirty="0"/>
              <a:t> en </a:t>
            </a:r>
            <a:r>
              <a:rPr lang="en-US" sz="2000" dirty="0" err="1"/>
              <a:t>términos</a:t>
            </a:r>
            <a:r>
              <a:rPr lang="en-US" sz="2000" dirty="0"/>
              <a:t> de la </a:t>
            </a:r>
            <a:r>
              <a:rPr lang="en-US" sz="2000" dirty="0" err="1"/>
              <a:t>cantidad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 en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determinada</a:t>
            </a:r>
            <a:r>
              <a:rPr lang="en-US" sz="2000" dirty="0"/>
              <a:t> </a:t>
            </a:r>
            <a:r>
              <a:rPr lang="en-US" sz="2000" dirty="0" err="1"/>
              <a:t>cantidad</a:t>
            </a:r>
            <a:r>
              <a:rPr lang="en-US" sz="2000" dirty="0"/>
              <a:t> de </a:t>
            </a:r>
            <a:r>
              <a:rPr lang="en-US" sz="2000" dirty="0" err="1"/>
              <a:t>código</a:t>
            </a:r>
            <a:r>
              <a:rPr lang="en-US" sz="2000" dirty="0"/>
              <a:t> o en un </a:t>
            </a:r>
            <a:r>
              <a:rPr lang="en-US" sz="2000" dirty="0" err="1"/>
              <a:t>período</a:t>
            </a:r>
            <a:r>
              <a:rPr lang="en-US" sz="2000" dirty="0"/>
              <a:t> de </a:t>
            </a:r>
            <a:r>
              <a:rPr lang="en-US" sz="2000" dirty="0" err="1"/>
              <a:t>tiempo</a:t>
            </a:r>
            <a:r>
              <a:rPr lang="en-US" sz="2000" dirty="0"/>
              <a:t> </a:t>
            </a:r>
            <a:r>
              <a:rPr lang="en-US" sz="2000" dirty="0" err="1"/>
              <a:t>específico</a:t>
            </a:r>
            <a:r>
              <a:rPr lang="en-US" sz="2000" dirty="0"/>
              <a:t>. Por </a:t>
            </a:r>
            <a:r>
              <a:rPr lang="en-US" sz="2000" dirty="0" err="1"/>
              <a:t>ejemplo</a:t>
            </a:r>
            <a:r>
              <a:rPr lang="en-US" sz="2000" dirty="0"/>
              <a:t>,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cada</a:t>
            </a:r>
            <a:r>
              <a:rPr lang="en-US" sz="2000" dirty="0"/>
              <a:t> 1000 </a:t>
            </a:r>
            <a:r>
              <a:rPr lang="en-US" sz="2000" dirty="0" err="1"/>
              <a:t>líneas</a:t>
            </a:r>
            <a:r>
              <a:rPr lang="en-US" sz="2000" dirty="0"/>
              <a:t> de </a:t>
            </a:r>
            <a:r>
              <a:rPr lang="en-US" sz="2000" dirty="0" err="1"/>
              <a:t>código</a:t>
            </a:r>
            <a:r>
              <a:rPr lang="en-US" sz="2000" dirty="0"/>
              <a:t> o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 en un </a:t>
            </a:r>
            <a:r>
              <a:rPr lang="en-US" sz="2000" dirty="0" err="1"/>
              <a:t>mes</a:t>
            </a:r>
            <a:r>
              <a:rPr lang="en-US" sz="2000" dirty="0"/>
              <a:t> de </a:t>
            </a:r>
            <a:r>
              <a:rPr lang="en-US" sz="2000" dirty="0" err="1"/>
              <a:t>pruebas</a:t>
            </a:r>
            <a:r>
              <a:rPr lang="en-US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cualitativa</a:t>
            </a:r>
            <a:r>
              <a:rPr lang="en-US" sz="2000" dirty="0"/>
              <a:t> se </a:t>
            </a:r>
            <a:r>
              <a:rPr lang="en-US" sz="2000" dirty="0" err="1"/>
              <a:t>refiere</a:t>
            </a:r>
            <a:r>
              <a:rPr lang="en-US" sz="2000" dirty="0"/>
              <a:t> a la </a:t>
            </a:r>
            <a:r>
              <a:rPr lang="en-US" sz="2000" dirty="0" err="1"/>
              <a:t>gravedad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, lo que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clasificarse</a:t>
            </a:r>
            <a:r>
              <a:rPr lang="en-US" sz="2000" dirty="0"/>
              <a:t> en </a:t>
            </a:r>
            <a:r>
              <a:rPr lang="en-US" sz="2000" dirty="0" err="1"/>
              <a:t>diferentes</a:t>
            </a:r>
            <a:r>
              <a:rPr lang="en-US" sz="2000" dirty="0"/>
              <a:t> </a:t>
            </a:r>
            <a:r>
              <a:rPr lang="en-US" sz="2000" dirty="0" err="1"/>
              <a:t>niveles</a:t>
            </a:r>
            <a:r>
              <a:rPr lang="en-US" sz="2000" dirty="0"/>
              <a:t>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crítico</a:t>
            </a:r>
            <a:r>
              <a:rPr lang="en-US" sz="2000" dirty="0"/>
              <a:t>, </a:t>
            </a:r>
            <a:r>
              <a:rPr lang="en-US" sz="2000" dirty="0" err="1"/>
              <a:t>importante</a:t>
            </a:r>
            <a:r>
              <a:rPr lang="en-US" sz="2000" dirty="0"/>
              <a:t>, </a:t>
            </a:r>
            <a:r>
              <a:rPr lang="en-US" sz="2000" dirty="0" err="1"/>
              <a:t>moderado</a:t>
            </a:r>
            <a:r>
              <a:rPr lang="en-US" sz="2000" dirty="0"/>
              <a:t> y </a:t>
            </a:r>
            <a:r>
              <a:rPr lang="en-US" sz="2000" dirty="0" err="1"/>
              <a:t>menor</a:t>
            </a:r>
            <a:r>
              <a:rPr lang="en-US" sz="2000" dirty="0"/>
              <a:t>.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se </a:t>
            </a:r>
            <a:r>
              <a:rPr lang="en-US" sz="2000" dirty="0" err="1"/>
              <a:t>utiliza</a:t>
            </a:r>
            <a:r>
              <a:rPr lang="en-US" sz="2000" dirty="0"/>
              <a:t> para </a:t>
            </a:r>
            <a:r>
              <a:rPr lang="en-US" sz="2000" dirty="0" err="1"/>
              <a:t>identificar</a:t>
            </a:r>
            <a:r>
              <a:rPr lang="en-US" sz="2000" dirty="0"/>
              <a:t> y </a:t>
            </a:r>
            <a:r>
              <a:rPr lang="en-US" sz="2000" dirty="0" err="1"/>
              <a:t>priorizar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críticos</a:t>
            </a:r>
            <a:r>
              <a:rPr lang="en-US" sz="2000" dirty="0"/>
              <a:t> o </a:t>
            </a:r>
            <a:r>
              <a:rPr lang="en-US" sz="2000" dirty="0" err="1"/>
              <a:t>importantes</a:t>
            </a:r>
            <a:r>
              <a:rPr lang="en-US" sz="2000" dirty="0"/>
              <a:t> para </a:t>
            </a:r>
            <a:r>
              <a:rPr lang="en-US" sz="2000" dirty="0" err="1"/>
              <a:t>corregir</a:t>
            </a:r>
            <a:r>
              <a:rPr lang="en-US" sz="2000" dirty="0"/>
              <a:t> primero.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46109078"/>
      </p:ext>
    </p:extLst>
  </p:cSld>
  <p:clrMapOvr>
    <a:masterClrMapping/>
  </p:clrMapOvr>
  <p:transition spd="med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04664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Número</a:t>
            </a:r>
            <a:r>
              <a:rPr lang="en-US" b="1" dirty="0"/>
              <a:t> de </a:t>
            </a:r>
            <a:r>
              <a:rPr lang="en-US" b="1" dirty="0" err="1"/>
              <a:t>errores</a:t>
            </a:r>
            <a:r>
              <a:rPr lang="en-US" b="1" dirty="0"/>
              <a:t> </a:t>
            </a:r>
            <a:r>
              <a:rPr lang="en-US" b="1" dirty="0" err="1"/>
              <a:t>por</a:t>
            </a:r>
            <a:r>
              <a:rPr lang="en-US" b="1" dirty="0"/>
              <a:t> </a:t>
            </a:r>
            <a:r>
              <a:rPr lang="en-US" b="1" dirty="0" err="1"/>
              <a:t>unidad</a:t>
            </a:r>
            <a:r>
              <a:rPr lang="en-US" b="1" dirty="0"/>
              <a:t> de </a:t>
            </a:r>
            <a:r>
              <a:rPr lang="en-US" b="1" dirty="0" err="1"/>
              <a:t>tiempo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73123" y="2089651"/>
            <a:ext cx="85545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es </a:t>
            </a:r>
            <a:r>
              <a:rPr lang="en-US" sz="2000" dirty="0" err="1"/>
              <a:t>importante</a:t>
            </a:r>
            <a:r>
              <a:rPr lang="en-US" sz="2000" dirty="0"/>
              <a:t> </a:t>
            </a:r>
            <a:r>
              <a:rPr lang="en-US" sz="2000" dirty="0" err="1"/>
              <a:t>porque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a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desarrolladores</a:t>
            </a:r>
            <a:r>
              <a:rPr lang="en-US" sz="2000" dirty="0"/>
              <a:t> de software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software y </a:t>
            </a:r>
            <a:r>
              <a:rPr lang="en-US" sz="2000" dirty="0" err="1"/>
              <a:t>evaluar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progreso</a:t>
            </a:r>
            <a:r>
              <a:rPr lang="en-US" sz="2000" dirty="0"/>
              <a:t> en la </a:t>
            </a:r>
            <a:r>
              <a:rPr lang="en-US" sz="2000" dirty="0" err="1"/>
              <a:t>corrección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. </a:t>
            </a:r>
            <a:r>
              <a:rPr lang="en-US" sz="2000" dirty="0" err="1"/>
              <a:t>También</a:t>
            </a:r>
            <a:r>
              <a:rPr lang="en-US" sz="2000" dirty="0"/>
              <a:t> </a:t>
            </a:r>
            <a:r>
              <a:rPr lang="en-US" sz="2000" dirty="0" err="1"/>
              <a:t>ayuda</a:t>
            </a:r>
            <a:r>
              <a:rPr lang="en-US" sz="2000" dirty="0"/>
              <a:t> a </a:t>
            </a:r>
            <a:r>
              <a:rPr lang="en-US" sz="2000" dirty="0" err="1"/>
              <a:t>identificar</a:t>
            </a:r>
            <a:r>
              <a:rPr lang="en-US" sz="2000" dirty="0"/>
              <a:t> </a:t>
            </a:r>
            <a:r>
              <a:rPr lang="en-US" sz="2000" dirty="0" err="1"/>
              <a:t>patrones</a:t>
            </a:r>
            <a:r>
              <a:rPr lang="en-US" sz="2000" dirty="0"/>
              <a:t> o </a:t>
            </a:r>
            <a:r>
              <a:rPr lang="en-US" sz="2000" dirty="0" err="1"/>
              <a:t>tendencias</a:t>
            </a:r>
            <a:r>
              <a:rPr lang="en-US" sz="2000" dirty="0"/>
              <a:t> en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que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ayudar</a:t>
            </a:r>
            <a:r>
              <a:rPr lang="en-US" sz="2000" dirty="0"/>
              <a:t> a </a:t>
            </a:r>
            <a:r>
              <a:rPr lang="en-US" sz="2000" dirty="0" err="1"/>
              <a:t>mejorar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proceso</a:t>
            </a:r>
            <a:r>
              <a:rPr lang="en-US" sz="2000" dirty="0"/>
              <a:t> de </a:t>
            </a:r>
            <a:r>
              <a:rPr lang="en-US" sz="2000" dirty="0" err="1"/>
              <a:t>desarrollo</a:t>
            </a:r>
            <a:r>
              <a:rPr lang="en-US" sz="2000" dirty="0"/>
              <a:t> en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futuro</a:t>
            </a:r>
            <a:r>
              <a:rPr lang="en-US" sz="2000" dirty="0"/>
              <a:t>. Sin embargo, </a:t>
            </a:r>
            <a:r>
              <a:rPr lang="en-US" sz="2000" dirty="0" err="1"/>
              <a:t>esta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no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información</a:t>
            </a:r>
            <a:r>
              <a:rPr lang="en-US" sz="2000" dirty="0"/>
              <a:t> </a:t>
            </a:r>
            <a:r>
              <a:rPr lang="en-US" sz="2000" dirty="0" err="1"/>
              <a:t>completa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software, </a:t>
            </a:r>
            <a:r>
              <a:rPr lang="en-US" sz="2000" dirty="0" err="1"/>
              <a:t>ya</a:t>
            </a:r>
            <a:r>
              <a:rPr lang="en-US" sz="2000" dirty="0"/>
              <a:t> que no </a:t>
            </a:r>
            <a:r>
              <a:rPr lang="en-US" sz="2000" dirty="0" err="1"/>
              <a:t>tiene</a:t>
            </a:r>
            <a:r>
              <a:rPr lang="en-US" sz="2000" dirty="0"/>
              <a:t> en </a:t>
            </a:r>
            <a:r>
              <a:rPr lang="en-US" sz="2000" dirty="0" err="1"/>
              <a:t>cuenta</a:t>
            </a:r>
            <a:r>
              <a:rPr lang="en-US" sz="2000" dirty="0"/>
              <a:t> la </a:t>
            </a:r>
            <a:r>
              <a:rPr lang="en-US" sz="2000" dirty="0" err="1"/>
              <a:t>complejidad</a:t>
            </a:r>
            <a:r>
              <a:rPr lang="en-US" sz="2000" dirty="0"/>
              <a:t> del </a:t>
            </a:r>
            <a:r>
              <a:rPr lang="en-US" sz="2000" dirty="0" err="1"/>
              <a:t>sistema</a:t>
            </a:r>
            <a:r>
              <a:rPr lang="en-US" sz="2000" dirty="0"/>
              <a:t> o la </a:t>
            </a:r>
            <a:r>
              <a:rPr lang="en-US" sz="2000" dirty="0" err="1"/>
              <a:t>naturaleza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encontrados</a:t>
            </a:r>
            <a:r>
              <a:rPr lang="en-US" sz="2000" dirty="0"/>
              <a:t>.</a:t>
            </a:r>
            <a:endParaRPr lang="en-US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unidad</a:t>
            </a:r>
            <a:r>
              <a:rPr lang="en-US" sz="2000" dirty="0"/>
              <a:t> de </a:t>
            </a:r>
            <a:r>
              <a:rPr lang="en-US" sz="2000" dirty="0" err="1"/>
              <a:t>tiempo</a:t>
            </a:r>
            <a:r>
              <a:rPr lang="en-US" sz="2000" dirty="0"/>
              <a:t> es </a:t>
            </a:r>
            <a:r>
              <a:rPr lang="en-US" sz="2000" dirty="0" err="1"/>
              <a:t>relacionada</a:t>
            </a:r>
            <a:r>
              <a:rPr lang="en-US" sz="2000" dirty="0"/>
              <a:t> con la </a:t>
            </a:r>
            <a:r>
              <a:rPr lang="en-US" sz="2000" dirty="0" err="1"/>
              <a:t>efectividad</a:t>
            </a:r>
            <a:r>
              <a:rPr lang="en-US" sz="2000" dirty="0"/>
              <a:t>, </a:t>
            </a:r>
            <a:r>
              <a:rPr lang="en-US" sz="2000" dirty="0" err="1"/>
              <a:t>ya</a:t>
            </a:r>
            <a:r>
              <a:rPr lang="en-US" sz="2000" dirty="0"/>
              <a:t> que </a:t>
            </a:r>
            <a:r>
              <a:rPr lang="en-US" sz="2000" dirty="0" err="1"/>
              <a:t>agrupa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periodos</a:t>
            </a:r>
            <a:r>
              <a:rPr lang="en-US" sz="2000" dirty="0"/>
              <a:t> de </a:t>
            </a:r>
            <a:r>
              <a:rPr lang="en-US" sz="2000" dirty="0" err="1"/>
              <a:t>tiempo</a:t>
            </a:r>
            <a:r>
              <a:rPr lang="en-US" sz="2000" dirty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846040509"/>
      </p:ext>
    </p:extLst>
  </p:cSld>
  <p:clrMapOvr>
    <a:masterClrMapping/>
  </p:clrMapOvr>
  <p:transition spd="med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36712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Número</a:t>
            </a:r>
            <a:r>
              <a:rPr lang="en-US" b="1" dirty="0"/>
              <a:t> de </a:t>
            </a:r>
            <a:r>
              <a:rPr lang="en-US" b="1" dirty="0" err="1"/>
              <a:t>tareas</a:t>
            </a:r>
            <a:r>
              <a:rPr lang="en-US" b="1" dirty="0"/>
              <a:t> que </a:t>
            </a:r>
            <a:r>
              <a:rPr lang="en-US" b="1" dirty="0" err="1"/>
              <a:t>pueden</a:t>
            </a:r>
            <a:r>
              <a:rPr lang="en-US" b="1" dirty="0"/>
              <a:t> </a:t>
            </a:r>
            <a:r>
              <a:rPr lang="en-US" b="1" dirty="0" err="1"/>
              <a:t>realizarse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73123" y="2161164"/>
            <a:ext cx="855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efectividad</a:t>
            </a:r>
            <a:r>
              <a:rPr lang="en-US" sz="2000" dirty="0"/>
              <a:t> y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idea </a:t>
            </a:r>
            <a:r>
              <a:rPr lang="en-US" sz="2000" dirty="0" err="1"/>
              <a:t>sobre</a:t>
            </a:r>
            <a:r>
              <a:rPr lang="en-US" sz="2000" dirty="0"/>
              <a:t> la </a:t>
            </a:r>
            <a:r>
              <a:rPr lang="en-US" sz="2000" dirty="0" err="1"/>
              <a:t>complejidad</a:t>
            </a:r>
            <a:r>
              <a:rPr lang="en-US" sz="2000" dirty="0"/>
              <a:t> de la </a:t>
            </a:r>
            <a:r>
              <a:rPr lang="en-US" sz="2000" dirty="0" err="1"/>
              <a:t>interfaz</a:t>
            </a:r>
            <a:r>
              <a:rPr lang="en-US" sz="2000" dirty="0"/>
              <a:t> o </a:t>
            </a:r>
            <a:r>
              <a:rPr lang="en-US" sz="2000" dirty="0" err="1"/>
              <a:t>sistema</a:t>
            </a:r>
            <a:r>
              <a:rPr lang="en-US" sz="2000" dirty="0"/>
              <a:t> y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objetivos</a:t>
            </a:r>
            <a:r>
              <a:rPr lang="en-US" sz="2000" dirty="0"/>
              <a:t> que </a:t>
            </a:r>
            <a:r>
              <a:rPr lang="en-US" sz="2000" dirty="0" err="1"/>
              <a:t>pueden</a:t>
            </a:r>
            <a:r>
              <a:rPr lang="en-US" sz="2000" dirty="0"/>
              <a:t>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20551284"/>
      </p:ext>
    </p:extLst>
  </p:cSld>
  <p:clrMapOvr>
    <a:masterClrMapping/>
  </p:clrMapOvr>
  <p:transition spd="med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-329817"/>
            <a:ext cx="7886700" cy="1324452"/>
          </a:xfrm>
        </p:spPr>
        <p:txBody>
          <a:bodyPr/>
          <a:lstStyle/>
          <a:p>
            <a:r>
              <a:rPr lang="en-US" b="1" dirty="0" err="1"/>
              <a:t>Porcentaje</a:t>
            </a:r>
            <a:r>
              <a:rPr lang="en-US" b="1" dirty="0"/>
              <a:t> de enlaces rotos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355170"/>
            <a:ext cx="8554551" cy="361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eficiencia</a:t>
            </a:r>
            <a:r>
              <a:rPr lang="en-US" sz="2000" dirty="0"/>
              <a:t>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porcentaje</a:t>
            </a:r>
            <a:r>
              <a:rPr lang="en-US" sz="2000" dirty="0"/>
              <a:t> de enlaces rotos, es </a:t>
            </a:r>
            <a:r>
              <a:rPr lang="en-US" sz="2000" dirty="0" err="1"/>
              <a:t>importante</a:t>
            </a:r>
            <a:r>
              <a:rPr lang="en-US" sz="2000" dirty="0"/>
              <a:t> para la </a:t>
            </a:r>
            <a:r>
              <a:rPr lang="en-US" sz="2000" dirty="0" err="1"/>
              <a:t>usabilidad</a:t>
            </a:r>
            <a:r>
              <a:rPr lang="en-US" sz="2000" dirty="0"/>
              <a:t> y </a:t>
            </a:r>
            <a:r>
              <a:rPr lang="en-US" sz="2000" dirty="0" err="1"/>
              <a:t>accsibilidad</a:t>
            </a:r>
            <a:r>
              <a:rPr lang="en-US" sz="2000" dirty="0"/>
              <a:t> </a:t>
            </a:r>
            <a:r>
              <a:rPr lang="en-US" sz="2000" dirty="0" err="1"/>
              <a:t>porque</a:t>
            </a:r>
            <a:r>
              <a:rPr lang="en-US" sz="2000" dirty="0"/>
              <a:t> </a:t>
            </a:r>
            <a:r>
              <a:rPr lang="en-US" sz="2000" dirty="0" err="1"/>
              <a:t>impide</a:t>
            </a:r>
            <a:r>
              <a:rPr lang="en-US" sz="2000" dirty="0"/>
              <a:t> a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finalizer </a:t>
            </a:r>
            <a:r>
              <a:rPr lang="en-US" sz="2000" dirty="0" err="1"/>
              <a:t>tareas</a:t>
            </a:r>
            <a:r>
              <a:rPr lang="en-US" sz="2000" dirty="0"/>
              <a:t> o </a:t>
            </a:r>
            <a:r>
              <a:rPr lang="en-US" sz="2000" dirty="0" err="1"/>
              <a:t>actividades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ER=(ERI+ERE /ER)*100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ER = </a:t>
            </a:r>
            <a:r>
              <a:rPr lang="en-US" sz="2000" b="1" dirty="0" err="1">
                <a:solidFill>
                  <a:srgbClr val="FF0000"/>
                </a:solidFill>
              </a:rPr>
              <a:t>Porcentaje</a:t>
            </a:r>
            <a:r>
              <a:rPr lang="en-US" sz="2000" b="1" dirty="0">
                <a:solidFill>
                  <a:srgbClr val="FF0000"/>
                </a:solidFill>
              </a:rPr>
              <a:t> de enlaces rotos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ERI 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enlaces rotos </a:t>
            </a:r>
            <a:r>
              <a:rPr lang="en-US" sz="2000" b="1" dirty="0" err="1">
                <a:solidFill>
                  <a:srgbClr val="FF0000"/>
                </a:solidFill>
              </a:rPr>
              <a:t>internos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ERE 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enlaces rotos </a:t>
            </a:r>
            <a:r>
              <a:rPr lang="en-US" sz="2000" b="1" dirty="0" err="1">
                <a:solidFill>
                  <a:srgbClr val="FF0000"/>
                </a:solidFill>
              </a:rPr>
              <a:t>eternos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1620" dirty="0"/>
          </a:p>
          <a:p>
            <a:endParaRPr lang="en-US" sz="1620" b="1" dirty="0"/>
          </a:p>
          <a:p>
            <a:endParaRPr lang="en-US" sz="1620" b="1" dirty="0"/>
          </a:p>
        </p:txBody>
      </p:sp>
    </p:spTree>
    <p:extLst>
      <p:ext uri="{BB962C8B-B14F-4D97-AF65-F5344CB8AC3E}">
        <p14:creationId xmlns:p14="http://schemas.microsoft.com/office/powerpoint/2010/main" val="685901095"/>
      </p:ext>
    </p:extLst>
  </p:cSld>
  <p:clrMapOvr>
    <a:masterClrMapping/>
  </p:clrMapOvr>
  <p:transition spd="med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54868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Porcentaje</a:t>
            </a:r>
            <a:r>
              <a:rPr lang="en-US" b="1" dirty="0"/>
              <a:t> de </a:t>
            </a:r>
            <a:r>
              <a:rPr lang="en-US" b="1" dirty="0" err="1"/>
              <a:t>presencia</a:t>
            </a:r>
            <a:r>
              <a:rPr lang="en-US" b="1" dirty="0"/>
              <a:t> de </a:t>
            </a:r>
            <a:r>
              <a:rPr lang="en-US" b="1" dirty="0" err="1"/>
              <a:t>propiedades</a:t>
            </a:r>
            <a:r>
              <a:rPr lang="en-US" b="1" dirty="0"/>
              <a:t> en </a:t>
            </a:r>
            <a:r>
              <a:rPr lang="en-US" b="1" dirty="0" err="1"/>
              <a:t>los</a:t>
            </a:r>
            <a:r>
              <a:rPr lang="en-US" b="1" dirty="0"/>
              <a:t> </a:t>
            </a:r>
            <a:r>
              <a:rPr lang="en-US" b="1" dirty="0" err="1"/>
              <a:t>objetos</a:t>
            </a:r>
            <a:r>
              <a:rPr lang="en-US" b="1" dirty="0"/>
              <a:t> o </a:t>
            </a:r>
            <a:r>
              <a:rPr lang="en-US" b="1" dirty="0" err="1"/>
              <a:t>elementos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2564904"/>
            <a:ext cx="8554551" cy="464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eficiencia</a:t>
            </a:r>
            <a:r>
              <a:rPr lang="en-US" sz="2000" dirty="0"/>
              <a:t>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porcentaje</a:t>
            </a:r>
            <a:r>
              <a:rPr lang="en-US" sz="2000" dirty="0"/>
              <a:t> de </a:t>
            </a:r>
            <a:r>
              <a:rPr lang="en-US" sz="2000" dirty="0" err="1"/>
              <a:t>objetos</a:t>
            </a:r>
            <a:r>
              <a:rPr lang="en-US" sz="2000" dirty="0"/>
              <a:t> o </a:t>
            </a:r>
            <a:r>
              <a:rPr lang="en-US" sz="2000" dirty="0" err="1"/>
              <a:t>elementos</a:t>
            </a:r>
            <a:r>
              <a:rPr lang="en-US" sz="2000" dirty="0"/>
              <a:t> que </a:t>
            </a:r>
            <a:r>
              <a:rPr lang="en-US" sz="2000" dirty="0" err="1"/>
              <a:t>carece</a:t>
            </a:r>
            <a:r>
              <a:rPr lang="en-US" sz="2000" dirty="0"/>
              <a:t> de </a:t>
            </a:r>
            <a:r>
              <a:rPr lang="en-US" sz="2000" dirty="0" err="1"/>
              <a:t>propiedad</a:t>
            </a:r>
            <a:r>
              <a:rPr lang="en-US" sz="2000" dirty="0"/>
              <a:t> </a:t>
            </a:r>
            <a:r>
              <a:rPr lang="en-US" sz="2000" dirty="0" err="1"/>
              <a:t>concreta</a:t>
            </a:r>
            <a:r>
              <a:rPr lang="en-US" sz="2000" dirty="0"/>
              <a:t>. Se </a:t>
            </a:r>
            <a:r>
              <a:rPr lang="en-US" sz="2000" dirty="0" err="1"/>
              <a:t>utiliza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presencia</a:t>
            </a:r>
            <a:r>
              <a:rPr lang="en-US" sz="2000" dirty="0"/>
              <a:t> de </a:t>
            </a:r>
            <a:r>
              <a:rPr lang="en-US" sz="2000" dirty="0" err="1"/>
              <a:t>etiquetas</a:t>
            </a:r>
            <a:r>
              <a:rPr lang="en-US" sz="2000" dirty="0"/>
              <a:t> de Código de las interfaces </a:t>
            </a:r>
            <a:r>
              <a:rPr lang="en-US" sz="2000" dirty="0" err="1"/>
              <a:t>como</a:t>
            </a:r>
            <a:r>
              <a:rPr lang="en-US" sz="2000" dirty="0"/>
              <a:t> son la </a:t>
            </a:r>
            <a:r>
              <a:rPr lang="en-US" sz="2000" dirty="0" err="1"/>
              <a:t>etiqueta</a:t>
            </a:r>
            <a:r>
              <a:rPr lang="en-US" sz="2000" dirty="0"/>
              <a:t> ALT o TITLE, que </a:t>
            </a:r>
            <a:r>
              <a:rPr lang="en-US" sz="2000" dirty="0" err="1"/>
              <a:t>ayudan</a:t>
            </a:r>
            <a:r>
              <a:rPr lang="en-US" sz="2000" dirty="0"/>
              <a:t> a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con </a:t>
            </a:r>
            <a:r>
              <a:rPr lang="en-US" sz="2000" dirty="0" err="1"/>
              <a:t>problemas</a:t>
            </a:r>
            <a:r>
              <a:rPr lang="en-US" sz="2000" dirty="0"/>
              <a:t> de vision que son </a:t>
            </a:r>
            <a:r>
              <a:rPr lang="en-US" sz="2000" dirty="0" err="1"/>
              <a:t>gestionados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lectores</a:t>
            </a:r>
            <a:r>
              <a:rPr lang="en-US" sz="2000" dirty="0"/>
              <a:t> de </a:t>
            </a:r>
            <a:r>
              <a:rPr lang="en-US" sz="2000" dirty="0" err="1"/>
              <a:t>pantalla</a:t>
            </a:r>
            <a:r>
              <a:rPr lang="en-US" sz="2000" dirty="0"/>
              <a:t>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ejemplo</a:t>
            </a:r>
            <a:r>
              <a:rPr lang="en-US" sz="2000" dirty="0"/>
              <a:t> </a:t>
            </a:r>
            <a:r>
              <a:rPr lang="en-US" sz="2000" dirty="0" err="1"/>
              <a:t>usabilidad</a:t>
            </a:r>
            <a:r>
              <a:rPr lang="en-US" sz="2000" dirty="0"/>
              <a:t> web.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PPC=(ESP/E)*100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PPC = </a:t>
            </a:r>
            <a:r>
              <a:rPr lang="en-US" sz="2000" b="1" dirty="0" err="1">
                <a:solidFill>
                  <a:srgbClr val="FF0000"/>
                </a:solidFill>
              </a:rPr>
              <a:t>Porcentaje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presencia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 err="1">
                <a:solidFill>
                  <a:srgbClr val="FF0000"/>
                </a:solidFill>
              </a:rPr>
              <a:t>Esp</a:t>
            </a:r>
            <a:r>
              <a:rPr lang="en-US" sz="2000" b="1" dirty="0">
                <a:solidFill>
                  <a:srgbClr val="FF0000"/>
                </a:solidFill>
              </a:rPr>
              <a:t> 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elementos</a:t>
            </a:r>
            <a:r>
              <a:rPr lang="en-US" sz="2000" b="1" dirty="0">
                <a:solidFill>
                  <a:srgbClr val="FF0000"/>
                </a:solidFill>
              </a:rPr>
              <a:t> sin la </a:t>
            </a:r>
            <a:r>
              <a:rPr lang="en-US" sz="2000" b="1" dirty="0" err="1">
                <a:solidFill>
                  <a:srgbClr val="FF0000"/>
                </a:solidFill>
              </a:rPr>
              <a:t>propiedad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medir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E 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elementos</a:t>
            </a:r>
            <a:r>
              <a:rPr lang="en-US" sz="2000" b="1" dirty="0">
                <a:solidFill>
                  <a:srgbClr val="FF0000"/>
                </a:solidFill>
              </a:rPr>
              <a:t> con o sin la </a:t>
            </a:r>
            <a:r>
              <a:rPr lang="en-US" sz="2000" b="1" dirty="0" err="1">
                <a:solidFill>
                  <a:srgbClr val="FF0000"/>
                </a:solidFill>
              </a:rPr>
              <a:t>propiedad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medir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494009736"/>
      </p:ext>
    </p:extLst>
  </p:cSld>
  <p:clrMapOvr>
    <a:masterClrMapping/>
  </p:clrMapOvr>
  <p:transition spd="med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Porcentaje</a:t>
            </a:r>
            <a:r>
              <a:rPr lang="en-US" b="1" dirty="0"/>
              <a:t> de </a:t>
            </a:r>
            <a:r>
              <a:rPr lang="en-US" b="1" dirty="0" err="1"/>
              <a:t>tareas</a:t>
            </a:r>
            <a:r>
              <a:rPr lang="en-US" b="1" dirty="0"/>
              <a:t> </a:t>
            </a:r>
            <a:r>
              <a:rPr lang="en-US" b="1" dirty="0" err="1"/>
              <a:t>finalizadas</a:t>
            </a:r>
            <a:r>
              <a:rPr lang="en-US" b="1" dirty="0"/>
              <a:t> con </a:t>
            </a:r>
            <a:r>
              <a:rPr lang="en-US" b="1" dirty="0" err="1"/>
              <a:t>éxito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700808"/>
            <a:ext cx="8554551" cy="4333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efectividad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conocer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ratio de </a:t>
            </a:r>
            <a:r>
              <a:rPr lang="en-US" sz="2000" dirty="0" err="1"/>
              <a:t>tareas</a:t>
            </a:r>
            <a:r>
              <a:rPr lang="en-US" sz="2000" dirty="0"/>
              <a:t> </a:t>
            </a:r>
            <a:r>
              <a:rPr lang="en-US" sz="2000" dirty="0" err="1"/>
              <a:t>éxitosas</a:t>
            </a:r>
            <a:r>
              <a:rPr lang="en-US" sz="2000" dirty="0"/>
              <a:t> </a:t>
            </a:r>
            <a:r>
              <a:rPr lang="en-US" sz="2000" dirty="0" err="1"/>
              <a:t>aunque</a:t>
            </a:r>
            <a:r>
              <a:rPr lang="en-US" sz="2000" dirty="0"/>
              <a:t> se </a:t>
            </a:r>
            <a:r>
              <a:rPr lang="en-US" sz="2000" dirty="0" err="1"/>
              <a:t>hayan</a:t>
            </a:r>
            <a:r>
              <a:rPr lang="en-US" sz="2000" dirty="0"/>
              <a:t> </a:t>
            </a:r>
            <a:r>
              <a:rPr lang="en-US" sz="2000" dirty="0" err="1"/>
              <a:t>producido</a:t>
            </a:r>
            <a:r>
              <a:rPr lang="en-US" sz="2000" dirty="0"/>
              <a:t> </a:t>
            </a:r>
            <a:r>
              <a:rPr lang="en-US" sz="2000" dirty="0" err="1"/>
              <a:t>errores</a:t>
            </a:r>
            <a:r>
              <a:rPr lang="en-US" sz="2000" dirty="0"/>
              <a:t> </a:t>
            </a:r>
            <a:r>
              <a:rPr lang="en-US" sz="2000" dirty="0" err="1"/>
              <a:t>durante</a:t>
            </a:r>
            <a:r>
              <a:rPr lang="en-US" sz="2000" dirty="0"/>
              <a:t> le </a:t>
            </a:r>
            <a:r>
              <a:rPr lang="en-US" sz="2000" dirty="0" err="1"/>
              <a:t>proceso</a:t>
            </a:r>
            <a:r>
              <a:rPr lang="en-US" sz="2000" dirty="0"/>
              <a:t> de </a:t>
            </a:r>
            <a:r>
              <a:rPr lang="en-US" sz="2000" dirty="0" err="1"/>
              <a:t>realización</a:t>
            </a:r>
            <a:r>
              <a:rPr lang="en-US" sz="2000" dirty="0"/>
              <a:t>. Se </a:t>
            </a:r>
            <a:r>
              <a:rPr lang="en-US" sz="2000" dirty="0" err="1"/>
              <a:t>contabiliza</a:t>
            </a:r>
            <a:r>
              <a:rPr lang="en-US" sz="2000" dirty="0"/>
              <a:t> de forma </a:t>
            </a:r>
            <a:r>
              <a:rPr lang="en-US" sz="2000" dirty="0" err="1"/>
              <a:t>binaria</a:t>
            </a:r>
            <a:r>
              <a:rPr lang="en-US" sz="2000" dirty="0"/>
              <a:t> </a:t>
            </a:r>
            <a:r>
              <a:rPr lang="en-US" sz="2000" dirty="0" err="1"/>
              <a:t>asignando</a:t>
            </a:r>
            <a:r>
              <a:rPr lang="en-US" sz="2000" dirty="0"/>
              <a:t> a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, un 1 </a:t>
            </a:r>
            <a:r>
              <a:rPr lang="en-US" sz="2000" dirty="0" err="1"/>
              <a:t>si</a:t>
            </a:r>
            <a:r>
              <a:rPr lang="en-US" sz="2000" dirty="0"/>
              <a:t> la </a:t>
            </a:r>
            <a:r>
              <a:rPr lang="en-US" sz="2000" dirty="0" err="1"/>
              <a:t>tarea</a:t>
            </a:r>
            <a:r>
              <a:rPr lang="en-US" sz="2000" dirty="0"/>
              <a:t> se </a:t>
            </a:r>
            <a:r>
              <a:rPr lang="en-US" sz="2000" dirty="0" err="1"/>
              <a:t>realiza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 y 0 </a:t>
            </a:r>
            <a:r>
              <a:rPr lang="en-US" sz="2000" dirty="0" err="1"/>
              <a:t>si</a:t>
            </a:r>
            <a:r>
              <a:rPr lang="en-US" sz="2000" dirty="0"/>
              <a:t> no se </a:t>
            </a:r>
            <a:r>
              <a:rPr lang="en-US" sz="2000" dirty="0" err="1"/>
              <a:t>realiza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PTE=(TE/(TE+ TF))*100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PTE= </a:t>
            </a:r>
            <a:r>
              <a:rPr lang="en-US" sz="2000" b="1" dirty="0" err="1">
                <a:solidFill>
                  <a:srgbClr val="FF0000"/>
                </a:solidFill>
              </a:rPr>
              <a:t>Porcentaje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r>
              <a:rPr lang="en-US" sz="2000" b="1" dirty="0">
                <a:solidFill>
                  <a:srgbClr val="FF0000"/>
                </a:solidFill>
              </a:rPr>
              <a:t> con </a:t>
            </a:r>
            <a:r>
              <a:rPr lang="en-US" sz="2000" b="1" dirty="0" err="1">
                <a:solidFill>
                  <a:srgbClr val="FF0000"/>
                </a:solidFill>
              </a:rPr>
              <a:t>éxito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TE=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r>
              <a:rPr lang="en-US" sz="2000" b="1" dirty="0">
                <a:solidFill>
                  <a:srgbClr val="FF0000"/>
                </a:solidFill>
              </a:rPr>
              <a:t> con </a:t>
            </a:r>
            <a:r>
              <a:rPr lang="en-US" sz="2000" b="1" dirty="0" err="1">
                <a:solidFill>
                  <a:srgbClr val="FF0000"/>
                </a:solidFill>
              </a:rPr>
              <a:t>éxito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TF=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no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825925485"/>
      </p:ext>
    </p:extLst>
  </p:cSld>
  <p:clrMapOvr>
    <a:masterClrMapping/>
  </p:clrMapOvr>
  <p:transition spd="med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Porcentaje</a:t>
            </a:r>
            <a:r>
              <a:rPr lang="en-US" b="1" dirty="0"/>
              <a:t> de </a:t>
            </a:r>
            <a:r>
              <a:rPr lang="en-US" b="1" dirty="0" err="1"/>
              <a:t>tareas</a:t>
            </a:r>
            <a:r>
              <a:rPr lang="en-US" b="1" dirty="0"/>
              <a:t> </a:t>
            </a:r>
            <a:r>
              <a:rPr lang="en-US" b="1" dirty="0" err="1"/>
              <a:t>finalizadas</a:t>
            </a:r>
            <a:r>
              <a:rPr lang="en-US" b="1" dirty="0"/>
              <a:t> con </a:t>
            </a:r>
            <a:r>
              <a:rPr lang="en-US" b="1" dirty="0" err="1"/>
              <a:t>éxito</a:t>
            </a:r>
            <a:r>
              <a:rPr lang="en-US" b="1" dirty="0"/>
              <a:t> al primer </a:t>
            </a:r>
            <a:r>
              <a:rPr lang="en-US" b="1" dirty="0" err="1"/>
              <a:t>intento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772816"/>
            <a:ext cx="8554551" cy="402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efectividad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conocer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ratio de </a:t>
            </a:r>
            <a:r>
              <a:rPr lang="en-US" sz="2000" dirty="0" err="1"/>
              <a:t>tareas</a:t>
            </a:r>
            <a:r>
              <a:rPr lang="en-US" sz="2000" dirty="0"/>
              <a:t> </a:t>
            </a:r>
            <a:r>
              <a:rPr lang="en-US" sz="2000" dirty="0" err="1"/>
              <a:t>éxitosas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primer intent de </a:t>
            </a:r>
            <a:r>
              <a:rPr lang="en-US" sz="2000" dirty="0" err="1"/>
              <a:t>realización</a:t>
            </a:r>
            <a:r>
              <a:rPr lang="en-US" sz="2000" dirty="0"/>
              <a:t>. Se </a:t>
            </a:r>
            <a:r>
              <a:rPr lang="en-US" sz="2000" dirty="0" err="1"/>
              <a:t>contabiliza</a:t>
            </a:r>
            <a:r>
              <a:rPr lang="en-US" sz="2000" dirty="0"/>
              <a:t> de forma </a:t>
            </a:r>
            <a:r>
              <a:rPr lang="en-US" sz="2000" dirty="0" err="1"/>
              <a:t>binaria</a:t>
            </a:r>
            <a:r>
              <a:rPr lang="en-US" sz="2000" dirty="0"/>
              <a:t> </a:t>
            </a:r>
            <a:r>
              <a:rPr lang="en-US" sz="2000" dirty="0" err="1"/>
              <a:t>asignando</a:t>
            </a:r>
            <a:r>
              <a:rPr lang="en-US" sz="2000" dirty="0"/>
              <a:t> a </a:t>
            </a:r>
            <a:r>
              <a:rPr lang="en-US" sz="2000" dirty="0" err="1"/>
              <a:t>cada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, un 1 </a:t>
            </a:r>
            <a:r>
              <a:rPr lang="en-US" sz="2000" dirty="0" err="1"/>
              <a:t>si</a:t>
            </a:r>
            <a:r>
              <a:rPr lang="en-US" sz="2000" dirty="0"/>
              <a:t> la </a:t>
            </a:r>
            <a:r>
              <a:rPr lang="en-US" sz="2000" dirty="0" err="1"/>
              <a:t>tarea</a:t>
            </a:r>
            <a:r>
              <a:rPr lang="en-US" sz="2000" dirty="0"/>
              <a:t> se </a:t>
            </a:r>
            <a:r>
              <a:rPr lang="en-US" sz="2000" dirty="0" err="1"/>
              <a:t>realiza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 y 0 </a:t>
            </a:r>
            <a:r>
              <a:rPr lang="en-US" sz="2000" dirty="0" err="1"/>
              <a:t>si</a:t>
            </a:r>
            <a:r>
              <a:rPr lang="en-US" sz="2000" dirty="0"/>
              <a:t> no se </a:t>
            </a:r>
            <a:r>
              <a:rPr lang="en-US" sz="2000" dirty="0" err="1"/>
              <a:t>realiza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PTE=(TE/(TE+ TF))*100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PTE= </a:t>
            </a:r>
            <a:r>
              <a:rPr lang="en-US" sz="2000" b="1" dirty="0" err="1">
                <a:solidFill>
                  <a:srgbClr val="FF0000"/>
                </a:solidFill>
              </a:rPr>
              <a:t>Porcentaje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r>
              <a:rPr lang="en-US" sz="2000" b="1" dirty="0">
                <a:solidFill>
                  <a:srgbClr val="FF0000"/>
                </a:solidFill>
              </a:rPr>
              <a:t> con </a:t>
            </a:r>
            <a:r>
              <a:rPr lang="en-US" sz="2000" b="1" dirty="0" err="1">
                <a:solidFill>
                  <a:srgbClr val="FF0000"/>
                </a:solidFill>
              </a:rPr>
              <a:t>éxito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TE=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r>
              <a:rPr lang="en-US" sz="2000" b="1" dirty="0">
                <a:solidFill>
                  <a:srgbClr val="FF0000"/>
                </a:solidFill>
              </a:rPr>
              <a:t> con </a:t>
            </a:r>
            <a:r>
              <a:rPr lang="en-US" sz="2000" b="1" dirty="0" err="1">
                <a:solidFill>
                  <a:srgbClr val="FF0000"/>
                </a:solidFill>
              </a:rPr>
              <a:t>éxito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TF=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no </a:t>
            </a:r>
            <a:r>
              <a:rPr lang="en-US" sz="2000" b="1" dirty="0" err="1">
                <a:solidFill>
                  <a:srgbClr val="FF0000"/>
                </a:solidFill>
              </a:rPr>
              <a:t>finalizadas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927769801"/>
      </p:ext>
    </p:extLst>
  </p:cSld>
  <p:clrMapOvr>
    <a:masterClrMapping/>
  </p:clrMapOvr>
  <p:transition spd="med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404664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Porcentaje</a:t>
            </a:r>
            <a:r>
              <a:rPr lang="en-US" b="1" dirty="0"/>
              <a:t> de </a:t>
            </a:r>
            <a:r>
              <a:rPr lang="en-US" b="1" dirty="0" err="1"/>
              <a:t>usuarios</a:t>
            </a:r>
            <a:r>
              <a:rPr lang="en-US" b="1" dirty="0"/>
              <a:t> </a:t>
            </a:r>
            <a:r>
              <a:rPr lang="en-US" b="1" dirty="0" err="1"/>
              <a:t>capaces</a:t>
            </a:r>
            <a:r>
              <a:rPr lang="en-US" b="1" dirty="0"/>
              <a:t> de </a:t>
            </a:r>
            <a:r>
              <a:rPr lang="en-US" b="1" dirty="0" err="1"/>
              <a:t>finalizar</a:t>
            </a:r>
            <a:r>
              <a:rPr lang="en-US" b="1" dirty="0"/>
              <a:t> las </a:t>
            </a:r>
            <a:r>
              <a:rPr lang="en-US" b="1" dirty="0" err="1"/>
              <a:t>tareas</a:t>
            </a:r>
            <a:r>
              <a:rPr lang="en-US" b="1" dirty="0"/>
              <a:t> clave sin </a:t>
            </a:r>
            <a:r>
              <a:rPr lang="en-US" b="1" dirty="0" err="1"/>
              <a:t>ayuda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2204864"/>
            <a:ext cx="8554551" cy="2486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efectividad</a:t>
            </a:r>
            <a:r>
              <a:rPr lang="en-US" sz="2000" dirty="0"/>
              <a:t> indica la </a:t>
            </a:r>
            <a:r>
              <a:rPr lang="en-US" sz="2000" dirty="0" err="1"/>
              <a:t>facilidad</a:t>
            </a:r>
            <a:r>
              <a:rPr lang="en-US" sz="2000" dirty="0"/>
              <a:t> de </a:t>
            </a:r>
            <a:r>
              <a:rPr lang="en-US" sz="2000" dirty="0" err="1"/>
              <a:t>uso</a:t>
            </a:r>
            <a:r>
              <a:rPr lang="en-US" sz="2000" dirty="0"/>
              <a:t> de la </a:t>
            </a:r>
            <a:r>
              <a:rPr lang="en-US" sz="2000" dirty="0" err="1"/>
              <a:t>interfaz</a:t>
            </a:r>
            <a:r>
              <a:rPr lang="en-US" sz="2000" dirty="0"/>
              <a:t> o </a:t>
            </a:r>
            <a:r>
              <a:rPr lang="en-US" sz="2000" dirty="0" err="1"/>
              <a:t>sistema</a:t>
            </a:r>
            <a:r>
              <a:rPr lang="en-US" sz="2000" dirty="0"/>
              <a:t>. Si </a:t>
            </a:r>
            <a:r>
              <a:rPr lang="en-US" sz="2000" dirty="0" err="1"/>
              <a:t>el</a:t>
            </a:r>
            <a:r>
              <a:rPr lang="en-US" sz="2000" dirty="0"/>
              <a:t> valor del </a:t>
            </a:r>
            <a:r>
              <a:rPr lang="en-US" sz="2000" dirty="0" err="1"/>
              <a:t>porcentaje</a:t>
            </a:r>
            <a:r>
              <a:rPr lang="en-US" sz="2000" dirty="0"/>
              <a:t> de </a:t>
            </a:r>
            <a:r>
              <a:rPr lang="en-US" sz="2000" dirty="0" err="1"/>
              <a:t>tareas</a:t>
            </a:r>
            <a:r>
              <a:rPr lang="en-US" sz="2000" dirty="0"/>
              <a:t> </a:t>
            </a:r>
            <a:r>
              <a:rPr lang="en-US" sz="2000" dirty="0" err="1"/>
              <a:t>finalizadas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 es </a:t>
            </a:r>
            <a:r>
              <a:rPr lang="en-US" sz="2000" dirty="0" err="1"/>
              <a:t>cercano</a:t>
            </a:r>
            <a:r>
              <a:rPr lang="en-US" sz="2000" dirty="0"/>
              <a:t> a las </a:t>
            </a:r>
            <a:r>
              <a:rPr lang="en-US" sz="2000" dirty="0" err="1"/>
              <a:t>tareas</a:t>
            </a:r>
            <a:r>
              <a:rPr lang="en-US" sz="2000" dirty="0"/>
              <a:t> </a:t>
            </a:r>
            <a:r>
              <a:rPr lang="en-US" sz="2000" dirty="0" err="1"/>
              <a:t>finalizadas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 en </a:t>
            </a:r>
            <a:r>
              <a:rPr lang="en-US" sz="2000" dirty="0" err="1"/>
              <a:t>el</a:t>
            </a:r>
            <a:r>
              <a:rPr lang="en-US" sz="2000" dirty="0"/>
              <a:t> primer intent, se </a:t>
            </a:r>
            <a:r>
              <a:rPr lang="en-US" sz="2000" dirty="0" err="1"/>
              <a:t>cumplen</a:t>
            </a:r>
            <a:r>
              <a:rPr lang="en-US" sz="2000" dirty="0"/>
              <a:t> </a:t>
            </a:r>
            <a:r>
              <a:rPr lang="en-US" sz="2000" dirty="0" err="1"/>
              <a:t>más</a:t>
            </a:r>
            <a:r>
              <a:rPr lang="en-US" sz="2000" dirty="0"/>
              <a:t> </a:t>
            </a:r>
            <a:r>
              <a:rPr lang="en-US" sz="2000" dirty="0" err="1"/>
              <a:t>principios</a:t>
            </a:r>
            <a:r>
              <a:rPr lang="en-US" sz="2000" dirty="0"/>
              <a:t> de </a:t>
            </a:r>
            <a:r>
              <a:rPr lang="en-US" sz="2000" dirty="0" err="1"/>
              <a:t>usabilidad</a:t>
            </a:r>
            <a:r>
              <a:rPr lang="en-US" sz="2000" dirty="0"/>
              <a:t>, </a:t>
            </a:r>
            <a:r>
              <a:rPr lang="en-US" sz="2000" dirty="0" err="1"/>
              <a:t>por</a:t>
            </a:r>
            <a:r>
              <a:rPr lang="en-US" sz="2000" dirty="0"/>
              <a:t> lo tanto la </a:t>
            </a:r>
            <a:r>
              <a:rPr lang="en-US" sz="2000" dirty="0" err="1"/>
              <a:t>usabilidad</a:t>
            </a:r>
            <a:r>
              <a:rPr lang="en-US" sz="2000" dirty="0"/>
              <a:t> es mayor.</a:t>
            </a:r>
            <a:endParaRPr lang="en-US" sz="2000" b="1" dirty="0"/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471283526"/>
      </p:ext>
    </p:extLst>
  </p:cSld>
  <p:clrMapOvr>
    <a:masterClrMapping/>
  </p:clrMapOvr>
  <p:transition spd="med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permanencia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628800"/>
            <a:ext cx="8554551" cy="341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eficiencia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un </a:t>
            </a:r>
            <a:r>
              <a:rPr lang="en-US" sz="2000" dirty="0" err="1"/>
              <a:t>usuario</a:t>
            </a:r>
            <a:r>
              <a:rPr lang="en-US" sz="2000" dirty="0"/>
              <a:t> ha </a:t>
            </a:r>
            <a:r>
              <a:rPr lang="en-US" sz="2000" dirty="0" err="1"/>
              <a:t>permanecido</a:t>
            </a:r>
            <a:r>
              <a:rPr lang="en-US" sz="2000" dirty="0"/>
              <a:t> </a:t>
            </a:r>
            <a:r>
              <a:rPr lang="en-US" sz="2000" dirty="0" err="1"/>
              <a:t>dentro</a:t>
            </a:r>
            <a:r>
              <a:rPr lang="en-US" sz="2000" dirty="0"/>
              <a:t> de un software o </a:t>
            </a:r>
            <a:r>
              <a:rPr lang="en-US" sz="2000" dirty="0" err="1"/>
              <a:t>página</a:t>
            </a:r>
            <a:r>
              <a:rPr lang="en-US" sz="2000" dirty="0"/>
              <a:t> web, </a:t>
            </a:r>
            <a:r>
              <a:rPr lang="en-US" sz="2000" dirty="0" err="1"/>
              <a:t>desde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momento</a:t>
            </a:r>
            <a:r>
              <a:rPr lang="en-US" sz="2000" dirty="0"/>
              <a:t> de entrada hasta que </a:t>
            </a:r>
            <a:r>
              <a:rPr lang="en-US" sz="2000" dirty="0" err="1"/>
              <a:t>abanadona</a:t>
            </a:r>
            <a:r>
              <a:rPr lang="en-US" sz="2000" dirty="0"/>
              <a:t>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El </a:t>
            </a:r>
            <a:r>
              <a:rPr lang="en-US" sz="2000" b="1" dirty="0" err="1">
                <a:solidFill>
                  <a:srgbClr val="FF0000"/>
                </a:solidFill>
              </a:rPr>
              <a:t>tiempo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interes</a:t>
            </a:r>
            <a:r>
              <a:rPr lang="en-US" sz="2000" b="1" dirty="0">
                <a:solidFill>
                  <a:srgbClr val="FF0000"/>
                </a:solidFill>
              </a:rPr>
              <a:t> se </a:t>
            </a:r>
            <a:r>
              <a:rPr lang="en-US" sz="2000" b="1" dirty="0" err="1">
                <a:solidFill>
                  <a:srgbClr val="FF0000"/>
                </a:solidFill>
              </a:rPr>
              <a:t>estima</a:t>
            </a:r>
            <a:r>
              <a:rPr lang="en-US" sz="2000" b="1" dirty="0">
                <a:solidFill>
                  <a:srgbClr val="FF0000"/>
                </a:solidFill>
              </a:rPr>
              <a:t> entre 30 y 40 </a:t>
            </a:r>
            <a:r>
              <a:rPr lang="en-US" sz="2000" b="1" dirty="0" err="1">
                <a:solidFill>
                  <a:srgbClr val="FF0000"/>
                </a:solidFill>
              </a:rPr>
              <a:t>segundos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Se </a:t>
            </a:r>
            <a:r>
              <a:rPr lang="en-US" sz="2000" b="1" dirty="0" err="1">
                <a:solidFill>
                  <a:srgbClr val="FF0000"/>
                </a:solidFill>
              </a:rPr>
              <a:t>promedian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los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tiempos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todos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los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usuarios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sobre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el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usuarios</a:t>
            </a:r>
            <a:r>
              <a:rPr lang="en-US" sz="2000" b="1" dirty="0">
                <a:solidFill>
                  <a:srgbClr val="FF0000"/>
                </a:solidFill>
              </a:rPr>
              <a:t>. </a:t>
            </a:r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944149520"/>
      </p:ext>
    </p:extLst>
  </p:cSld>
  <p:clrMapOvr>
    <a:masterClrMapping/>
  </p:clrMapOvr>
  <p:transition spd="med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finalización</a:t>
            </a:r>
            <a:r>
              <a:rPr lang="en-US" b="1" dirty="0"/>
              <a:t> de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tarea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484784"/>
            <a:ext cx="8554551" cy="4105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eficiencia</a:t>
            </a:r>
            <a:r>
              <a:rPr lang="en-US" sz="2000" dirty="0"/>
              <a:t> y se </a:t>
            </a:r>
            <a:r>
              <a:rPr lang="en-US" sz="2000" dirty="0" err="1"/>
              <a:t>basa</a:t>
            </a:r>
            <a:r>
              <a:rPr lang="en-US" sz="2000" dirty="0"/>
              <a:t> en </a:t>
            </a:r>
            <a:r>
              <a:rPr lang="en-US" sz="2000" dirty="0" err="1"/>
              <a:t>tres</a:t>
            </a:r>
            <a:r>
              <a:rPr lang="en-US" sz="2000" dirty="0"/>
              <a:t> </a:t>
            </a:r>
            <a:r>
              <a:rPr lang="en-US" sz="2000" dirty="0" err="1"/>
              <a:t>principios</a:t>
            </a:r>
            <a:r>
              <a:rPr lang="en-US" sz="2000" dirty="0"/>
              <a:t>: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facilidad</a:t>
            </a:r>
            <a:r>
              <a:rPr lang="en-US" sz="2000" dirty="0"/>
              <a:t> de </a:t>
            </a:r>
            <a:r>
              <a:rPr lang="en-US" sz="2000" dirty="0" err="1"/>
              <a:t>aprendizaje</a:t>
            </a:r>
            <a:r>
              <a:rPr lang="en-US" sz="2000" dirty="0"/>
              <a:t> se define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</a:t>
            </a:r>
            <a:r>
              <a:rPr lang="en-US" sz="2000" dirty="0" err="1"/>
              <a:t>tarda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usuario</a:t>
            </a:r>
            <a:r>
              <a:rPr lang="en-US" sz="2000" dirty="0"/>
              <a:t> que </a:t>
            </a:r>
            <a:r>
              <a:rPr lang="en-US" sz="2000" dirty="0" err="1"/>
              <a:t>nunca</a:t>
            </a:r>
            <a:r>
              <a:rPr lang="en-US" sz="2000" dirty="0"/>
              <a:t> ha </a:t>
            </a:r>
            <a:r>
              <a:rPr lang="en-US" sz="2000" dirty="0" err="1"/>
              <a:t>utilizado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software o </a:t>
            </a:r>
            <a:r>
              <a:rPr lang="en-US" sz="2000" dirty="0" err="1"/>
              <a:t>sistema</a:t>
            </a:r>
            <a:r>
              <a:rPr lang="en-US" sz="2000" dirty="0"/>
              <a:t> en </a:t>
            </a:r>
            <a:r>
              <a:rPr lang="en-US" sz="2000" dirty="0" err="1"/>
              <a:t>realizar</a:t>
            </a:r>
            <a:r>
              <a:rPr lang="en-US" sz="2000" dirty="0"/>
              <a:t> las </a:t>
            </a:r>
            <a:r>
              <a:rPr lang="en-US" sz="2000" dirty="0" err="1"/>
              <a:t>tareas</a:t>
            </a:r>
            <a:r>
              <a:rPr lang="en-US" sz="2000" dirty="0"/>
              <a:t> o </a:t>
            </a:r>
            <a:r>
              <a:rPr lang="en-US" sz="2000" dirty="0" err="1"/>
              <a:t>actividades</a:t>
            </a:r>
            <a:r>
              <a:rPr lang="en-US" sz="2000" dirty="0"/>
              <a:t>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dirty="0"/>
              <a:t>La </a:t>
            </a:r>
            <a:r>
              <a:rPr lang="en-US" sz="2000" dirty="0" err="1"/>
              <a:t>eficiencia</a:t>
            </a:r>
            <a:r>
              <a:rPr lang="en-US" sz="2000" dirty="0"/>
              <a:t> de </a:t>
            </a:r>
            <a:r>
              <a:rPr lang="en-US" sz="2000" dirty="0" err="1"/>
              <a:t>uso</a:t>
            </a:r>
            <a:r>
              <a:rPr lang="en-US" sz="2000" dirty="0"/>
              <a:t> se define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</a:t>
            </a:r>
            <a:r>
              <a:rPr lang="en-US" sz="2000" dirty="0" err="1"/>
              <a:t>tarada</a:t>
            </a:r>
            <a:r>
              <a:rPr lang="en-US" sz="2000" dirty="0"/>
              <a:t> un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experto</a:t>
            </a:r>
            <a:r>
              <a:rPr lang="en-US" sz="2000" dirty="0"/>
              <a:t> en </a:t>
            </a:r>
            <a:r>
              <a:rPr lang="en-US" sz="2000" dirty="0" err="1"/>
              <a:t>realizar</a:t>
            </a:r>
            <a:r>
              <a:rPr lang="en-US" sz="2000" dirty="0"/>
              <a:t> la </a:t>
            </a:r>
            <a:r>
              <a:rPr lang="en-US" sz="2000" dirty="0" err="1"/>
              <a:t>misma</a:t>
            </a:r>
            <a:r>
              <a:rPr lang="en-US" sz="2000" dirty="0"/>
              <a:t> </a:t>
            </a:r>
            <a:r>
              <a:rPr lang="en-US" sz="2000" dirty="0" err="1"/>
              <a:t>operación</a:t>
            </a:r>
            <a:r>
              <a:rPr lang="en-US" sz="2000" dirty="0"/>
              <a:t>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dirty="0"/>
              <a:t>El </a:t>
            </a:r>
            <a:r>
              <a:rPr lang="en-US" sz="2000" dirty="0" err="1"/>
              <a:t>recuerdo</a:t>
            </a:r>
            <a:r>
              <a:rPr lang="en-US" sz="2000" dirty="0"/>
              <a:t> en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se define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</a:t>
            </a:r>
            <a:r>
              <a:rPr lang="en-US" sz="2000" dirty="0" err="1"/>
              <a:t>tarda</a:t>
            </a:r>
            <a:r>
              <a:rPr lang="en-US" sz="2000" dirty="0"/>
              <a:t> un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experto</a:t>
            </a:r>
            <a:r>
              <a:rPr lang="en-US" sz="2000" dirty="0"/>
              <a:t> en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esa</a:t>
            </a:r>
            <a:r>
              <a:rPr lang="en-US" sz="2000" dirty="0"/>
              <a:t> </a:t>
            </a:r>
            <a:r>
              <a:rPr lang="en-US" sz="2000" dirty="0" err="1"/>
              <a:t>misma</a:t>
            </a:r>
            <a:r>
              <a:rPr lang="en-US" sz="2000" dirty="0"/>
              <a:t> </a:t>
            </a:r>
            <a:r>
              <a:rPr lang="en-US" sz="2000" dirty="0" err="1"/>
              <a:t>acción</a:t>
            </a:r>
            <a:r>
              <a:rPr lang="en-US" sz="2000" dirty="0"/>
              <a:t> </a:t>
            </a:r>
            <a:r>
              <a:rPr lang="en-US" sz="2000" dirty="0" err="1"/>
              <a:t>pasado</a:t>
            </a:r>
            <a:r>
              <a:rPr lang="en-US" sz="2000" dirty="0"/>
              <a:t> un </a:t>
            </a:r>
            <a:r>
              <a:rPr lang="en-US" sz="2000" dirty="0" err="1"/>
              <a:t>tiempo</a:t>
            </a:r>
            <a:r>
              <a:rPr lang="en-US" sz="2000" dirty="0"/>
              <a:t> </a:t>
            </a:r>
            <a:r>
              <a:rPr lang="en-US" sz="2000" dirty="0" err="1"/>
              <a:t>determinado</a:t>
            </a:r>
            <a:r>
              <a:rPr lang="en-US" sz="2000" dirty="0"/>
              <a:t>.</a:t>
            </a:r>
          </a:p>
          <a:p>
            <a:endParaRPr lang="en-US" sz="2520" b="1" dirty="0"/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245057387"/>
      </p:ext>
    </p:extLst>
  </p:cSld>
  <p:clrMapOvr>
    <a:masterClrMapping/>
  </p:clrMapOvr>
  <p:transition spd="med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finalización</a:t>
            </a:r>
            <a:r>
              <a:rPr lang="en-US" b="1" dirty="0"/>
              <a:t> de </a:t>
            </a:r>
            <a:r>
              <a:rPr lang="en-US" b="1" dirty="0" err="1"/>
              <a:t>una</a:t>
            </a:r>
            <a:r>
              <a:rPr lang="en-US" b="1" dirty="0"/>
              <a:t> </a:t>
            </a:r>
            <a:r>
              <a:rPr lang="en-US" b="1" dirty="0" err="1"/>
              <a:t>tarea</a:t>
            </a:r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358682C-02B2-993A-569B-D9AEF0261D8D}"/>
                  </a:ext>
                </a:extLst>
              </p:cNvPr>
              <p:cNvSpPr txBox="1"/>
              <p:nvPr/>
            </p:nvSpPr>
            <p:spPr>
              <a:xfrm>
                <a:off x="294724" y="1484784"/>
                <a:ext cx="8554551" cy="5162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solidFill>
                      <a:srgbClr val="FF0000"/>
                    </a:solidFill>
                  </a:rPr>
                  <a:t>M=(FA+EU+RT)/3</a:t>
                </a:r>
              </a:p>
              <a:p>
                <a:endParaRPr lang="en-US" sz="20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𝝈</m:t>
                      </m:r>
                      <m:r>
                        <a:rPr lang="es-ES" sz="20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E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s-E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𝑭𝑨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𝑴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  <m:r>
                                <a:rPr lang="es-E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𝑬𝑼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𝑴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E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𝑹𝑻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𝑴</m:t>
                                  </m:r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s-ES" sz="2000" b="1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s-ES" sz="20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e>
                          </m:rad>
                        </m:num>
                        <m:den>
                          <m:r>
                            <a:rPr lang="es-ES" sz="20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FA =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Tiempo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facilidad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aprendizaje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EU =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Tiempo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eficiencia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uso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RT =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Tiempo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recuerdo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en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el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tiempo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r>
                  <a:rPr lang="en-US" sz="2000" b="1" dirty="0">
                    <a:solidFill>
                      <a:srgbClr val="FF0000"/>
                    </a:solidFill>
                  </a:rPr>
                  <a:t>M = Media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aritmética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de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los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tiempos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FA, EU y RT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2000" b="1" dirty="0">
                    <a:solidFill>
                      <a:srgbClr val="FF0000"/>
                    </a:solidFill>
                  </a:rPr>
                  <a:t> =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Desviación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FF0000"/>
                    </a:solidFill>
                  </a:rPr>
                  <a:t>estándar</a:t>
                </a:r>
                <a:endParaRPr lang="en-US" sz="2000" b="1" dirty="0">
                  <a:solidFill>
                    <a:srgbClr val="FF0000"/>
                  </a:solidFill>
                </a:endParaRPr>
              </a:p>
              <a:p>
                <a:endParaRPr lang="en-US" sz="2520" b="1" dirty="0"/>
              </a:p>
              <a:p>
                <a:endParaRPr lang="en-US" sz="2520" b="1" dirty="0"/>
              </a:p>
              <a:p>
                <a:endParaRPr lang="en-US" sz="2520" dirty="0"/>
              </a:p>
              <a:p>
                <a:endParaRPr lang="en-US" sz="2520" b="1" dirty="0"/>
              </a:p>
              <a:p>
                <a:endParaRPr lang="en-US" sz="2520" b="1" dirty="0"/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1358682C-02B2-993A-569B-D9AEF0261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24" y="1484784"/>
                <a:ext cx="8554551" cy="5162695"/>
              </a:xfrm>
              <a:prstGeom prst="rect">
                <a:avLst/>
              </a:prstGeom>
              <a:blipFill>
                <a:blip r:embed="rId3"/>
                <a:stretch>
                  <a:fillRect l="-742" t="-737"/>
                </a:stretch>
              </a:blipFill>
            </p:spPr>
            <p:txBody>
              <a:bodyPr/>
              <a:lstStyle/>
              <a:p>
                <a:r>
                  <a:rPr lang="es-ES_trad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5233727"/>
      </p:ext>
    </p:extLst>
  </p:cSld>
  <p:clrMapOvr>
    <a:masterClrMapping/>
  </p:clrMapOvr>
  <p:transition spd="med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latencia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484784"/>
            <a:ext cx="8554551" cy="402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métrica</a:t>
            </a:r>
            <a:r>
              <a:rPr lang="en-US" sz="2000" dirty="0"/>
              <a:t> es de </a:t>
            </a:r>
            <a:r>
              <a:rPr lang="en-US" sz="2000" dirty="0" err="1"/>
              <a:t>eficiencia</a:t>
            </a:r>
            <a:r>
              <a:rPr lang="en-US" sz="2000" dirty="0"/>
              <a:t>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</a:t>
            </a:r>
            <a:r>
              <a:rPr lang="en-US" sz="2000" dirty="0" err="1"/>
              <a:t>tarda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Sistema </a:t>
            </a:r>
            <a:r>
              <a:rPr lang="en-US" sz="2000" dirty="0" err="1"/>
              <a:t>desde</a:t>
            </a:r>
            <a:r>
              <a:rPr lang="en-US" sz="2000" dirty="0"/>
              <a:t> que se </a:t>
            </a:r>
            <a:r>
              <a:rPr lang="en-US" sz="2000" dirty="0" err="1"/>
              <a:t>envia</a:t>
            </a:r>
            <a:r>
              <a:rPr lang="en-US" sz="2000" dirty="0"/>
              <a:t> la </a:t>
            </a:r>
            <a:r>
              <a:rPr lang="en-US" sz="2000" dirty="0" err="1"/>
              <a:t>solicitud</a:t>
            </a:r>
            <a:r>
              <a:rPr lang="en-US" sz="2000" dirty="0"/>
              <a:t> hasta que se </a:t>
            </a:r>
            <a:r>
              <a:rPr lang="en-US" sz="2000" dirty="0" err="1"/>
              <a:t>devuelve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respuesta</a:t>
            </a:r>
            <a:r>
              <a:rPr lang="en-US" sz="2000" dirty="0"/>
              <a:t> al </a:t>
            </a:r>
            <a:r>
              <a:rPr lang="en-US" sz="2000" dirty="0" err="1"/>
              <a:t>usuario</a:t>
            </a:r>
            <a:r>
              <a:rPr lang="en-US" sz="2000" dirty="0"/>
              <a:t>.</a:t>
            </a:r>
          </a:p>
          <a:p>
            <a:r>
              <a:rPr lang="en-US" sz="2000" b="1" dirty="0"/>
              <a:t>Se </a:t>
            </a:r>
            <a:r>
              <a:rPr lang="en-US" sz="2000" b="1" dirty="0" err="1"/>
              <a:t>trata</a:t>
            </a:r>
            <a:r>
              <a:rPr lang="en-US" sz="2000" b="1" dirty="0"/>
              <a:t> de </a:t>
            </a:r>
            <a:r>
              <a:rPr lang="en-US" sz="2000" b="1" dirty="0" err="1"/>
              <a:t>optimizar</a:t>
            </a:r>
            <a:r>
              <a:rPr lang="en-US" sz="2000" b="1" dirty="0"/>
              <a:t> el tiempo de </a:t>
            </a:r>
            <a:r>
              <a:rPr lang="en-US" sz="2000" b="1" dirty="0" err="1"/>
              <a:t>respuesta</a:t>
            </a:r>
            <a:r>
              <a:rPr lang="en-US" sz="2000" b="1" dirty="0"/>
              <a:t> al </a:t>
            </a:r>
            <a:r>
              <a:rPr lang="en-US" sz="2000" b="1" dirty="0" err="1"/>
              <a:t>usuario</a:t>
            </a:r>
            <a:r>
              <a:rPr lang="en-US" sz="2000" b="1" dirty="0"/>
              <a:t>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Si la </a:t>
            </a:r>
            <a:r>
              <a:rPr lang="en-US" sz="2000" b="1" dirty="0" err="1">
                <a:solidFill>
                  <a:srgbClr val="FF0000"/>
                </a:solidFill>
              </a:rPr>
              <a:t>tarea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depende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otras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tareas</a:t>
            </a:r>
            <a:r>
              <a:rPr lang="en-US" sz="2000" b="1" dirty="0">
                <a:solidFill>
                  <a:srgbClr val="FF0000"/>
                </a:solidFill>
              </a:rPr>
              <a:t> se </a:t>
            </a:r>
            <a:r>
              <a:rPr lang="en-US" sz="2000" b="1" dirty="0" err="1">
                <a:solidFill>
                  <a:srgbClr val="FF0000"/>
                </a:solidFill>
              </a:rPr>
              <a:t>debe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informar</a:t>
            </a:r>
            <a:r>
              <a:rPr lang="en-US" sz="2000" b="1" dirty="0">
                <a:solidFill>
                  <a:srgbClr val="FF0000"/>
                </a:solidFill>
              </a:rPr>
              <a:t> al </a:t>
            </a:r>
            <a:r>
              <a:rPr lang="en-US" sz="2000" b="1" dirty="0" err="1">
                <a:solidFill>
                  <a:srgbClr val="FF0000"/>
                </a:solidFill>
              </a:rPr>
              <a:t>usuario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0.1 Segundo </a:t>
            </a:r>
            <a:r>
              <a:rPr lang="en-US" sz="2000" b="1" dirty="0" err="1">
                <a:solidFill>
                  <a:srgbClr val="FF0000"/>
                </a:solidFill>
              </a:rPr>
              <a:t>precepción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inmediata</a:t>
            </a:r>
            <a:endParaRPr lang="en-US" sz="2000" b="1" dirty="0">
              <a:solidFill>
                <a:srgbClr val="FF0000"/>
              </a:solidFill>
            </a:endParaRP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1 Segundo </a:t>
            </a:r>
            <a:r>
              <a:rPr lang="en-US" sz="2000" b="1" dirty="0" err="1">
                <a:solidFill>
                  <a:srgbClr val="FF0000"/>
                </a:solidFill>
              </a:rPr>
              <a:t>limite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estimado</a:t>
            </a:r>
            <a:endParaRPr lang="en-US" sz="2000" b="1" dirty="0">
              <a:solidFill>
                <a:srgbClr val="FF0000"/>
              </a:solidFill>
            </a:endParaRP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10 </a:t>
            </a:r>
            <a:r>
              <a:rPr lang="en-US" sz="2000" b="1" dirty="0" err="1">
                <a:solidFill>
                  <a:srgbClr val="FF0000"/>
                </a:solidFill>
              </a:rPr>
              <a:t>Segundos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tiempo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limite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atención</a:t>
            </a:r>
            <a:r>
              <a:rPr lang="en-US" sz="2000" b="1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después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este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tiempo</a:t>
            </a:r>
            <a:r>
              <a:rPr lang="en-US" sz="2000" b="1" dirty="0">
                <a:solidFill>
                  <a:srgbClr val="FF0000"/>
                </a:solidFill>
              </a:rPr>
              <a:t> se </a:t>
            </a:r>
            <a:r>
              <a:rPr lang="en-US" sz="2000" b="1" dirty="0" err="1">
                <a:solidFill>
                  <a:srgbClr val="FF0000"/>
                </a:solidFill>
              </a:rPr>
              <a:t>pierde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el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usuario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endParaRPr lang="en-US" sz="2520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52163915"/>
      </p:ext>
    </p:extLst>
  </p:cSld>
  <p:clrMapOvr>
    <a:masterClrMapping/>
  </p:clrMapOvr>
  <p:transition spd="med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latencia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772816"/>
            <a:ext cx="8554551" cy="179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2 </a:t>
            </a:r>
            <a:r>
              <a:rPr lang="en-US" sz="2000" b="1" dirty="0" err="1">
                <a:solidFill>
                  <a:srgbClr val="FF0000"/>
                </a:solidFill>
              </a:rPr>
              <a:t>Segundos</a:t>
            </a:r>
            <a:r>
              <a:rPr lang="en-US" sz="2000" b="1" dirty="0">
                <a:solidFill>
                  <a:srgbClr val="FF0000"/>
                </a:solidFill>
              </a:rPr>
              <a:t> carga </a:t>
            </a:r>
            <a:r>
              <a:rPr lang="en-US" sz="2000" b="1" dirty="0" err="1">
                <a:solidFill>
                  <a:srgbClr val="FF0000"/>
                </a:solidFill>
              </a:rPr>
              <a:t>rápida</a:t>
            </a:r>
            <a:endParaRPr lang="en-US" sz="2000" b="1" dirty="0">
              <a:solidFill>
                <a:srgbClr val="FF0000"/>
              </a:solidFill>
            </a:endParaRP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Entre 2 y 4 </a:t>
            </a:r>
            <a:r>
              <a:rPr lang="en-US" sz="2000" b="1" dirty="0" err="1">
                <a:solidFill>
                  <a:srgbClr val="FF0000"/>
                </a:solidFill>
              </a:rPr>
              <a:t>Segundos</a:t>
            </a:r>
            <a:r>
              <a:rPr lang="en-US" sz="2000" b="1" dirty="0">
                <a:solidFill>
                  <a:srgbClr val="FF0000"/>
                </a:solidFill>
              </a:rPr>
              <a:t> carga normal</a:t>
            </a:r>
          </a:p>
          <a:p>
            <a:pPr marL="411480" indent="-41148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FF0000"/>
                </a:solidFill>
              </a:rPr>
              <a:t>5 </a:t>
            </a:r>
            <a:r>
              <a:rPr lang="en-US" sz="2000" b="1" dirty="0" err="1">
                <a:solidFill>
                  <a:srgbClr val="FF0000"/>
                </a:solidFill>
              </a:rPr>
              <a:t>Segundos</a:t>
            </a:r>
            <a:r>
              <a:rPr lang="en-US" sz="2000" b="1" dirty="0">
                <a:solidFill>
                  <a:srgbClr val="FF0000"/>
                </a:solidFill>
              </a:rPr>
              <a:t> o </a:t>
            </a:r>
            <a:r>
              <a:rPr lang="en-US" sz="2000" b="1" dirty="0" err="1">
                <a:solidFill>
                  <a:srgbClr val="FF0000"/>
                </a:solidFill>
              </a:rPr>
              <a:t>más</a:t>
            </a:r>
            <a:r>
              <a:rPr lang="en-US" sz="2000" b="1" dirty="0">
                <a:solidFill>
                  <a:srgbClr val="FF0000"/>
                </a:solidFill>
              </a:rPr>
              <a:t>, carga </a:t>
            </a:r>
            <a:r>
              <a:rPr lang="en-US" sz="2000" b="1" dirty="0" err="1">
                <a:solidFill>
                  <a:srgbClr val="FF0000"/>
                </a:solidFill>
              </a:rPr>
              <a:t>lenta</a:t>
            </a:r>
            <a:endParaRPr lang="en-US" sz="2000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099801644"/>
      </p:ext>
    </p:extLst>
  </p:cSld>
  <p:clrMapOvr>
    <a:masterClrMapping/>
  </p:clrMapOvr>
  <p:transition spd="med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Métricas</a:t>
            </a:r>
            <a:r>
              <a:rPr lang="en-US" b="1" dirty="0"/>
              <a:t> </a:t>
            </a:r>
            <a:r>
              <a:rPr lang="en-US" b="1" dirty="0" err="1"/>
              <a:t>cualitativas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717762"/>
            <a:ext cx="8554551" cy="2019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cualitativa</a:t>
            </a:r>
            <a:r>
              <a:rPr lang="en-US" sz="2000" dirty="0"/>
              <a:t> 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meida</a:t>
            </a:r>
            <a:r>
              <a:rPr lang="en-US" sz="2000" dirty="0"/>
              <a:t> </a:t>
            </a:r>
            <a:r>
              <a:rPr lang="en-US" sz="2000" dirty="0" err="1"/>
              <a:t>subjetiva</a:t>
            </a:r>
            <a:r>
              <a:rPr lang="en-US" sz="2000" dirty="0"/>
              <a:t> para </a:t>
            </a:r>
            <a:r>
              <a:rPr lang="en-US" sz="2000" dirty="0" err="1"/>
              <a:t>hacer</a:t>
            </a:r>
            <a:r>
              <a:rPr lang="en-US" sz="2000" dirty="0"/>
              <a:t> </a:t>
            </a:r>
            <a:r>
              <a:rPr lang="en-US" sz="2000" dirty="0" err="1"/>
              <a:t>referencia</a:t>
            </a:r>
            <a:r>
              <a:rPr lang="en-US" sz="2000" dirty="0"/>
              <a:t> a la </a:t>
            </a:r>
            <a:r>
              <a:rPr lang="en-US" sz="2000" dirty="0" err="1"/>
              <a:t>calidad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 o </a:t>
            </a:r>
            <a:r>
              <a:rPr lang="en-US" sz="2000" dirty="0" err="1"/>
              <a:t>actividad</a:t>
            </a:r>
            <a:r>
              <a:rPr lang="en-US" sz="2000" dirty="0"/>
              <a:t> </a:t>
            </a:r>
            <a:r>
              <a:rPr lang="en-US" sz="2000" dirty="0" err="1"/>
              <a:t>deducida</a:t>
            </a:r>
            <a:r>
              <a:rPr lang="en-US" sz="2000" dirty="0"/>
              <a:t> a </a:t>
            </a:r>
            <a:r>
              <a:rPr lang="en-US" sz="2000" dirty="0" err="1"/>
              <a:t>partir</a:t>
            </a:r>
            <a:r>
              <a:rPr lang="en-US" sz="2000" dirty="0"/>
              <a:t> de un </a:t>
            </a:r>
            <a:r>
              <a:rPr lang="en-US" sz="2000" dirty="0" err="1"/>
              <a:t>análisis</a:t>
            </a:r>
            <a:r>
              <a:rPr lang="en-US" sz="2000" dirty="0"/>
              <a:t> personal.</a:t>
            </a:r>
          </a:p>
          <a:p>
            <a:endParaRPr lang="en-US" sz="2000" dirty="0"/>
          </a:p>
          <a:p>
            <a:r>
              <a:rPr lang="en-US" sz="2000" dirty="0" err="1"/>
              <a:t>Estás</a:t>
            </a:r>
            <a:r>
              <a:rPr lang="en-US" sz="2000" dirty="0"/>
              <a:t> </a:t>
            </a:r>
            <a:r>
              <a:rPr lang="en-US" sz="2000" dirty="0" err="1"/>
              <a:t>métricas</a:t>
            </a:r>
            <a:r>
              <a:rPr lang="en-US" sz="2000" dirty="0"/>
              <a:t> </a:t>
            </a:r>
            <a:r>
              <a:rPr lang="en-US" sz="2000" dirty="0" err="1"/>
              <a:t>tienen</a:t>
            </a:r>
            <a:r>
              <a:rPr lang="en-US" sz="2000" dirty="0"/>
              <a:t> en </a:t>
            </a:r>
            <a:r>
              <a:rPr lang="en-US" sz="2000" dirty="0" err="1"/>
              <a:t>cuenta</a:t>
            </a:r>
            <a:r>
              <a:rPr lang="en-US" sz="2000" dirty="0"/>
              <a:t> la </a:t>
            </a:r>
            <a:r>
              <a:rPr lang="en-US" sz="2000" dirty="0" err="1"/>
              <a:t>eficiencia</a:t>
            </a:r>
            <a:r>
              <a:rPr lang="en-US" sz="2000" dirty="0"/>
              <a:t> y a menudo se </a:t>
            </a:r>
            <a:r>
              <a:rPr lang="en-US" sz="2000" dirty="0" err="1"/>
              <a:t>utilizan</a:t>
            </a:r>
            <a:r>
              <a:rPr lang="en-US" sz="2000" dirty="0"/>
              <a:t> para </a:t>
            </a:r>
            <a:r>
              <a:rPr lang="en-US" sz="2000" dirty="0" err="1"/>
              <a:t>ver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nivel</a:t>
            </a:r>
            <a:r>
              <a:rPr lang="en-US" sz="2000" dirty="0"/>
              <a:t> de un </a:t>
            </a:r>
            <a:r>
              <a:rPr lang="en-US" sz="2000" dirty="0" err="1"/>
              <a:t>servicio</a:t>
            </a:r>
            <a:r>
              <a:rPr lang="en-US" sz="2000" dirty="0"/>
              <a:t> o </a:t>
            </a:r>
            <a:r>
              <a:rPr lang="en-US" sz="2000" dirty="0" err="1"/>
              <a:t>producto</a:t>
            </a:r>
            <a:r>
              <a:rPr lang="en-US" sz="2000" dirty="0"/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997591993"/>
      </p:ext>
    </p:extLst>
  </p:cSld>
  <p:clrMapOvr>
    <a:masterClrMapping/>
  </p:clrMapOvr>
  <p:transition spd="med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Dificultad</a:t>
            </a:r>
            <a:r>
              <a:rPr lang="en-US" b="1" dirty="0"/>
              <a:t> de la </a:t>
            </a:r>
            <a:r>
              <a:rPr lang="en-US" b="1" dirty="0" err="1"/>
              <a:t>tarea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484784"/>
            <a:ext cx="8165708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valoración</a:t>
            </a:r>
            <a:r>
              <a:rPr lang="en-US" sz="2000" dirty="0"/>
              <a:t> </a:t>
            </a:r>
            <a:r>
              <a:rPr lang="en-US" sz="2000" dirty="0" err="1"/>
              <a:t>subjetiva</a:t>
            </a:r>
            <a:r>
              <a:rPr lang="en-US" sz="2000" dirty="0"/>
              <a:t> del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la </a:t>
            </a:r>
            <a:r>
              <a:rPr lang="en-US" sz="2000" dirty="0" err="1"/>
              <a:t>dificultad</a:t>
            </a:r>
            <a:r>
              <a:rPr lang="en-US" sz="2000" dirty="0"/>
              <a:t> de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 </a:t>
            </a:r>
            <a:r>
              <a:rPr lang="en-US" sz="2000" dirty="0" err="1"/>
              <a:t>después</a:t>
            </a:r>
            <a:r>
              <a:rPr lang="en-US" sz="2000" dirty="0"/>
              <a:t> de </a:t>
            </a:r>
            <a:r>
              <a:rPr lang="en-US" sz="2000" dirty="0" err="1"/>
              <a:t>realizarla</a:t>
            </a:r>
            <a:r>
              <a:rPr lang="en-US" sz="2000" dirty="0"/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77907049"/>
      </p:ext>
    </p:extLst>
  </p:cSld>
  <p:clrMapOvr>
    <a:masterClrMapping/>
  </p:clrMapOvr>
  <p:transition spd="med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Expectativas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4" y="1628800"/>
            <a:ext cx="8554551" cy="14034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valoración</a:t>
            </a:r>
            <a:r>
              <a:rPr lang="en-US" sz="2000" dirty="0"/>
              <a:t> </a:t>
            </a:r>
            <a:r>
              <a:rPr lang="en-US" sz="2000" dirty="0" err="1"/>
              <a:t>subjetiva</a:t>
            </a:r>
            <a:r>
              <a:rPr lang="en-US" sz="2000" dirty="0"/>
              <a:t> del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nivel</a:t>
            </a:r>
            <a:r>
              <a:rPr lang="en-US" sz="2000" dirty="0"/>
              <a:t> de </a:t>
            </a:r>
            <a:r>
              <a:rPr lang="en-US" sz="2000" dirty="0" err="1"/>
              <a:t>dificultad</a:t>
            </a:r>
            <a:r>
              <a:rPr lang="en-US" sz="2000" dirty="0"/>
              <a:t> que </a:t>
            </a:r>
            <a:r>
              <a:rPr lang="en-US" sz="2000" dirty="0" err="1"/>
              <a:t>esperan</a:t>
            </a:r>
            <a:r>
              <a:rPr lang="en-US" sz="2000" dirty="0"/>
              <a:t> </a:t>
            </a:r>
            <a:r>
              <a:rPr lang="en-US" sz="2000" dirty="0" err="1"/>
              <a:t>encontrar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a la hora de </a:t>
            </a:r>
            <a:r>
              <a:rPr lang="en-US" sz="2000" dirty="0" err="1"/>
              <a:t>realizar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 y lo que ha </a:t>
            </a:r>
            <a:r>
              <a:rPr lang="en-US" sz="2000" dirty="0" err="1"/>
              <a:t>sido</a:t>
            </a:r>
            <a:r>
              <a:rPr lang="en-US" sz="2000" dirty="0"/>
              <a:t> </a:t>
            </a:r>
            <a:r>
              <a:rPr lang="en-US" sz="2000" dirty="0" err="1"/>
              <a:t>después</a:t>
            </a:r>
            <a:r>
              <a:rPr lang="en-US" sz="2000" dirty="0"/>
              <a:t> de </a:t>
            </a:r>
            <a:r>
              <a:rPr lang="en-US" sz="2000" dirty="0" err="1"/>
              <a:t>realizarla</a:t>
            </a:r>
            <a:r>
              <a:rPr lang="en-US" sz="2000" dirty="0"/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122810994"/>
      </p:ext>
    </p:extLst>
  </p:cSld>
  <p:clrMapOvr>
    <a:masterClrMapping/>
  </p:clrMapOvr>
  <p:transition spd="med">
    <p:wip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Facilidad</a:t>
            </a:r>
            <a:r>
              <a:rPr lang="en-US" b="1" dirty="0"/>
              <a:t> de </a:t>
            </a:r>
            <a:r>
              <a:rPr lang="en-US" b="1" dirty="0" err="1"/>
              <a:t>mantenimiento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324452"/>
            <a:ext cx="8554551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valoración</a:t>
            </a:r>
            <a:r>
              <a:rPr lang="en-US" sz="2000" dirty="0"/>
              <a:t> de la </a:t>
            </a:r>
            <a:r>
              <a:rPr lang="en-US" sz="2000" dirty="0" err="1"/>
              <a:t>simpleza</a:t>
            </a:r>
            <a:r>
              <a:rPr lang="en-US" sz="2000" dirty="0"/>
              <a:t> y </a:t>
            </a:r>
            <a:r>
              <a:rPr lang="en-US" sz="2000" dirty="0" err="1"/>
              <a:t>sencilles</a:t>
            </a:r>
            <a:r>
              <a:rPr lang="en-US" sz="2000" dirty="0"/>
              <a:t> del </a:t>
            </a:r>
            <a:r>
              <a:rPr lang="en-US" sz="2000" dirty="0" err="1"/>
              <a:t>mantenimiento</a:t>
            </a:r>
            <a:r>
              <a:rPr lang="en-US" sz="2000" dirty="0"/>
              <a:t> de un </a:t>
            </a:r>
            <a:r>
              <a:rPr lang="en-US" sz="2000" dirty="0" err="1"/>
              <a:t>sistema</a:t>
            </a:r>
            <a:r>
              <a:rPr lang="en-US" sz="2000" dirty="0"/>
              <a:t> o software.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832265492"/>
      </p:ext>
    </p:extLst>
  </p:cSld>
  <p:clrMapOvr>
    <a:masterClrMapping/>
  </p:clrMapOvr>
  <p:transition spd="med">
    <p:wip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Nivel de </a:t>
            </a:r>
            <a:r>
              <a:rPr lang="en-US" b="1" dirty="0" err="1"/>
              <a:t>satisfacción</a:t>
            </a:r>
            <a:r>
              <a:rPr lang="en-US" b="1" dirty="0"/>
              <a:t> de la </a:t>
            </a:r>
            <a:r>
              <a:rPr lang="en-US" b="1" dirty="0" err="1"/>
              <a:t>prueba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324452"/>
            <a:ext cx="8554551" cy="2634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valoración</a:t>
            </a:r>
            <a:r>
              <a:rPr lang="en-US" sz="2000" dirty="0"/>
              <a:t> </a:t>
            </a:r>
            <a:r>
              <a:rPr lang="en-US" sz="2000" dirty="0" err="1"/>
              <a:t>subjetiva</a:t>
            </a:r>
            <a:r>
              <a:rPr lang="en-US" sz="2000" dirty="0"/>
              <a:t> del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ha </a:t>
            </a:r>
            <a:r>
              <a:rPr lang="en-US" sz="2000" dirty="0" err="1"/>
              <a:t>sido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proceso</a:t>
            </a:r>
            <a:r>
              <a:rPr lang="en-US" sz="2000" dirty="0"/>
              <a:t> y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resultado</a:t>
            </a:r>
            <a:r>
              <a:rPr lang="en-US" sz="2000" dirty="0"/>
              <a:t> del </a:t>
            </a:r>
            <a:r>
              <a:rPr lang="en-US" sz="2000" dirty="0" err="1"/>
              <a:t>nivel</a:t>
            </a:r>
            <a:r>
              <a:rPr lang="en-US" sz="2000" dirty="0"/>
              <a:t> de </a:t>
            </a:r>
            <a:r>
              <a:rPr lang="en-US" sz="2000" dirty="0" err="1"/>
              <a:t>satisfacción</a:t>
            </a:r>
            <a:r>
              <a:rPr lang="en-US" sz="2000" dirty="0"/>
              <a:t> con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uso</a:t>
            </a:r>
            <a:r>
              <a:rPr lang="en-US" sz="2000" dirty="0"/>
              <a:t> software.</a:t>
            </a:r>
          </a:p>
          <a:p>
            <a:endParaRPr lang="en-US" sz="2000" dirty="0"/>
          </a:p>
          <a:p>
            <a:r>
              <a:rPr lang="en-US" sz="2000" b="1" dirty="0" err="1">
                <a:solidFill>
                  <a:srgbClr val="FF0000"/>
                </a:solidFill>
              </a:rPr>
              <a:t>Generalmente</a:t>
            </a:r>
            <a:r>
              <a:rPr lang="en-US" sz="2000" b="1" dirty="0">
                <a:solidFill>
                  <a:srgbClr val="FF0000"/>
                </a:solidFill>
              </a:rPr>
              <a:t> es un </a:t>
            </a:r>
            <a:r>
              <a:rPr lang="en-US" sz="2000" b="1" dirty="0" err="1">
                <a:solidFill>
                  <a:srgbClr val="FF0000"/>
                </a:solidFill>
              </a:rPr>
              <a:t>cuestionario</a:t>
            </a:r>
            <a:r>
              <a:rPr lang="en-US" sz="2000" b="1" dirty="0">
                <a:solidFill>
                  <a:srgbClr val="FF0000"/>
                </a:solidFill>
              </a:rPr>
              <a:t> que </a:t>
            </a:r>
            <a:r>
              <a:rPr lang="en-US" sz="2000" b="1" dirty="0" err="1">
                <a:solidFill>
                  <a:srgbClr val="FF0000"/>
                </a:solidFill>
              </a:rPr>
              <a:t>recogen</a:t>
            </a:r>
            <a:r>
              <a:rPr lang="en-US" sz="2000" b="1" dirty="0">
                <a:solidFill>
                  <a:srgbClr val="FF0000"/>
                </a:solidFill>
              </a:rPr>
              <a:t> las </a:t>
            </a:r>
            <a:r>
              <a:rPr lang="en-US" sz="2000" b="1" dirty="0" err="1">
                <a:solidFill>
                  <a:srgbClr val="FF0000"/>
                </a:solidFill>
              </a:rPr>
              <a:t>impresiones</a:t>
            </a:r>
            <a:r>
              <a:rPr lang="en-US" sz="2000" b="1" dirty="0">
                <a:solidFill>
                  <a:srgbClr val="FF0000"/>
                </a:solidFill>
              </a:rPr>
              <a:t> que el </a:t>
            </a:r>
            <a:r>
              <a:rPr lang="en-US" sz="2000" b="1" dirty="0" err="1">
                <a:solidFill>
                  <a:srgbClr val="FF0000"/>
                </a:solidFill>
              </a:rPr>
              <a:t>usuario</a:t>
            </a:r>
            <a:r>
              <a:rPr lang="en-US" sz="2000" b="1" dirty="0">
                <a:solidFill>
                  <a:srgbClr val="FF0000"/>
                </a:solidFill>
              </a:rPr>
              <a:t> ha </a:t>
            </a:r>
            <a:r>
              <a:rPr lang="en-US" sz="2000" b="1" dirty="0" err="1">
                <a:solidFill>
                  <a:srgbClr val="FF0000"/>
                </a:solidFill>
              </a:rPr>
              <a:t>percibido</a:t>
            </a:r>
            <a:r>
              <a:rPr lang="en-US" sz="2000" b="1" dirty="0">
                <a:solidFill>
                  <a:srgbClr val="FF0000"/>
                </a:solidFill>
              </a:rPr>
              <a:t> en </a:t>
            </a:r>
            <a:r>
              <a:rPr lang="en-US" sz="2000" b="1" dirty="0" err="1">
                <a:solidFill>
                  <a:srgbClr val="FF0000"/>
                </a:solidFill>
              </a:rPr>
              <a:t>cuanto</a:t>
            </a:r>
            <a:r>
              <a:rPr lang="en-US" sz="2000" b="1" dirty="0">
                <a:solidFill>
                  <a:srgbClr val="FF0000"/>
                </a:solidFill>
              </a:rPr>
              <a:t> a la </a:t>
            </a:r>
            <a:r>
              <a:rPr lang="en-US" sz="2000" b="1" dirty="0" err="1">
                <a:solidFill>
                  <a:srgbClr val="FF0000"/>
                </a:solidFill>
              </a:rPr>
              <a:t>facilidad</a:t>
            </a:r>
            <a:r>
              <a:rPr lang="en-US" sz="2000" b="1" dirty="0">
                <a:solidFill>
                  <a:srgbClr val="FF0000"/>
                </a:solidFill>
              </a:rPr>
              <a:t> y </a:t>
            </a:r>
            <a:r>
              <a:rPr lang="en-US" sz="2000" b="1" dirty="0" err="1">
                <a:solidFill>
                  <a:srgbClr val="FF0000"/>
                </a:solidFill>
              </a:rPr>
              <a:t>dificulta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uso</a:t>
            </a:r>
            <a:r>
              <a:rPr lang="en-US" sz="2000" b="1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como</a:t>
            </a:r>
            <a:r>
              <a:rPr lang="en-US" sz="2000" b="1" dirty="0">
                <a:solidFill>
                  <a:srgbClr val="FF0000"/>
                </a:solidFill>
              </a:rPr>
              <a:t> por </a:t>
            </a:r>
            <a:r>
              <a:rPr lang="en-US" sz="2000" b="1" dirty="0" err="1">
                <a:solidFill>
                  <a:srgbClr val="FF0000"/>
                </a:solidFill>
              </a:rPr>
              <a:t>ejemplo</a:t>
            </a:r>
            <a:r>
              <a:rPr lang="en-US" sz="2000" b="1" dirty="0">
                <a:solidFill>
                  <a:srgbClr val="FF0000"/>
                </a:solidFill>
              </a:rPr>
              <a:t> las </a:t>
            </a:r>
            <a:r>
              <a:rPr lang="en-US" sz="2000" b="1" dirty="0" err="1">
                <a:solidFill>
                  <a:srgbClr val="FF0000"/>
                </a:solidFill>
              </a:rPr>
              <a:t>evaluaciones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heuristicas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1190986823"/>
      </p:ext>
    </p:extLst>
  </p:cSld>
  <p:clrMapOvr>
    <a:masterClrMapping/>
  </p:clrMapOvr>
  <p:transition spd="med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Tiempo</a:t>
            </a:r>
            <a:r>
              <a:rPr lang="en-US" b="1" dirty="0"/>
              <a:t> de </a:t>
            </a:r>
            <a:r>
              <a:rPr lang="en-US" b="1" dirty="0" err="1"/>
              <a:t>reacción</a:t>
            </a:r>
            <a:r>
              <a:rPr lang="en-US" b="1" dirty="0"/>
              <a:t> del </a:t>
            </a:r>
            <a:r>
              <a:rPr lang="en-US" b="1" dirty="0" err="1"/>
              <a:t>usuario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324452"/>
            <a:ext cx="8554551" cy="2326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que </a:t>
            </a:r>
            <a:r>
              <a:rPr lang="en-US" sz="2000" dirty="0" err="1"/>
              <a:t>proporciona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estimación</a:t>
            </a:r>
            <a:r>
              <a:rPr lang="en-US" sz="2000" dirty="0"/>
              <a:t> </a:t>
            </a:r>
            <a:r>
              <a:rPr lang="en-US" sz="2000" dirty="0" err="1"/>
              <a:t>sobre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que </a:t>
            </a:r>
            <a:r>
              <a:rPr lang="en-US" sz="2000" dirty="0" err="1"/>
              <a:t>tardan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en </a:t>
            </a:r>
            <a:r>
              <a:rPr lang="en-US" sz="2000" dirty="0" err="1"/>
              <a:t>tomar</a:t>
            </a:r>
            <a:r>
              <a:rPr lang="en-US" sz="2000" dirty="0"/>
              <a:t> </a:t>
            </a:r>
            <a:r>
              <a:rPr lang="en-US" sz="2000" dirty="0" err="1"/>
              <a:t>decisiones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El </a:t>
            </a:r>
            <a:r>
              <a:rPr lang="en-US" sz="2000" b="1" dirty="0" err="1">
                <a:solidFill>
                  <a:srgbClr val="FF0000"/>
                </a:solidFill>
              </a:rPr>
              <a:t>tiempo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reacción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los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usuarios</a:t>
            </a:r>
            <a:r>
              <a:rPr lang="en-US" sz="2000" b="1" dirty="0">
                <a:solidFill>
                  <a:srgbClr val="FF0000"/>
                </a:solidFill>
              </a:rPr>
              <a:t>, se </a:t>
            </a:r>
            <a:r>
              <a:rPr lang="en-US" sz="2000" b="1" dirty="0" err="1">
                <a:solidFill>
                  <a:srgbClr val="FF0000"/>
                </a:solidFill>
              </a:rPr>
              <a:t>puede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obtener</a:t>
            </a:r>
            <a:r>
              <a:rPr lang="en-US" sz="2000" b="1" dirty="0">
                <a:solidFill>
                  <a:srgbClr val="FF0000"/>
                </a:solidFill>
              </a:rPr>
              <a:t> con las </a:t>
            </a:r>
            <a:r>
              <a:rPr lang="en-US" sz="2000" b="1" dirty="0" err="1">
                <a:solidFill>
                  <a:srgbClr val="FF0000"/>
                </a:solidFill>
              </a:rPr>
              <a:t>leyes</a:t>
            </a:r>
            <a:r>
              <a:rPr lang="en-US" sz="2000" b="1" dirty="0">
                <a:solidFill>
                  <a:srgbClr val="FF0000"/>
                </a:solidFill>
              </a:rPr>
              <a:t> de Fits y Hicks de forma </a:t>
            </a:r>
            <a:r>
              <a:rPr lang="en-US" sz="2000" b="1" dirty="0" err="1">
                <a:solidFill>
                  <a:srgbClr val="FF0000"/>
                </a:solidFill>
              </a:rPr>
              <a:t>cuantitativa</a:t>
            </a:r>
            <a:r>
              <a:rPr lang="en-US" sz="2000" b="1" dirty="0">
                <a:solidFill>
                  <a:srgbClr val="FF0000"/>
                </a:solidFill>
              </a:rPr>
              <a:t>, </a:t>
            </a:r>
            <a:r>
              <a:rPr lang="en-US" sz="2000" b="1" dirty="0" err="1">
                <a:solidFill>
                  <a:srgbClr val="FF0000"/>
                </a:solidFill>
              </a:rPr>
              <a:t>pero</a:t>
            </a:r>
            <a:r>
              <a:rPr lang="en-US" sz="2000" b="1" dirty="0">
                <a:solidFill>
                  <a:srgbClr val="FF0000"/>
                </a:solidFill>
              </a:rPr>
              <a:t> se </a:t>
            </a:r>
            <a:r>
              <a:rPr lang="en-US" sz="2000" b="1" dirty="0" err="1">
                <a:solidFill>
                  <a:srgbClr val="FF0000"/>
                </a:solidFill>
              </a:rPr>
              <a:t>solicita</a:t>
            </a:r>
            <a:r>
              <a:rPr lang="en-US" sz="2000" b="1" dirty="0">
                <a:solidFill>
                  <a:srgbClr val="FF0000"/>
                </a:solidFill>
              </a:rPr>
              <a:t> a las </a:t>
            </a:r>
            <a:r>
              <a:rPr lang="en-US" sz="2000" b="1" dirty="0" err="1">
                <a:solidFill>
                  <a:srgbClr val="FF0000"/>
                </a:solidFill>
              </a:rPr>
              <a:t>usuarios</a:t>
            </a:r>
            <a:r>
              <a:rPr lang="en-US" sz="2000" b="1" dirty="0">
                <a:solidFill>
                  <a:srgbClr val="FF0000"/>
                </a:solidFill>
              </a:rPr>
              <a:t> que lo </a:t>
            </a:r>
            <a:r>
              <a:rPr lang="en-US" sz="2000" b="1" dirty="0" err="1">
                <a:solidFill>
                  <a:srgbClr val="FF0000"/>
                </a:solidFill>
              </a:rPr>
              <a:t>valoren</a:t>
            </a:r>
            <a:r>
              <a:rPr lang="en-US" sz="2000" b="1" dirty="0">
                <a:solidFill>
                  <a:srgbClr val="FF0000"/>
                </a:solidFill>
              </a:rPr>
              <a:t>, para </a:t>
            </a:r>
            <a:r>
              <a:rPr lang="en-US" sz="2000" b="1" dirty="0" err="1">
                <a:solidFill>
                  <a:srgbClr val="FF0000"/>
                </a:solidFill>
              </a:rPr>
              <a:t>conocer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su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percepción</a:t>
            </a:r>
            <a:r>
              <a:rPr lang="en-US" sz="2000" b="1" dirty="0">
                <a:solidFill>
                  <a:srgbClr val="FF0000"/>
                </a:solidFill>
              </a:rPr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933803584"/>
      </p:ext>
    </p:extLst>
  </p:cSld>
  <p:clrMapOvr>
    <a:masterClrMapping/>
  </p:clrMapOvr>
  <p:transition spd="med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Otras</a:t>
            </a:r>
            <a:r>
              <a:rPr lang="en-US" b="1" dirty="0"/>
              <a:t> </a:t>
            </a:r>
            <a:r>
              <a:rPr lang="en-US" b="1" dirty="0" err="1"/>
              <a:t>métricas</a:t>
            </a:r>
            <a:endParaRPr lang="en-US" b="1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358682C-02B2-993A-569B-D9AEF0261D8D}"/>
              </a:ext>
            </a:extLst>
          </p:cNvPr>
          <p:cNvSpPr txBox="1"/>
          <p:nvPr/>
        </p:nvSpPr>
        <p:spPr>
          <a:xfrm>
            <a:off x="294725" y="1324452"/>
            <a:ext cx="8554551" cy="1095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Estás</a:t>
            </a:r>
            <a:r>
              <a:rPr lang="en-US" sz="2000" dirty="0"/>
              <a:t> </a:t>
            </a:r>
            <a:r>
              <a:rPr lang="en-US" sz="2000" dirty="0" err="1"/>
              <a:t>métricas</a:t>
            </a:r>
            <a:r>
              <a:rPr lang="en-US" sz="2000" dirty="0"/>
              <a:t> </a:t>
            </a:r>
            <a:r>
              <a:rPr lang="en-US" sz="2000" dirty="0" err="1"/>
              <a:t>pueden</a:t>
            </a:r>
            <a:r>
              <a:rPr lang="en-US" sz="2000" dirty="0"/>
              <a:t> ser de </a:t>
            </a:r>
            <a:r>
              <a:rPr lang="en-US" sz="2000" dirty="0" err="1"/>
              <a:t>interes</a:t>
            </a:r>
            <a:r>
              <a:rPr lang="en-US" sz="2000" dirty="0"/>
              <a:t> </a:t>
            </a:r>
            <a:r>
              <a:rPr lang="en-US" sz="2000" dirty="0" err="1"/>
              <a:t>porque</a:t>
            </a:r>
            <a:r>
              <a:rPr lang="en-US" sz="2000" dirty="0"/>
              <a:t> </a:t>
            </a:r>
            <a:r>
              <a:rPr lang="en-US" sz="2000" dirty="0" err="1"/>
              <a:t>aportan</a:t>
            </a:r>
            <a:r>
              <a:rPr lang="en-US" sz="2000" dirty="0"/>
              <a:t> a la </a:t>
            </a:r>
            <a:r>
              <a:rPr lang="en-US" sz="2000" dirty="0" err="1"/>
              <a:t>evaluación</a:t>
            </a:r>
            <a:r>
              <a:rPr lang="en-US" sz="2000" dirty="0"/>
              <a:t> de la </a:t>
            </a:r>
            <a:r>
              <a:rPr lang="en-US" sz="2000" dirty="0" err="1"/>
              <a:t>usabilidad</a:t>
            </a:r>
            <a:r>
              <a:rPr lang="en-US" sz="2000" dirty="0"/>
              <a:t> de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en </a:t>
            </a:r>
            <a:r>
              <a:rPr lang="en-US" sz="2000" dirty="0" err="1"/>
              <a:t>cuanto</a:t>
            </a:r>
            <a:r>
              <a:rPr lang="en-US" sz="2000" dirty="0"/>
              <a:t> a la </a:t>
            </a:r>
            <a:r>
              <a:rPr lang="en-US" sz="2000" dirty="0" err="1"/>
              <a:t>usabilidad</a:t>
            </a:r>
            <a:r>
              <a:rPr lang="en-US" sz="2000" dirty="0"/>
              <a:t>.</a:t>
            </a: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895495215"/>
      </p:ext>
    </p:extLst>
  </p:cSld>
  <p:clrMapOvr>
    <a:masterClrMapping/>
  </p:clrMapOvr>
  <p:transition spd="med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/>
              <a:t>Click Through Rate (CTR)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209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Una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efeciencia</a:t>
            </a:r>
            <a:r>
              <a:rPr lang="en-US" sz="2000" dirty="0"/>
              <a:t> que </a:t>
            </a:r>
            <a:r>
              <a:rPr lang="en-US" sz="2000" dirty="0" err="1"/>
              <a:t>relaciona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veces</a:t>
            </a:r>
            <a:r>
              <a:rPr lang="en-US" sz="2000" dirty="0"/>
              <a:t> que se ha </a:t>
            </a:r>
            <a:r>
              <a:rPr lang="en-US" sz="2000" dirty="0" err="1"/>
              <a:t>visualizado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imagen con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número</a:t>
            </a:r>
            <a:r>
              <a:rPr lang="en-US" sz="2000" dirty="0"/>
              <a:t> de </a:t>
            </a:r>
            <a:r>
              <a:rPr lang="en-US" sz="2000" dirty="0" err="1"/>
              <a:t>veces</a:t>
            </a:r>
            <a:r>
              <a:rPr lang="en-US" sz="2000" dirty="0"/>
              <a:t> que se ha </a:t>
            </a:r>
            <a:r>
              <a:rPr lang="en-US" sz="2000" dirty="0" err="1"/>
              <a:t>pinchado</a:t>
            </a:r>
            <a:r>
              <a:rPr lang="en-US" sz="2000" dirty="0"/>
              <a:t> o </a:t>
            </a:r>
            <a:r>
              <a:rPr lang="en-US" sz="2000" dirty="0" err="1"/>
              <a:t>clickeado</a:t>
            </a:r>
            <a:r>
              <a:rPr lang="en-US" sz="2000" dirty="0"/>
              <a:t>. 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CTR=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visualizaciones</a:t>
            </a:r>
            <a:r>
              <a:rPr lang="en-US" sz="2000" b="1" dirty="0">
                <a:solidFill>
                  <a:srgbClr val="FF0000"/>
                </a:solidFill>
              </a:rPr>
              <a:t>/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clics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198883061"/>
      </p:ext>
    </p:extLst>
  </p:cSld>
  <p:clrMapOvr>
    <a:masterClrMapping/>
  </p:clrMapOvr>
  <p:transition spd="med">
    <p:wip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 err="1"/>
              <a:t>Páginas</a:t>
            </a:r>
            <a:r>
              <a:rPr lang="en-US" b="1" dirty="0"/>
              <a:t> vistas / </a:t>
            </a:r>
            <a:r>
              <a:rPr lang="en-US" b="1" dirty="0" err="1"/>
              <a:t>clics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209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 </a:t>
            </a:r>
            <a:r>
              <a:rPr lang="en-US" sz="2000" dirty="0" err="1"/>
              <a:t>obtiene</a:t>
            </a:r>
            <a:r>
              <a:rPr lang="en-US" sz="2000" dirty="0"/>
              <a:t> </a:t>
            </a:r>
            <a:r>
              <a:rPr lang="en-US" sz="2000" dirty="0" err="1"/>
              <a:t>observando</a:t>
            </a:r>
            <a:r>
              <a:rPr lang="en-US" sz="2000" dirty="0"/>
              <a:t> </a:t>
            </a:r>
            <a:r>
              <a:rPr lang="en-US" sz="2000" dirty="0" err="1"/>
              <a:t>donde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el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usuario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realiza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el</a:t>
            </a:r>
            <a:r>
              <a:rPr lang="en-US" sz="2000" b="1" dirty="0">
                <a:solidFill>
                  <a:srgbClr val="FF0000"/>
                </a:solidFill>
              </a:rPr>
              <a:t> primer </a:t>
            </a:r>
            <a:r>
              <a:rPr lang="en-US" sz="2000" b="1" dirty="0" err="1">
                <a:solidFill>
                  <a:srgbClr val="FF0000"/>
                </a:solidFill>
              </a:rPr>
              <a:t>clic</a:t>
            </a:r>
            <a:r>
              <a:rPr lang="en-US" sz="2000" b="1" dirty="0">
                <a:solidFill>
                  <a:srgbClr val="FF0000"/>
                </a:solidFill>
              </a:rPr>
              <a:t> y </a:t>
            </a:r>
            <a:r>
              <a:rPr lang="en-US" sz="2000" b="1" dirty="0" err="1">
                <a:solidFill>
                  <a:srgbClr val="FF0000"/>
                </a:solidFill>
              </a:rPr>
              <a:t>como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realiza</a:t>
            </a:r>
            <a:r>
              <a:rPr lang="en-US" sz="2000" b="1" dirty="0">
                <a:solidFill>
                  <a:srgbClr val="FF0000"/>
                </a:solidFill>
              </a:rPr>
              <a:t> la </a:t>
            </a:r>
            <a:r>
              <a:rPr lang="en-US" sz="2000" b="1" dirty="0" err="1">
                <a:solidFill>
                  <a:srgbClr val="FF0000"/>
                </a:solidFill>
              </a:rPr>
              <a:t>navegación</a:t>
            </a:r>
            <a:r>
              <a:rPr lang="en-US" sz="2000" b="1" dirty="0">
                <a:solidFill>
                  <a:srgbClr val="FF0000"/>
                </a:solidFill>
              </a:rPr>
              <a:t>. </a:t>
            </a:r>
          </a:p>
          <a:p>
            <a:endParaRPr lang="en-US" sz="2000" dirty="0"/>
          </a:p>
          <a:p>
            <a:r>
              <a:rPr lang="en-US" sz="2000" dirty="0"/>
              <a:t>Con </a:t>
            </a:r>
            <a:r>
              <a:rPr lang="en-US" sz="2000" dirty="0" err="1"/>
              <a:t>esto</a:t>
            </a:r>
            <a:r>
              <a:rPr lang="en-US" sz="2000" dirty="0"/>
              <a:t> se </a:t>
            </a:r>
            <a:r>
              <a:rPr lang="en-US" sz="2000" dirty="0" err="1"/>
              <a:t>puede</a:t>
            </a:r>
            <a:r>
              <a:rPr lang="en-US" sz="2000" dirty="0"/>
              <a:t> </a:t>
            </a:r>
            <a:r>
              <a:rPr lang="en-US" sz="2000" dirty="0" err="1"/>
              <a:t>demostrar</a:t>
            </a:r>
            <a:r>
              <a:rPr lang="en-US" sz="2000" dirty="0"/>
              <a:t> </a:t>
            </a:r>
            <a:r>
              <a:rPr lang="en-US" sz="2000" dirty="0" err="1"/>
              <a:t>si</a:t>
            </a:r>
            <a:r>
              <a:rPr lang="en-US" sz="2000" dirty="0"/>
              <a:t> el </a:t>
            </a:r>
            <a:r>
              <a:rPr lang="en-US" sz="2000" dirty="0" err="1"/>
              <a:t>usuario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a </a:t>
            </a:r>
            <a:r>
              <a:rPr lang="en-US" sz="2000" dirty="0" err="1"/>
              <a:t>finalizar</a:t>
            </a:r>
            <a:r>
              <a:rPr lang="en-US" sz="2000" dirty="0"/>
              <a:t> la </a:t>
            </a:r>
            <a:r>
              <a:rPr lang="en-US" sz="2000" dirty="0" err="1"/>
              <a:t>tarea</a:t>
            </a:r>
            <a:r>
              <a:rPr lang="en-US" sz="2000" dirty="0"/>
              <a:t> con </a:t>
            </a:r>
            <a:r>
              <a:rPr lang="en-US" sz="2000" dirty="0" err="1"/>
              <a:t>éxito</a:t>
            </a:r>
            <a:r>
              <a:rPr lang="en-US" sz="2000" dirty="0"/>
              <a:t> o no.</a:t>
            </a:r>
            <a:endParaRPr lang="en-US" sz="2000" b="1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1927589988"/>
      </p:ext>
    </p:extLst>
  </p:cSld>
  <p:clrMapOvr>
    <a:masterClrMapping/>
  </p:clrMapOvr>
  <p:transition spd="med">
    <p:wip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/>
              <a:t>Tasa de </a:t>
            </a:r>
            <a:r>
              <a:rPr lang="en-US" b="1" dirty="0" err="1"/>
              <a:t>conversión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464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tasa</a:t>
            </a:r>
            <a:r>
              <a:rPr lang="en-US" sz="2000" dirty="0"/>
              <a:t> o ratio de conversion 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y </a:t>
            </a:r>
            <a:r>
              <a:rPr lang="en-US" sz="2000" dirty="0" err="1"/>
              <a:t>satisfacción</a:t>
            </a:r>
            <a:r>
              <a:rPr lang="en-US" sz="2000" dirty="0"/>
              <a:t> del </a:t>
            </a:r>
            <a:r>
              <a:rPr lang="en-US" sz="2000" dirty="0" err="1"/>
              <a:t>usuario</a:t>
            </a:r>
            <a:r>
              <a:rPr lang="en-US" sz="2000" dirty="0"/>
              <a:t> que indica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porcentaje</a:t>
            </a:r>
            <a:r>
              <a:rPr lang="en-US" sz="2000" dirty="0"/>
              <a:t> de las </a:t>
            </a:r>
            <a:r>
              <a:rPr lang="en-US" sz="2000" dirty="0" err="1"/>
              <a:t>visitas</a:t>
            </a:r>
            <a:r>
              <a:rPr lang="en-US" sz="2000" dirty="0"/>
              <a:t> que </a:t>
            </a:r>
            <a:r>
              <a:rPr lang="en-US" sz="2000" dirty="0" err="1"/>
              <a:t>han</a:t>
            </a:r>
            <a:r>
              <a:rPr lang="en-US" sz="2000" dirty="0"/>
              <a:t> </a:t>
            </a:r>
            <a:r>
              <a:rPr lang="en-US" sz="2000" dirty="0" err="1"/>
              <a:t>finalizado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determinada</a:t>
            </a:r>
            <a:r>
              <a:rPr lang="en-US" sz="2000" dirty="0"/>
              <a:t> </a:t>
            </a:r>
            <a:r>
              <a:rPr lang="en-US" sz="2000" dirty="0" err="1"/>
              <a:t>tarea</a:t>
            </a:r>
            <a:r>
              <a:rPr lang="en-US" sz="2000" dirty="0"/>
              <a:t> </a:t>
            </a:r>
            <a:r>
              <a:rPr lang="en-US" sz="2000" dirty="0" err="1"/>
              <a:t>identificada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objetivo</a:t>
            </a:r>
            <a:r>
              <a:rPr lang="en-US" sz="2000" dirty="0"/>
              <a:t>,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por</a:t>
            </a:r>
            <a:r>
              <a:rPr lang="en-US" sz="2000" dirty="0"/>
              <a:t> </a:t>
            </a:r>
            <a:r>
              <a:rPr lang="en-US" sz="2000" dirty="0" err="1"/>
              <a:t>ejemplo</a:t>
            </a:r>
            <a:r>
              <a:rPr lang="en-US" sz="2000" dirty="0"/>
              <a:t>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inscripción</a:t>
            </a:r>
            <a:r>
              <a:rPr lang="en-US" sz="2000" dirty="0"/>
              <a:t>,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compra</a:t>
            </a:r>
            <a:r>
              <a:rPr lang="en-US" sz="2000" dirty="0"/>
              <a:t>, etc. Este </a:t>
            </a:r>
            <a:r>
              <a:rPr lang="en-US" sz="2000" dirty="0" err="1"/>
              <a:t>cálculo</a:t>
            </a:r>
            <a:r>
              <a:rPr lang="en-US" sz="2000" dirty="0"/>
              <a:t> </a:t>
            </a:r>
            <a:r>
              <a:rPr lang="en-US" sz="2000" dirty="0" err="1"/>
              <a:t>refleja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valor commercial del sitio web o software y </a:t>
            </a:r>
            <a:r>
              <a:rPr lang="en-US" sz="2000" dirty="0" err="1"/>
              <a:t>demuestra</a:t>
            </a:r>
            <a:r>
              <a:rPr lang="en-US" sz="2000" dirty="0"/>
              <a:t> que es </a:t>
            </a:r>
            <a:r>
              <a:rPr lang="en-US" sz="2000" dirty="0" err="1"/>
              <a:t>necesario</a:t>
            </a:r>
            <a:r>
              <a:rPr lang="en-US" sz="2000" dirty="0"/>
              <a:t> </a:t>
            </a:r>
            <a:r>
              <a:rPr lang="en-US" sz="2000" dirty="0" err="1"/>
              <a:t>invertir</a:t>
            </a:r>
            <a:r>
              <a:rPr lang="en-US" sz="2000" dirty="0"/>
              <a:t> para </a:t>
            </a:r>
            <a:r>
              <a:rPr lang="en-US" sz="2000" dirty="0" err="1"/>
              <a:t>atraer</a:t>
            </a:r>
            <a:r>
              <a:rPr lang="en-US" sz="2000" dirty="0"/>
              <a:t> clients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CR=(</a:t>
            </a:r>
            <a:r>
              <a:rPr lang="en-US" sz="2000" b="1" dirty="0" err="1">
                <a:solidFill>
                  <a:srgbClr val="FF0000"/>
                </a:solidFill>
              </a:rPr>
              <a:t>Oc</a:t>
            </a:r>
            <a:r>
              <a:rPr lang="en-US" sz="2000" b="1" dirty="0">
                <a:solidFill>
                  <a:srgbClr val="FF0000"/>
                </a:solidFill>
              </a:rPr>
              <a:t>/Tv)*100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CR= Tasa de </a:t>
            </a:r>
            <a:r>
              <a:rPr lang="en-US" sz="2000" b="1" dirty="0" err="1">
                <a:solidFill>
                  <a:srgbClr val="FF0000"/>
                </a:solidFill>
              </a:rPr>
              <a:t>conversión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 err="1">
                <a:solidFill>
                  <a:srgbClr val="FF0000"/>
                </a:solidFill>
              </a:rPr>
              <a:t>Oc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objetivos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conseguidos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Tv=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total de </a:t>
            </a:r>
            <a:r>
              <a:rPr lang="en-US" sz="2000" b="1" dirty="0" err="1">
                <a:solidFill>
                  <a:srgbClr val="FF0000"/>
                </a:solidFill>
              </a:rPr>
              <a:t>visitas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776032046"/>
      </p:ext>
    </p:extLst>
  </p:cSld>
  <p:clrMapOvr>
    <a:masterClrMapping/>
  </p:clrMapOvr>
  <p:transition spd="med">
    <p:wip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/>
              <a:t>Tasa de </a:t>
            </a:r>
            <a:r>
              <a:rPr lang="en-US" b="1" dirty="0" err="1"/>
              <a:t>rebote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494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La </a:t>
            </a:r>
            <a:r>
              <a:rPr lang="en-US" sz="2000" dirty="0" err="1"/>
              <a:t>tasa</a:t>
            </a:r>
            <a:r>
              <a:rPr lang="en-US" sz="2000" dirty="0"/>
              <a:t> de </a:t>
            </a:r>
            <a:r>
              <a:rPr lang="en-US" sz="2000" dirty="0" err="1"/>
              <a:t>rebote</a:t>
            </a:r>
            <a:r>
              <a:rPr lang="en-US" sz="2000" dirty="0"/>
              <a:t> 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de </a:t>
            </a:r>
            <a:r>
              <a:rPr lang="en-US" sz="2000" dirty="0" err="1"/>
              <a:t>efectividad</a:t>
            </a:r>
            <a:r>
              <a:rPr lang="en-US" sz="2000" dirty="0"/>
              <a:t> y </a:t>
            </a:r>
            <a:r>
              <a:rPr lang="en-US" sz="2000" dirty="0" err="1"/>
              <a:t>satisfacción</a:t>
            </a:r>
            <a:r>
              <a:rPr lang="en-US" sz="2000" dirty="0"/>
              <a:t> del </a:t>
            </a:r>
            <a:r>
              <a:rPr lang="en-US" sz="2000" dirty="0" err="1"/>
              <a:t>porcentaje</a:t>
            </a:r>
            <a:r>
              <a:rPr lang="en-US" sz="2000" dirty="0"/>
              <a:t> de </a:t>
            </a:r>
            <a:r>
              <a:rPr lang="en-US" sz="2000" dirty="0" err="1"/>
              <a:t>visitantes</a:t>
            </a:r>
            <a:r>
              <a:rPr lang="en-US" sz="2000" dirty="0"/>
              <a:t> que </a:t>
            </a:r>
            <a:r>
              <a:rPr lang="en-US" sz="2000" dirty="0" err="1"/>
              <a:t>abandona</a:t>
            </a:r>
            <a:r>
              <a:rPr lang="en-US" sz="2000" dirty="0"/>
              <a:t> un software o Sistema o </a:t>
            </a:r>
            <a:r>
              <a:rPr lang="en-US" sz="2000" dirty="0" err="1"/>
              <a:t>también</a:t>
            </a:r>
            <a:r>
              <a:rPr lang="en-US" sz="2000" dirty="0"/>
              <a:t> </a:t>
            </a:r>
            <a:r>
              <a:rPr lang="en-US" sz="2000" dirty="0" err="1"/>
              <a:t>puede</a:t>
            </a:r>
            <a:r>
              <a:rPr lang="en-US" sz="2000" dirty="0"/>
              <a:t> ser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porcentaje</a:t>
            </a:r>
            <a:r>
              <a:rPr lang="en-US" sz="2000" dirty="0"/>
              <a:t> de </a:t>
            </a:r>
            <a:r>
              <a:rPr lang="en-US" sz="2000" dirty="0" err="1"/>
              <a:t>sesiones</a:t>
            </a:r>
            <a:r>
              <a:rPr lang="en-US" sz="2000" dirty="0"/>
              <a:t> que un </a:t>
            </a:r>
            <a:r>
              <a:rPr lang="en-US" sz="2000" dirty="0" err="1"/>
              <a:t>usuario</a:t>
            </a:r>
            <a:r>
              <a:rPr lang="en-US" sz="2000" dirty="0"/>
              <a:t> ha </a:t>
            </a:r>
            <a:r>
              <a:rPr lang="en-US" sz="2000" dirty="0" err="1"/>
              <a:t>abandonado</a:t>
            </a:r>
            <a:r>
              <a:rPr lang="en-US" sz="2000" dirty="0"/>
              <a:t> sin </a:t>
            </a:r>
            <a:r>
              <a:rPr lang="en-US" sz="2000" dirty="0" err="1"/>
              <a:t>interactuar</a:t>
            </a:r>
            <a:r>
              <a:rPr lang="en-US" sz="2000" dirty="0"/>
              <a:t>. Se </a:t>
            </a:r>
            <a:r>
              <a:rPr lang="en-US" sz="2000" dirty="0" err="1"/>
              <a:t>debe</a:t>
            </a:r>
            <a:r>
              <a:rPr lang="en-US" sz="2000" dirty="0"/>
              <a:t> </a:t>
            </a:r>
            <a:r>
              <a:rPr lang="en-US" sz="2000" dirty="0" err="1"/>
              <a:t>tener</a:t>
            </a:r>
            <a:r>
              <a:rPr lang="en-US" sz="2000" dirty="0"/>
              <a:t> en </a:t>
            </a:r>
            <a:r>
              <a:rPr lang="en-US" sz="2000" dirty="0" err="1"/>
              <a:t>cuenta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</a:t>
            </a:r>
            <a:r>
              <a:rPr lang="en-US" sz="2000" dirty="0" err="1"/>
              <a:t>máximo</a:t>
            </a:r>
            <a:r>
              <a:rPr lang="en-US" sz="2000" dirty="0"/>
              <a:t> 30 </a:t>
            </a:r>
            <a:r>
              <a:rPr lang="en-US" sz="2000" dirty="0" err="1"/>
              <a:t>segundos</a:t>
            </a:r>
            <a:r>
              <a:rPr lang="en-US" sz="2000" dirty="0"/>
              <a:t>, </a:t>
            </a:r>
            <a:r>
              <a:rPr lang="en-US" sz="2000" dirty="0" err="1"/>
              <a:t>si</a:t>
            </a:r>
            <a:r>
              <a:rPr lang="en-US" sz="2000" dirty="0"/>
              <a:t> es mayor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tiempo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</a:t>
            </a:r>
            <a:r>
              <a:rPr lang="en-US" sz="2000" dirty="0" err="1"/>
              <a:t>usuario</a:t>
            </a:r>
            <a:r>
              <a:rPr lang="en-US" sz="2000" dirty="0"/>
              <a:t> se </a:t>
            </a:r>
            <a:r>
              <a:rPr lang="en-US" sz="2000" dirty="0" err="1"/>
              <a:t>encuentra</a:t>
            </a:r>
            <a:r>
              <a:rPr lang="en-US" sz="2000" dirty="0"/>
              <a:t> </a:t>
            </a:r>
            <a:r>
              <a:rPr lang="en-US" sz="2000" dirty="0" err="1"/>
              <a:t>interesado</a:t>
            </a:r>
            <a:r>
              <a:rPr lang="en-US" sz="2000" dirty="0"/>
              <a:t>. Los </a:t>
            </a:r>
            <a:r>
              <a:rPr lang="en-US" sz="2000" dirty="0" err="1"/>
              <a:t>factores</a:t>
            </a:r>
            <a:r>
              <a:rPr lang="en-US" sz="2000" dirty="0"/>
              <a:t> de </a:t>
            </a:r>
            <a:r>
              <a:rPr lang="en-US" sz="2000" dirty="0" err="1"/>
              <a:t>abando</a:t>
            </a:r>
            <a:r>
              <a:rPr lang="en-US" sz="2000" dirty="0"/>
              <a:t> </a:t>
            </a:r>
            <a:r>
              <a:rPr lang="en-US" sz="2000" dirty="0" err="1"/>
              <a:t>pueden</a:t>
            </a:r>
            <a:r>
              <a:rPr lang="en-US" sz="2000" dirty="0"/>
              <a:t> ser mala </a:t>
            </a:r>
            <a:r>
              <a:rPr lang="en-US" sz="2000" dirty="0" err="1"/>
              <a:t>usabilidad</a:t>
            </a:r>
            <a:r>
              <a:rPr lang="en-US" sz="2000" dirty="0"/>
              <a:t>, </a:t>
            </a:r>
            <a:r>
              <a:rPr lang="en-US" sz="2000" dirty="0" err="1"/>
              <a:t>falta</a:t>
            </a:r>
            <a:r>
              <a:rPr lang="en-US" sz="2000" dirty="0"/>
              <a:t> de </a:t>
            </a:r>
            <a:r>
              <a:rPr lang="en-US" sz="2000" dirty="0" err="1"/>
              <a:t>información</a:t>
            </a:r>
            <a:r>
              <a:rPr lang="en-US" sz="2000" dirty="0"/>
              <a:t> o </a:t>
            </a:r>
            <a:r>
              <a:rPr lang="en-US" sz="2000" dirty="0" err="1"/>
              <a:t>contenidos</a:t>
            </a:r>
            <a:r>
              <a:rPr lang="en-US" sz="2000" dirty="0"/>
              <a:t>.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TR=(TU/Tv)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TR= Tasa de </a:t>
            </a:r>
            <a:r>
              <a:rPr lang="en-US" sz="2000" b="1" dirty="0" err="1">
                <a:solidFill>
                  <a:srgbClr val="FF0000"/>
                </a:solidFill>
              </a:rPr>
              <a:t>rebote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 err="1">
                <a:solidFill>
                  <a:srgbClr val="FF0000"/>
                </a:solidFill>
              </a:rPr>
              <a:t>Oc</a:t>
            </a:r>
            <a:r>
              <a:rPr lang="en-US" sz="2000" b="1" dirty="0">
                <a:solidFill>
                  <a:srgbClr val="FF0000"/>
                </a:solidFill>
              </a:rPr>
              <a:t>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total de </a:t>
            </a:r>
            <a:r>
              <a:rPr lang="en-US" sz="2000" b="1" dirty="0" err="1">
                <a:solidFill>
                  <a:srgbClr val="FF0000"/>
                </a:solidFill>
              </a:rPr>
              <a:t>visitas</a:t>
            </a:r>
            <a:r>
              <a:rPr lang="en-US" sz="2000" b="1" dirty="0">
                <a:solidFill>
                  <a:srgbClr val="FF0000"/>
                </a:solidFill>
              </a:rPr>
              <a:t> que </a:t>
            </a:r>
            <a:r>
              <a:rPr lang="en-US" sz="2000" b="1" dirty="0" err="1">
                <a:solidFill>
                  <a:srgbClr val="FF0000"/>
                </a:solidFill>
              </a:rPr>
              <a:t>acceden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una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vez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Tv=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total de </a:t>
            </a:r>
            <a:r>
              <a:rPr lang="en-US" sz="2000" b="1" dirty="0" err="1">
                <a:solidFill>
                  <a:srgbClr val="FF0000"/>
                </a:solidFill>
              </a:rPr>
              <a:t>visitas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2717115655"/>
      </p:ext>
    </p:extLst>
  </p:cSld>
  <p:clrMapOvr>
    <a:masterClrMapping/>
  </p:clrMapOvr>
  <p:transition spd="med">
    <p:wip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/>
          <a:lstStyle/>
          <a:p>
            <a:r>
              <a:rPr lang="en-US" b="1" dirty="0"/>
              <a:t>Ticket medio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371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en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comercios</a:t>
            </a:r>
            <a:r>
              <a:rPr lang="en-US" sz="2000" dirty="0"/>
              <a:t> </a:t>
            </a:r>
            <a:r>
              <a:rPr lang="en-US" sz="2000" dirty="0" err="1"/>
              <a:t>electrónicos</a:t>
            </a:r>
            <a:r>
              <a:rPr lang="en-US" sz="2000" dirty="0"/>
              <a:t> para </a:t>
            </a:r>
            <a:r>
              <a:rPr lang="en-US" sz="2000" dirty="0" err="1"/>
              <a:t>calcular</a:t>
            </a:r>
            <a:r>
              <a:rPr lang="en-US" sz="2000" dirty="0"/>
              <a:t> lo que </a:t>
            </a:r>
            <a:r>
              <a:rPr lang="en-US" sz="2000" dirty="0" err="1"/>
              <a:t>gastan</a:t>
            </a:r>
            <a:r>
              <a:rPr lang="en-US" sz="2000" dirty="0"/>
              <a:t> </a:t>
            </a:r>
            <a:r>
              <a:rPr lang="en-US" sz="2000" dirty="0" err="1"/>
              <a:t>los</a:t>
            </a:r>
            <a:r>
              <a:rPr lang="en-US" sz="2000" dirty="0"/>
              <a:t> </a:t>
            </a:r>
            <a:r>
              <a:rPr lang="en-US" sz="2000" dirty="0" err="1"/>
              <a:t>usuarios</a:t>
            </a:r>
            <a:r>
              <a:rPr lang="en-US" sz="2000" dirty="0"/>
              <a:t> de media</a:t>
            </a:r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TM=IT/NP</a:t>
            </a: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>
                <a:solidFill>
                  <a:srgbClr val="FF0000"/>
                </a:solidFill>
              </a:rPr>
              <a:t>TM= Ticket medio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IT= </a:t>
            </a:r>
            <a:r>
              <a:rPr lang="en-US" sz="2000" b="1" dirty="0" err="1">
                <a:solidFill>
                  <a:srgbClr val="FF0000"/>
                </a:solidFill>
              </a:rPr>
              <a:t>Ingresos</a:t>
            </a:r>
            <a:r>
              <a:rPr lang="en-US" sz="2000" b="1" dirty="0">
                <a:solidFill>
                  <a:srgbClr val="FF0000"/>
                </a:solidFill>
              </a:rPr>
              <a:t> totals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NP= </a:t>
            </a:r>
            <a:r>
              <a:rPr lang="en-US" sz="2000" b="1" dirty="0" err="1">
                <a:solidFill>
                  <a:srgbClr val="FF0000"/>
                </a:solidFill>
              </a:rPr>
              <a:t>Número</a:t>
            </a:r>
            <a:r>
              <a:rPr lang="en-US" sz="2000" b="1" dirty="0">
                <a:solidFill>
                  <a:srgbClr val="FF0000"/>
                </a:solidFill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</a:rPr>
              <a:t>pedidos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4181893146"/>
      </p:ext>
    </p:extLst>
  </p:cSld>
  <p:clrMapOvr>
    <a:masterClrMapping/>
  </p:clrMapOvr>
  <p:transition spd="med">
    <p:wip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494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Mantenibilidad</a:t>
            </a:r>
          </a:p>
          <a:p>
            <a:r>
              <a:rPr lang="es-CO" sz="2000" b="1" dirty="0"/>
              <a:t>Complejidad ciclomática (McCabe)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V(G)=E−N+2P </a:t>
            </a:r>
          </a:p>
          <a:p>
            <a:endParaRPr lang="es-CO" sz="2000" b="1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FF0000"/>
                </a:solidFill>
              </a:rPr>
              <a:t>E: Número de aristas (líneas de flujo) en el grafo del flujo de control.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FF0000"/>
                </a:solidFill>
              </a:rPr>
              <a:t>N: Número de nodos (bloques de código o decisiones).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O" sz="2000" b="1" dirty="0">
                <a:solidFill>
                  <a:srgbClr val="FF0000"/>
                </a:solidFill>
              </a:rPr>
              <a:t>P: Número de componentes conectados (normalmente 1 en programas simples).</a:t>
            </a:r>
          </a:p>
          <a:p>
            <a:endParaRPr lang="en-US" sz="2520" b="1" dirty="0"/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381643460"/>
      </p:ext>
    </p:extLst>
  </p:cSld>
  <p:clrMapOvr>
    <a:masterClrMapping/>
  </p:clrMapOvr>
  <p:transition spd="med">
    <p:wip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3576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Mantenibilidad</a:t>
            </a:r>
          </a:p>
          <a:p>
            <a:r>
              <a:rPr lang="es-CO" sz="2000" b="1" dirty="0"/>
              <a:t>Duplicación del código</a:t>
            </a:r>
          </a:p>
          <a:p>
            <a:endParaRPr lang="es-CO" sz="2000" b="1" dirty="0"/>
          </a:p>
          <a:p>
            <a:r>
              <a:rPr lang="es-CO" sz="2800" b="1" dirty="0">
                <a:solidFill>
                  <a:srgbClr val="FF0000"/>
                </a:solidFill>
              </a:rPr>
              <a:t>Duplicación(%)=(Total de líneas de código duplicadas / Total de Líneas Código​)×100</a:t>
            </a:r>
            <a:endParaRPr lang="en-US" sz="2520" b="1" dirty="0">
              <a:solidFill>
                <a:srgbClr val="FF0000"/>
              </a:solidFill>
            </a:endParaRPr>
          </a:p>
          <a:p>
            <a:endParaRPr lang="en-US" sz="2520" b="1" dirty="0"/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929413212"/>
      </p:ext>
    </p:extLst>
  </p:cSld>
  <p:clrMapOvr>
    <a:masterClrMapping/>
  </p:clrMapOvr>
  <p:transition spd="med">
    <p:wip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318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Mantenibilidad</a:t>
            </a:r>
          </a:p>
          <a:p>
            <a:r>
              <a:rPr lang="es-CO" sz="2000" b="1" dirty="0"/>
              <a:t>Número de líneas de código (</a:t>
            </a:r>
            <a:r>
              <a:rPr lang="es-CO" sz="2000" b="1" dirty="0" err="1"/>
              <a:t>LoC</a:t>
            </a:r>
            <a:r>
              <a:rPr lang="es-CO" sz="2000" b="1" dirty="0"/>
              <a:t>)</a:t>
            </a:r>
          </a:p>
          <a:p>
            <a:endParaRPr lang="es-CO" sz="2000" b="1" dirty="0"/>
          </a:p>
          <a:p>
            <a:r>
              <a:rPr lang="es-CO" sz="2800" b="1" dirty="0">
                <a:solidFill>
                  <a:srgbClr val="FF0000"/>
                </a:solidFill>
              </a:rPr>
              <a:t>Se cuenta el número total de líneas de código en el sistema.</a:t>
            </a:r>
            <a:endParaRPr lang="en-US" sz="2520" b="1" dirty="0">
              <a:solidFill>
                <a:srgbClr val="FF0000"/>
              </a:solidFill>
            </a:endParaRPr>
          </a:p>
          <a:p>
            <a:endParaRPr lang="en-US" sz="2520" b="1" dirty="0"/>
          </a:p>
        </p:txBody>
      </p:sp>
    </p:spTree>
    <p:extLst>
      <p:ext uri="{BB962C8B-B14F-4D97-AF65-F5344CB8AC3E}">
        <p14:creationId xmlns:p14="http://schemas.microsoft.com/office/powerpoint/2010/main" val="35928766"/>
      </p:ext>
    </p:extLst>
  </p:cSld>
  <p:clrMapOvr>
    <a:masterClrMapping/>
  </p:clrMapOvr>
  <p:transition spd="med">
    <p:wip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Mantenibilidad</a:t>
            </a:r>
          </a:p>
          <a:p>
            <a:r>
              <a:rPr lang="es-CO" sz="2000" b="1" dirty="0"/>
              <a:t>Acoplamiento entre módulos (CBO)</a:t>
            </a:r>
          </a:p>
          <a:p>
            <a:endParaRPr lang="es-CO" sz="2000" b="1" dirty="0"/>
          </a:p>
          <a:p>
            <a:r>
              <a:rPr lang="es-CO" sz="2800" b="1" dirty="0">
                <a:solidFill>
                  <a:srgbClr val="FF0000"/>
                </a:solidFill>
              </a:rPr>
              <a:t>CBO=∑dependencias entre clases o módulos</a:t>
            </a:r>
          </a:p>
          <a:p>
            <a:endParaRPr lang="es-CO" sz="2800" b="1" dirty="0">
              <a:solidFill>
                <a:srgbClr val="FF0000"/>
              </a:solidFill>
            </a:endParaRPr>
          </a:p>
          <a:p>
            <a:r>
              <a:rPr lang="es-CO" sz="2400" b="1" dirty="0">
                <a:solidFill>
                  <a:srgbClr val="FF0000"/>
                </a:solidFill>
              </a:rPr>
              <a:t>Cuanto más alto, peor es la mantenibilidad.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774265"/>
      </p:ext>
    </p:extLst>
  </p:cSld>
  <p:clrMapOvr>
    <a:masterClrMapping/>
  </p:clrMapOvr>
  <p:transition spd="med">
    <p:wip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Mantenibilidad</a:t>
            </a:r>
          </a:p>
          <a:p>
            <a:r>
              <a:rPr lang="es-CO" sz="2000" b="1" dirty="0"/>
              <a:t>Profundidad del árbol de herencia (DIT)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DIT=Número de niveles en la jerarquía de herencia desde la raíz hasta la clase dada</a:t>
            </a:r>
            <a:endParaRPr lang="en-US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510424"/>
      </p:ext>
    </p:extLst>
  </p:cSld>
  <p:clrMapOvr>
    <a:masterClrMapping/>
  </p:clrMapOvr>
  <p:transition spd="med">
    <p:wip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Fiabilidad</a:t>
            </a:r>
          </a:p>
          <a:p>
            <a:r>
              <a:rPr lang="es-CO" sz="2000" dirty="0"/>
              <a:t>Cobertura de pruebas (Test </a:t>
            </a:r>
            <a:r>
              <a:rPr lang="es-CO" sz="2000" dirty="0" err="1"/>
              <a:t>Coverage</a:t>
            </a:r>
            <a:r>
              <a:rPr lang="es-CO" sz="2000" dirty="0"/>
              <a:t>)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Cobertura(%)=(Total de líneas de código ejecutadas por pruebas​ / Total de Líneas de Código)×100</a:t>
            </a:r>
          </a:p>
        </p:txBody>
      </p:sp>
    </p:spTree>
    <p:extLst>
      <p:ext uri="{BB962C8B-B14F-4D97-AF65-F5344CB8AC3E}">
        <p14:creationId xmlns:p14="http://schemas.microsoft.com/office/powerpoint/2010/main" val="2085481821"/>
      </p:ext>
    </p:extLst>
  </p:cSld>
  <p:clrMapOvr>
    <a:masterClrMapping/>
  </p:clrMapOvr>
  <p:transition spd="med">
    <p:wip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294725" y="1324452"/>
            <a:ext cx="855455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Fiabilidad</a:t>
            </a:r>
          </a:p>
          <a:p>
            <a:r>
              <a:rPr lang="es-CO" sz="2000" dirty="0"/>
              <a:t>Densidad de fallos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Densidad de fallos=Número de defectos encontrados​/ Total de líneas de código (</a:t>
            </a:r>
            <a:r>
              <a:rPr lang="es-CO" sz="2000" b="1" dirty="0" err="1">
                <a:solidFill>
                  <a:srgbClr val="FF0000"/>
                </a:solidFill>
              </a:rPr>
              <a:t>KLoC</a:t>
            </a:r>
            <a:r>
              <a:rPr lang="es-CO" sz="2000" b="1" dirty="0">
                <a:solidFill>
                  <a:srgbClr val="FF0000"/>
                </a:solidFill>
              </a:rPr>
              <a:t>)</a:t>
            </a:r>
          </a:p>
          <a:p>
            <a:endParaRPr lang="es-CO" sz="2000" b="1" dirty="0">
              <a:solidFill>
                <a:srgbClr val="FF0000"/>
              </a:solidFill>
            </a:endParaRPr>
          </a:p>
          <a:p>
            <a:r>
              <a:rPr lang="es-CO" sz="2000" b="1" dirty="0">
                <a:solidFill>
                  <a:srgbClr val="FF0000"/>
                </a:solidFill>
              </a:rPr>
              <a:t>Nota: Expresado en defectos por cada 1000 líneas de código.</a:t>
            </a:r>
          </a:p>
        </p:txBody>
      </p:sp>
    </p:spTree>
    <p:extLst>
      <p:ext uri="{BB962C8B-B14F-4D97-AF65-F5344CB8AC3E}">
        <p14:creationId xmlns:p14="http://schemas.microsoft.com/office/powerpoint/2010/main" val="508163826"/>
      </p:ext>
    </p:extLst>
  </p:cSld>
  <p:clrMapOvr>
    <a:masterClrMapping/>
  </p:clrMapOvr>
  <p:transition spd="med">
    <p:wip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Eficiencia de Desempeño</a:t>
            </a:r>
          </a:p>
          <a:p>
            <a:r>
              <a:rPr lang="es-CO" sz="2000" dirty="0"/>
              <a:t>Uso de CPU y Memoria</a:t>
            </a:r>
          </a:p>
          <a:p>
            <a:endParaRPr lang="es-CO" sz="2000" b="1" dirty="0"/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Uso de CPU= (Tiempo de CPU consumido por el proceso / Tiempo total de ejecución )​×100</a:t>
            </a:r>
          </a:p>
          <a:p>
            <a:endParaRPr lang="es-CO" sz="2000" b="1" dirty="0">
              <a:solidFill>
                <a:srgbClr val="FF0000"/>
              </a:solidFill>
            </a:endParaRPr>
          </a:p>
          <a:p>
            <a:r>
              <a:rPr lang="es-CO" sz="2000" b="1" dirty="0">
                <a:solidFill>
                  <a:srgbClr val="FF0000"/>
                </a:solidFill>
              </a:rPr>
              <a:t>Uso de Memoria= (Memoria usada por el proceso/Memoria total disponible) ​×100</a:t>
            </a:r>
          </a:p>
        </p:txBody>
      </p:sp>
    </p:spTree>
    <p:extLst>
      <p:ext uri="{BB962C8B-B14F-4D97-AF65-F5344CB8AC3E}">
        <p14:creationId xmlns:p14="http://schemas.microsoft.com/office/powerpoint/2010/main" val="2450616541"/>
      </p:ext>
    </p:extLst>
  </p:cSld>
  <p:clrMapOvr>
    <a:masterClrMapping/>
  </p:clrMapOvr>
  <p:transition spd="med">
    <p:wip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Eficiencia de Desempeño</a:t>
            </a:r>
          </a:p>
          <a:p>
            <a:r>
              <a:rPr lang="es-CO" sz="2000" dirty="0"/>
              <a:t>Tiempo de respuesta</a:t>
            </a:r>
          </a:p>
          <a:p>
            <a:endParaRPr lang="es-CO" sz="2000" b="1" dirty="0"/>
          </a:p>
          <a:p>
            <a:endParaRPr lang="es-CO" sz="2000" b="1" dirty="0">
              <a:solidFill>
                <a:srgbClr val="FF0000"/>
              </a:solidFill>
            </a:endParaRPr>
          </a:p>
          <a:p>
            <a:r>
              <a:rPr lang="es-CO" sz="2000" b="1" dirty="0">
                <a:solidFill>
                  <a:srgbClr val="FF0000"/>
                </a:solidFill>
              </a:rPr>
              <a:t>Tiempo de respuesta = Tiempo de finalización − Tiempo de inicio</a:t>
            </a:r>
          </a:p>
        </p:txBody>
      </p:sp>
    </p:spTree>
    <p:extLst>
      <p:ext uri="{BB962C8B-B14F-4D97-AF65-F5344CB8AC3E}">
        <p14:creationId xmlns:p14="http://schemas.microsoft.com/office/powerpoint/2010/main" val="290829565"/>
      </p:ext>
    </p:extLst>
  </p:cSld>
  <p:clrMapOvr>
    <a:masterClrMapping/>
  </p:clrMapOvr>
  <p:transition spd="med">
    <p:wip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Seguridad</a:t>
            </a:r>
          </a:p>
          <a:p>
            <a:r>
              <a:rPr lang="es-CO" sz="2000" dirty="0"/>
              <a:t>Puntuación CVSS (</a:t>
            </a:r>
            <a:r>
              <a:rPr lang="es-CO" sz="2000" dirty="0" err="1"/>
              <a:t>Common</a:t>
            </a:r>
            <a:r>
              <a:rPr lang="es-CO" sz="2000" dirty="0"/>
              <a:t> </a:t>
            </a:r>
            <a:r>
              <a:rPr lang="es-CO" sz="2000" dirty="0" err="1"/>
              <a:t>Vulnerability</a:t>
            </a:r>
            <a:r>
              <a:rPr lang="es-CO" sz="2000" dirty="0"/>
              <a:t> </a:t>
            </a:r>
            <a:r>
              <a:rPr lang="es-CO" sz="2000" dirty="0" err="1"/>
              <a:t>Scoring</a:t>
            </a:r>
            <a:r>
              <a:rPr lang="es-CO" sz="2000" dirty="0"/>
              <a:t> System)</a:t>
            </a:r>
            <a:endParaRPr lang="es-CO" sz="2000" b="1" dirty="0"/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CVSS Score=Fórmula ponderada basada en explotación, impacto y alcance</a:t>
            </a:r>
          </a:p>
          <a:p>
            <a:endParaRPr lang="es-CO" sz="2000" b="1" dirty="0"/>
          </a:p>
          <a:p>
            <a:r>
              <a:rPr lang="es-CO" sz="2000" dirty="0"/>
              <a:t>Donde cada parámetro tiene valores asignados en una escala de 0 a 10.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4051926570"/>
      </p:ext>
    </p:extLst>
  </p:cSld>
  <p:clrMapOvr>
    <a:masterClrMapping/>
  </p:clrMapOvr>
  <p:transition spd="med">
    <p:wip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Producto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producto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Seguridad</a:t>
            </a:r>
          </a:p>
          <a:p>
            <a:r>
              <a:rPr lang="es-CO" sz="2000" dirty="0"/>
              <a:t>Vulnerabilidades detectadas</a:t>
            </a:r>
            <a:endParaRPr lang="es-CO" sz="2000" b="1" dirty="0"/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Índice de vulnerabilidad=Número de vulnerabilidades encontradas​ / Total de líneas de código (</a:t>
            </a:r>
            <a:r>
              <a:rPr lang="es-CO" sz="2000" b="1" dirty="0" err="1">
                <a:solidFill>
                  <a:srgbClr val="FF0000"/>
                </a:solidFill>
              </a:rPr>
              <a:t>KLoC</a:t>
            </a:r>
            <a:r>
              <a:rPr lang="es-CO" sz="2000" b="1" dirty="0">
                <a:solidFill>
                  <a:srgbClr val="FF000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1158305"/>
      </p:ext>
    </p:extLst>
  </p:cSld>
  <p:clrMapOvr>
    <a:masterClrMapping/>
  </p:clrMapOvr>
  <p:transition spd="med">
    <p:wip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Proceso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Cumplimiento de estándares</a:t>
            </a:r>
          </a:p>
          <a:p>
            <a:endParaRPr lang="es-CO" sz="2000" b="1" dirty="0"/>
          </a:p>
          <a:p>
            <a:r>
              <a:rPr lang="es-CO" sz="2000" dirty="0"/>
              <a:t>Se evalúa de forma cualitativa en función del nivel de certificación (ISO, CMMI, etc.).</a:t>
            </a:r>
          </a:p>
          <a:p>
            <a:endParaRPr lang="es-CO" sz="2000" dirty="0"/>
          </a:p>
          <a:p>
            <a:r>
              <a:rPr lang="es-CO" sz="2000" b="1" dirty="0">
                <a:solidFill>
                  <a:srgbClr val="FF0000"/>
                </a:solidFill>
              </a:rPr>
              <a:t>Generalmente por medio de un </a:t>
            </a:r>
            <a:r>
              <a:rPr lang="es-CO" sz="2000" b="1" dirty="0" err="1">
                <a:solidFill>
                  <a:srgbClr val="FF0000"/>
                </a:solidFill>
              </a:rPr>
              <a:t>Checklist</a:t>
            </a:r>
            <a:r>
              <a:rPr lang="es-CO" sz="2000" b="1" dirty="0">
                <a:solidFill>
                  <a:srgbClr val="FF0000"/>
                </a:solidFill>
              </a:rPr>
              <a:t> o </a:t>
            </a:r>
            <a:r>
              <a:rPr lang="es-CO" sz="2000" b="1" dirty="0" err="1">
                <a:solidFill>
                  <a:srgbClr val="FF0000"/>
                </a:solidFill>
              </a:rPr>
              <a:t>Assesment</a:t>
            </a:r>
            <a:endParaRPr lang="es-CO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3820652"/>
      </p:ext>
    </p:extLst>
  </p:cSld>
  <p:clrMapOvr>
    <a:masterClrMapping/>
  </p:clrMapOvr>
  <p:transition spd="med">
    <p:wip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Proceso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Tiempo de desarrollo por funcionalidad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Tiempo de desarrollo=∑(Horas dedicadas por el equipo en cada funcionalidad)</a:t>
            </a:r>
          </a:p>
        </p:txBody>
      </p:sp>
    </p:spTree>
    <p:extLst>
      <p:ext uri="{BB962C8B-B14F-4D97-AF65-F5344CB8AC3E}">
        <p14:creationId xmlns:p14="http://schemas.microsoft.com/office/powerpoint/2010/main" val="4094446625"/>
      </p:ext>
    </p:extLst>
  </p:cSld>
  <p:clrMapOvr>
    <a:masterClrMapping/>
  </p:clrMapOvr>
  <p:transition spd="med">
    <p:wip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Proceso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Velocidad de entrega (Lead Time)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Lead Time = Tiempo desde el inicio del desarrollo hasta la entrega en producción</a:t>
            </a:r>
          </a:p>
        </p:txBody>
      </p:sp>
    </p:spTree>
    <p:extLst>
      <p:ext uri="{BB962C8B-B14F-4D97-AF65-F5344CB8AC3E}">
        <p14:creationId xmlns:p14="http://schemas.microsoft.com/office/powerpoint/2010/main" val="2325115593"/>
      </p:ext>
    </p:extLst>
  </p:cSld>
  <p:clrMapOvr>
    <a:masterClrMapping/>
  </p:clrMapOvr>
  <p:transition spd="med">
    <p:wip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</a:t>
            </a:r>
            <a:r>
              <a:rPr lang="en-US" b="1" dirty="0" err="1"/>
              <a:t>Proceso</a:t>
            </a:r>
            <a:endParaRPr lang="en-US" b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Tasa de defectos post-producción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Tasa de defectos = Número de defectos en producción / Número total de funcionalidades ​</a:t>
            </a:r>
          </a:p>
        </p:txBody>
      </p:sp>
    </p:spTree>
    <p:extLst>
      <p:ext uri="{BB962C8B-B14F-4D97-AF65-F5344CB8AC3E}">
        <p14:creationId xmlns:p14="http://schemas.microsoft.com/office/powerpoint/2010/main" val="834198109"/>
      </p:ext>
    </p:extLst>
  </p:cSld>
  <p:clrMapOvr>
    <a:masterClrMapping/>
  </p:clrMapOvr>
  <p:transition spd="med">
    <p:wip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Código Fuente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Code </a:t>
            </a:r>
            <a:r>
              <a:rPr lang="es-CO" sz="2000" b="1" dirty="0" err="1"/>
              <a:t>Smells</a:t>
            </a:r>
            <a:endParaRPr lang="es-CO" sz="2000" b="1" dirty="0"/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Número de Code </a:t>
            </a:r>
            <a:r>
              <a:rPr lang="es-CO" sz="2000" b="1" dirty="0" err="1">
                <a:solidFill>
                  <a:srgbClr val="FF0000"/>
                </a:solidFill>
              </a:rPr>
              <a:t>Smells</a:t>
            </a:r>
            <a:r>
              <a:rPr lang="es-CO" sz="2000" b="1" dirty="0">
                <a:solidFill>
                  <a:srgbClr val="FF0000"/>
                </a:solidFill>
              </a:rPr>
              <a:t> = ∑Malas prácticas detectadas</a:t>
            </a:r>
          </a:p>
        </p:txBody>
      </p:sp>
    </p:spTree>
    <p:extLst>
      <p:ext uri="{BB962C8B-B14F-4D97-AF65-F5344CB8AC3E}">
        <p14:creationId xmlns:p14="http://schemas.microsoft.com/office/powerpoint/2010/main" val="1811239489"/>
      </p:ext>
    </p:extLst>
  </p:cSld>
  <p:clrMapOvr>
    <a:masterClrMapping/>
  </p:clrMapOvr>
  <p:transition spd="med">
    <p:wip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Código Fuente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 err="1"/>
              <a:t>Technical</a:t>
            </a:r>
            <a:r>
              <a:rPr lang="es-CO" sz="2000" b="1" dirty="0"/>
              <a:t> </a:t>
            </a:r>
            <a:r>
              <a:rPr lang="es-CO" sz="2000" b="1" dirty="0" err="1"/>
              <a:t>Debt</a:t>
            </a:r>
            <a:r>
              <a:rPr lang="es-CO" sz="2000" b="1" dirty="0"/>
              <a:t> Ratio</a:t>
            </a:r>
          </a:p>
          <a:p>
            <a:endParaRPr lang="es-CO" sz="2000" b="1" dirty="0"/>
          </a:p>
          <a:p>
            <a:r>
              <a:rPr lang="es-CO" sz="2000" b="1" dirty="0" err="1">
                <a:solidFill>
                  <a:srgbClr val="FF0000"/>
                </a:solidFill>
              </a:rPr>
              <a:t>Technical</a:t>
            </a:r>
            <a:r>
              <a:rPr lang="es-CO" sz="2000" b="1" dirty="0">
                <a:solidFill>
                  <a:srgbClr val="FF0000"/>
                </a:solidFill>
              </a:rPr>
              <a:t> </a:t>
            </a:r>
            <a:r>
              <a:rPr lang="es-CO" sz="2000" b="1" dirty="0" err="1">
                <a:solidFill>
                  <a:srgbClr val="FF0000"/>
                </a:solidFill>
              </a:rPr>
              <a:t>Debt</a:t>
            </a:r>
            <a:r>
              <a:rPr lang="es-CO" sz="2000" b="1" dirty="0">
                <a:solidFill>
                  <a:srgbClr val="FF0000"/>
                </a:solidFill>
              </a:rPr>
              <a:t> Ratio =(Tiempo estimado para corregir problemas​ / Tiempo de desarrollo real) ×100</a:t>
            </a:r>
          </a:p>
        </p:txBody>
      </p:sp>
    </p:spTree>
    <p:extLst>
      <p:ext uri="{BB962C8B-B14F-4D97-AF65-F5344CB8AC3E}">
        <p14:creationId xmlns:p14="http://schemas.microsoft.com/office/powerpoint/2010/main" val="3511847016"/>
      </p:ext>
    </p:extLst>
  </p:cSld>
  <p:clrMapOvr>
    <a:masterClrMapping/>
  </p:clrMapOvr>
  <p:transition spd="med">
    <p:wip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A32182-975A-DFD0-9E41-2CC291F5B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46" y="0"/>
            <a:ext cx="7886700" cy="1324452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Métricas</a:t>
            </a:r>
            <a:r>
              <a:rPr lang="en-US" b="1" dirty="0"/>
              <a:t> de Calidad del Código Fuente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E0F052-5BEB-DC53-3852-3F2AE88B1249}"/>
              </a:ext>
            </a:extLst>
          </p:cNvPr>
          <p:cNvSpPr txBox="1"/>
          <p:nvPr/>
        </p:nvSpPr>
        <p:spPr>
          <a:xfrm>
            <a:off x="107505" y="1324452"/>
            <a:ext cx="854734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métrica</a:t>
            </a:r>
            <a:r>
              <a:rPr lang="en-US" sz="2000" dirty="0"/>
              <a:t> </a:t>
            </a:r>
            <a:r>
              <a:rPr lang="en-US" sz="2000" dirty="0" err="1"/>
              <a:t>utilizada</a:t>
            </a:r>
            <a:r>
              <a:rPr lang="en-US" sz="2000" dirty="0"/>
              <a:t> para </a:t>
            </a:r>
            <a:r>
              <a:rPr lang="en-US" sz="2000" dirty="0" err="1"/>
              <a:t>medir</a:t>
            </a:r>
            <a:r>
              <a:rPr lang="en-US" sz="2000" dirty="0"/>
              <a:t> la </a:t>
            </a:r>
            <a:r>
              <a:rPr lang="en-US" sz="2000" dirty="0" err="1"/>
              <a:t>calidad</a:t>
            </a:r>
            <a:r>
              <a:rPr lang="en-US" sz="2000" dirty="0"/>
              <a:t> del </a:t>
            </a:r>
            <a:r>
              <a:rPr lang="en-US" sz="2000" dirty="0" err="1"/>
              <a:t>proceo</a:t>
            </a:r>
            <a:r>
              <a:rPr lang="en-US" sz="2000" dirty="0"/>
              <a:t> de </a:t>
            </a:r>
            <a:r>
              <a:rPr lang="en-US" sz="2000" dirty="0" err="1"/>
              <a:t>acuerdo</a:t>
            </a:r>
            <a:r>
              <a:rPr lang="en-US" sz="2000" dirty="0"/>
              <a:t> a la </a:t>
            </a:r>
            <a:r>
              <a:rPr lang="en-US" sz="2000" dirty="0" err="1"/>
              <a:t>norma</a:t>
            </a:r>
            <a:r>
              <a:rPr lang="en-US" sz="2000" dirty="0"/>
              <a:t> </a:t>
            </a:r>
            <a:r>
              <a:rPr lang="es-CO" sz="2000" dirty="0"/>
              <a:t>ISO/IEC 25010</a:t>
            </a:r>
            <a:r>
              <a:rPr lang="en-US" sz="2000" dirty="0"/>
              <a:t> </a:t>
            </a:r>
          </a:p>
          <a:p>
            <a:endParaRPr lang="en-US" sz="2000" b="1" dirty="0"/>
          </a:p>
          <a:p>
            <a:r>
              <a:rPr lang="es-CO" sz="2000" b="1" dirty="0"/>
              <a:t>Violaciones de reglas de codificación</a:t>
            </a:r>
          </a:p>
          <a:p>
            <a:endParaRPr lang="es-CO" sz="2000" b="1" dirty="0"/>
          </a:p>
          <a:p>
            <a:r>
              <a:rPr lang="es-CO" sz="2000" b="1" dirty="0">
                <a:solidFill>
                  <a:srgbClr val="FF0000"/>
                </a:solidFill>
              </a:rPr>
              <a:t>Índice de violaciones=(Número de violaciones detectadas/ Total de líneas de código (</a:t>
            </a:r>
            <a:r>
              <a:rPr lang="es-CO" sz="2000" b="1" dirty="0" err="1">
                <a:solidFill>
                  <a:srgbClr val="FF0000"/>
                </a:solidFill>
              </a:rPr>
              <a:t>KLoC</a:t>
            </a:r>
            <a:r>
              <a:rPr lang="es-CO" sz="2000" b="1" dirty="0">
                <a:solidFill>
                  <a:srgbClr val="FF0000"/>
                </a:solidFill>
              </a:rPr>
              <a:t>) )​</a:t>
            </a:r>
          </a:p>
        </p:txBody>
      </p:sp>
    </p:spTree>
    <p:extLst>
      <p:ext uri="{BB962C8B-B14F-4D97-AF65-F5344CB8AC3E}">
        <p14:creationId xmlns:p14="http://schemas.microsoft.com/office/powerpoint/2010/main" val="260287504"/>
      </p:ext>
    </p:extLst>
  </p:cSld>
  <p:clrMapOvr>
    <a:masterClrMapping/>
  </p:clrMapOvr>
  <p:transition spd="med">
    <p:wip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Imagen 1">
            <a:extLst>
              <a:ext uri="{FF2B5EF4-FFF2-40B4-BE49-F238E27FC236}">
                <a16:creationId xmlns:a16="http://schemas.microsoft.com/office/drawing/2014/main" id="{BD7134BB-9EBA-8F4C-93D1-E0627BD66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66775"/>
            <a:ext cx="9144000" cy="51113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6519</TotalTime>
  <Words>3785</Words>
  <Application>Microsoft Macintosh PowerPoint</Application>
  <PresentationFormat>Presentación en pantalla (4:3)</PresentationFormat>
  <Paragraphs>435</Paragraphs>
  <Slides>54</Slides>
  <Notes>54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54</vt:i4>
      </vt:variant>
    </vt:vector>
  </HeadingPairs>
  <TitlesOfParts>
    <vt:vector size="60" baseType="lpstr">
      <vt:lpstr>Arial</vt:lpstr>
      <vt:lpstr>Calibri</vt:lpstr>
      <vt:lpstr>Cambria Math</vt:lpstr>
      <vt:lpstr>Gill Sans</vt:lpstr>
      <vt:lpstr>Lucida Grande</vt:lpstr>
      <vt:lpstr>Tema de Office</vt:lpstr>
      <vt:lpstr>Presentación de PowerPoint</vt:lpstr>
      <vt:lpstr>Indicadores y Métricas</vt:lpstr>
      <vt:lpstr>Indicadores y Métricas</vt:lpstr>
      <vt:lpstr>Indicadores y Métricas</vt:lpstr>
      <vt:lpstr>Indicadores y Métricas</vt:lpstr>
      <vt:lpstr>Métricas Cuantitativas</vt:lpstr>
      <vt:lpstr>Eficacia de la eliminación de defectos</vt:lpstr>
      <vt:lpstr>Disponibilidad de la interfaz o sistema</vt:lpstr>
      <vt:lpstr>Disponibilidad de la interfaz o sistema</vt:lpstr>
      <vt:lpstr>Número de errores</vt:lpstr>
      <vt:lpstr>Número de errores</vt:lpstr>
      <vt:lpstr>Número de errores por unidad de tiempo</vt:lpstr>
      <vt:lpstr>Número de tareas que pueden realizarse</vt:lpstr>
      <vt:lpstr>Porcentaje de enlaces rotos</vt:lpstr>
      <vt:lpstr>Porcentaje de presencia de propiedades en los objetos o elementos</vt:lpstr>
      <vt:lpstr>Porcentaje de tareas finalizadas con éxito</vt:lpstr>
      <vt:lpstr>Porcentaje de tareas finalizadas con éxito al primer intento</vt:lpstr>
      <vt:lpstr>Porcentaje de usuarios capaces de finalizar las tareas clave sin ayuda</vt:lpstr>
      <vt:lpstr>Tiempo de permanencia</vt:lpstr>
      <vt:lpstr>Tiempo de finalización de una tarea</vt:lpstr>
      <vt:lpstr>Tiempo de finalización de una tarea</vt:lpstr>
      <vt:lpstr>Tiempo de latencia</vt:lpstr>
      <vt:lpstr>Tiempo de latencia</vt:lpstr>
      <vt:lpstr>Métricas cualitativas</vt:lpstr>
      <vt:lpstr>Dificultad de la tarea</vt:lpstr>
      <vt:lpstr>Expectativas</vt:lpstr>
      <vt:lpstr>Facilidad de mantenimiento</vt:lpstr>
      <vt:lpstr>Nivel de satisfacción de la prueba</vt:lpstr>
      <vt:lpstr>Tiempo de reacción del usuario</vt:lpstr>
      <vt:lpstr>Otras métricas</vt:lpstr>
      <vt:lpstr>Click Through Rate (CTR)</vt:lpstr>
      <vt:lpstr>Páginas vistas / clics</vt:lpstr>
      <vt:lpstr>Tasa de conversión</vt:lpstr>
      <vt:lpstr>Tasa de rebote</vt:lpstr>
      <vt:lpstr>Ticket medio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Producto</vt:lpstr>
      <vt:lpstr>Métricas de Calidad del Proceso</vt:lpstr>
      <vt:lpstr>Métricas de Calidad del Proceso</vt:lpstr>
      <vt:lpstr>Métricas de Calidad del Proceso</vt:lpstr>
      <vt:lpstr>Métricas de Calidad del Proceso</vt:lpstr>
      <vt:lpstr>Métricas de Calidad del Código Fuente</vt:lpstr>
      <vt:lpstr>Métricas de Calidad del Código Fuente</vt:lpstr>
      <vt:lpstr>Métricas de Calidad del Código Fuente</vt:lpstr>
      <vt:lpstr>Presentación de PowerPoint</vt:lpstr>
    </vt:vector>
  </TitlesOfParts>
  <Company>UdeM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Liliana Gonzalez Palacio</dc:creator>
  <cp:lastModifiedBy>Gabriel Mauricio Ramírez Villegas</cp:lastModifiedBy>
  <cp:revision>85</cp:revision>
  <dcterms:created xsi:type="dcterms:W3CDTF">2012-08-10T19:33:56Z</dcterms:created>
  <dcterms:modified xsi:type="dcterms:W3CDTF">2025-03-13T03:14:55Z</dcterms:modified>
</cp:coreProperties>
</file>