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1" r:id="rId2"/>
    <p:sldId id="336" r:id="rId3"/>
    <p:sldId id="375" r:id="rId4"/>
    <p:sldId id="376" r:id="rId5"/>
    <p:sldId id="378" r:id="rId6"/>
    <p:sldId id="377" r:id="rId7"/>
    <p:sldId id="379" r:id="rId8"/>
    <p:sldId id="380" r:id="rId9"/>
    <p:sldId id="381" r:id="rId10"/>
    <p:sldId id="356" r:id="rId11"/>
    <p:sldId id="374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875"/>
    <p:restoredTop sz="94628"/>
  </p:normalViewPr>
  <p:slideViewPr>
    <p:cSldViewPr>
      <p:cViewPr varScale="1">
        <p:scale>
          <a:sx n="67" d="100"/>
          <a:sy n="67" d="100"/>
        </p:scale>
        <p:origin x="192" y="13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41549-E6D3-F847-9968-76BB11C042B9}" type="datetimeFigureOut">
              <a:rPr lang="es-CO" smtClean="0"/>
              <a:t>1/11/23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07074-4FEE-CE4B-A9C0-E69E159A36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5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E7FE7452-2939-8848-803E-0CD605D316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07A05E47-E756-444D-BBE0-F8337A99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s-ES_tradnl" altLang="es-ES_tradnl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E82EAEEC-A1B2-D443-9AAA-ED703D6D1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fld id="{BA9F20AE-ED0A-1C41-871A-B4A6148AAA27}" type="slidenum">
              <a:rPr lang="es-ES_tradnl" altLang="es-ES_tradnl" smtClean="0"/>
              <a:pPr>
                <a:defRPr/>
              </a:pPr>
              <a:t>1</a:t>
            </a:fld>
            <a:endParaRPr lang="es-ES_tradnl" alt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619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647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378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465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553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86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719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04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541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769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875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C5C31-60C6-4A62-A46A-8307D9D192C6}" type="datetimeFigureOut">
              <a:rPr lang="es-CO" smtClean="0"/>
              <a:t>1/11/23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36612-A338-4012-9DC8-30BD864AF6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42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ypress.io/guides/overview/why-cypress" TargetMode="External"/><Relationship Id="rId2" Type="http://schemas.openxmlformats.org/officeDocument/2006/relationships/hyperlink" Target="https://www.cypress.io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odejs.org/e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seluisgs/testing-js-cypress" TargetMode="External"/><Relationship Id="rId2" Type="http://schemas.openxmlformats.org/officeDocument/2006/relationships/hyperlink" Target="https://github.com/jdmesalosada/serenitybddwebinspanishtrainingv2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testing-community/cypress-training" TargetMode="External"/><Relationship Id="rId4" Type="http://schemas.openxmlformats.org/officeDocument/2006/relationships/hyperlink" Target="https://github.com/cypress-io/cypress-example-recip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Imagen 8">
            <a:extLst>
              <a:ext uri="{FF2B5EF4-FFF2-40B4-BE49-F238E27FC236}">
                <a16:creationId xmlns:a16="http://schemas.microsoft.com/office/drawing/2014/main" id="{36F2C197-F88F-D44D-ABCF-411899C4D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7252"/>
            <a:ext cx="9144000" cy="511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33117E-9504-70DE-DFCF-5BB0C7F17F4B}"/>
              </a:ext>
            </a:extLst>
          </p:cNvPr>
          <p:cNvSpPr txBox="1"/>
          <p:nvPr/>
        </p:nvSpPr>
        <p:spPr>
          <a:xfrm>
            <a:off x="683568" y="980728"/>
            <a:ext cx="817290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000" b="1" i="0" u="none" strike="noStrike" dirty="0">
                <a:effectLst/>
                <a:latin typeface="inherit"/>
              </a:rPr>
              <a:t>Cypress</a:t>
            </a:r>
            <a:r>
              <a:rPr lang="es-CO" sz="2000" b="0" i="0" dirty="0">
                <a:effectLst/>
                <a:latin typeface="Work Sans" pitchFamily="2" charset="77"/>
              </a:rPr>
              <a:t> es una herramienta de automatización de pruebas de </a:t>
            </a:r>
            <a:r>
              <a:rPr lang="es-CO" sz="2000" b="0" i="1" dirty="0" err="1">
                <a:effectLst/>
                <a:latin typeface="Work Sans" pitchFamily="2" charset="77"/>
              </a:rPr>
              <a:t>front</a:t>
            </a:r>
            <a:r>
              <a:rPr lang="es-CO" sz="2000" b="0" i="1" dirty="0">
                <a:effectLst/>
                <a:latin typeface="Work Sans" pitchFamily="2" charset="77"/>
              </a:rPr>
              <a:t>-end</a:t>
            </a:r>
            <a:r>
              <a:rPr lang="es-CO" sz="2000" b="0" i="0" dirty="0">
                <a:effectLst/>
                <a:latin typeface="Work Sans" pitchFamily="2" charset="77"/>
              </a:rPr>
              <a:t>, de código abierto, diseñada específicamente para probar aplicaciones web modernas. A diferencia de otras soluciones en el mercado, </a:t>
            </a:r>
            <a:r>
              <a:rPr lang="es-CO" sz="2000" b="0" i="0" dirty="0" err="1">
                <a:effectLst/>
                <a:latin typeface="Work Sans" pitchFamily="2" charset="77"/>
              </a:rPr>
              <a:t>Cypress</a:t>
            </a:r>
            <a:r>
              <a:rPr lang="es-CO" sz="2000" b="0" i="0" dirty="0">
                <a:effectLst/>
                <a:latin typeface="Work Sans" pitchFamily="2" charset="77"/>
              </a:rPr>
              <a:t> ofrece una combinación única de pruebas </a:t>
            </a:r>
            <a:r>
              <a:rPr lang="es-CO" sz="2000" b="0" i="1" dirty="0">
                <a:effectLst/>
                <a:latin typeface="Work Sans" pitchFamily="2" charset="77"/>
              </a:rPr>
              <a:t>end-to-end</a:t>
            </a:r>
            <a:r>
              <a:rPr lang="es-CO" sz="2000" b="0" i="0" dirty="0">
                <a:effectLst/>
                <a:latin typeface="Work Sans" pitchFamily="2" charset="77"/>
              </a:rPr>
              <a:t> y pruebas unitarias. Esto la convierte en una opción altamente efectiva para probar la funcionalidad completa de tu aplicación</a:t>
            </a:r>
            <a:endParaRPr lang="es-CO" dirty="0">
              <a:latin typeface="DevExpert"/>
            </a:endParaRPr>
          </a:p>
          <a:p>
            <a:pPr algn="l" fontAlgn="base"/>
            <a:r>
              <a:rPr lang="es-CO" dirty="0">
                <a:latin typeface="DevExpert"/>
              </a:rPr>
              <a:t>  </a:t>
            </a:r>
            <a:endParaRPr lang="es-CO" b="0" i="0" dirty="0">
              <a:effectLst/>
              <a:latin typeface="DevExpert"/>
            </a:endParaRPr>
          </a:p>
          <a:p>
            <a:pPr algn="l"/>
            <a:endParaRPr lang="es-CO" dirty="0">
              <a:latin typeface="-apple-system"/>
            </a:endParaRPr>
          </a:p>
          <a:p>
            <a:pPr algn="l"/>
            <a:endParaRPr lang="es-CO" dirty="0">
              <a:latin typeface="-apple-system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1129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33117E-9504-70DE-DFCF-5BB0C7F17F4B}"/>
              </a:ext>
            </a:extLst>
          </p:cNvPr>
          <p:cNvSpPr txBox="1"/>
          <p:nvPr/>
        </p:nvSpPr>
        <p:spPr>
          <a:xfrm>
            <a:off x="683568" y="980728"/>
            <a:ext cx="817290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000" b="0" i="0" dirty="0">
                <a:effectLst/>
                <a:latin typeface="DM Sans" panose="020F0502020204030204" pitchFamily="34" charset="0"/>
              </a:rPr>
              <a:t>Utiliza el lenguaje de programación JavaScript para permitir escribir diferentes tipos de pruebas de la pirámide de </a:t>
            </a:r>
            <a:r>
              <a:rPr lang="es-CO" sz="2000" b="0" i="0" dirty="0" err="1">
                <a:effectLst/>
                <a:latin typeface="DM Sans" panose="020F0502020204030204" pitchFamily="34" charset="0"/>
              </a:rPr>
              <a:t>Cohn</a:t>
            </a:r>
            <a:r>
              <a:rPr lang="es-CO" sz="2000" b="0" i="0" dirty="0">
                <a:effectLst/>
                <a:latin typeface="DM Sans" panose="020F0502020204030204" pitchFamily="34" charset="0"/>
              </a:rPr>
              <a:t>.</a:t>
            </a:r>
            <a:r>
              <a:rPr lang="es-CO" dirty="0">
                <a:latin typeface="DevExpert"/>
              </a:rPr>
              <a:t>  </a:t>
            </a:r>
            <a:endParaRPr lang="es-CO" b="0" i="0" dirty="0">
              <a:effectLst/>
              <a:latin typeface="DevExpert"/>
            </a:endParaRPr>
          </a:p>
          <a:p>
            <a:pPr algn="l"/>
            <a:endParaRPr lang="es-CO" dirty="0">
              <a:latin typeface="-apple-system"/>
            </a:endParaRPr>
          </a:p>
          <a:p>
            <a:pPr algn="l"/>
            <a:endParaRPr lang="es-CO" dirty="0">
              <a:latin typeface="-apple-system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pic>
        <p:nvPicPr>
          <p:cNvPr id="1026" name="Picture 2" descr="Ceiba-DevOps">
            <a:extLst>
              <a:ext uri="{FF2B5EF4-FFF2-40B4-BE49-F238E27FC236}">
                <a16:creationId xmlns:a16="http://schemas.microsoft.com/office/drawing/2014/main" id="{3D5D4320-E386-E633-4B3D-500D547B9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5" y="2090403"/>
            <a:ext cx="6913392" cy="450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11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pic>
        <p:nvPicPr>
          <p:cNvPr id="3074" name="Picture 2" descr="Cypress-beneficios">
            <a:extLst>
              <a:ext uri="{FF2B5EF4-FFF2-40B4-BE49-F238E27FC236}">
                <a16:creationId xmlns:a16="http://schemas.microsoft.com/office/drawing/2014/main" id="{7AADEDA1-98FB-9560-D7EA-FB23574F2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2736"/>
            <a:ext cx="8244408" cy="536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27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8DCCC4-454C-794E-9404-2CA43F8F7246}"/>
              </a:ext>
            </a:extLst>
          </p:cNvPr>
          <p:cNvSpPr txBox="1"/>
          <p:nvPr/>
        </p:nvSpPr>
        <p:spPr>
          <a:xfrm>
            <a:off x="287524" y="882997"/>
            <a:ext cx="856895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CO" sz="2200" b="0" i="0" dirty="0">
                <a:effectLst/>
                <a:latin typeface="inherit"/>
              </a:rPr>
              <a:t>Beneficios</a:t>
            </a:r>
            <a:endParaRPr lang="es-CO" sz="2200" b="0" i="0" dirty="0">
              <a:effectLst/>
              <a:latin typeface="Poppins" panose="020B0604020202020204" pitchFamily="34" charset="0"/>
            </a:endParaRPr>
          </a:p>
          <a:p>
            <a:pPr algn="l" fontAlgn="base"/>
            <a:r>
              <a:rPr lang="es-CO" sz="2200" b="0" i="0" dirty="0">
                <a:effectLst/>
                <a:latin typeface="DM Sans" pitchFamily="2" charset="77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200" b="0" i="0" dirty="0">
                <a:effectLst/>
                <a:latin typeface="inherit"/>
              </a:rPr>
              <a:t>Es una herramienta muy sencilla de instalar y configurar, solamente te tardará un par de minutos empezar a escribir una prueba, instalando correctamente </a:t>
            </a:r>
            <a:r>
              <a:rPr lang="es-CO" sz="2200" b="0" i="0" dirty="0" err="1">
                <a:effectLst/>
                <a:latin typeface="inherit"/>
              </a:rPr>
              <a:t>node.js</a:t>
            </a:r>
            <a:r>
              <a:rPr lang="es-CO" sz="2200" b="0" i="0" dirty="0">
                <a:effectLst/>
                <a:latin typeface="inherit"/>
              </a:rPr>
              <a:t> y haciendo uso del </a:t>
            </a:r>
            <a:r>
              <a:rPr lang="es-CO" sz="2200" b="0" i="0" dirty="0" err="1">
                <a:effectLst/>
                <a:latin typeface="inherit"/>
              </a:rPr>
              <a:t>node</a:t>
            </a:r>
            <a:r>
              <a:rPr lang="es-CO" sz="2200" b="0" i="0" dirty="0">
                <a:effectLst/>
                <a:latin typeface="inherit"/>
              </a:rPr>
              <a:t> </a:t>
            </a:r>
            <a:r>
              <a:rPr lang="es-CO" sz="2200" b="0" i="0" dirty="0" err="1">
                <a:effectLst/>
                <a:latin typeface="inherit"/>
              </a:rPr>
              <a:t>package</a:t>
            </a:r>
            <a:r>
              <a:rPr lang="es-CO" sz="2200" b="0" i="0" dirty="0">
                <a:effectLst/>
                <a:latin typeface="inherit"/>
              </a:rPr>
              <a:t> manager (</a:t>
            </a:r>
            <a:r>
              <a:rPr lang="es-CO" sz="2200" b="1" i="0" dirty="0" err="1">
                <a:effectLst/>
                <a:latin typeface="DM Sans" pitchFamily="2" charset="77"/>
              </a:rPr>
              <a:t>npm</a:t>
            </a:r>
            <a:r>
              <a:rPr lang="es-CO" sz="2200" b="0" i="0" dirty="0">
                <a:effectLst/>
                <a:latin typeface="inherit"/>
              </a:rPr>
              <a:t>).</a:t>
            </a:r>
            <a:endParaRPr lang="es-CO" sz="2200" b="0" i="0" dirty="0">
              <a:effectLst/>
              <a:latin typeface="DM Sans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200" b="0" i="0" dirty="0">
                <a:effectLst/>
                <a:latin typeface="inherit"/>
              </a:rPr>
              <a:t> Se pueden escribir pruebas de manera sencilla y rápida, creando archivos de tipo JavaScript y definiendo correctamente la estructura de la prueba (</a:t>
            </a:r>
            <a:r>
              <a:rPr lang="es-CO" sz="2200" b="1" i="0" dirty="0">
                <a:effectLst/>
                <a:latin typeface="DM Sans" pitchFamily="2" charset="77"/>
              </a:rPr>
              <a:t>describe</a:t>
            </a:r>
            <a:r>
              <a:rPr lang="es-CO" sz="2200" b="0" i="0" dirty="0">
                <a:effectLst/>
                <a:latin typeface="inherit"/>
              </a:rPr>
              <a:t> o simplemente usando los</a:t>
            </a:r>
            <a:r>
              <a:rPr lang="es-CO" sz="2200" b="1" i="0" dirty="0">
                <a:effectLst/>
                <a:latin typeface="DM Sans" pitchFamily="2" charset="77"/>
              </a:rPr>
              <a:t> </a:t>
            </a:r>
            <a:r>
              <a:rPr lang="es-CO" sz="2200" b="1" i="0" dirty="0" err="1">
                <a:effectLst/>
                <a:latin typeface="DM Sans" pitchFamily="2" charset="77"/>
              </a:rPr>
              <a:t>it</a:t>
            </a:r>
            <a:r>
              <a:rPr lang="es-CO" sz="2200" b="0" i="0" dirty="0">
                <a:effectLst/>
                <a:latin typeface="inherit"/>
              </a:rPr>
              <a:t>) y todas las funcionalidades disponibles para hacer aserciones.</a:t>
            </a:r>
            <a:endParaRPr lang="es-CO" sz="2200" b="0" i="0" dirty="0">
              <a:effectLst/>
              <a:latin typeface="DM Sans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200" b="0" i="0" dirty="0">
                <a:effectLst/>
                <a:latin typeface="inherit"/>
              </a:rPr>
              <a:t> La interfaz desplegada por </a:t>
            </a:r>
            <a:r>
              <a:rPr lang="es-CO" sz="2200" b="0" i="0" dirty="0" err="1">
                <a:effectLst/>
                <a:latin typeface="inherit"/>
              </a:rPr>
              <a:t>Cypress</a:t>
            </a:r>
            <a:r>
              <a:rPr lang="es-CO" sz="2200" b="0" i="0" dirty="0">
                <a:effectLst/>
                <a:latin typeface="inherit"/>
              </a:rPr>
              <a:t> nos ayuda a visualizar perfectamente el paso a paso de nuestra prueba y facilita encontrar errores y posibles soluciones sugeridas por el </a:t>
            </a:r>
            <a:r>
              <a:rPr lang="es-CO" sz="2200" b="0" i="1" dirty="0">
                <a:effectLst/>
                <a:latin typeface="DM Sans" pitchFamily="2" charset="77"/>
              </a:rPr>
              <a:t>framework</a:t>
            </a:r>
            <a:r>
              <a:rPr lang="es-CO" sz="2200" b="0" i="0" dirty="0">
                <a:effectLst/>
                <a:latin typeface="inherit"/>
              </a:rPr>
              <a:t>. Tendremos todo integrado en una sola interfaz, donde podremos ver: los </a:t>
            </a:r>
            <a:r>
              <a:rPr lang="es-CO" sz="2200" b="0" i="1" dirty="0">
                <a:effectLst/>
                <a:latin typeface="DM Sans" pitchFamily="2" charset="77"/>
              </a:rPr>
              <a:t>scripts</a:t>
            </a:r>
            <a:r>
              <a:rPr lang="es-CO" sz="2200" b="0" i="0" dirty="0">
                <a:effectLst/>
                <a:latin typeface="inherit"/>
              </a:rPr>
              <a:t> que puedo ejecutar, el paso a paso de la prueba, el navegador web deseado.</a:t>
            </a:r>
            <a:r>
              <a:rPr lang="es-CO" sz="2200" b="0" i="0" dirty="0">
                <a:effectLst/>
                <a:latin typeface="DM Sans" pitchFamily="2" charset="77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80110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8DCCC4-454C-794E-9404-2CA43F8F7246}"/>
              </a:ext>
            </a:extLst>
          </p:cNvPr>
          <p:cNvSpPr txBox="1"/>
          <p:nvPr/>
        </p:nvSpPr>
        <p:spPr>
          <a:xfrm>
            <a:off x="287524" y="908720"/>
            <a:ext cx="856895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CO" sz="2000" b="0" i="0" dirty="0">
                <a:effectLst/>
                <a:latin typeface="inherit"/>
              </a:rPr>
              <a:t>Beneficios</a:t>
            </a:r>
            <a:endParaRPr lang="es-CO" sz="2000" b="0" i="0" dirty="0">
              <a:effectLst/>
              <a:latin typeface="Poppins" panose="020B0604020202020204" pitchFamily="34" charset="0"/>
            </a:endParaRPr>
          </a:p>
          <a:p>
            <a:pPr algn="l" fontAlgn="base"/>
            <a:r>
              <a:rPr lang="es-CO" sz="2000" b="0" i="0" dirty="0">
                <a:effectLst/>
                <a:latin typeface="DM Sans" pitchFamily="2" charset="77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000" b="0" i="0" dirty="0">
                <a:effectLst/>
                <a:latin typeface="inherit"/>
              </a:rPr>
              <a:t>Encontrar elementos web se facilita por medio de sus funcionalidades </a:t>
            </a:r>
            <a:r>
              <a:rPr lang="es-CO" sz="2000" b="0" i="0" dirty="0" err="1">
                <a:effectLst/>
                <a:latin typeface="inherit"/>
              </a:rPr>
              <a:t>cy.get</a:t>
            </a:r>
            <a:r>
              <a:rPr lang="es-CO" sz="2000" b="0" i="0" dirty="0">
                <a:effectLst/>
                <a:latin typeface="inherit"/>
              </a:rPr>
              <a:t>, </a:t>
            </a:r>
            <a:r>
              <a:rPr lang="es-CO" sz="2000" b="0" i="0" dirty="0" err="1">
                <a:effectLst/>
                <a:latin typeface="inherit"/>
              </a:rPr>
              <a:t>cy.find</a:t>
            </a:r>
            <a:r>
              <a:rPr lang="es-CO" sz="2000" b="0" i="0" dirty="0">
                <a:effectLst/>
                <a:latin typeface="inherit"/>
              </a:rPr>
              <a:t> o el tradicional </a:t>
            </a:r>
            <a:r>
              <a:rPr lang="es-CO" sz="2000" b="0" i="0" dirty="0" err="1">
                <a:effectLst/>
                <a:latin typeface="inherit"/>
              </a:rPr>
              <a:t>cy.xpath</a:t>
            </a:r>
            <a:r>
              <a:rPr lang="es-CO" sz="2000" b="0" i="0" dirty="0">
                <a:effectLst/>
                <a:latin typeface="inherit"/>
              </a:rPr>
              <a:t> (</a:t>
            </a:r>
            <a:r>
              <a:rPr lang="es-CO" sz="2000" b="1" i="0" dirty="0" err="1">
                <a:effectLst/>
                <a:latin typeface="DM Sans" pitchFamily="2" charset="77"/>
              </a:rPr>
              <a:t>xpath</a:t>
            </a:r>
            <a:r>
              <a:rPr lang="es-CO" sz="2000" b="0" i="0" dirty="0">
                <a:effectLst/>
                <a:latin typeface="inherit"/>
              </a:rPr>
              <a:t>), nos da una posibilidad de llegar a elementos que en otra herramienta nos hubiese complicado su desarrollo.</a:t>
            </a:r>
            <a:endParaRPr lang="es-CO" sz="2000" b="0" i="0" dirty="0">
              <a:effectLst/>
              <a:latin typeface="DM Sans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000" b="0" i="0" dirty="0">
                <a:effectLst/>
                <a:latin typeface="inherit"/>
              </a:rPr>
              <a:t>Nos ayuda a manejar nuestros tiempos de espera en una prueba, haciendo uso de sus propios tiempos y de los reintentos, eliminando esas malas prácticas de tener tiempos en la mitad de nuestro código.</a:t>
            </a:r>
            <a:endParaRPr lang="es-CO" sz="2000" b="0" i="0" dirty="0">
              <a:effectLst/>
              <a:latin typeface="DM Sans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000" b="0" i="0" dirty="0">
                <a:effectLst/>
                <a:latin typeface="inherit"/>
              </a:rPr>
              <a:t>Tiene una comunidad muy amplia, existen muchas personas que trabajan con la herramienta por lo que existe mucha documentación.</a:t>
            </a:r>
            <a:endParaRPr lang="es-CO" sz="2000" b="0" i="0" dirty="0">
              <a:effectLst/>
              <a:latin typeface="DM Sans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000" b="0" i="0" dirty="0">
                <a:effectLst/>
                <a:latin typeface="inherit"/>
              </a:rPr>
              <a:t>No es necesario el uso de un driver externo como Chrome driver o </a:t>
            </a:r>
            <a:r>
              <a:rPr lang="es-CO" sz="2000" b="0" i="0" dirty="0" err="1">
                <a:effectLst/>
                <a:latin typeface="inherit"/>
              </a:rPr>
              <a:t>Geckodriver</a:t>
            </a:r>
            <a:r>
              <a:rPr lang="es-CO" sz="2000" b="0" i="0" dirty="0">
                <a:effectLst/>
                <a:latin typeface="inherit"/>
              </a:rPr>
              <a:t>.</a:t>
            </a:r>
            <a:endParaRPr lang="es-CO" sz="2000" b="0" i="0" dirty="0">
              <a:effectLst/>
              <a:latin typeface="DM Sans" pitchFamily="2" charset="77"/>
            </a:endParaRPr>
          </a:p>
          <a:p>
            <a:pPr algn="l" fontAlgn="base"/>
            <a:r>
              <a:rPr lang="es-CO" b="0" i="0" dirty="0">
                <a:solidFill>
                  <a:srgbClr val="222222"/>
                </a:solidFill>
                <a:effectLst/>
                <a:latin typeface="DM Sans" pitchFamily="2" charset="77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61616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8DCCC4-454C-794E-9404-2CA43F8F7246}"/>
              </a:ext>
            </a:extLst>
          </p:cNvPr>
          <p:cNvSpPr txBox="1"/>
          <p:nvPr/>
        </p:nvSpPr>
        <p:spPr>
          <a:xfrm>
            <a:off x="287524" y="908720"/>
            <a:ext cx="856895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CO" sz="2000" dirty="0">
                <a:latin typeface="inherit"/>
              </a:rPr>
              <a:t>Desventajas</a:t>
            </a:r>
            <a:endParaRPr lang="es-CO" sz="2000" b="0" i="0" dirty="0">
              <a:effectLst/>
              <a:latin typeface="Poppins" panose="020B0604020202020204" pitchFamily="34" charset="0"/>
            </a:endParaRPr>
          </a:p>
          <a:p>
            <a:pPr algn="l" fontAlgn="base"/>
            <a:r>
              <a:rPr lang="es-CO" sz="2000" b="0" i="0" dirty="0">
                <a:effectLst/>
                <a:latin typeface="DM Sans" pitchFamily="2" charset="77"/>
              </a:rPr>
              <a:t> 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000" b="0" i="0" dirty="0">
                <a:effectLst/>
                <a:latin typeface="inherit"/>
              </a:rPr>
              <a:t>Las configuraciones entre versiones de </a:t>
            </a:r>
            <a:r>
              <a:rPr lang="es-CO" sz="2000" b="0" i="0" dirty="0" err="1">
                <a:effectLst/>
                <a:latin typeface="inherit"/>
              </a:rPr>
              <a:t>Cypress</a:t>
            </a:r>
            <a:r>
              <a:rPr lang="es-CO" sz="2000" b="0" i="0" dirty="0">
                <a:effectLst/>
                <a:latin typeface="inherit"/>
              </a:rPr>
              <a:t> pueden cambiar cosas como formas de mapear elementos, interfaz, funcionalidades, lo que puede llegar a frustrar en la búsqueda de documentación específica.</a:t>
            </a:r>
            <a:endParaRPr lang="es-CO" sz="2000" b="0" i="0" dirty="0">
              <a:effectLst/>
              <a:latin typeface="DM Sans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000" b="0" i="0" dirty="0">
                <a:effectLst/>
                <a:latin typeface="inherit"/>
              </a:rPr>
              <a:t>No cubre tantas pruebas no funcionales como pueden ser las pruebas de performance (línea base, carga, estrés, etc.) y la capacidad de hilos para las mismas.</a:t>
            </a:r>
            <a:endParaRPr lang="es-CO" sz="2000" b="0" i="0" dirty="0">
              <a:effectLst/>
              <a:latin typeface="DM Sans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CO" sz="2000" b="0" i="0" dirty="0">
                <a:effectLst/>
                <a:latin typeface="inherit"/>
              </a:rPr>
              <a:t>No es posible desplegar múltiples ventanas del navegador y probar diferentes escenarios al mismo tiempo.</a:t>
            </a:r>
            <a:endParaRPr lang="es-CO" sz="2000" b="0" i="0" dirty="0">
              <a:effectLst/>
              <a:latin typeface="DM Sans" pitchFamily="2" charset="77"/>
            </a:endParaRPr>
          </a:p>
          <a:p>
            <a:pPr algn="l" fontAlgn="base"/>
            <a:r>
              <a:rPr lang="es-CO" sz="2000" b="0" i="0" dirty="0">
                <a:effectLst/>
                <a:latin typeface="inherit"/>
              </a:rPr>
              <a:t>.</a:t>
            </a:r>
            <a:endParaRPr lang="es-CO" sz="2000" b="0" i="0" dirty="0">
              <a:effectLst/>
              <a:latin typeface="DM Sans" pitchFamily="2" charset="77"/>
            </a:endParaRPr>
          </a:p>
          <a:p>
            <a:pPr algn="l" fontAlgn="base"/>
            <a:r>
              <a:rPr lang="es-CO" sz="2000" b="0" i="0" dirty="0">
                <a:solidFill>
                  <a:srgbClr val="222222"/>
                </a:solidFill>
                <a:effectLst/>
                <a:latin typeface="DM Sans" pitchFamily="2" charset="77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03866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D7AADDD9-1E5E-00D5-2B44-F7CAA1169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5463"/>
            <a:ext cx="9144000" cy="326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933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6390176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pic>
        <p:nvPicPr>
          <p:cNvPr id="7170" name="Picture 2" descr="How Cypress Interacts with App">
            <a:extLst>
              <a:ext uri="{FF2B5EF4-FFF2-40B4-BE49-F238E27FC236}">
                <a16:creationId xmlns:a16="http://schemas.microsoft.com/office/drawing/2014/main" id="{A560BCFD-CEE0-FDE6-0BE3-546E3B3B4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1987550"/>
            <a:ext cx="6502400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3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33117E-9504-70DE-DFCF-5BB0C7F17F4B}"/>
              </a:ext>
            </a:extLst>
          </p:cNvPr>
          <p:cNvSpPr txBox="1"/>
          <p:nvPr/>
        </p:nvSpPr>
        <p:spPr>
          <a:xfrm>
            <a:off x="683568" y="1628800"/>
            <a:ext cx="81729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s-CO" sz="2400" dirty="0">
                <a:latin typeface="DevExpert"/>
                <a:hlinkClick r:id="rId2"/>
              </a:rPr>
              <a:t>https://www.cypress.io/</a:t>
            </a:r>
            <a:endParaRPr lang="es-CO" sz="2400" dirty="0">
              <a:latin typeface="-apple-system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s-CO" sz="2400" dirty="0">
                <a:latin typeface="-apple-system"/>
                <a:hlinkClick r:id="rId3"/>
              </a:rPr>
              <a:t>https://docs.cypress.io/guides/overview/why-cypress</a:t>
            </a:r>
            <a:r>
              <a:rPr lang="es-CO" sz="2400" dirty="0">
                <a:latin typeface="-apple-system"/>
              </a:rPr>
              <a:t> 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s-CO" sz="2400" dirty="0">
                <a:latin typeface="-apple-system"/>
                <a:hlinkClick r:id="rId4"/>
              </a:rPr>
              <a:t>https://nodejs.org/en</a:t>
            </a:r>
            <a:r>
              <a:rPr lang="es-CO" sz="2400" dirty="0">
                <a:latin typeface="-apple-system"/>
              </a:rPr>
              <a:t>  </a:t>
            </a:r>
            <a:endParaRPr lang="es-CO" sz="2400" b="0" i="0" dirty="0">
              <a:effectLst/>
              <a:latin typeface="DevExpert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7632848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>
                <a:latin typeface="Ubuntu Medium"/>
                <a:ea typeface="Ubuntu Medium"/>
                <a:cs typeface="Ubuntu Medium"/>
                <a:sym typeface="Ubuntu Medium"/>
              </a:rPr>
              <a:t>Enlaces de </a:t>
            </a:r>
            <a:r>
              <a:rPr lang="es-CO" sz="2800" b="1" dirty="0" err="1">
                <a:latin typeface="Ubuntu Medium"/>
                <a:ea typeface="Ubuntu Medium"/>
                <a:cs typeface="Ubuntu Medium"/>
                <a:sym typeface="Ubuntu Medium"/>
              </a:rPr>
              <a:t>Interes</a:t>
            </a:r>
            <a:endParaRPr lang="es-CO" sz="28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  <a:p>
            <a:pPr lvl="0"/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94090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6F5E080E-2063-432A-01D9-AB9FDB77C041}"/>
              </a:ext>
            </a:extLst>
          </p:cNvPr>
          <p:cNvSpPr txBox="1"/>
          <p:nvPr/>
        </p:nvSpPr>
        <p:spPr>
          <a:xfrm>
            <a:off x="539552" y="188640"/>
            <a:ext cx="7632848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2800" b="1" dirty="0" err="1">
                <a:solidFill>
                  <a:schemeClr val="tx1"/>
                </a:solidFill>
                <a:latin typeface="Ubuntu Medium"/>
                <a:ea typeface="Ubuntu Medium"/>
                <a:cs typeface="Ubuntu Medium"/>
                <a:sym typeface="Ubuntu Medium"/>
              </a:rPr>
              <a:t>Cypress</a:t>
            </a:r>
            <a:endParaRPr lang="es-CO" sz="2200" b="1" dirty="0">
              <a:solidFill>
                <a:schemeClr val="tx1"/>
              </a:solidFill>
              <a:latin typeface="Ubuntu Medium"/>
              <a:ea typeface="Ubuntu Medium"/>
              <a:cs typeface="Ubuntu Medium"/>
              <a:sym typeface="Ubuntu Medium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CD3C9F-32DC-4C39-BE28-73EB7594603F}"/>
              </a:ext>
            </a:extLst>
          </p:cNvPr>
          <p:cNvSpPr txBox="1"/>
          <p:nvPr/>
        </p:nvSpPr>
        <p:spPr>
          <a:xfrm>
            <a:off x="404537" y="1490008"/>
            <a:ext cx="83349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s-CO" sz="2400" dirty="0">
                <a:latin typeface="DevExpert"/>
              </a:rPr>
              <a:t>Clonar el siguiente proyecto en </a:t>
            </a:r>
            <a:r>
              <a:rPr lang="es-CO" sz="2400" dirty="0" err="1">
                <a:latin typeface="DevExpert"/>
              </a:rPr>
              <a:t>InteliJ</a:t>
            </a:r>
            <a:endParaRPr lang="es-CO" sz="2400" dirty="0">
              <a:latin typeface="DevExpert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s-CO" sz="2400" dirty="0">
              <a:latin typeface="DevExpert"/>
              <a:hlinkClick r:id="rId2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s-CO" sz="2400" dirty="0">
                <a:latin typeface="DevExpert"/>
                <a:hlinkClick r:id="rId3"/>
              </a:rPr>
              <a:t>https://github.com/joseluisgs/testing-js-cypress</a:t>
            </a:r>
            <a:endParaRPr lang="es-CO" sz="2400" dirty="0">
              <a:latin typeface="DevExpert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s-CO" sz="2400" dirty="0">
                <a:latin typeface="DevExpert"/>
                <a:hlinkClick r:id="rId4"/>
              </a:rPr>
              <a:t>https://github.com/cypress-io/cypress-example-recipes</a:t>
            </a:r>
            <a:r>
              <a:rPr lang="es-CO" sz="2400" dirty="0">
                <a:latin typeface="DevExpert"/>
              </a:rPr>
              <a:t>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s-CO" sz="2400" dirty="0">
                <a:latin typeface="DevExpert"/>
                <a:hlinkClick r:id="rId5"/>
              </a:rPr>
              <a:t>https://github.com/testing-community/cypress-training</a:t>
            </a:r>
            <a:r>
              <a:rPr lang="es-CO" sz="2400" dirty="0">
                <a:latin typeface="DevExper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0740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3148</TotalTime>
  <Words>500</Words>
  <Application>Microsoft Macintosh PowerPoint</Application>
  <PresentationFormat>Presentación en pantalla (4:3)</PresentationFormat>
  <Paragraphs>41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-apple-system</vt:lpstr>
      <vt:lpstr>Arial</vt:lpstr>
      <vt:lpstr>Calibri</vt:lpstr>
      <vt:lpstr>DevExpert</vt:lpstr>
      <vt:lpstr>DM Sans</vt:lpstr>
      <vt:lpstr>inherit</vt:lpstr>
      <vt:lpstr>Poppins</vt:lpstr>
      <vt:lpstr>Ubuntu Medium</vt:lpstr>
      <vt:lpstr>Work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UdeM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requisitos en metodologías ágiles- primera parte</dc:title>
  <dc:creator>Revisor 2</dc:creator>
  <cp:lastModifiedBy>Mauricio Ramirez</cp:lastModifiedBy>
  <cp:revision>43</cp:revision>
  <dcterms:created xsi:type="dcterms:W3CDTF">2016-10-24T14:29:55Z</dcterms:created>
  <dcterms:modified xsi:type="dcterms:W3CDTF">2023-11-02T04:57:13Z</dcterms:modified>
</cp:coreProperties>
</file>