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1" r:id="rId2"/>
    <p:sldId id="336" r:id="rId3"/>
    <p:sldId id="355" r:id="rId4"/>
    <p:sldId id="356" r:id="rId5"/>
    <p:sldId id="357" r:id="rId6"/>
    <p:sldId id="337" r:id="rId7"/>
    <p:sldId id="359" r:id="rId8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99"/>
    <p:restoredTop sz="94628"/>
  </p:normalViewPr>
  <p:slideViewPr>
    <p:cSldViewPr>
      <p:cViewPr varScale="1">
        <p:scale>
          <a:sx n="88" d="100"/>
          <a:sy n="88" d="100"/>
        </p:scale>
        <p:origin x="192" y="8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41549-E6D3-F847-9968-76BB11C042B9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07074-4FEE-CE4B-A9C0-E69E159A36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5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E7FE7452-2939-8848-803E-0CD605D316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07A05E47-E756-444D-BBE0-F8337A99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s-ES_tradnl" altLang="es-ES_tradnl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E82EAEEC-A1B2-D443-9AAA-ED703D6D1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fld id="{BA9F20AE-ED0A-1C41-871A-B4A6148AAA27}" type="slidenum">
              <a:rPr lang="es-ES_tradnl" altLang="es-ES_tradnl" smtClean="0"/>
              <a:pPr>
                <a:defRPr/>
              </a:pPr>
              <a:t>1</a:t>
            </a:fld>
            <a:endParaRPr lang="es-ES_tradnl" alt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619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647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378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465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553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86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719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04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541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769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875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C5C31-60C6-4A62-A46A-8307D9D192C6}" type="datetimeFigureOut">
              <a:rPr lang="es-CO" smtClean="0"/>
              <a:t>18/10/23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42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ucedemo.com/" TargetMode="External"/><Relationship Id="rId3" Type="http://schemas.openxmlformats.org/officeDocument/2006/relationships/hyperlink" Target="https://github.com/QAlified/automation-framework-selenium" TargetMode="External"/><Relationship Id="rId7" Type="http://schemas.openxmlformats.org/officeDocument/2006/relationships/hyperlink" Target="https://www.selenium.dev/selenium-ide/" TargetMode="External"/><Relationship Id="rId2" Type="http://schemas.openxmlformats.org/officeDocument/2006/relationships/hyperlink" Target="https://github.com/jeyfredc/Curso-de-introduccion-a-Selenium-con-Pytho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elenium.dev/" TargetMode="External"/><Relationship Id="rId5" Type="http://schemas.openxmlformats.org/officeDocument/2006/relationships/hyperlink" Target="https://github.com/rondonng/AutomationProject_02" TargetMode="External"/><Relationship Id="rId4" Type="http://schemas.openxmlformats.org/officeDocument/2006/relationships/hyperlink" Target="https://github.com/topics/selenium-ph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Imagen 8">
            <a:extLst>
              <a:ext uri="{FF2B5EF4-FFF2-40B4-BE49-F238E27FC236}">
                <a16:creationId xmlns:a16="http://schemas.microsoft.com/office/drawing/2014/main" id="{36F2C197-F88F-D44D-ABCF-411899C4D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7252"/>
            <a:ext cx="9144000" cy="511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33117E-9504-70DE-DFCF-5BB0C7F17F4B}"/>
              </a:ext>
            </a:extLst>
          </p:cNvPr>
          <p:cNvSpPr txBox="1"/>
          <p:nvPr/>
        </p:nvSpPr>
        <p:spPr>
          <a:xfrm>
            <a:off x="683568" y="980728"/>
            <a:ext cx="817290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000" b="0" i="0" dirty="0" err="1">
                <a:solidFill>
                  <a:srgbClr val="0C0C0C"/>
                </a:solidFill>
                <a:effectLst/>
                <a:latin typeface="Rubik"/>
              </a:rPr>
              <a:t>Selenium</a:t>
            </a: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 es un entorno de pruebas que se utiliza para comprobar si el software que se está desarrollando funciona correctamente. Esta herramienta permite: grabar, editar y depurar casos de pruebas que se pueden automatizar. Lo más atractivo de </a:t>
            </a:r>
            <a:r>
              <a:rPr lang="es-CO" sz="2000" b="0" i="0" dirty="0" err="1">
                <a:solidFill>
                  <a:srgbClr val="0C0C0C"/>
                </a:solidFill>
                <a:effectLst/>
                <a:latin typeface="Rubik"/>
              </a:rPr>
              <a:t>Selenium</a:t>
            </a: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 es que </a:t>
            </a:r>
            <a:r>
              <a:rPr lang="es-CO" sz="2000" b="1" i="0" dirty="0">
                <a:solidFill>
                  <a:srgbClr val="0C0C0C"/>
                </a:solidFill>
                <a:effectLst/>
                <a:latin typeface="Rubik"/>
              </a:rPr>
              <a:t>se pueden editar acciones o crearlas desde cero</a:t>
            </a: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. Esta herramienta también ayuda mucho en las pruebas de regresión porque consigue pruebas automatizadas que luego se pueden reutilizar cuando se necesite.</a:t>
            </a:r>
            <a:endParaRPr lang="es-CO" sz="2000" dirty="0">
              <a:latin typeface="Lato" panose="020F0502020204030203" pitchFamily="34" charset="0"/>
            </a:endParaRPr>
          </a:p>
          <a:p>
            <a:pPr algn="l"/>
            <a:endParaRPr lang="es-CO" dirty="0">
              <a:latin typeface="DevExpert"/>
            </a:endParaRPr>
          </a:p>
          <a:p>
            <a:pPr algn="l" fontAlgn="base"/>
            <a:r>
              <a:rPr lang="es-CO" dirty="0">
                <a:latin typeface="DevExpert"/>
              </a:rPr>
              <a:t>  </a:t>
            </a:r>
            <a:endParaRPr lang="es-CO" b="0" i="0" dirty="0">
              <a:effectLst/>
              <a:latin typeface="DevExpert"/>
            </a:endParaRPr>
          </a:p>
          <a:p>
            <a:pPr algn="l"/>
            <a:endParaRPr lang="es-CO" dirty="0">
              <a:latin typeface="-apple-system"/>
            </a:endParaRPr>
          </a:p>
          <a:p>
            <a:pPr algn="l"/>
            <a:endParaRPr lang="es-CO" dirty="0">
              <a:latin typeface="-apple-system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Selenium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1129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33117E-9504-70DE-DFCF-5BB0C7F17F4B}"/>
              </a:ext>
            </a:extLst>
          </p:cNvPr>
          <p:cNvSpPr txBox="1"/>
          <p:nvPr/>
        </p:nvSpPr>
        <p:spPr>
          <a:xfrm>
            <a:off x="683568" y="980728"/>
            <a:ext cx="81729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Las principales características de esta herramienta de automatización de software son: </a:t>
            </a:r>
          </a:p>
          <a:p>
            <a:pPr algn="l"/>
            <a:endParaRPr lang="es-CO" sz="2000" b="0" i="0" dirty="0">
              <a:solidFill>
                <a:srgbClr val="0C0C0C"/>
              </a:solidFill>
              <a:effectLst/>
              <a:latin typeface="Rubi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Las acciones se pueden ejecutar punto a punto.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Contiene la opción de autocompletar a la hora de escribir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Se puede referenciar a objetos DOM: nombre, ID o con </a:t>
            </a:r>
            <a:r>
              <a:rPr lang="es-CO" sz="2000" b="0" i="0" dirty="0" err="1">
                <a:solidFill>
                  <a:srgbClr val="0C0C0C"/>
                </a:solidFill>
                <a:effectLst/>
                <a:latin typeface="Rubik"/>
              </a:rPr>
              <a:t>XPath</a:t>
            </a: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Ejecuta test complejos que ahorra tiempo de trabajo.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Abarca puntos de verificación y una gran depuración.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Permite el almacenamiento en varios formatos de los test realizados.</a:t>
            </a:r>
          </a:p>
          <a:p>
            <a:pPr algn="l"/>
            <a:endParaRPr lang="es-CO" dirty="0">
              <a:latin typeface="DevExpert"/>
            </a:endParaRPr>
          </a:p>
          <a:p>
            <a:pPr algn="l" fontAlgn="base"/>
            <a:r>
              <a:rPr lang="es-CO" dirty="0">
                <a:latin typeface="DevExpert"/>
              </a:rPr>
              <a:t>  </a:t>
            </a:r>
            <a:endParaRPr lang="es-CO" b="0" i="0" dirty="0">
              <a:effectLst/>
              <a:latin typeface="DevExpert"/>
            </a:endParaRPr>
          </a:p>
          <a:p>
            <a:pPr algn="l"/>
            <a:endParaRPr lang="es-CO" dirty="0">
              <a:latin typeface="-apple-system"/>
            </a:endParaRPr>
          </a:p>
          <a:p>
            <a:pPr algn="l"/>
            <a:endParaRPr lang="es-CO" dirty="0">
              <a:latin typeface="-apple-system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Caracteristicas</a:t>
            </a:r>
            <a:r>
              <a:rPr lang="es-CO" sz="2800" b="1" dirty="0">
                <a:latin typeface="Ubuntu Medium"/>
                <a:ea typeface="Ubuntu Medium"/>
                <a:cs typeface="Ubuntu Medium"/>
                <a:sym typeface="Ubuntu Medium"/>
              </a:rPr>
              <a:t> de </a:t>
            </a:r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Selenium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1027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33117E-9504-70DE-DFCF-5BB0C7F17F4B}"/>
              </a:ext>
            </a:extLst>
          </p:cNvPr>
          <p:cNvSpPr txBox="1"/>
          <p:nvPr/>
        </p:nvSpPr>
        <p:spPr>
          <a:xfrm>
            <a:off x="683568" y="980728"/>
            <a:ext cx="817290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El principal objetivo de </a:t>
            </a:r>
            <a:r>
              <a:rPr lang="es-CO" sz="2000" b="0" i="0" dirty="0" err="1">
                <a:solidFill>
                  <a:srgbClr val="0C0C0C"/>
                </a:solidFill>
                <a:effectLst/>
                <a:latin typeface="Rubik"/>
              </a:rPr>
              <a:t>Selenium</a:t>
            </a: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 es comprobar que el software funciona de forma correcta. Los usuarios que trabajan con esta herramienta son programadores QA o </a:t>
            </a:r>
            <a:r>
              <a:rPr lang="es-CO" sz="2000" b="0" i="0" dirty="0" err="1">
                <a:solidFill>
                  <a:srgbClr val="0C0C0C"/>
                </a:solidFill>
                <a:effectLst/>
                <a:latin typeface="Rubik"/>
              </a:rPr>
              <a:t>Engineer</a:t>
            </a:r>
            <a:r>
              <a:rPr lang="es-CO" sz="2000" b="0" i="0" dirty="0">
                <a:solidFill>
                  <a:srgbClr val="0C0C0C"/>
                </a:solidFill>
                <a:effectLst/>
                <a:latin typeface="Rubik"/>
              </a:rPr>
              <a:t> QA, que se dedican a no solamente comprobar que todo funcione de forma correcta, sino también para evitar que existan problemas a largo plazo, ya que es ahí, donde se encuentra la mejor característica de </a:t>
            </a:r>
            <a:r>
              <a:rPr lang="es-CO" sz="2000" b="0" i="0" u="none" strike="noStrike" dirty="0">
                <a:effectLst/>
                <a:latin typeface="Rubik"/>
              </a:rPr>
              <a:t>Selenium</a:t>
            </a:r>
            <a:r>
              <a:rPr lang="es-CO" sz="2000" b="0" i="0" dirty="0">
                <a:effectLst/>
                <a:latin typeface="Rubik"/>
              </a:rPr>
              <a:t>. </a:t>
            </a:r>
            <a:endParaRPr lang="es-CO" dirty="0">
              <a:latin typeface="DevExpert"/>
            </a:endParaRPr>
          </a:p>
          <a:p>
            <a:pPr algn="l" fontAlgn="base"/>
            <a:r>
              <a:rPr lang="es-CO" dirty="0">
                <a:latin typeface="DevExpert"/>
              </a:rPr>
              <a:t>  </a:t>
            </a:r>
            <a:endParaRPr lang="es-CO" b="0" i="0" dirty="0">
              <a:effectLst/>
              <a:latin typeface="DevExpert"/>
            </a:endParaRPr>
          </a:p>
          <a:p>
            <a:pPr algn="l"/>
            <a:endParaRPr lang="es-CO" dirty="0">
              <a:latin typeface="-apple-system"/>
            </a:endParaRPr>
          </a:p>
          <a:p>
            <a:pPr algn="l"/>
            <a:endParaRPr lang="es-CO" dirty="0">
              <a:latin typeface="-apple-system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>
                <a:latin typeface="Ubuntu Medium"/>
                <a:ea typeface="Ubuntu Medium"/>
                <a:cs typeface="Ubuntu Medium"/>
                <a:sym typeface="Ubuntu Medium"/>
              </a:rPr>
              <a:t>Objetivo de </a:t>
            </a:r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Selenium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9409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BBDAF69-BC7E-8615-FD41-490FD2E08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711794"/>
            <a:ext cx="5567083" cy="58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82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33117E-9504-70DE-DFCF-5BB0C7F17F4B}"/>
              </a:ext>
            </a:extLst>
          </p:cNvPr>
          <p:cNvSpPr txBox="1"/>
          <p:nvPr/>
        </p:nvSpPr>
        <p:spPr>
          <a:xfrm>
            <a:off x="251520" y="982176"/>
            <a:ext cx="770485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CO" sz="2000" b="0" i="0" dirty="0">
              <a:effectLst/>
              <a:latin typeface="Lato" panose="020F050202020403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O" dirty="0">
                <a:latin typeface="DevExpert"/>
                <a:hlinkClick r:id="rId2"/>
              </a:rPr>
              <a:t>https://github.com/jeyfredc/Curso-de-introduccion-a-Selenium-con-Python</a:t>
            </a:r>
            <a:endParaRPr lang="es-CO" dirty="0">
              <a:latin typeface="DevExper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O" dirty="0">
                <a:latin typeface="DevExpert"/>
                <a:hlinkClick r:id="rId3"/>
              </a:rPr>
              <a:t>https://github.com/QAlified/automation-framework-selenium</a:t>
            </a:r>
            <a:r>
              <a:rPr lang="es-CO" dirty="0">
                <a:latin typeface="DevExpert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O" dirty="0">
                <a:latin typeface="DevExpert"/>
                <a:hlinkClick r:id="rId4"/>
              </a:rPr>
              <a:t>https://github.com/topics/selenium-php</a:t>
            </a:r>
            <a:r>
              <a:rPr lang="es-CO" dirty="0">
                <a:latin typeface="DevExpert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O" dirty="0">
                <a:latin typeface="DevExpert"/>
                <a:hlinkClick r:id="rId5"/>
              </a:rPr>
              <a:t>https://github.com/rondonng/AutomationProject_02</a:t>
            </a:r>
            <a:endParaRPr lang="es-CO" dirty="0">
              <a:latin typeface="DevExper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CO" dirty="0">
              <a:latin typeface="DevExper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O" dirty="0">
                <a:latin typeface="DevExpert"/>
                <a:hlinkClick r:id="rId6"/>
              </a:rPr>
              <a:t>https://www.selenium.dev/</a:t>
            </a:r>
            <a:endParaRPr lang="es-CO" dirty="0">
              <a:latin typeface="DevExper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O" dirty="0">
                <a:latin typeface="DevExpert"/>
                <a:hlinkClick r:id="rId7"/>
              </a:rPr>
              <a:t>https://www.selenium.dev/selenium-ide/</a:t>
            </a:r>
            <a:endParaRPr lang="es-CO" dirty="0">
              <a:latin typeface="DevExper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O" dirty="0">
                <a:latin typeface="DevExpert"/>
                <a:hlinkClick r:id="rId8"/>
              </a:rPr>
              <a:t>https://www.saucedemo.com/</a:t>
            </a:r>
            <a:r>
              <a:rPr lang="es-CO" dirty="0">
                <a:latin typeface="DevExpert"/>
              </a:rPr>
              <a:t>  </a:t>
            </a:r>
          </a:p>
          <a:p>
            <a:pPr algn="l" fontAlgn="base"/>
            <a:r>
              <a:rPr lang="es-CO" dirty="0">
                <a:latin typeface="DevExpert"/>
              </a:rPr>
              <a:t>  </a:t>
            </a:r>
            <a:endParaRPr lang="es-CO" b="0" i="0" dirty="0">
              <a:effectLst/>
              <a:latin typeface="DevExpert"/>
            </a:endParaRPr>
          </a:p>
          <a:p>
            <a:pPr algn="l"/>
            <a:endParaRPr lang="es-CO" dirty="0">
              <a:latin typeface="-apple-system"/>
            </a:endParaRPr>
          </a:p>
          <a:p>
            <a:pPr algn="l"/>
            <a:endParaRPr lang="es-CO" dirty="0">
              <a:latin typeface="-apple-system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Selenium</a:t>
            </a:r>
            <a:r>
              <a:rPr lang="es-CO" sz="2800" b="1" dirty="0">
                <a:latin typeface="Ubuntu Medium"/>
                <a:ea typeface="Ubuntu Medium"/>
                <a:cs typeface="Ubuntu Medium"/>
                <a:sym typeface="Ubuntu Medium"/>
              </a:rPr>
              <a:t> Enlaces Importantes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8192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33117E-9504-70DE-DFCF-5BB0C7F17F4B}"/>
              </a:ext>
            </a:extLst>
          </p:cNvPr>
          <p:cNvSpPr txBox="1"/>
          <p:nvPr/>
        </p:nvSpPr>
        <p:spPr>
          <a:xfrm>
            <a:off x="251520" y="982176"/>
            <a:ext cx="52565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CO" sz="2000" b="0" i="0" dirty="0">
              <a:effectLst/>
              <a:latin typeface="Lato" panose="020F0502020204030203" pitchFamily="34" charset="0"/>
            </a:endParaRPr>
          </a:p>
          <a:p>
            <a:pPr algn="l"/>
            <a:r>
              <a:rPr lang="es-CO" sz="2000" b="0" i="0" dirty="0">
                <a:effectLst/>
                <a:latin typeface="Lato" panose="020F0502020204030203" pitchFamily="34" charset="0"/>
              </a:rPr>
              <a:t>Por ejemplo, en un formulario de registro, puedes esperar que un usuario realice una o más de estas acciones:</a:t>
            </a:r>
          </a:p>
          <a:p>
            <a:pPr algn="l"/>
            <a:endParaRPr lang="es-CO" sz="2000" b="0" i="0" dirty="0">
              <a:effectLst/>
              <a:latin typeface="Lato" panose="020F0502020204030203" pitchFamily="34" charset="0"/>
            </a:endParaRPr>
          </a:p>
          <a:p>
            <a:pPr algn="l"/>
            <a:r>
              <a:rPr lang="es-CO" sz="2000" b="0" i="0" dirty="0">
                <a:effectLst/>
                <a:latin typeface="Lato" panose="020F0502020204030203" pitchFamily="34" charset="0"/>
              </a:rPr>
              <a:t>Ingrese un correo electrónico y una contraseña en blanco.</a:t>
            </a:r>
          </a:p>
          <a:p>
            <a:pPr algn="l"/>
            <a:r>
              <a:rPr lang="es-CO" sz="2000" b="0" i="0" dirty="0">
                <a:effectLst/>
                <a:latin typeface="Lato" panose="020F0502020204030203" pitchFamily="34" charset="0"/>
              </a:rPr>
              <a:t>Introduzca un correo electrónico y una contraseña válida.</a:t>
            </a:r>
          </a:p>
          <a:p>
            <a:pPr algn="l"/>
            <a:r>
              <a:rPr lang="es-CO" sz="2000" b="0" i="0" dirty="0">
                <a:effectLst/>
                <a:latin typeface="Lato" panose="020F0502020204030203" pitchFamily="34" charset="0"/>
              </a:rPr>
              <a:t>Introduzca un correo electrónico y una contraseña no válida.</a:t>
            </a:r>
          </a:p>
          <a:p>
            <a:pPr algn="l"/>
            <a:r>
              <a:rPr lang="es-CO" sz="2000" b="0" i="0" dirty="0">
                <a:effectLst/>
                <a:latin typeface="Lato" panose="020F0502020204030203" pitchFamily="34" charset="0"/>
              </a:rPr>
              <a:t>Hará clic en un botón de registro.</a:t>
            </a:r>
            <a:endParaRPr lang="es-CO" sz="2000" dirty="0">
              <a:latin typeface="Lato" panose="020F0502020204030203" pitchFamily="34" charset="0"/>
            </a:endParaRPr>
          </a:p>
          <a:p>
            <a:pPr algn="l"/>
            <a:endParaRPr lang="es-CO" dirty="0">
              <a:latin typeface="DevExpert"/>
            </a:endParaRPr>
          </a:p>
          <a:p>
            <a:pPr algn="l" fontAlgn="base"/>
            <a:r>
              <a:rPr lang="es-CO" dirty="0">
                <a:latin typeface="DevExpert"/>
              </a:rPr>
              <a:t>  </a:t>
            </a:r>
            <a:endParaRPr lang="es-CO" b="0" i="0" dirty="0">
              <a:effectLst/>
              <a:latin typeface="DevExpert"/>
            </a:endParaRPr>
          </a:p>
          <a:p>
            <a:pPr algn="l"/>
            <a:endParaRPr lang="es-CO" dirty="0">
              <a:latin typeface="-apple-system"/>
            </a:endParaRPr>
          </a:p>
          <a:p>
            <a:pPr algn="l"/>
            <a:endParaRPr lang="es-CO" dirty="0">
              <a:latin typeface="-apple-system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Selenium</a:t>
            </a:r>
            <a:r>
              <a:rPr lang="es-CO" sz="2800" b="1" dirty="0">
                <a:latin typeface="Ubuntu Medium"/>
                <a:ea typeface="Ubuntu Medium"/>
                <a:cs typeface="Ubuntu Medium"/>
                <a:sym typeface="Ubuntu Medium"/>
              </a:rPr>
              <a:t> Ejemplo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pic>
        <p:nvPicPr>
          <p:cNvPr id="1026" name="Picture 2" descr="Formulario de inicio de sesión. sitio web ui cuenta pantalla página ...">
            <a:extLst>
              <a:ext uri="{FF2B5EF4-FFF2-40B4-BE49-F238E27FC236}">
                <a16:creationId xmlns:a16="http://schemas.microsoft.com/office/drawing/2014/main" id="{925115C6-B44B-AD1A-82C7-62322F8D7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412776"/>
            <a:ext cx="3430448" cy="343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8854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2380</TotalTime>
  <Words>362</Words>
  <Application>Microsoft Macintosh PowerPoint</Application>
  <PresentationFormat>Presentación en pantalla (4:3)</PresentationFormat>
  <Paragraphs>40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-apple-system</vt:lpstr>
      <vt:lpstr>Arial</vt:lpstr>
      <vt:lpstr>Calibri</vt:lpstr>
      <vt:lpstr>DevExpert</vt:lpstr>
      <vt:lpstr>Lato</vt:lpstr>
      <vt:lpstr>Rubik</vt:lpstr>
      <vt:lpstr>Ubuntu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UdeM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requisitos en metodologías ágiles- primera parte</dc:title>
  <dc:creator>Revisor 2</dc:creator>
  <cp:lastModifiedBy>Mauricio Ramirez</cp:lastModifiedBy>
  <cp:revision>37</cp:revision>
  <dcterms:created xsi:type="dcterms:W3CDTF">2016-10-24T14:29:55Z</dcterms:created>
  <dcterms:modified xsi:type="dcterms:W3CDTF">2023-10-19T06:23:35Z</dcterms:modified>
</cp:coreProperties>
</file>