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11" r:id="rId2"/>
    <p:sldId id="373" r:id="rId3"/>
    <p:sldId id="374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259" r:id="rId2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40"/>
    <p:restoredTop sz="94628"/>
  </p:normalViewPr>
  <p:slideViewPr>
    <p:cSldViewPr>
      <p:cViewPr varScale="1">
        <p:scale>
          <a:sx n="90" d="100"/>
          <a:sy n="90" d="100"/>
        </p:scale>
        <p:origin x="1133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9FE1-158E-45EC-B581-84D0C075B0A5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D412-B683-424A-B022-9DBF11AF83D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8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ADE16FA2-9656-BF4A-9875-F571C127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23D1283B-10B7-064E-AAFB-4EC586450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53ADA2E-09BF-6548-B1E6-80BD2EA9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13BA33E-0F4B-7847-A712-6A2FA6CCD335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imagen de diapositiva 1">
            <a:extLst>
              <a:ext uri="{FF2B5EF4-FFF2-40B4-BE49-F238E27FC236}">
                <a16:creationId xmlns:a16="http://schemas.microsoft.com/office/drawing/2014/main" id="{82BD881E-150D-4B49-9283-85CE434FA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Marcador de notas 2">
            <a:extLst>
              <a:ext uri="{FF2B5EF4-FFF2-40B4-BE49-F238E27FC236}">
                <a16:creationId xmlns:a16="http://schemas.microsoft.com/office/drawing/2014/main" id="{88054687-5C54-9D43-8334-4CF54F6E0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8612" name="Marcador de número de diapositiva 3">
            <a:extLst>
              <a:ext uri="{FF2B5EF4-FFF2-40B4-BE49-F238E27FC236}">
                <a16:creationId xmlns:a16="http://schemas.microsoft.com/office/drawing/2014/main" id="{FB407F55-1150-C847-920B-292070AE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4C73578-01C6-6D4B-B299-89C8470C66EB}" type="slidenum">
              <a:rPr lang="es-ES_tradnl" altLang="es-ES_tradnl" smtClean="0"/>
              <a:pPr/>
              <a:t>28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441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4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79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56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22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9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8">
            <a:extLst>
              <a:ext uri="{FF2B5EF4-FFF2-40B4-BE49-F238E27FC236}">
                <a16:creationId xmlns:a16="http://schemas.microsoft.com/office/drawing/2014/main" id="{A395BFF2-624B-5B43-9CEE-2F8593F6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57798" y="803114"/>
            <a:ext cx="7416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del software permite identificar las diferentes rutas que puede tener o que puede tomar un software cuando se esta ejecutando, para esto se define una notación que permite graficar el software y de esta forma definir los diferentes tipos de pruebas, unas de las pruebas que se pueden realizar es el de la ruta más corta, la ruta básica o las rutas alternas.</a:t>
            </a:r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640352-EB04-0428-E716-BCED25676897}"/>
              </a:ext>
            </a:extLst>
          </p:cNvPr>
          <p:cNvSpPr/>
          <p:nvPr/>
        </p:nvSpPr>
        <p:spPr>
          <a:xfrm>
            <a:off x="467544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A621378-FE19-598A-0D91-FC31F9C2B7C3}"/>
              </a:ext>
            </a:extLst>
          </p:cNvPr>
          <p:cNvCxnSpPr/>
          <p:nvPr/>
        </p:nvCxnSpPr>
        <p:spPr>
          <a:xfrm>
            <a:off x="107504" y="400506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64E46CD-36E8-7080-84EF-47E8C37156DF}"/>
              </a:ext>
            </a:extLst>
          </p:cNvPr>
          <p:cNvSpPr/>
          <p:nvPr/>
        </p:nvSpPr>
        <p:spPr>
          <a:xfrm>
            <a:off x="1259632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0CBEA39-E48C-ACB5-796C-31408566D92F}"/>
              </a:ext>
            </a:extLst>
          </p:cNvPr>
          <p:cNvCxnSpPr/>
          <p:nvPr/>
        </p:nvCxnSpPr>
        <p:spPr>
          <a:xfrm>
            <a:off x="899592" y="4005065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A027B7-DD2B-CE1A-64CB-93F5B675D3CF}"/>
              </a:ext>
            </a:extLst>
          </p:cNvPr>
          <p:cNvSpPr txBox="1"/>
          <p:nvPr/>
        </p:nvSpPr>
        <p:spPr>
          <a:xfrm>
            <a:off x="447016" y="2786562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Secuencia</a:t>
            </a:r>
            <a:endParaRPr lang="en-U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5ED0584-7C64-18FC-0C43-6985DCDFDB99}"/>
              </a:ext>
            </a:extLst>
          </p:cNvPr>
          <p:cNvSpPr/>
          <p:nvPr/>
        </p:nvSpPr>
        <p:spPr>
          <a:xfrm>
            <a:off x="2051720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514E5B0-96A8-CFD5-B346-0AD84B37508D}"/>
              </a:ext>
            </a:extLst>
          </p:cNvPr>
          <p:cNvSpPr/>
          <p:nvPr/>
        </p:nvSpPr>
        <p:spPr>
          <a:xfrm>
            <a:off x="2843808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9BEF0C3-29D3-A728-9019-B8061555F46F}"/>
              </a:ext>
            </a:extLst>
          </p:cNvPr>
          <p:cNvCxnSpPr/>
          <p:nvPr/>
        </p:nvCxnSpPr>
        <p:spPr>
          <a:xfrm>
            <a:off x="3275856" y="400506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E45964D-6C22-B67B-0A25-E05219CD98CF}"/>
              </a:ext>
            </a:extLst>
          </p:cNvPr>
          <p:cNvCxnSpPr/>
          <p:nvPr/>
        </p:nvCxnSpPr>
        <p:spPr>
          <a:xfrm>
            <a:off x="1691680" y="400506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86DF7E23-DB86-1227-8825-DA3E36CC38F2}"/>
              </a:ext>
            </a:extLst>
          </p:cNvPr>
          <p:cNvSpPr/>
          <p:nvPr/>
        </p:nvSpPr>
        <p:spPr>
          <a:xfrm>
            <a:off x="2420144" y="436511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710D293-F820-7906-A509-957736094A34}"/>
              </a:ext>
            </a:extLst>
          </p:cNvPr>
          <p:cNvSpPr/>
          <p:nvPr/>
        </p:nvSpPr>
        <p:spPr>
          <a:xfrm>
            <a:off x="2420144" y="3184265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7E1CF9F-6E0D-3704-32A1-FBFAEF3DE55E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2240124" y="3553035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4C2F228-3D48-111D-6928-08E631412F0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267744" y="4136667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222A258-2D32-63FC-7C54-CD39EE1AC4D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843808" y="3518959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579DFD3-8D0A-B753-4DFD-0F112E2CBE5B}"/>
              </a:ext>
            </a:extLst>
          </p:cNvPr>
          <p:cNvCxnSpPr>
            <a:cxnSpLocks/>
            <a:stCxn id="18" idx="7"/>
            <a:endCxn id="15" idx="4"/>
          </p:cNvCxnSpPr>
          <p:nvPr/>
        </p:nvCxnSpPr>
        <p:spPr>
          <a:xfrm flipV="1">
            <a:off x="2788920" y="4221082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FFC0832-10F7-5400-8196-96BC3AD9E0BD}"/>
              </a:ext>
            </a:extLst>
          </p:cNvPr>
          <p:cNvSpPr txBox="1"/>
          <p:nvPr/>
        </p:nvSpPr>
        <p:spPr>
          <a:xfrm>
            <a:off x="2483768" y="278656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FF8B3B56-BA6B-BBA3-B5FD-567A9FB3D2AB}"/>
              </a:ext>
            </a:extLst>
          </p:cNvPr>
          <p:cNvSpPr/>
          <p:nvPr/>
        </p:nvSpPr>
        <p:spPr>
          <a:xfrm>
            <a:off x="3635896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830A0F02-030B-D43C-AD54-D6DA4DABBDC1}"/>
              </a:ext>
            </a:extLst>
          </p:cNvPr>
          <p:cNvSpPr/>
          <p:nvPr/>
        </p:nvSpPr>
        <p:spPr>
          <a:xfrm>
            <a:off x="4427984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92951CE-93AA-DC30-0350-808EE78690EA}"/>
              </a:ext>
            </a:extLst>
          </p:cNvPr>
          <p:cNvCxnSpPr/>
          <p:nvPr/>
        </p:nvCxnSpPr>
        <p:spPr>
          <a:xfrm>
            <a:off x="4067944" y="400506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3F174EB9-0380-B5DF-BC60-A9AC6686CE23}"/>
              </a:ext>
            </a:extLst>
          </p:cNvPr>
          <p:cNvSpPr/>
          <p:nvPr/>
        </p:nvSpPr>
        <p:spPr>
          <a:xfrm rot="19005738">
            <a:off x="3710545" y="3615769"/>
            <a:ext cx="1002831" cy="942964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Arco 35">
            <a:extLst>
              <a:ext uri="{FF2B5EF4-FFF2-40B4-BE49-F238E27FC236}">
                <a16:creationId xmlns:a16="http://schemas.microsoft.com/office/drawing/2014/main" id="{E767645F-4ACF-7E5B-B05E-64C182CDE248}"/>
              </a:ext>
            </a:extLst>
          </p:cNvPr>
          <p:cNvSpPr/>
          <p:nvPr/>
        </p:nvSpPr>
        <p:spPr>
          <a:xfrm rot="8436114">
            <a:off x="3618624" y="2560013"/>
            <a:ext cx="2028836" cy="1913765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4EDE918-FA66-8AC3-3C9F-F1FAF1467E37}"/>
              </a:ext>
            </a:extLst>
          </p:cNvPr>
          <p:cNvSpPr/>
          <p:nvPr/>
        </p:nvSpPr>
        <p:spPr>
          <a:xfrm>
            <a:off x="5076056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C897A13-73E0-72C9-3433-7F70190F6F4D}"/>
              </a:ext>
            </a:extLst>
          </p:cNvPr>
          <p:cNvCxnSpPr>
            <a:cxnSpLocks/>
          </p:cNvCxnSpPr>
          <p:nvPr/>
        </p:nvCxnSpPr>
        <p:spPr>
          <a:xfrm>
            <a:off x="5508104" y="4005059"/>
            <a:ext cx="29641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FE6498-DC06-D9FB-AE6B-7C73EC13303C}"/>
              </a:ext>
            </a:extLst>
          </p:cNvPr>
          <p:cNvSpPr txBox="1"/>
          <p:nvPr/>
        </p:nvSpPr>
        <p:spPr>
          <a:xfrm>
            <a:off x="4254308" y="2786562"/>
            <a:ext cx="1022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Mientras</a:t>
            </a:r>
            <a:endParaRPr lang="en-US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5796136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6588224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BB5AE171-D362-C058-8C64-4545616F86E0}"/>
              </a:ext>
            </a:extLst>
          </p:cNvPr>
          <p:cNvCxnSpPr/>
          <p:nvPr/>
        </p:nvCxnSpPr>
        <p:spPr>
          <a:xfrm>
            <a:off x="6228184" y="4005065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o 43">
            <a:extLst>
              <a:ext uri="{FF2B5EF4-FFF2-40B4-BE49-F238E27FC236}">
                <a16:creationId xmlns:a16="http://schemas.microsoft.com/office/drawing/2014/main" id="{AEF84914-8B98-732A-D5F6-3F9D2F15364B}"/>
              </a:ext>
            </a:extLst>
          </p:cNvPr>
          <p:cNvSpPr/>
          <p:nvPr/>
        </p:nvSpPr>
        <p:spPr>
          <a:xfrm rot="19005738">
            <a:off x="5838973" y="3638703"/>
            <a:ext cx="1002831" cy="942964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7308304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2BE7733-FB5E-C054-4468-4A77966447FB}"/>
              </a:ext>
            </a:extLst>
          </p:cNvPr>
          <p:cNvCxnSpPr>
            <a:cxnSpLocks/>
          </p:cNvCxnSpPr>
          <p:nvPr/>
        </p:nvCxnSpPr>
        <p:spPr>
          <a:xfrm>
            <a:off x="7020272" y="4005061"/>
            <a:ext cx="290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18BC314-181C-E31E-EA38-07427F9701D0}"/>
              </a:ext>
            </a:extLst>
          </p:cNvPr>
          <p:cNvSpPr/>
          <p:nvPr/>
        </p:nvSpPr>
        <p:spPr>
          <a:xfrm>
            <a:off x="2051720" y="378340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68ACE61-8BAE-2D46-714D-923A3D23E798}"/>
              </a:ext>
            </a:extLst>
          </p:cNvPr>
          <p:cNvSpPr/>
          <p:nvPr/>
        </p:nvSpPr>
        <p:spPr>
          <a:xfrm>
            <a:off x="2420144" y="4359477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3EF2DE6-77E9-5836-10F4-EE038F509586}"/>
              </a:ext>
            </a:extLst>
          </p:cNvPr>
          <p:cNvSpPr/>
          <p:nvPr/>
        </p:nvSpPr>
        <p:spPr>
          <a:xfrm>
            <a:off x="2420144" y="317863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7B9A2C5-0136-0B0E-6BEF-98E0B0FED1EB}"/>
              </a:ext>
            </a:extLst>
          </p:cNvPr>
          <p:cNvCxnSpPr>
            <a:cxnSpLocks/>
            <a:endCxn id="54" idx="3"/>
          </p:cNvCxnSpPr>
          <p:nvPr/>
        </p:nvCxnSpPr>
        <p:spPr>
          <a:xfrm flipV="1">
            <a:off x="2240124" y="3547401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F40A7F6D-3145-F49A-7111-F837636683B2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267744" y="4131033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41AD53E-A0F7-048E-B8AC-3D18CCC4F6A0}"/>
              </a:ext>
            </a:extLst>
          </p:cNvPr>
          <p:cNvCxnSpPr>
            <a:cxnSpLocks/>
          </p:cNvCxnSpPr>
          <p:nvPr/>
        </p:nvCxnSpPr>
        <p:spPr>
          <a:xfrm>
            <a:off x="2843808" y="3513325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BF6DC4BB-C15D-541E-9887-E86FEFDB368E}"/>
              </a:ext>
            </a:extLst>
          </p:cNvPr>
          <p:cNvCxnSpPr>
            <a:cxnSpLocks/>
            <a:stCxn id="53" idx="7"/>
          </p:cNvCxnSpPr>
          <p:nvPr/>
        </p:nvCxnSpPr>
        <p:spPr>
          <a:xfrm flipV="1">
            <a:off x="2788920" y="4215448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4D3273E-F862-25BA-CE7C-262BBC07EF77}"/>
              </a:ext>
            </a:extLst>
          </p:cNvPr>
          <p:cNvSpPr txBox="1"/>
          <p:nvPr/>
        </p:nvSpPr>
        <p:spPr>
          <a:xfrm>
            <a:off x="2483768" y="278092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8C8238B-413F-7CB6-4289-CCD8BEDE5A6C}"/>
              </a:ext>
            </a:extLst>
          </p:cNvPr>
          <p:cNvSpPr/>
          <p:nvPr/>
        </p:nvSpPr>
        <p:spPr>
          <a:xfrm>
            <a:off x="8676456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7884368" y="378340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2682D5F-9B4D-476C-1C07-58B1D7CA279D}"/>
              </a:ext>
            </a:extLst>
          </p:cNvPr>
          <p:cNvSpPr/>
          <p:nvPr/>
        </p:nvSpPr>
        <p:spPr>
          <a:xfrm>
            <a:off x="8252792" y="4359477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3A09A49-D53F-5CDD-1645-D1791457A32A}"/>
              </a:ext>
            </a:extLst>
          </p:cNvPr>
          <p:cNvSpPr/>
          <p:nvPr/>
        </p:nvSpPr>
        <p:spPr>
          <a:xfrm>
            <a:off x="8252792" y="317863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6F6A9FAA-5154-E7B7-DE51-ABB16BAB488B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8072772" y="3547401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656BC03B-4208-580D-C2D1-D9082A730228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8100392" y="4131033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00BD858D-A56B-088A-BA2C-2F61A4FBDC83}"/>
              </a:ext>
            </a:extLst>
          </p:cNvPr>
          <p:cNvCxnSpPr>
            <a:cxnSpLocks/>
          </p:cNvCxnSpPr>
          <p:nvPr/>
        </p:nvCxnSpPr>
        <p:spPr>
          <a:xfrm>
            <a:off x="8676456" y="3513325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918E465A-A619-7330-5C08-9C5A8C67D7F7}"/>
              </a:ext>
            </a:extLst>
          </p:cNvPr>
          <p:cNvCxnSpPr>
            <a:cxnSpLocks/>
            <a:stCxn id="62" idx="7"/>
          </p:cNvCxnSpPr>
          <p:nvPr/>
        </p:nvCxnSpPr>
        <p:spPr>
          <a:xfrm flipV="1">
            <a:off x="8621568" y="4215448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8832008-F590-02CB-C03C-5375909C49D1}"/>
              </a:ext>
            </a:extLst>
          </p:cNvPr>
          <p:cNvSpPr txBox="1"/>
          <p:nvPr/>
        </p:nvSpPr>
        <p:spPr>
          <a:xfrm>
            <a:off x="8146873" y="209549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Caso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8244408" y="2510268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65E09B3-3E92-E079-7977-1FB0F7D83B5B}"/>
              </a:ext>
            </a:extLst>
          </p:cNvPr>
          <p:cNvCxnSpPr>
            <a:cxnSpLocks/>
            <a:stCxn id="61" idx="1"/>
            <a:endCxn id="70" idx="3"/>
          </p:cNvCxnSpPr>
          <p:nvPr/>
        </p:nvCxnSpPr>
        <p:spPr>
          <a:xfrm flipV="1">
            <a:off x="7947640" y="2879038"/>
            <a:ext cx="360040" cy="967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A5EF1301-C5DC-E75C-B3A8-344186599313}"/>
              </a:ext>
            </a:extLst>
          </p:cNvPr>
          <p:cNvCxnSpPr>
            <a:cxnSpLocks/>
            <a:endCxn id="60" idx="7"/>
          </p:cNvCxnSpPr>
          <p:nvPr/>
        </p:nvCxnSpPr>
        <p:spPr>
          <a:xfrm>
            <a:off x="8668072" y="2844962"/>
            <a:ext cx="377160" cy="100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D064F54-A421-C26E-0648-6F62FD9F3828}"/>
              </a:ext>
            </a:extLst>
          </p:cNvPr>
          <p:cNvSpPr txBox="1"/>
          <p:nvPr/>
        </p:nvSpPr>
        <p:spPr>
          <a:xfrm>
            <a:off x="6142819" y="2812283"/>
            <a:ext cx="71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Hasta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0BFDDB5A-F234-7003-68B5-A26894736E3A}"/>
              </a:ext>
            </a:extLst>
          </p:cNvPr>
          <p:cNvSpPr txBox="1"/>
          <p:nvPr/>
        </p:nvSpPr>
        <p:spPr>
          <a:xfrm>
            <a:off x="799846" y="5438723"/>
            <a:ext cx="7688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círculo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ramas</a:t>
            </a:r>
            <a:r>
              <a:rPr lang="en-US" dirty="0"/>
              <a:t> y </a:t>
            </a:r>
            <a:r>
              <a:rPr lang="en-US" dirty="0" err="1"/>
              <a:t>enunciados</a:t>
            </a:r>
            <a:r>
              <a:rPr lang="en-US" dirty="0"/>
              <a:t> del Código </a:t>
            </a:r>
            <a:r>
              <a:rPr lang="en-US" dirty="0" err="1"/>
              <a:t>fuente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57798" y="803114"/>
            <a:ext cx="7416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muestra el flujo de control lógico del software.</a:t>
            </a:r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640352-EB04-0428-E716-BCED25676897}"/>
              </a:ext>
            </a:extLst>
          </p:cNvPr>
          <p:cNvSpPr/>
          <p:nvPr/>
        </p:nvSpPr>
        <p:spPr>
          <a:xfrm>
            <a:off x="1907704" y="1340768"/>
            <a:ext cx="432048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5487513" y="3481708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6772436" y="3489754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7279538" y="4797158"/>
            <a:ext cx="454865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10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8C8238B-413F-7CB6-4289-CCD8BEDE5A6C}"/>
              </a:ext>
            </a:extLst>
          </p:cNvPr>
          <p:cNvSpPr/>
          <p:nvPr/>
        </p:nvSpPr>
        <p:spPr>
          <a:xfrm>
            <a:off x="7555153" y="2807003"/>
            <a:ext cx="569609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4,5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6206214" y="2807003"/>
            <a:ext cx="432048" cy="4320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2682D5F-9B4D-476C-1C07-58B1D7CA279D}"/>
              </a:ext>
            </a:extLst>
          </p:cNvPr>
          <p:cNvSpPr/>
          <p:nvPr/>
        </p:nvSpPr>
        <p:spPr>
          <a:xfrm>
            <a:off x="7294304" y="5386794"/>
            <a:ext cx="476865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3A09A49-D53F-5CDD-1645-D1791457A32A}"/>
              </a:ext>
            </a:extLst>
          </p:cNvPr>
          <p:cNvSpPr/>
          <p:nvPr/>
        </p:nvSpPr>
        <p:spPr>
          <a:xfrm>
            <a:off x="6884264" y="2161563"/>
            <a:ext cx="593208" cy="4320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2,3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656BC03B-4208-580D-C2D1-D9082A730228}"/>
              </a:ext>
            </a:extLst>
          </p:cNvPr>
          <p:cNvCxnSpPr>
            <a:cxnSpLocks/>
            <a:stCxn id="41" idx="4"/>
            <a:endCxn id="150" idx="2"/>
          </p:cNvCxnSpPr>
          <p:nvPr/>
        </p:nvCxnSpPr>
        <p:spPr>
          <a:xfrm>
            <a:off x="5703537" y="3913749"/>
            <a:ext cx="473717" cy="44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00BD858D-A56B-088A-BA2C-2F61A4FBDC83}"/>
              </a:ext>
            </a:extLst>
          </p:cNvPr>
          <p:cNvCxnSpPr>
            <a:cxnSpLocks/>
            <a:stCxn id="70" idx="4"/>
            <a:endCxn id="63" idx="0"/>
          </p:cNvCxnSpPr>
          <p:nvPr/>
        </p:nvCxnSpPr>
        <p:spPr>
          <a:xfrm>
            <a:off x="7078470" y="1676549"/>
            <a:ext cx="102398" cy="48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6862446" y="1244508"/>
            <a:ext cx="432048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65E09B3-3E92-E079-7977-1FB0F7D83B5B}"/>
              </a:ext>
            </a:extLst>
          </p:cNvPr>
          <p:cNvCxnSpPr>
            <a:cxnSpLocks/>
            <a:stCxn id="63" idx="2"/>
            <a:endCxn id="61" idx="0"/>
          </p:cNvCxnSpPr>
          <p:nvPr/>
        </p:nvCxnSpPr>
        <p:spPr>
          <a:xfrm flipH="1">
            <a:off x="6422238" y="2377584"/>
            <a:ext cx="462026" cy="42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mbo 3">
            <a:extLst>
              <a:ext uri="{FF2B5EF4-FFF2-40B4-BE49-F238E27FC236}">
                <a16:creationId xmlns:a16="http://schemas.microsoft.com/office/drawing/2014/main" id="{2B3F1198-4DE5-BFA1-8DE4-3E14290919A9}"/>
              </a:ext>
            </a:extLst>
          </p:cNvPr>
          <p:cNvSpPr/>
          <p:nvPr/>
        </p:nvSpPr>
        <p:spPr>
          <a:xfrm>
            <a:off x="1666528" y="2077673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F34D648B-4E9B-4E96-C87D-BB42975D4A90}"/>
              </a:ext>
            </a:extLst>
          </p:cNvPr>
          <p:cNvSpPr/>
          <p:nvPr/>
        </p:nvSpPr>
        <p:spPr>
          <a:xfrm>
            <a:off x="1666528" y="3645024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D0E8CA4C-145E-AA1F-1848-B31D1675A0F7}"/>
              </a:ext>
            </a:extLst>
          </p:cNvPr>
          <p:cNvSpPr/>
          <p:nvPr/>
        </p:nvSpPr>
        <p:spPr>
          <a:xfrm>
            <a:off x="849288" y="4284664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0C1EA8-4110-F147-A086-0D43F1B9E0DE}"/>
              </a:ext>
            </a:extLst>
          </p:cNvPr>
          <p:cNvSpPr/>
          <p:nvPr/>
        </p:nvSpPr>
        <p:spPr>
          <a:xfrm>
            <a:off x="1561589" y="2996952"/>
            <a:ext cx="1019339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E6C71E8-B20C-13BA-0DE7-EBEF991B91C8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2123728" y="1772809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AFB8BA6-6550-C404-6923-C278D9B1A125}"/>
              </a:ext>
            </a:extLst>
          </p:cNvPr>
          <p:cNvCxnSpPr>
            <a:cxnSpLocks/>
          </p:cNvCxnSpPr>
          <p:nvPr/>
        </p:nvCxnSpPr>
        <p:spPr>
          <a:xfrm>
            <a:off x="2123728" y="2692088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7E4A9D1-9F8D-B20E-7316-B581832C5777}"/>
              </a:ext>
            </a:extLst>
          </p:cNvPr>
          <p:cNvCxnSpPr>
            <a:cxnSpLocks/>
          </p:cNvCxnSpPr>
          <p:nvPr/>
        </p:nvCxnSpPr>
        <p:spPr>
          <a:xfrm>
            <a:off x="2123728" y="3356992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8A8918F-2B56-5BAF-D378-DBC720ED2D0B}"/>
              </a:ext>
            </a:extLst>
          </p:cNvPr>
          <p:cNvSpPr/>
          <p:nvPr/>
        </p:nvSpPr>
        <p:spPr>
          <a:xfrm>
            <a:off x="2555777" y="4421354"/>
            <a:ext cx="936104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61ABFD9-C41A-1DBD-D567-082A861817A2}"/>
              </a:ext>
            </a:extLst>
          </p:cNvPr>
          <p:cNvCxnSpPr>
            <a:cxnSpLocks/>
          </p:cNvCxnSpPr>
          <p:nvPr/>
        </p:nvCxnSpPr>
        <p:spPr>
          <a:xfrm>
            <a:off x="1306488" y="3957753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2E1E4E9-2F00-0B7D-36B6-7139C9EF916E}"/>
              </a:ext>
            </a:extLst>
          </p:cNvPr>
          <p:cNvCxnSpPr>
            <a:cxnSpLocks/>
          </p:cNvCxnSpPr>
          <p:nvPr/>
        </p:nvCxnSpPr>
        <p:spPr>
          <a:xfrm>
            <a:off x="2995979" y="3937272"/>
            <a:ext cx="0" cy="48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75E8CC2-4953-A79D-4E43-BA652ED28BE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306488" y="3937272"/>
            <a:ext cx="360040" cy="10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004ED50-2249-0C29-726B-B1EBFED51182}"/>
              </a:ext>
            </a:extLst>
          </p:cNvPr>
          <p:cNvCxnSpPr>
            <a:cxnSpLocks/>
          </p:cNvCxnSpPr>
          <p:nvPr/>
        </p:nvCxnSpPr>
        <p:spPr>
          <a:xfrm flipH="1" flipV="1">
            <a:off x="2555776" y="3937272"/>
            <a:ext cx="440203" cy="10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70455C3-A7BD-7D9D-D2BE-D54F93F26586}"/>
              </a:ext>
            </a:extLst>
          </p:cNvPr>
          <p:cNvSpPr/>
          <p:nvPr/>
        </p:nvSpPr>
        <p:spPr>
          <a:xfrm>
            <a:off x="2672142" y="5281234"/>
            <a:ext cx="817038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38AD15B1-2FFE-3409-4501-6984805BBDBE}"/>
              </a:ext>
            </a:extLst>
          </p:cNvPr>
          <p:cNvCxnSpPr>
            <a:cxnSpLocks/>
          </p:cNvCxnSpPr>
          <p:nvPr/>
        </p:nvCxnSpPr>
        <p:spPr>
          <a:xfrm>
            <a:off x="2993278" y="4797152"/>
            <a:ext cx="0" cy="48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117C6B36-FF21-F645-A3E5-5712185AF242}"/>
              </a:ext>
            </a:extLst>
          </p:cNvPr>
          <p:cNvSpPr/>
          <p:nvPr/>
        </p:nvSpPr>
        <p:spPr>
          <a:xfrm>
            <a:off x="1522714" y="5281234"/>
            <a:ext cx="817037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2213448-AD6F-782B-A1BD-66F9143A4BCE}"/>
              </a:ext>
            </a:extLst>
          </p:cNvPr>
          <p:cNvCxnSpPr>
            <a:cxnSpLocks/>
          </p:cNvCxnSpPr>
          <p:nvPr/>
        </p:nvCxnSpPr>
        <p:spPr>
          <a:xfrm flipH="1">
            <a:off x="1900646" y="4566672"/>
            <a:ext cx="7058" cy="718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570779E-ACED-A355-3A82-F8E388DDEE5D}"/>
              </a:ext>
            </a:extLst>
          </p:cNvPr>
          <p:cNvSpPr/>
          <p:nvPr/>
        </p:nvSpPr>
        <p:spPr>
          <a:xfrm>
            <a:off x="334436" y="5272078"/>
            <a:ext cx="817037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06B0546D-03EF-5234-C225-99FD5126DEA4}"/>
              </a:ext>
            </a:extLst>
          </p:cNvPr>
          <p:cNvCxnSpPr>
            <a:cxnSpLocks/>
          </p:cNvCxnSpPr>
          <p:nvPr/>
        </p:nvCxnSpPr>
        <p:spPr>
          <a:xfrm flipH="1">
            <a:off x="655571" y="4575497"/>
            <a:ext cx="7058" cy="70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38102DDB-EC54-4EDC-6CFE-7C5DAE7D84C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47187" y="4576912"/>
            <a:ext cx="2021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15AABC8D-3300-9D6B-8166-46FCA9DD57E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1763688" y="4576912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5E2C547A-BB38-7389-AAFB-B4234061A18D}"/>
              </a:ext>
            </a:extLst>
          </p:cNvPr>
          <p:cNvSpPr/>
          <p:nvPr/>
        </p:nvSpPr>
        <p:spPr>
          <a:xfrm>
            <a:off x="52586" y="6633837"/>
            <a:ext cx="281850" cy="21602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D6ACEA96-6739-D3E3-0087-D66B04EA42BD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193511" y="2369921"/>
            <a:ext cx="0" cy="426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217B6D21-C9B5-0F11-6B00-557DF7160E4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93511" y="2369921"/>
            <a:ext cx="14730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FE95D77C-BC37-B6E5-F3E1-EBF524AEB270}"/>
              </a:ext>
            </a:extLst>
          </p:cNvPr>
          <p:cNvCxnSpPr>
            <a:cxnSpLocks/>
          </p:cNvCxnSpPr>
          <p:nvPr/>
        </p:nvCxnSpPr>
        <p:spPr>
          <a:xfrm>
            <a:off x="1922081" y="5661276"/>
            <a:ext cx="0" cy="360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 recto de flecha 101">
            <a:extLst>
              <a:ext uri="{FF2B5EF4-FFF2-40B4-BE49-F238E27FC236}">
                <a16:creationId xmlns:a16="http://schemas.microsoft.com/office/drawing/2014/main" id="{59E89C30-2DD9-36DC-09D4-9EBF7C58C1D5}"/>
              </a:ext>
            </a:extLst>
          </p:cNvPr>
          <p:cNvCxnSpPr>
            <a:cxnSpLocks/>
          </p:cNvCxnSpPr>
          <p:nvPr/>
        </p:nvCxnSpPr>
        <p:spPr>
          <a:xfrm>
            <a:off x="677006" y="5623897"/>
            <a:ext cx="0" cy="396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3F99277D-989B-07A8-0715-CA6169F8DEA2}"/>
              </a:ext>
            </a:extLst>
          </p:cNvPr>
          <p:cNvCxnSpPr>
            <a:cxnSpLocks/>
          </p:cNvCxnSpPr>
          <p:nvPr/>
        </p:nvCxnSpPr>
        <p:spPr>
          <a:xfrm>
            <a:off x="692523" y="6021288"/>
            <a:ext cx="458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C5E5D370-EFF8-6AF5-CA3E-F25ED21750C3}"/>
              </a:ext>
            </a:extLst>
          </p:cNvPr>
          <p:cNvCxnSpPr>
            <a:cxnSpLocks/>
          </p:cNvCxnSpPr>
          <p:nvPr/>
        </p:nvCxnSpPr>
        <p:spPr>
          <a:xfrm>
            <a:off x="1378496" y="6021288"/>
            <a:ext cx="57600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ACB1358-C976-1CB7-862A-8E7EC26651F5}"/>
              </a:ext>
            </a:extLst>
          </p:cNvPr>
          <p:cNvCxnSpPr>
            <a:cxnSpLocks/>
          </p:cNvCxnSpPr>
          <p:nvPr/>
        </p:nvCxnSpPr>
        <p:spPr>
          <a:xfrm>
            <a:off x="1289221" y="6093296"/>
            <a:ext cx="0" cy="396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3518C1FB-B43E-9A9B-5EA2-782F1F8D7708}"/>
              </a:ext>
            </a:extLst>
          </p:cNvPr>
          <p:cNvCxnSpPr>
            <a:cxnSpLocks/>
          </p:cNvCxnSpPr>
          <p:nvPr/>
        </p:nvCxnSpPr>
        <p:spPr>
          <a:xfrm>
            <a:off x="1304738" y="6490687"/>
            <a:ext cx="458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FDBA52E-4926-7DDA-4C97-8D5613B2EF62}"/>
              </a:ext>
            </a:extLst>
          </p:cNvPr>
          <p:cNvSpPr txBox="1"/>
          <p:nvPr/>
        </p:nvSpPr>
        <p:spPr>
          <a:xfrm>
            <a:off x="1115616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8D6E259B-B603-7445-F931-3E4F3646CCF7}"/>
              </a:ext>
            </a:extLst>
          </p:cNvPr>
          <p:cNvCxnSpPr>
            <a:cxnSpLocks/>
          </p:cNvCxnSpPr>
          <p:nvPr/>
        </p:nvCxnSpPr>
        <p:spPr>
          <a:xfrm>
            <a:off x="3052534" y="5659897"/>
            <a:ext cx="0" cy="82447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28F68130-B415-1565-4ECE-373A8901A38E}"/>
              </a:ext>
            </a:extLst>
          </p:cNvPr>
          <p:cNvCxnSpPr>
            <a:cxnSpLocks/>
          </p:cNvCxnSpPr>
          <p:nvPr/>
        </p:nvCxnSpPr>
        <p:spPr>
          <a:xfrm>
            <a:off x="2483768" y="6484370"/>
            <a:ext cx="576000" cy="0"/>
          </a:xfrm>
          <a:prstGeom prst="straightConnector1">
            <a:avLst/>
          </a:prstGeom>
          <a:ln w="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E6A6DCFE-AAE4-4C8D-7D0F-ACC9A8A2D721}"/>
              </a:ext>
            </a:extLst>
          </p:cNvPr>
          <p:cNvSpPr txBox="1"/>
          <p:nvPr/>
        </p:nvSpPr>
        <p:spPr>
          <a:xfrm>
            <a:off x="1961059" y="6176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cxnSp>
        <p:nvCxnSpPr>
          <p:cNvPr id="125" name="Conector recto de flecha 124">
            <a:extLst>
              <a:ext uri="{FF2B5EF4-FFF2-40B4-BE49-F238E27FC236}">
                <a16:creationId xmlns:a16="http://schemas.microsoft.com/office/drawing/2014/main" id="{545DA7FA-5CE5-2DD9-A6AA-707C0A6F4C10}"/>
              </a:ext>
            </a:extLst>
          </p:cNvPr>
          <p:cNvCxnSpPr>
            <a:cxnSpLocks/>
          </p:cNvCxnSpPr>
          <p:nvPr/>
        </p:nvCxnSpPr>
        <p:spPr>
          <a:xfrm>
            <a:off x="2134771" y="6460609"/>
            <a:ext cx="0" cy="2575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5B444848-F61F-ADA8-F633-8A51BD3563D7}"/>
              </a:ext>
            </a:extLst>
          </p:cNvPr>
          <p:cNvCxnSpPr>
            <a:cxnSpLocks/>
          </p:cNvCxnSpPr>
          <p:nvPr/>
        </p:nvCxnSpPr>
        <p:spPr>
          <a:xfrm>
            <a:off x="2160349" y="6718121"/>
            <a:ext cx="169157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FF0C2603-8379-3021-8A03-41997CDA689E}"/>
              </a:ext>
            </a:extLst>
          </p:cNvPr>
          <p:cNvCxnSpPr>
            <a:cxnSpLocks/>
          </p:cNvCxnSpPr>
          <p:nvPr/>
        </p:nvCxnSpPr>
        <p:spPr>
          <a:xfrm>
            <a:off x="3851920" y="1925241"/>
            <a:ext cx="0" cy="479288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AE5275AB-9DA7-EE71-83C3-A124B4363C53}"/>
              </a:ext>
            </a:extLst>
          </p:cNvPr>
          <p:cNvCxnSpPr>
            <a:cxnSpLocks/>
          </p:cNvCxnSpPr>
          <p:nvPr/>
        </p:nvCxnSpPr>
        <p:spPr>
          <a:xfrm>
            <a:off x="2170411" y="1925241"/>
            <a:ext cx="1681509" cy="0"/>
          </a:xfrm>
          <a:prstGeom prst="straightConnector1">
            <a:avLst/>
          </a:prstGeom>
          <a:ln w="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5D51126A-C99D-ED94-CED0-13A53B476171}"/>
              </a:ext>
            </a:extLst>
          </p:cNvPr>
          <p:cNvCxnSpPr>
            <a:cxnSpLocks/>
            <a:stCxn id="63" idx="6"/>
            <a:endCxn id="60" idx="0"/>
          </p:cNvCxnSpPr>
          <p:nvPr/>
        </p:nvCxnSpPr>
        <p:spPr>
          <a:xfrm>
            <a:off x="7477472" y="2377584"/>
            <a:ext cx="362486" cy="42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Elipse 149">
            <a:extLst>
              <a:ext uri="{FF2B5EF4-FFF2-40B4-BE49-F238E27FC236}">
                <a16:creationId xmlns:a16="http://schemas.microsoft.com/office/drawing/2014/main" id="{5BDD911F-0061-BCA5-03F6-FCC593504D53}"/>
              </a:ext>
            </a:extLst>
          </p:cNvPr>
          <p:cNvSpPr/>
          <p:nvPr/>
        </p:nvSpPr>
        <p:spPr>
          <a:xfrm>
            <a:off x="6177254" y="414345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807A45AB-25D8-B6F5-4D95-454E94787B2D}"/>
              </a:ext>
            </a:extLst>
          </p:cNvPr>
          <p:cNvCxnSpPr>
            <a:cxnSpLocks/>
            <a:stCxn id="61" idx="2"/>
            <a:endCxn id="41" idx="0"/>
          </p:cNvCxnSpPr>
          <p:nvPr/>
        </p:nvCxnSpPr>
        <p:spPr>
          <a:xfrm flipH="1">
            <a:off x="5703537" y="3023024"/>
            <a:ext cx="502677" cy="458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D1352E16-4AEC-C966-7084-024DAF6955FD}"/>
              </a:ext>
            </a:extLst>
          </p:cNvPr>
          <p:cNvCxnSpPr>
            <a:cxnSpLocks/>
            <a:stCxn id="61" idx="5"/>
            <a:endCxn id="42" idx="0"/>
          </p:cNvCxnSpPr>
          <p:nvPr/>
        </p:nvCxnSpPr>
        <p:spPr>
          <a:xfrm>
            <a:off x="6574990" y="3175773"/>
            <a:ext cx="413470" cy="3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E9482ABA-2940-3966-9117-50538BC16D31}"/>
              </a:ext>
            </a:extLst>
          </p:cNvPr>
          <p:cNvCxnSpPr>
            <a:cxnSpLocks/>
            <a:stCxn id="42" idx="4"/>
            <a:endCxn id="150" idx="6"/>
          </p:cNvCxnSpPr>
          <p:nvPr/>
        </p:nvCxnSpPr>
        <p:spPr>
          <a:xfrm flipH="1">
            <a:off x="6609302" y="3921795"/>
            <a:ext cx="379158" cy="437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8A965CC3-5850-2F60-D155-7DDE35200D46}"/>
              </a:ext>
            </a:extLst>
          </p:cNvPr>
          <p:cNvSpPr txBox="1"/>
          <p:nvPr/>
        </p:nvSpPr>
        <p:spPr>
          <a:xfrm>
            <a:off x="406681" y="65334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398B672D-CECB-1191-E9E7-B9C756480086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6355205" y="4546754"/>
            <a:ext cx="924333" cy="46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de flecha 165">
            <a:extLst>
              <a:ext uri="{FF2B5EF4-FFF2-40B4-BE49-F238E27FC236}">
                <a16:creationId xmlns:a16="http://schemas.microsoft.com/office/drawing/2014/main" id="{1255AB13-DA4F-2E01-633E-1D83DB057D0F}"/>
              </a:ext>
            </a:extLst>
          </p:cNvPr>
          <p:cNvCxnSpPr>
            <a:cxnSpLocks/>
            <a:stCxn id="60" idx="4"/>
            <a:endCxn id="45" idx="0"/>
          </p:cNvCxnSpPr>
          <p:nvPr/>
        </p:nvCxnSpPr>
        <p:spPr>
          <a:xfrm flipH="1">
            <a:off x="7506971" y="3239044"/>
            <a:ext cx="332987" cy="155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Forma libre 170">
            <a:extLst>
              <a:ext uri="{FF2B5EF4-FFF2-40B4-BE49-F238E27FC236}">
                <a16:creationId xmlns:a16="http://schemas.microsoft.com/office/drawing/2014/main" id="{C5598567-B8DA-02FB-A2EA-1AC6EF4E839A}"/>
              </a:ext>
            </a:extLst>
          </p:cNvPr>
          <p:cNvSpPr/>
          <p:nvPr/>
        </p:nvSpPr>
        <p:spPr>
          <a:xfrm>
            <a:off x="4661484" y="1518834"/>
            <a:ext cx="2653716" cy="4091552"/>
          </a:xfrm>
          <a:custGeom>
            <a:avLst/>
            <a:gdLst>
              <a:gd name="connsiteX0" fmla="*/ 2204265 w 2653716"/>
              <a:gd name="connsiteY0" fmla="*/ 0 h 4091552"/>
              <a:gd name="connsiteX1" fmla="*/ 3506 w 2653716"/>
              <a:gd name="connsiteY1" fmla="*/ 2107769 h 4091552"/>
              <a:gd name="connsiteX2" fmla="*/ 2653716 w 2653716"/>
              <a:gd name="connsiteY2" fmla="*/ 4091552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3716" h="4091552">
                <a:moveTo>
                  <a:pt x="2204265" y="0"/>
                </a:moveTo>
                <a:cubicBezTo>
                  <a:pt x="1066431" y="712922"/>
                  <a:pt x="-71403" y="1425844"/>
                  <a:pt x="3506" y="2107769"/>
                </a:cubicBezTo>
                <a:cubicBezTo>
                  <a:pt x="78414" y="2789694"/>
                  <a:pt x="1366065" y="3440623"/>
                  <a:pt x="2653716" y="4091552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orma libre 171">
            <a:extLst>
              <a:ext uri="{FF2B5EF4-FFF2-40B4-BE49-F238E27FC236}">
                <a16:creationId xmlns:a16="http://schemas.microsoft.com/office/drawing/2014/main" id="{9A6F836F-88DB-7BE3-4988-477D598B0849}"/>
              </a:ext>
            </a:extLst>
          </p:cNvPr>
          <p:cNvSpPr/>
          <p:nvPr/>
        </p:nvSpPr>
        <p:spPr>
          <a:xfrm>
            <a:off x="7317424" y="1518834"/>
            <a:ext cx="1475351" cy="3378630"/>
          </a:xfrm>
          <a:custGeom>
            <a:avLst/>
            <a:gdLst>
              <a:gd name="connsiteX0" fmla="*/ 387458 w 1415582"/>
              <a:gd name="connsiteY0" fmla="*/ 3394128 h 3394128"/>
              <a:gd name="connsiteX1" fmla="*/ 1410346 w 1415582"/>
              <a:gd name="connsiteY1" fmla="*/ 1239864 h 3394128"/>
              <a:gd name="connsiteX2" fmla="*/ 0 w 1415582"/>
              <a:gd name="connsiteY2" fmla="*/ 0 h 339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5582" h="3394128">
                <a:moveTo>
                  <a:pt x="387458" y="3394128"/>
                </a:moveTo>
                <a:cubicBezTo>
                  <a:pt x="931190" y="2599840"/>
                  <a:pt x="1474922" y="1805552"/>
                  <a:pt x="1410346" y="1239864"/>
                </a:cubicBezTo>
                <a:cubicBezTo>
                  <a:pt x="1345770" y="674176"/>
                  <a:pt x="672885" y="33708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C8365C3E-4E39-2430-AE34-CA8BEA4D531F}"/>
              </a:ext>
            </a:extLst>
          </p:cNvPr>
          <p:cNvSpPr txBox="1"/>
          <p:nvPr/>
        </p:nvSpPr>
        <p:spPr>
          <a:xfrm>
            <a:off x="883403" y="16118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4324C62F-B641-9A96-2238-C91FC0785F98}"/>
              </a:ext>
            </a:extLst>
          </p:cNvPr>
          <p:cNvSpPr txBox="1"/>
          <p:nvPr/>
        </p:nvSpPr>
        <p:spPr>
          <a:xfrm>
            <a:off x="4804475" y="17358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89" name="Conector recto de flecha 188">
            <a:extLst>
              <a:ext uri="{FF2B5EF4-FFF2-40B4-BE49-F238E27FC236}">
                <a16:creationId xmlns:a16="http://schemas.microsoft.com/office/drawing/2014/main" id="{1C405E4E-A3D3-D91F-D1C7-CE1DFBCB074D}"/>
              </a:ext>
            </a:extLst>
          </p:cNvPr>
          <p:cNvCxnSpPr>
            <a:cxnSpLocks/>
            <a:endCxn id="62" idx="3"/>
          </p:cNvCxnSpPr>
          <p:nvPr/>
        </p:nvCxnSpPr>
        <p:spPr>
          <a:xfrm>
            <a:off x="6112823" y="5748485"/>
            <a:ext cx="1251316" cy="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553BE2E7-ABD7-4978-BD16-36F1C5A0C23F}"/>
              </a:ext>
            </a:extLst>
          </p:cNvPr>
          <p:cNvSpPr txBox="1"/>
          <p:nvPr/>
        </p:nvSpPr>
        <p:spPr>
          <a:xfrm>
            <a:off x="5313437" y="5563819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Nodo</a:t>
            </a:r>
            <a:endParaRPr lang="en-US" dirty="0"/>
          </a:p>
        </p:txBody>
      </p:sp>
      <p:cxnSp>
        <p:nvCxnSpPr>
          <p:cNvPr id="192" name="Conector recto de flecha 191">
            <a:extLst>
              <a:ext uri="{FF2B5EF4-FFF2-40B4-BE49-F238E27FC236}">
                <a16:creationId xmlns:a16="http://schemas.microsoft.com/office/drawing/2014/main" id="{62300F09-0510-48D0-F150-3C72D0DAA3A4}"/>
              </a:ext>
            </a:extLst>
          </p:cNvPr>
          <p:cNvCxnSpPr>
            <a:cxnSpLocks/>
          </p:cNvCxnSpPr>
          <p:nvPr/>
        </p:nvCxnSpPr>
        <p:spPr>
          <a:xfrm>
            <a:off x="5487513" y="5201918"/>
            <a:ext cx="858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6A6EBD89-2C4D-4D37-0F43-8AA21B402D5B}"/>
              </a:ext>
            </a:extLst>
          </p:cNvPr>
          <p:cNvSpPr txBox="1"/>
          <p:nvPr/>
        </p:nvSpPr>
        <p:spPr>
          <a:xfrm>
            <a:off x="4743379" y="4969834"/>
            <a:ext cx="722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Arista</a:t>
            </a:r>
          </a:p>
        </p:txBody>
      </p:sp>
      <p:cxnSp>
        <p:nvCxnSpPr>
          <p:cNvPr id="195" name="Conector recto de flecha 194">
            <a:extLst>
              <a:ext uri="{FF2B5EF4-FFF2-40B4-BE49-F238E27FC236}">
                <a16:creationId xmlns:a16="http://schemas.microsoft.com/office/drawing/2014/main" id="{5D22E8BE-CA31-9908-8F06-C3B74C802DE2}"/>
              </a:ext>
            </a:extLst>
          </p:cNvPr>
          <p:cNvCxnSpPr>
            <a:cxnSpLocks/>
          </p:cNvCxnSpPr>
          <p:nvPr/>
        </p:nvCxnSpPr>
        <p:spPr>
          <a:xfrm flipH="1" flipV="1">
            <a:off x="7891206" y="4359476"/>
            <a:ext cx="466047" cy="21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F95672AE-4FC6-EC3D-A191-00ABF3583AD0}"/>
              </a:ext>
            </a:extLst>
          </p:cNvPr>
          <p:cNvSpPr txBox="1"/>
          <p:nvPr/>
        </p:nvSpPr>
        <p:spPr>
          <a:xfrm>
            <a:off x="8294712" y="4181425"/>
            <a:ext cx="826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Región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Ejemplo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484634" y="692696"/>
            <a:ext cx="865936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Realizar las pruebas de caja blanca por medio:</a:t>
            </a:r>
            <a:r>
              <a:rPr lang="en-US" sz="2800" dirty="0"/>
              <a:t> </a:t>
            </a:r>
            <a:r>
              <a:rPr lang="en-US" sz="2800" dirty="0" err="1"/>
              <a:t>Diagrama</a:t>
            </a:r>
            <a:r>
              <a:rPr lang="en-US" sz="2800" dirty="0"/>
              <a:t> de </a:t>
            </a:r>
            <a:r>
              <a:rPr lang="en-US" sz="2800" dirty="0" err="1"/>
              <a:t>flujo</a:t>
            </a:r>
            <a:r>
              <a:rPr lang="en-US" sz="2800" dirty="0"/>
              <a:t>, </a:t>
            </a:r>
            <a:r>
              <a:rPr lang="en-US" sz="2800" dirty="0" err="1"/>
              <a:t>Diagrama</a:t>
            </a:r>
            <a:r>
              <a:rPr lang="en-US" sz="2800" dirty="0"/>
              <a:t> de </a:t>
            </a:r>
            <a:r>
              <a:rPr lang="en-US" sz="2800" dirty="0" err="1"/>
              <a:t>Grafos</a:t>
            </a:r>
            <a:r>
              <a:rPr lang="en-US" sz="2800" dirty="0"/>
              <a:t> y </a:t>
            </a:r>
            <a:r>
              <a:rPr lang="en-US" sz="2800" dirty="0" err="1"/>
              <a:t>Tabla</a:t>
            </a:r>
            <a:r>
              <a:rPr lang="en-US" sz="2800" dirty="0"/>
              <a:t> de </a:t>
            </a:r>
            <a:r>
              <a:rPr lang="en-US" sz="2800" dirty="0" err="1"/>
              <a:t>Pruebas</a:t>
            </a:r>
            <a:r>
              <a:rPr lang="en-US" sz="2800" dirty="0"/>
              <a:t> para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camino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2400" dirty="0"/>
              <a:t>While NOT final Do</a:t>
            </a:r>
          </a:p>
          <a:p>
            <a:r>
              <a:rPr lang="en-US" sz="2400" dirty="0"/>
              <a:t>    Leer</a:t>
            </a:r>
          </a:p>
          <a:p>
            <a:r>
              <a:rPr lang="en-US" sz="2400" dirty="0"/>
              <a:t>  IF campo1 =0 THEN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Procesar</a:t>
            </a:r>
            <a:r>
              <a:rPr lang="en-US" sz="2400" dirty="0"/>
              <a:t>()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Incrementar_contador</a:t>
            </a:r>
            <a:r>
              <a:rPr lang="en-US" sz="2400" dirty="0"/>
              <a:t>()</a:t>
            </a:r>
          </a:p>
          <a:p>
            <a:r>
              <a:rPr lang="en-US" sz="2400" dirty="0"/>
              <a:t>  ELSE IF campo1=1 THEN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reiniciar_contador</a:t>
            </a:r>
            <a:r>
              <a:rPr lang="en-US" sz="2400" dirty="0"/>
              <a:t>()</a:t>
            </a:r>
          </a:p>
          <a:p>
            <a:r>
              <a:rPr lang="en-US" sz="2400" dirty="0"/>
              <a:t> ELSE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Procesar</a:t>
            </a:r>
            <a:r>
              <a:rPr lang="en-US" sz="2400" dirty="0"/>
              <a:t>()</a:t>
            </a:r>
          </a:p>
          <a:p>
            <a:r>
              <a:rPr lang="en-US" sz="2400" dirty="0"/>
              <a:t>END IF</a:t>
            </a:r>
          </a:p>
          <a:p>
            <a:r>
              <a:rPr lang="en-US" sz="2400" dirty="0"/>
              <a:t>END WHILE</a:t>
            </a:r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747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Ejemplo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484634" y="692696"/>
            <a:ext cx="865936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Realizar las pruebas de caja blanca por medio:</a:t>
            </a:r>
            <a:r>
              <a:rPr lang="en-US" sz="2800" dirty="0"/>
              <a:t> </a:t>
            </a:r>
            <a:r>
              <a:rPr lang="en-US" sz="2800" dirty="0" err="1"/>
              <a:t>Diagrama</a:t>
            </a:r>
            <a:r>
              <a:rPr lang="en-US" sz="2800" dirty="0"/>
              <a:t> de </a:t>
            </a:r>
            <a:r>
              <a:rPr lang="en-US" sz="2800" dirty="0" err="1"/>
              <a:t>flujo</a:t>
            </a:r>
            <a:r>
              <a:rPr lang="en-US" sz="2800" dirty="0"/>
              <a:t>, </a:t>
            </a:r>
            <a:r>
              <a:rPr lang="en-US" sz="2800" dirty="0" err="1"/>
              <a:t>Diagrama</a:t>
            </a:r>
            <a:r>
              <a:rPr lang="en-US" sz="2800" dirty="0"/>
              <a:t> de </a:t>
            </a:r>
            <a:r>
              <a:rPr lang="en-US" sz="2800" dirty="0" err="1"/>
              <a:t>Grafos</a:t>
            </a:r>
            <a:r>
              <a:rPr lang="en-US" sz="2800" dirty="0"/>
              <a:t> y </a:t>
            </a:r>
            <a:r>
              <a:rPr lang="en-US" sz="2800" dirty="0" err="1"/>
              <a:t>Tabla</a:t>
            </a:r>
            <a:r>
              <a:rPr lang="en-US" sz="2800" dirty="0"/>
              <a:t> de </a:t>
            </a:r>
            <a:r>
              <a:rPr lang="en-US" sz="2800" dirty="0" err="1"/>
              <a:t>Pruebas</a:t>
            </a:r>
            <a:r>
              <a:rPr lang="en-US" sz="2800" dirty="0"/>
              <a:t> para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camino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2400" dirty="0"/>
              <a:t>While NOT final Do</a:t>
            </a:r>
          </a:p>
          <a:p>
            <a:r>
              <a:rPr lang="en-US" sz="2400" dirty="0"/>
              <a:t>    Leer</a:t>
            </a:r>
          </a:p>
          <a:p>
            <a:r>
              <a:rPr lang="en-US" sz="2400" dirty="0"/>
              <a:t>  IF campo1 =0 THEN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Procesar</a:t>
            </a:r>
            <a:r>
              <a:rPr lang="en-US" sz="2400" dirty="0"/>
              <a:t>()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Incrementar_contador</a:t>
            </a:r>
            <a:r>
              <a:rPr lang="en-US" sz="2400" dirty="0"/>
              <a:t>()</a:t>
            </a:r>
          </a:p>
          <a:p>
            <a:r>
              <a:rPr lang="en-US" sz="2400" dirty="0"/>
              <a:t>  ELSE IF campo1=1 THEN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reiniciar_contador</a:t>
            </a:r>
            <a:r>
              <a:rPr lang="en-US" sz="2400" dirty="0"/>
              <a:t>()</a:t>
            </a:r>
          </a:p>
          <a:p>
            <a:r>
              <a:rPr lang="en-US" sz="2400" dirty="0"/>
              <a:t> ELSE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Procesar</a:t>
            </a:r>
            <a:r>
              <a:rPr lang="en-US" sz="2400" dirty="0"/>
              <a:t>()</a:t>
            </a:r>
          </a:p>
          <a:p>
            <a:r>
              <a:rPr lang="en-US" sz="2400" dirty="0"/>
              <a:t>END IF</a:t>
            </a:r>
          </a:p>
          <a:p>
            <a:r>
              <a:rPr lang="en-US" sz="2400" dirty="0"/>
              <a:t>END WHILE</a:t>
            </a:r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34171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Ejemplo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484634" y="692696"/>
            <a:ext cx="86593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Realizar las pruebas de caja blanca por medio:</a:t>
            </a:r>
            <a:r>
              <a:rPr lang="en-US" sz="2800" dirty="0"/>
              <a:t> </a:t>
            </a:r>
            <a:r>
              <a:rPr lang="en-US" sz="2800" b="1" dirty="0" err="1"/>
              <a:t>Diagrama</a:t>
            </a:r>
            <a:r>
              <a:rPr lang="en-US" sz="2800" b="1" dirty="0"/>
              <a:t> de </a:t>
            </a:r>
            <a:r>
              <a:rPr lang="en-US" sz="2800" b="1" dirty="0" err="1"/>
              <a:t>flujo</a:t>
            </a:r>
            <a:r>
              <a:rPr lang="en-US" sz="2800" b="1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</a:p>
          <a:p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25DBEF-1B28-71F5-175C-0563AA6E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284" y="1291191"/>
            <a:ext cx="4675432" cy="525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3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Ejemplo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484634" y="692696"/>
            <a:ext cx="86593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Realizar las pruebas de caja blanca por medio:</a:t>
            </a:r>
            <a:r>
              <a:rPr lang="en-US" sz="2800" dirty="0"/>
              <a:t> </a:t>
            </a:r>
            <a:r>
              <a:rPr lang="en-US" sz="2800" dirty="0" err="1"/>
              <a:t>Diagrama</a:t>
            </a:r>
            <a:r>
              <a:rPr lang="en-US" sz="2800" dirty="0"/>
              <a:t> </a:t>
            </a:r>
            <a:r>
              <a:rPr lang="en-US" sz="2800" dirty="0" err="1"/>
              <a:t>Grafos</a:t>
            </a:r>
            <a:endParaRPr lang="en-US" sz="2800" dirty="0"/>
          </a:p>
          <a:p>
            <a:endParaRPr lang="es-E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CE059E-C511-62AC-62B4-4E94541A0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80727"/>
            <a:ext cx="3096344" cy="547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7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Ejemplo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484634" y="692696"/>
            <a:ext cx="86593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Realizar las pruebas de caja blanca por medio:</a:t>
            </a:r>
            <a:r>
              <a:rPr lang="en-US" sz="2800" dirty="0"/>
              <a:t> </a:t>
            </a:r>
            <a:r>
              <a:rPr lang="en-US" sz="2800" dirty="0" err="1"/>
              <a:t>Tabla</a:t>
            </a:r>
            <a:r>
              <a:rPr lang="en-US" sz="2800" dirty="0"/>
              <a:t> de </a:t>
            </a:r>
            <a:r>
              <a:rPr lang="en-US" sz="2800" dirty="0" err="1"/>
              <a:t>Pruebas</a:t>
            </a:r>
            <a:r>
              <a:rPr lang="en-US" sz="2800" dirty="0"/>
              <a:t> para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camino</a:t>
            </a:r>
            <a:endParaRPr lang="en-US" sz="2800" dirty="0"/>
          </a:p>
          <a:p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F1CBDA-50A3-6909-CC64-F3CC6ADFA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63750"/>
            <a:ext cx="7772400" cy="26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4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88082" y="-171400"/>
            <a:ext cx="9055918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Características de Pruebas de Caja Blanca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242317" y="1289953"/>
            <a:ext cx="865936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El sistema de monitorización basado en las pruebas de caja blanca cuenta con una serie de propiedades y elementos que lo caracterizan y permiten su funcionamiento en las máquinas o equipos de </a:t>
            </a:r>
            <a:r>
              <a:rPr lang="es-CO" sz="2400" i="1" dirty="0"/>
              <a:t>software</a:t>
            </a:r>
            <a:r>
              <a:rPr lang="es-CO" sz="2400" dirty="0"/>
              <a:t> con los que trabaja. </a:t>
            </a:r>
          </a:p>
          <a:p>
            <a:endParaRPr lang="es-CO" sz="2400" b="1" dirty="0"/>
          </a:p>
          <a:p>
            <a:r>
              <a:rPr lang="es-CO" sz="2400" b="1" dirty="0"/>
              <a:t>Se realiza sobre un módulo en específico, esto es, sobre un subsistema en concreto.</a:t>
            </a:r>
          </a:p>
          <a:p>
            <a:endParaRPr lang="es-CO" sz="2400" dirty="0"/>
          </a:p>
          <a:p>
            <a:r>
              <a:rPr lang="es-CO" sz="2400" dirty="0"/>
              <a:t>Estas pruebas de caja blanca </a:t>
            </a:r>
            <a:r>
              <a:rPr lang="es-CO" sz="2400" b="1" dirty="0"/>
              <a:t>se basan en los detalles referentes al código fuente</a:t>
            </a:r>
            <a:r>
              <a:rPr lang="es-CO" sz="2400" dirty="0"/>
              <a:t>, es decir, que se enfoca en su análisis y puede llevarse a cabo a nivel de integración o unidad del sistema para el desarrollo de </a:t>
            </a:r>
            <a:r>
              <a:rPr lang="es-CO" sz="2400" i="1" dirty="0"/>
              <a:t>software</a:t>
            </a:r>
            <a:r>
              <a:rPr lang="es-CO" sz="2400" dirty="0"/>
              <a:t>. </a:t>
            </a:r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2814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Pruebas de Caja Blanca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242317" y="836712"/>
            <a:ext cx="865936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Recordemos: </a:t>
            </a:r>
            <a:r>
              <a:rPr lang="es-CO" sz="2400" dirty="0"/>
              <a:t>La pruebas de caja blanca en informática pueden definirse como una </a:t>
            </a:r>
            <a:r>
              <a:rPr lang="es-CO" sz="2400" b="1" dirty="0"/>
              <a:t>técnica de monitorización o prueba de </a:t>
            </a:r>
            <a:r>
              <a:rPr lang="es-CO" sz="2400" b="1" i="1" dirty="0"/>
              <a:t>software</a:t>
            </a:r>
            <a:r>
              <a:rPr lang="es-CO" sz="2400" b="1" dirty="0"/>
              <a:t> en la se analiza el diseño, código y estructura interna</a:t>
            </a:r>
            <a:r>
              <a:rPr lang="es-CO" sz="2400" dirty="0"/>
              <a:t>, con el objetivo de mejorar propiedades como la seguridad y el uso eficiente del sistema.</a:t>
            </a:r>
          </a:p>
          <a:p>
            <a:endParaRPr lang="es-CO" sz="2400" dirty="0"/>
          </a:p>
          <a:p>
            <a:r>
              <a:rPr lang="es-CO" sz="2400" dirty="0"/>
              <a:t>Estas pruebas se caracterizan principalmente porque </a:t>
            </a:r>
            <a:r>
              <a:rPr lang="es-CO" sz="2400" b="1" dirty="0"/>
              <a:t>son los propios sistemas y aplicaciones quienes exponen sus métricas para que el usuario pueda leerlas, analizarlas y tomar decisiones</a:t>
            </a:r>
            <a:r>
              <a:rPr lang="es-CO" sz="2400" dirty="0"/>
              <a:t> y acciones en función de la obtención de un resultado u otro.</a:t>
            </a:r>
          </a:p>
          <a:p>
            <a:endParaRPr lang="es-CO" sz="2400" dirty="0"/>
          </a:p>
          <a:p>
            <a:r>
              <a:rPr lang="es-CO" sz="2400" dirty="0"/>
              <a:t>En las pruebas de monitorización de caja blanca, </a:t>
            </a:r>
            <a:r>
              <a:rPr lang="es-CO" sz="2400" b="1" dirty="0"/>
              <a:t>los propios probadores aparecen en el mismo código</a:t>
            </a:r>
            <a:r>
              <a:rPr lang="es-CO" sz="2400" dirty="0"/>
              <a:t>, por lo que este recurso también suele conocerse como prueba de caja transparente o prueba de caja de vidrio, entre otros</a:t>
            </a:r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539667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220613" y="-243408"/>
            <a:ext cx="8659366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Elementos de las Pruebas de Caja Blanca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220613" y="1659285"/>
            <a:ext cx="865936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Métricas: Las métricas en las pruebas de caja blanca </a:t>
            </a:r>
            <a:r>
              <a:rPr lang="es-CO" sz="2400" b="1" dirty="0"/>
              <a:t>pueden ser de todo tipo, dependiendo del sistema monitorizado</a:t>
            </a:r>
            <a:r>
              <a:rPr lang="es-CO" sz="2400" dirty="0"/>
              <a:t>. Este estándar de medición se utiliza con el objetivo de medir de forma cuantitativa el estado del sistema con respecto a diferentes componentes o atributos, como puede ser la seguridad, eficiencia y demás.</a:t>
            </a:r>
          </a:p>
          <a:p>
            <a:endParaRPr lang="es-CO" sz="2400" dirty="0"/>
          </a:p>
          <a:p>
            <a:endParaRPr lang="es-CO" sz="2400" dirty="0"/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88932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C5066-4425-7E36-00AC-02A756BE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7F9B7AA6-183F-BE31-3D31-22CD7143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13" y="-243408"/>
            <a:ext cx="8659366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Elementos de las Pruebas de Caja Blanca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B3D6123-5013-B674-F6D4-77780B1850B3}"/>
              </a:ext>
            </a:extLst>
          </p:cNvPr>
          <p:cNvSpPr txBox="1"/>
          <p:nvPr/>
        </p:nvSpPr>
        <p:spPr>
          <a:xfrm>
            <a:off x="220613" y="1017435"/>
            <a:ext cx="865936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sz="2400" dirty="0"/>
          </a:p>
          <a:p>
            <a:r>
              <a:rPr lang="es-CO" sz="2400" dirty="0"/>
              <a:t>APM: El </a:t>
            </a:r>
            <a:r>
              <a:rPr lang="es-CO" sz="2400" i="1" dirty="0" err="1"/>
              <a:t>Application</a:t>
            </a:r>
            <a:r>
              <a:rPr lang="es-CO" sz="2400" i="1" dirty="0"/>
              <a:t> Performance </a:t>
            </a:r>
            <a:r>
              <a:rPr lang="es-CO" sz="2400" i="1" dirty="0" err="1"/>
              <a:t>Metrics</a:t>
            </a:r>
            <a:r>
              <a:rPr lang="es-CO" sz="2400" dirty="0"/>
              <a:t> (APM) es uno de los componentes característicos del sistema de pruebas de caja blanca. Consiste en un sistema que se encarga de la </a:t>
            </a:r>
            <a:r>
              <a:rPr lang="es-CO" sz="2400" b="1" dirty="0"/>
              <a:t>recolección de métricas claves de la infraestructura y aplicación que se analiza</a:t>
            </a:r>
            <a:r>
              <a:rPr lang="es-CO" sz="2400" dirty="0"/>
              <a:t>, lo que permite que el usuario pueda identificar y solucionar los problemas de tipo funcional antes de que estos lleguen a tener un impacto negativo sobre los resultados a nivel comercial. Algunos ejemplos del APM son la </a:t>
            </a:r>
            <a:r>
              <a:rPr lang="es-CO" sz="2400" b="1" dirty="0"/>
              <a:t>tasa de error, el rendimiento o los tiempos de respuesta,</a:t>
            </a:r>
            <a:r>
              <a:rPr lang="es-CO" sz="2400" dirty="0"/>
              <a:t> entre otros.</a:t>
            </a:r>
          </a:p>
          <a:p>
            <a:endParaRPr lang="es-CO" sz="2400" dirty="0"/>
          </a:p>
          <a:p>
            <a:endParaRPr lang="en-US" sz="2800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66596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663A-6C11-3788-4FC1-A92ED50B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BF5DF205-1C60-A9D9-4438-26966865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Métricas Básicas Cobertura de Código </a:t>
            </a:r>
            <a:r>
              <a:rPr lang="es-CO" dirty="0" err="1"/>
              <a:t>Coverage</a:t>
            </a:r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32E4C7-0210-DFFC-58B8-E254F320BA80}"/>
                  </a:ext>
                </a:extLst>
              </p:cNvPr>
              <p:cNvSpPr txBox="1"/>
              <p:nvPr/>
            </p:nvSpPr>
            <p:spPr>
              <a:xfrm>
                <a:off x="191179" y="1370187"/>
                <a:ext cx="8748464" cy="5050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b="1" dirty="0"/>
                  <a:t>Definición</a:t>
                </a:r>
                <a:endParaRPr lang="es-CO" dirty="0"/>
              </a:p>
              <a:p>
                <a:pPr>
                  <a:buNone/>
                </a:pPr>
                <a:r>
                  <a:rPr lang="es-CO" dirty="0"/>
                  <a:t>La cobertura de código es una métrica de pruebas que mide el porcentaje del código fuente que ha sido ejecutado durante la ejecución de los casos de prueba.</a:t>
                </a:r>
              </a:p>
              <a:p>
                <a:pPr>
                  <a:buNone/>
                </a:pPr>
                <a:br>
                  <a:rPr lang="es-CO" dirty="0"/>
                </a:br>
                <a:endParaRPr lang="es-CO" dirty="0"/>
              </a:p>
              <a:p>
                <a:pPr>
                  <a:buNone/>
                </a:pPr>
                <a:r>
                  <a:rPr lang="es-CO" b="1" dirty="0"/>
                  <a:t>Interpretación</a:t>
                </a:r>
                <a:endParaRPr lang="es-CO" dirty="0"/>
              </a:p>
              <a:p>
                <a:pPr>
                  <a:buNone/>
                </a:pPr>
                <a:r>
                  <a:rPr lang="es-CO" dirty="0"/>
                  <a:t>Indica qué tanto del programa ha sido ejercitado por las pruebas.</a:t>
                </a:r>
              </a:p>
              <a:p>
                <a:pPr>
                  <a:buNone/>
                </a:pPr>
                <a:br>
                  <a:rPr lang="es-CO" dirty="0"/>
                </a:br>
                <a:endParaRPr lang="es-CO" dirty="0"/>
              </a:p>
              <a:p>
                <a:pPr>
                  <a:buNone/>
                </a:pPr>
                <a:r>
                  <a:rPr lang="es-CO" b="1" dirty="0"/>
                  <a:t>Fórmula general</a:t>
                </a:r>
                <a:endParaRPr lang="es-CO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O" b="0"/>
                        <m:t>Cobertura</m:t>
                      </m:r>
                      <m:r>
                        <a:rPr lang="es-CO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Elementos</m:t>
                          </m:r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ejecutados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Elementos</m:t>
                          </m:r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CO" b="0" i="1">
                              <a:latin typeface="Cambria Math" panose="02040503050406030204" pitchFamily="18" charset="0"/>
                            </a:rPr>
                            <m:t>totales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dirty="0"/>
                </a:br>
                <a:r>
                  <a:rPr lang="es-CO" b="1" dirty="0"/>
                  <a:t>Tipos principales</a:t>
                </a:r>
                <a:endParaRPr lang="es-CO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dirty="0"/>
                  <a:t>Cobertura de sentencias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dirty="0"/>
                  <a:t>Cobertura de decisiones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dirty="0"/>
                  <a:t>Cobertura de condiciones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dirty="0"/>
                  <a:t>Cobertura de caminos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32E4C7-0210-DFFC-58B8-E254F320B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79" y="1370187"/>
                <a:ext cx="8748464" cy="5050293"/>
              </a:xfrm>
              <a:prstGeom prst="rect">
                <a:avLst/>
              </a:prstGeom>
              <a:blipFill>
                <a:blip r:embed="rId2"/>
                <a:stretch>
                  <a:fillRect l="-557" t="-725" r="-627" b="-1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333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1F18-3CAD-ABAB-8ECE-A8228551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15346C1C-287F-B442-F229-EE54B120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Métricas Básicas Cobertura de Código </a:t>
            </a:r>
            <a:r>
              <a:rPr lang="es-CO" dirty="0" err="1"/>
              <a:t>Coverage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AF8BED-4CBC-AD73-B574-3231498B30BA}"/>
              </a:ext>
            </a:extLst>
          </p:cNvPr>
          <p:cNvSpPr txBox="1"/>
          <p:nvPr/>
        </p:nvSpPr>
        <p:spPr>
          <a:xfrm>
            <a:off x="191179" y="1370187"/>
            <a:ext cx="87484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</a:t>
            </a:r>
          </a:p>
          <a:p>
            <a:pPr>
              <a:buNone/>
            </a:pPr>
            <a:endParaRPr lang="es-CO" b="1" dirty="0"/>
          </a:p>
          <a:p>
            <a:pPr>
              <a:buNone/>
            </a:pPr>
            <a:r>
              <a:rPr lang="en-US" b="1" dirty="0"/>
              <a:t>if x&gt;0:   </a:t>
            </a:r>
          </a:p>
          <a:p>
            <a:pPr>
              <a:buNone/>
            </a:pPr>
            <a:r>
              <a:rPr lang="en-US" b="1" dirty="0"/>
              <a:t>	print("</a:t>
            </a:r>
            <a:r>
              <a:rPr lang="en-US" b="1" dirty="0" err="1"/>
              <a:t>positivo</a:t>
            </a:r>
            <a:r>
              <a:rPr lang="en-US" b="1" dirty="0"/>
              <a:t>")</a:t>
            </a:r>
          </a:p>
          <a:p>
            <a:pPr>
              <a:buNone/>
            </a:pPr>
            <a:r>
              <a:rPr lang="en-US" b="1" dirty="0"/>
              <a:t>else:   </a:t>
            </a:r>
          </a:p>
          <a:p>
            <a:pPr>
              <a:buNone/>
            </a:pPr>
            <a:r>
              <a:rPr lang="en-US" b="1" dirty="0"/>
              <a:t>	print("</a:t>
            </a:r>
            <a:r>
              <a:rPr lang="en-US" b="1" dirty="0" err="1"/>
              <a:t>negativo</a:t>
            </a:r>
            <a:r>
              <a:rPr lang="en-US" b="1" dirty="0"/>
              <a:t>")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Test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s-CO" b="1" dirty="0"/>
              <a:t>x=5</a:t>
            </a:r>
          </a:p>
          <a:p>
            <a:pPr>
              <a:buNone/>
            </a:pPr>
            <a:endParaRPr lang="es-CO" dirty="0"/>
          </a:p>
          <a:p>
            <a:pPr>
              <a:buNone/>
            </a:pPr>
            <a:endParaRPr lang="es-CO" dirty="0"/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Cobertura = 50%</a:t>
            </a:r>
          </a:p>
          <a:p>
            <a:pPr>
              <a:buNone/>
            </a:pPr>
            <a:endParaRPr lang="es-CO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Porque no se ejecuto el </a:t>
            </a:r>
            <a:r>
              <a:rPr lang="es-CO" b="1" dirty="0" err="1">
                <a:solidFill>
                  <a:srgbClr val="FF0000"/>
                </a:solidFill>
              </a:rPr>
              <a:t>else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46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F354-FF16-95B0-ABAE-41833005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A994991E-A69E-64F2-BB20-F8F830A4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/>
          </a:bodyPr>
          <a:lstStyle/>
          <a:p>
            <a:r>
              <a:rPr lang="es-CO" dirty="0"/>
              <a:t>Métricas Complejidad </a:t>
            </a:r>
            <a:r>
              <a:rPr lang="es-CO" dirty="0" err="1"/>
              <a:t>Ciclomática</a:t>
            </a:r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B14BB79-6B8C-CCCF-FE1E-9A56D5FFC977}"/>
                  </a:ext>
                </a:extLst>
              </p:cNvPr>
              <p:cNvSpPr txBox="1"/>
              <p:nvPr/>
            </p:nvSpPr>
            <p:spPr>
              <a:xfrm>
                <a:off x="191179" y="1370187"/>
                <a:ext cx="8748464" cy="4337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/>
                  <a:t>Definición</a:t>
                </a:r>
                <a:endParaRPr lang="es-CO" dirty="0"/>
              </a:p>
              <a:p>
                <a:r>
                  <a:rPr lang="es-CO" dirty="0"/>
                  <a:t>La complejidad </a:t>
                </a:r>
                <a:r>
                  <a:rPr lang="es-CO" dirty="0" err="1"/>
                  <a:t>ciclomática</a:t>
                </a:r>
                <a:r>
                  <a:rPr lang="es-CO" dirty="0"/>
                  <a:t> es una métrica estructural que mide el número de caminos lógicos independientes que existen en un programa.</a:t>
                </a:r>
              </a:p>
              <a:p>
                <a:br>
                  <a:rPr lang="es-CO" dirty="0"/>
                </a:br>
                <a:endParaRPr lang="es-CO" dirty="0"/>
              </a:p>
              <a:p>
                <a:r>
                  <a:rPr lang="es-CO" b="1" dirty="0"/>
                  <a:t>Interpretación</a:t>
                </a:r>
                <a:endParaRPr lang="es-CO" dirty="0"/>
              </a:p>
              <a:p>
                <a:r>
                  <a:rPr lang="es-CO" dirty="0"/>
                  <a:t>Indica cuántos casos de prueba mínimos se requieren para cubrir todas las decisiones del algoritmo.</a:t>
                </a:r>
              </a:p>
              <a:p>
                <a:br>
                  <a:rPr lang="es-CO" dirty="0"/>
                </a:br>
                <a:endParaRPr lang="es-CO" dirty="0"/>
              </a:p>
              <a:p>
                <a:r>
                  <a:rPr lang="es-CO" b="1" dirty="0"/>
                  <a:t>Fórmulas</a:t>
                </a:r>
                <a:endParaRPr lang="es-CO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/>
                        <m:t>𝑉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𝐺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𝐸</m:t>
                      </m:r>
                      <m:r>
                        <a:rPr lang="ar-AE"/>
                        <m:t>−</m:t>
                      </m:r>
                      <m:r>
                        <a:rPr lang="ar-AE" i="1"/>
                        <m:t>𝑁</m:t>
                      </m:r>
                      <m:r>
                        <a:rPr lang="ar-AE"/>
                        <m:t>+</m:t>
                      </m:r>
                      <m:r>
                        <a:rPr lang="ar-AE"/>
                        <m:t>2</m:t>
                      </m:r>
                      <m:r>
                        <a:rPr lang="ar-AE" i="1"/>
                        <m:t>𝑃</m:t>
                      </m:r>
                    </m:oMath>
                  </m:oMathPara>
                </a14:m>
                <a:endParaRPr lang="ar-AE" dirty="0"/>
              </a:p>
              <a:p>
                <a:r>
                  <a:rPr lang="es-CO" dirty="0"/>
                  <a:t>o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/>
                        <m:t>𝑉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𝐺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nor/>
                        </m:rPr>
                        <a:rPr lang="es-CO" i="1"/>
                        <m:t>n</m:t>
                      </m:r>
                      <m:limUpp>
                        <m:limUppPr>
                          <m:ctrlPr>
                            <a:rPr lang="ar-AE" i="1"/>
                          </m:ctrlPr>
                        </m:limUppPr>
                        <m:e>
                          <m:r>
                            <m:rPr>
                              <m:nor/>
                            </m:rPr>
                            <a:rPr lang="es-CO" i="1"/>
                            <m:t>u</m:t>
                          </m:r>
                        </m:e>
                        <m:lim>
                          <m:r>
                            <a:rPr lang="ar-AE"/>
                            <m:t>ˊ</m:t>
                          </m:r>
                        </m:lim>
                      </m:limUpp>
                      <m:r>
                        <m:rPr>
                          <m:nor/>
                        </m:rPr>
                        <a:rPr lang="es-CO" i="1"/>
                        <m:t>mero</m:t>
                      </m:r>
                      <m:r>
                        <m:rPr>
                          <m:nor/>
                        </m:rPr>
                        <a:rPr lang="es-CO" i="1"/>
                        <m:t> </m:t>
                      </m:r>
                      <m:r>
                        <m:rPr>
                          <m:nor/>
                        </m:rPr>
                        <a:rPr lang="es-CO" i="1"/>
                        <m:t>de</m:t>
                      </m:r>
                      <m:r>
                        <m:rPr>
                          <m:nor/>
                        </m:rPr>
                        <a:rPr lang="es-CO" i="1"/>
                        <m:t> </m:t>
                      </m:r>
                      <m:r>
                        <m:rPr>
                          <m:nor/>
                        </m:rPr>
                        <a:rPr lang="es-CO" i="1"/>
                        <m:t>decisiones</m:t>
                      </m:r>
                      <m:r>
                        <a:rPr lang="es-CO"/>
                        <m:t>+</m:t>
                      </m:r>
                      <m:r>
                        <a:rPr lang="es-CO"/>
                        <m:t>1</m:t>
                      </m:r>
                    </m:oMath>
                  </m:oMathPara>
                </a14:m>
                <a:endParaRPr lang="es-CO" b="0" dirty="0"/>
              </a:p>
              <a:p>
                <a:pPr>
                  <a:buNone/>
                </a:pPr>
                <a:endParaRPr lang="es-CO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B14BB79-6B8C-CCCF-FE1E-9A56D5FFC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79" y="1370187"/>
                <a:ext cx="8748464" cy="4337278"/>
              </a:xfrm>
              <a:prstGeom prst="rect">
                <a:avLst/>
              </a:prstGeom>
              <a:blipFill>
                <a:blip r:embed="rId2"/>
                <a:stretch>
                  <a:fillRect l="-557" t="-84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593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67E6-78BC-3ACC-D7A8-2803454F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91FD7F3F-439B-8104-A80E-408221D1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/>
          </a:bodyPr>
          <a:lstStyle/>
          <a:p>
            <a:r>
              <a:rPr lang="es-CO" dirty="0"/>
              <a:t>Métricas Complejidad </a:t>
            </a:r>
            <a:r>
              <a:rPr lang="es-CO" dirty="0" err="1"/>
              <a:t>Ciclomática</a:t>
            </a:r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FA1673-E67C-655C-B550-CB690D3944AC}"/>
              </a:ext>
            </a:extLst>
          </p:cNvPr>
          <p:cNvSpPr txBox="1"/>
          <p:nvPr/>
        </p:nvSpPr>
        <p:spPr>
          <a:xfrm>
            <a:off x="191179" y="1370187"/>
            <a:ext cx="87484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</a:t>
            </a:r>
          </a:p>
          <a:p>
            <a:pPr>
              <a:buNone/>
            </a:pPr>
            <a:endParaRPr lang="es-CO" b="1" dirty="0"/>
          </a:p>
          <a:p>
            <a:pPr>
              <a:buNone/>
            </a:pPr>
            <a:r>
              <a:rPr lang="en-US" b="1" dirty="0"/>
              <a:t>if x&gt;0:   </a:t>
            </a:r>
          </a:p>
          <a:p>
            <a:pPr>
              <a:buNone/>
            </a:pPr>
            <a:r>
              <a:rPr lang="en-US" b="1" dirty="0"/>
              <a:t>	print("</a:t>
            </a:r>
            <a:r>
              <a:rPr lang="en-US" b="1" dirty="0" err="1"/>
              <a:t>positivo</a:t>
            </a:r>
            <a:r>
              <a:rPr lang="en-US" b="1" dirty="0"/>
              <a:t>")</a:t>
            </a:r>
          </a:p>
          <a:p>
            <a:pPr>
              <a:buNone/>
            </a:pPr>
            <a:r>
              <a:rPr lang="en-US" b="1" dirty="0"/>
              <a:t>else:   </a:t>
            </a:r>
          </a:p>
          <a:p>
            <a:pPr>
              <a:buNone/>
            </a:pPr>
            <a:r>
              <a:rPr lang="en-US" b="1" dirty="0"/>
              <a:t>	print("</a:t>
            </a:r>
            <a:r>
              <a:rPr lang="en-US" b="1" dirty="0" err="1"/>
              <a:t>negativo</a:t>
            </a:r>
            <a:r>
              <a:rPr lang="en-US" b="1" dirty="0"/>
              <a:t>")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 err="1"/>
              <a:t>Decisiones</a:t>
            </a:r>
            <a:r>
              <a:rPr lang="en-US" b="1" dirty="0"/>
              <a:t> = 1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s-CO" b="1" dirty="0"/>
              <a:t>			V(G)=2</a:t>
            </a:r>
          </a:p>
          <a:p>
            <a:pPr>
              <a:buNone/>
            </a:pPr>
            <a:endParaRPr lang="es-CO" dirty="0"/>
          </a:p>
          <a:p>
            <a:pPr>
              <a:buNone/>
            </a:pPr>
            <a:endParaRPr lang="es-CO" dirty="0"/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Se necesitan 2 pruebas</a:t>
            </a:r>
          </a:p>
          <a:p>
            <a:pPr>
              <a:buNone/>
            </a:pPr>
            <a:endParaRPr lang="es-CO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x&gt;0</a:t>
            </a:r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x&gt;&lt;=0</a:t>
            </a:r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Número de caminos independientes de un programa</a:t>
            </a:r>
            <a:r>
              <a:rPr lang="es-CO" dirty="0"/>
              <a:t>.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53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61E6E-2167-7CB0-7530-D3B5E93E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8F112124-BC0F-5C29-A238-74F94EB4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/>
          </a:bodyPr>
          <a:lstStyle/>
          <a:p>
            <a:r>
              <a:rPr lang="es-CO" dirty="0"/>
              <a:t>Métricas Complejidad Cognitiva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374FF8-AED0-DF8F-2417-BE8736B3DD42}"/>
              </a:ext>
            </a:extLst>
          </p:cNvPr>
          <p:cNvSpPr txBox="1"/>
          <p:nvPr/>
        </p:nvSpPr>
        <p:spPr>
          <a:xfrm>
            <a:off x="191179" y="1370187"/>
            <a:ext cx="87484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Definición</a:t>
            </a:r>
            <a:endParaRPr lang="es-ES" dirty="0"/>
          </a:p>
          <a:p>
            <a:r>
              <a:rPr lang="es-ES" dirty="0"/>
              <a:t>La complejidad cognitiva es una métrica que mide el nivel de dificultad que tiene un algoritmo para ser comprendido por una persona.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Interpretación</a:t>
            </a:r>
            <a:endParaRPr lang="es-ES" dirty="0"/>
          </a:p>
          <a:p>
            <a:r>
              <a:rPr lang="es-ES" dirty="0"/>
              <a:t>Evalúa cuánto esfuerzo mental requiere leer y entender el código.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Qué aumenta la complejidad cognitiva</a:t>
            </a:r>
            <a:endParaRPr lang="es-ES" dirty="0"/>
          </a:p>
          <a:p>
            <a:r>
              <a:rPr lang="es-ES" dirty="0"/>
              <a:t>anidamientos profundos</a:t>
            </a:r>
          </a:p>
          <a:p>
            <a:r>
              <a:rPr lang="es-ES" dirty="0"/>
              <a:t>condiciones complejas</a:t>
            </a:r>
          </a:p>
          <a:p>
            <a:r>
              <a:rPr lang="es-ES" dirty="0"/>
              <a:t>recursividad</a:t>
            </a:r>
          </a:p>
          <a:p>
            <a:r>
              <a:rPr lang="es-ES" dirty="0"/>
              <a:t>saltos lógicos</a:t>
            </a:r>
          </a:p>
          <a:p>
            <a:r>
              <a:rPr lang="es-ES" dirty="0"/>
              <a:t>estructuras encadenadas</a:t>
            </a:r>
          </a:p>
          <a:p>
            <a:pPr>
              <a:buNone/>
            </a:pPr>
            <a:r>
              <a:rPr lang="es-CO" dirty="0"/>
              <a:t>.</a:t>
            </a:r>
            <a:endParaRPr lang="es-C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80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8FE3-444E-28D2-2374-1CC6AA89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70122518-F41A-2FF6-0624-E244DA07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/>
          </a:bodyPr>
          <a:lstStyle/>
          <a:p>
            <a:r>
              <a:rPr lang="es-CO" dirty="0"/>
              <a:t>Métricas Complejidad Cognitiva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DFA108-E6F5-6EF7-9074-85588FB6BD1D}"/>
              </a:ext>
            </a:extLst>
          </p:cNvPr>
          <p:cNvSpPr txBox="1"/>
          <p:nvPr/>
        </p:nvSpPr>
        <p:spPr>
          <a:xfrm>
            <a:off x="191179" y="1370187"/>
            <a:ext cx="87484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</a:t>
            </a:r>
          </a:p>
          <a:p>
            <a:pPr>
              <a:buNone/>
            </a:pPr>
            <a:endParaRPr lang="es-CO" b="1" dirty="0"/>
          </a:p>
          <a:p>
            <a:pPr>
              <a:buNone/>
            </a:pPr>
            <a:r>
              <a:rPr lang="es-CO" b="1" dirty="0"/>
              <a:t>Baja complejidad</a:t>
            </a:r>
          </a:p>
          <a:p>
            <a:pPr>
              <a:buNone/>
            </a:pPr>
            <a:r>
              <a:rPr lang="en-US" b="1" dirty="0"/>
              <a:t>if x&gt;0:   </a:t>
            </a:r>
          </a:p>
          <a:p>
            <a:pPr>
              <a:buNone/>
            </a:pPr>
            <a:r>
              <a:rPr lang="en-US" b="1" dirty="0"/>
              <a:t>	print("</a:t>
            </a:r>
            <a:r>
              <a:rPr lang="en-US" b="1" dirty="0" err="1"/>
              <a:t>positivo</a:t>
            </a:r>
            <a:r>
              <a:rPr lang="en-US" b="1" dirty="0"/>
              <a:t>")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s-CO" b="1" dirty="0"/>
              <a:t>Alta complejidad</a:t>
            </a:r>
          </a:p>
          <a:p>
            <a:pPr>
              <a:buNone/>
            </a:pPr>
            <a:r>
              <a:rPr lang="en-US" b="1" dirty="0"/>
              <a:t>if x&gt;0:   </a:t>
            </a:r>
          </a:p>
          <a:p>
            <a:r>
              <a:rPr lang="en-US" b="1" dirty="0"/>
              <a:t>    if y&gt;0:</a:t>
            </a:r>
          </a:p>
          <a:p>
            <a:r>
              <a:rPr lang="en-US" b="1" dirty="0"/>
              <a:t>        if z&gt;0:   </a:t>
            </a:r>
          </a:p>
          <a:p>
            <a:r>
              <a:rPr lang="en-US" b="1" dirty="0"/>
              <a:t>   	print("</a:t>
            </a:r>
            <a:r>
              <a:rPr lang="en-US" b="1" dirty="0" err="1"/>
              <a:t>positivo</a:t>
            </a:r>
            <a:r>
              <a:rPr lang="en-US" b="1" dirty="0"/>
              <a:t>")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No mide número de caminos de un programa, mide la dificultad humana.</a:t>
            </a:r>
          </a:p>
          <a:p>
            <a:pPr>
              <a:buNone/>
            </a:pPr>
            <a:endParaRPr lang="es-CO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b="1" dirty="0">
                <a:solidFill>
                  <a:srgbClr val="FF0000"/>
                </a:solidFill>
              </a:rPr>
              <a:t>Grado de dificultad para entender un algoritmo</a:t>
            </a:r>
          </a:p>
        </p:txBody>
      </p:sp>
    </p:spTree>
    <p:extLst>
      <p:ext uri="{BB962C8B-B14F-4D97-AF65-F5344CB8AC3E}">
        <p14:creationId xmlns:p14="http://schemas.microsoft.com/office/powerpoint/2010/main" val="3972658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1B44-7744-70EE-2B77-46F778D4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975A7433-9EA9-454A-482E-36958E21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4624"/>
            <a:ext cx="8659366" cy="1325563"/>
          </a:xfrm>
        </p:spPr>
        <p:txBody>
          <a:bodyPr>
            <a:normAutofit/>
          </a:bodyPr>
          <a:lstStyle/>
          <a:p>
            <a:r>
              <a:rPr lang="es-CO" dirty="0"/>
              <a:t>Diferencias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C60FA89-01BE-2C3A-C2DE-70B7D416D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15791"/>
              </p:ext>
            </p:extLst>
          </p:nvPr>
        </p:nvGraphicFramePr>
        <p:xfrm>
          <a:off x="457200" y="2333562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6766283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240428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51865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Perspectiva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09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Cobertura de 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Qué se probó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499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Complejidad ciclomática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Caminos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Estructura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54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Complejidad cognitiva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Dificultad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Humana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46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251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26292" y="2103437"/>
            <a:ext cx="4545707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Ejemplo Calculadora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4957F1-0FA3-3BB2-B137-8F0E2A323253}"/>
              </a:ext>
            </a:extLst>
          </p:cNvPr>
          <p:cNvSpPr txBox="1"/>
          <p:nvPr/>
        </p:nvSpPr>
        <p:spPr>
          <a:xfrm>
            <a:off x="4572000" y="117147"/>
            <a:ext cx="43204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# </a:t>
            </a:r>
            <a:r>
              <a:rPr lang="en-US" sz="800" dirty="0" err="1"/>
              <a:t>Función</a:t>
            </a:r>
            <a:r>
              <a:rPr lang="en-US" sz="800" dirty="0"/>
              <a:t> para </a:t>
            </a:r>
            <a:r>
              <a:rPr lang="en-US" sz="800" dirty="0" err="1"/>
              <a:t>sumar</a:t>
            </a:r>
            <a:r>
              <a:rPr lang="en-US" sz="800" dirty="0"/>
              <a:t> dos </a:t>
            </a:r>
            <a:r>
              <a:rPr lang="en-US" sz="800" dirty="0" err="1"/>
              <a:t>números</a:t>
            </a:r>
            <a:endParaRPr lang="en-US" sz="800" dirty="0"/>
          </a:p>
          <a:p>
            <a:r>
              <a:rPr lang="en-US" sz="800" dirty="0"/>
              <a:t>def </a:t>
            </a:r>
            <a:r>
              <a:rPr lang="en-US" sz="800" dirty="0" err="1"/>
              <a:t>suma</a:t>
            </a:r>
            <a:r>
              <a:rPr lang="en-US" sz="800" dirty="0"/>
              <a:t>(a, b):</a:t>
            </a:r>
          </a:p>
          <a:p>
            <a:r>
              <a:rPr lang="en-US" sz="800" dirty="0"/>
              <a:t>    return a + b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Función</a:t>
            </a:r>
            <a:r>
              <a:rPr lang="en-US" sz="800" dirty="0"/>
              <a:t> para </a:t>
            </a:r>
            <a:r>
              <a:rPr lang="en-US" sz="800" dirty="0" err="1"/>
              <a:t>restar</a:t>
            </a:r>
            <a:r>
              <a:rPr lang="en-US" sz="800" dirty="0"/>
              <a:t> dos </a:t>
            </a:r>
            <a:r>
              <a:rPr lang="en-US" sz="800" dirty="0" err="1"/>
              <a:t>números</a:t>
            </a:r>
            <a:endParaRPr lang="en-US" sz="800" dirty="0"/>
          </a:p>
          <a:p>
            <a:r>
              <a:rPr lang="en-US" sz="800" dirty="0"/>
              <a:t>def </a:t>
            </a:r>
            <a:r>
              <a:rPr lang="en-US" sz="800" dirty="0" err="1"/>
              <a:t>resta</a:t>
            </a:r>
            <a:r>
              <a:rPr lang="en-US" sz="800" dirty="0"/>
              <a:t>(a, b):</a:t>
            </a:r>
          </a:p>
          <a:p>
            <a:r>
              <a:rPr lang="en-US" sz="800" dirty="0"/>
              <a:t>    return a - b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Función</a:t>
            </a:r>
            <a:r>
              <a:rPr lang="en-US" sz="800" dirty="0"/>
              <a:t> para </a:t>
            </a:r>
            <a:r>
              <a:rPr lang="en-US" sz="800" dirty="0" err="1"/>
              <a:t>multiplicar</a:t>
            </a:r>
            <a:r>
              <a:rPr lang="en-US" sz="800" dirty="0"/>
              <a:t> dos </a:t>
            </a:r>
            <a:r>
              <a:rPr lang="en-US" sz="800" dirty="0" err="1"/>
              <a:t>números</a:t>
            </a:r>
            <a:endParaRPr lang="en-US" sz="800" dirty="0"/>
          </a:p>
          <a:p>
            <a:r>
              <a:rPr lang="en-US" sz="800" dirty="0"/>
              <a:t>def </a:t>
            </a:r>
            <a:r>
              <a:rPr lang="en-US" sz="800" dirty="0" err="1"/>
              <a:t>multiplicacion</a:t>
            </a:r>
            <a:r>
              <a:rPr lang="en-US" sz="800" dirty="0"/>
              <a:t>(a, b):</a:t>
            </a:r>
          </a:p>
          <a:p>
            <a:r>
              <a:rPr lang="en-US" sz="800" dirty="0"/>
              <a:t>    return a * b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Función</a:t>
            </a:r>
            <a:r>
              <a:rPr lang="en-US" sz="800" dirty="0"/>
              <a:t> para </a:t>
            </a:r>
            <a:r>
              <a:rPr lang="en-US" sz="800" dirty="0" err="1"/>
              <a:t>dividir</a:t>
            </a:r>
            <a:r>
              <a:rPr lang="en-US" sz="800" dirty="0"/>
              <a:t> dos </a:t>
            </a:r>
            <a:r>
              <a:rPr lang="en-US" sz="800" dirty="0" err="1"/>
              <a:t>números</a:t>
            </a:r>
            <a:endParaRPr lang="en-US" sz="800" dirty="0"/>
          </a:p>
          <a:p>
            <a:r>
              <a:rPr lang="en-US" sz="800" dirty="0"/>
              <a:t>def division(a, b):</a:t>
            </a:r>
          </a:p>
          <a:p>
            <a:r>
              <a:rPr lang="en-US" sz="800" dirty="0"/>
              <a:t>    if b == 0:</a:t>
            </a:r>
          </a:p>
          <a:p>
            <a:r>
              <a:rPr lang="en-US" sz="800" dirty="0"/>
              <a:t>        return "Error: No se </a:t>
            </a:r>
            <a:r>
              <a:rPr lang="en-US" sz="800" dirty="0" err="1"/>
              <a:t>puede</a:t>
            </a:r>
            <a:r>
              <a:rPr lang="en-US" sz="800" dirty="0"/>
              <a:t> </a:t>
            </a:r>
            <a:r>
              <a:rPr lang="en-US" sz="800" dirty="0" err="1"/>
              <a:t>dividir</a:t>
            </a:r>
            <a:r>
              <a:rPr lang="en-US" sz="800" dirty="0"/>
              <a:t> </a:t>
            </a:r>
            <a:r>
              <a:rPr lang="en-US" sz="800" dirty="0" err="1"/>
              <a:t>por</a:t>
            </a:r>
            <a:r>
              <a:rPr lang="en-US" sz="800" dirty="0"/>
              <a:t> cero"</a:t>
            </a:r>
          </a:p>
          <a:p>
            <a:r>
              <a:rPr lang="en-US" sz="800" dirty="0"/>
              <a:t>    return a / b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Función</a:t>
            </a:r>
            <a:r>
              <a:rPr lang="en-US" sz="800" dirty="0"/>
              <a:t> principal de la </a:t>
            </a:r>
            <a:r>
              <a:rPr lang="en-US" sz="800" dirty="0" err="1"/>
              <a:t>calculadora</a:t>
            </a:r>
            <a:endParaRPr lang="en-US" sz="800" dirty="0"/>
          </a:p>
          <a:p>
            <a:r>
              <a:rPr lang="en-US" sz="800" dirty="0"/>
              <a:t>def </a:t>
            </a:r>
            <a:r>
              <a:rPr lang="en-US" sz="800" dirty="0" err="1"/>
              <a:t>calculadora</a:t>
            </a:r>
            <a:r>
              <a:rPr lang="en-US" sz="800" dirty="0"/>
              <a:t>():</a:t>
            </a:r>
          </a:p>
          <a:p>
            <a:r>
              <a:rPr lang="en-US" sz="800" dirty="0"/>
              <a:t>    print("</a:t>
            </a:r>
            <a:r>
              <a:rPr lang="en-US" sz="800" dirty="0" err="1"/>
              <a:t>Calculadora</a:t>
            </a:r>
            <a:r>
              <a:rPr lang="en-US" sz="800" dirty="0"/>
              <a:t> Simple")</a:t>
            </a:r>
          </a:p>
          <a:p>
            <a:r>
              <a:rPr lang="en-US" sz="800" dirty="0"/>
              <a:t>    print("</a:t>
            </a:r>
            <a:r>
              <a:rPr lang="en-US" sz="800" dirty="0" err="1"/>
              <a:t>Operaciones</a:t>
            </a:r>
            <a:r>
              <a:rPr lang="en-US" sz="800" dirty="0"/>
              <a:t> </a:t>
            </a:r>
            <a:r>
              <a:rPr lang="en-US" sz="800" dirty="0" err="1"/>
              <a:t>disponibles</a:t>
            </a:r>
            <a:r>
              <a:rPr lang="en-US" sz="800" dirty="0"/>
              <a:t>:")</a:t>
            </a:r>
          </a:p>
          <a:p>
            <a:r>
              <a:rPr lang="en-US" sz="800" dirty="0"/>
              <a:t>    print("1. Suma")</a:t>
            </a:r>
          </a:p>
          <a:p>
            <a:r>
              <a:rPr lang="en-US" sz="800" dirty="0"/>
              <a:t>    print("2. </a:t>
            </a:r>
            <a:r>
              <a:rPr lang="en-US" sz="800" dirty="0" err="1"/>
              <a:t>Resta</a:t>
            </a:r>
            <a:r>
              <a:rPr lang="en-US" sz="800" dirty="0"/>
              <a:t>")</a:t>
            </a:r>
          </a:p>
          <a:p>
            <a:r>
              <a:rPr lang="en-US" sz="800" dirty="0"/>
              <a:t>    print("3. </a:t>
            </a:r>
            <a:r>
              <a:rPr lang="en-US" sz="800" dirty="0" err="1"/>
              <a:t>Multiplicación</a:t>
            </a:r>
            <a:r>
              <a:rPr lang="en-US" sz="800" dirty="0"/>
              <a:t>")</a:t>
            </a:r>
          </a:p>
          <a:p>
            <a:r>
              <a:rPr lang="en-US" sz="800" dirty="0"/>
              <a:t>    print("4. División")</a:t>
            </a:r>
          </a:p>
          <a:p>
            <a:endParaRPr lang="en-US" sz="800" dirty="0"/>
          </a:p>
          <a:p>
            <a:r>
              <a:rPr lang="en-US" sz="800" dirty="0"/>
              <a:t>    while True:</a:t>
            </a:r>
          </a:p>
          <a:p>
            <a:r>
              <a:rPr lang="en-US" sz="800" dirty="0"/>
              <a:t>        try: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opcion</a:t>
            </a:r>
            <a:r>
              <a:rPr lang="en-US" sz="800" dirty="0"/>
              <a:t> = int(input("</a:t>
            </a:r>
            <a:r>
              <a:rPr lang="en-US" sz="800" dirty="0" err="1"/>
              <a:t>Ingrese</a:t>
            </a:r>
            <a:r>
              <a:rPr lang="en-US" sz="800" dirty="0"/>
              <a:t> </a:t>
            </a:r>
            <a:r>
              <a:rPr lang="en-US" sz="800" dirty="0" err="1"/>
              <a:t>el</a:t>
            </a:r>
            <a:r>
              <a:rPr lang="en-US" sz="800" dirty="0"/>
              <a:t> </a:t>
            </a:r>
            <a:r>
              <a:rPr lang="en-US" sz="800" dirty="0" err="1"/>
              <a:t>número</a:t>
            </a:r>
            <a:r>
              <a:rPr lang="en-US" sz="800" dirty="0"/>
              <a:t> de la </a:t>
            </a:r>
            <a:r>
              <a:rPr lang="en-US" sz="800" dirty="0" err="1"/>
              <a:t>operación</a:t>
            </a:r>
            <a:r>
              <a:rPr lang="en-US" sz="800" dirty="0"/>
              <a:t> que </a:t>
            </a:r>
            <a:r>
              <a:rPr lang="en-US" sz="800" dirty="0" err="1"/>
              <a:t>desea</a:t>
            </a:r>
            <a:r>
              <a:rPr lang="en-US" sz="800" dirty="0"/>
              <a:t> </a:t>
            </a:r>
            <a:r>
              <a:rPr lang="en-US" sz="800" dirty="0" err="1"/>
              <a:t>realizar</a:t>
            </a:r>
            <a:r>
              <a:rPr lang="en-US" sz="800" dirty="0"/>
              <a:t> (1/2/3/4): "))</a:t>
            </a:r>
          </a:p>
          <a:p>
            <a:r>
              <a:rPr lang="en-US" sz="800" dirty="0"/>
              <a:t>            if </a:t>
            </a:r>
            <a:r>
              <a:rPr lang="en-US" sz="800" dirty="0" err="1"/>
              <a:t>opcion</a:t>
            </a:r>
            <a:r>
              <a:rPr lang="en-US" sz="800" dirty="0"/>
              <a:t> &lt; 1 or </a:t>
            </a:r>
            <a:r>
              <a:rPr lang="en-US" sz="800" dirty="0" err="1"/>
              <a:t>opcion</a:t>
            </a:r>
            <a:r>
              <a:rPr lang="en-US" sz="800" dirty="0"/>
              <a:t> &gt; 4:</a:t>
            </a:r>
          </a:p>
          <a:p>
            <a:r>
              <a:rPr lang="en-US" sz="800" dirty="0"/>
              <a:t>                print("</a:t>
            </a:r>
            <a:r>
              <a:rPr lang="en-US" sz="800" dirty="0" err="1"/>
              <a:t>Opción</a:t>
            </a:r>
            <a:r>
              <a:rPr lang="en-US" sz="800" dirty="0"/>
              <a:t> no </a:t>
            </a:r>
            <a:r>
              <a:rPr lang="en-US" sz="800" dirty="0" err="1"/>
              <a:t>válida</a:t>
            </a:r>
            <a:r>
              <a:rPr lang="en-US" sz="800" dirty="0"/>
              <a:t>. Por favor, </a:t>
            </a:r>
            <a:r>
              <a:rPr lang="en-US" sz="800" dirty="0" err="1"/>
              <a:t>elija</a:t>
            </a:r>
            <a:r>
              <a:rPr lang="en-US" sz="800" dirty="0"/>
              <a:t> </a:t>
            </a:r>
            <a:r>
              <a:rPr lang="en-US" sz="800" dirty="0" err="1"/>
              <a:t>una</a:t>
            </a:r>
            <a:r>
              <a:rPr lang="en-US" sz="800" dirty="0"/>
              <a:t> </a:t>
            </a:r>
            <a:r>
              <a:rPr lang="en-US" sz="800" dirty="0" err="1"/>
              <a:t>opción</a:t>
            </a:r>
            <a:r>
              <a:rPr lang="en-US" sz="800" dirty="0"/>
              <a:t> </a:t>
            </a:r>
            <a:r>
              <a:rPr lang="en-US" sz="800" dirty="0" err="1"/>
              <a:t>válida</a:t>
            </a:r>
            <a:r>
              <a:rPr lang="en-US" sz="800" dirty="0"/>
              <a:t>.")</a:t>
            </a:r>
          </a:p>
          <a:p>
            <a:r>
              <a:rPr lang="en-US" sz="800" dirty="0"/>
              <a:t>                continue</a:t>
            </a:r>
          </a:p>
          <a:p>
            <a:endParaRPr lang="en-US" sz="800" dirty="0"/>
          </a:p>
          <a:p>
            <a:r>
              <a:rPr lang="en-US" sz="800" dirty="0"/>
              <a:t>            num1 = float(input("</a:t>
            </a:r>
            <a:r>
              <a:rPr lang="en-US" sz="800" dirty="0" err="1"/>
              <a:t>Ingrese</a:t>
            </a:r>
            <a:r>
              <a:rPr lang="en-US" sz="800" dirty="0"/>
              <a:t> </a:t>
            </a:r>
            <a:r>
              <a:rPr lang="en-US" sz="800" dirty="0" err="1"/>
              <a:t>el</a:t>
            </a:r>
            <a:r>
              <a:rPr lang="en-US" sz="800" dirty="0"/>
              <a:t> primer </a:t>
            </a:r>
            <a:r>
              <a:rPr lang="en-US" sz="800" dirty="0" err="1"/>
              <a:t>número</a:t>
            </a:r>
            <a:r>
              <a:rPr lang="en-US" sz="800" dirty="0"/>
              <a:t>: "))</a:t>
            </a:r>
          </a:p>
          <a:p>
            <a:r>
              <a:rPr lang="en-US" sz="800" dirty="0"/>
              <a:t>            num2 = float(input("</a:t>
            </a:r>
            <a:r>
              <a:rPr lang="en-US" sz="800" dirty="0" err="1"/>
              <a:t>Ingrese</a:t>
            </a:r>
            <a:r>
              <a:rPr lang="en-US" sz="800" dirty="0"/>
              <a:t> </a:t>
            </a:r>
            <a:r>
              <a:rPr lang="en-US" sz="800" dirty="0" err="1"/>
              <a:t>el</a:t>
            </a:r>
            <a:r>
              <a:rPr lang="en-US" sz="800" dirty="0"/>
              <a:t> </a:t>
            </a:r>
            <a:r>
              <a:rPr lang="en-US" sz="800" dirty="0" err="1"/>
              <a:t>segundo</a:t>
            </a:r>
            <a:r>
              <a:rPr lang="en-US" sz="800" dirty="0"/>
              <a:t> </a:t>
            </a:r>
            <a:r>
              <a:rPr lang="en-US" sz="800" dirty="0" err="1"/>
              <a:t>número</a:t>
            </a:r>
            <a:r>
              <a:rPr lang="en-US" sz="800" dirty="0"/>
              <a:t>: "))</a:t>
            </a:r>
          </a:p>
          <a:p>
            <a:endParaRPr lang="en-US" sz="800" dirty="0"/>
          </a:p>
          <a:p>
            <a:r>
              <a:rPr lang="en-US" sz="800" dirty="0"/>
              <a:t>            if </a:t>
            </a:r>
            <a:r>
              <a:rPr lang="en-US" sz="800" dirty="0" err="1"/>
              <a:t>opcion</a:t>
            </a:r>
            <a:r>
              <a:rPr lang="en-US" sz="800" dirty="0"/>
              <a:t> == 1: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resultado</a:t>
            </a:r>
            <a:r>
              <a:rPr lang="en-US" sz="800" dirty="0"/>
              <a:t> = </a:t>
            </a:r>
            <a:r>
              <a:rPr lang="en-US" sz="800" dirty="0" err="1"/>
              <a:t>suma</a:t>
            </a:r>
            <a:r>
              <a:rPr lang="en-US" sz="800" dirty="0"/>
              <a:t>(num1, num2)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opcion</a:t>
            </a:r>
            <a:r>
              <a:rPr lang="en-US" sz="800" dirty="0"/>
              <a:t> == 2: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resultado</a:t>
            </a:r>
            <a:r>
              <a:rPr lang="en-US" sz="800" dirty="0"/>
              <a:t> = </a:t>
            </a:r>
            <a:r>
              <a:rPr lang="en-US" sz="800" dirty="0" err="1"/>
              <a:t>resta</a:t>
            </a:r>
            <a:r>
              <a:rPr lang="en-US" sz="800" dirty="0"/>
              <a:t>(num1, num2)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opcion</a:t>
            </a:r>
            <a:r>
              <a:rPr lang="en-US" sz="800" dirty="0"/>
              <a:t> == 3: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resultado</a:t>
            </a:r>
            <a:r>
              <a:rPr lang="en-US" sz="800" dirty="0"/>
              <a:t> = </a:t>
            </a:r>
            <a:r>
              <a:rPr lang="en-US" sz="800" dirty="0" err="1"/>
              <a:t>multiplicacion</a:t>
            </a:r>
            <a:r>
              <a:rPr lang="en-US" sz="800" dirty="0"/>
              <a:t>(num1, num2)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elif</a:t>
            </a:r>
            <a:r>
              <a:rPr lang="en-US" sz="800" dirty="0"/>
              <a:t> </a:t>
            </a:r>
            <a:r>
              <a:rPr lang="en-US" sz="800" dirty="0" err="1"/>
              <a:t>opcion</a:t>
            </a:r>
            <a:r>
              <a:rPr lang="en-US" sz="800" dirty="0"/>
              <a:t> == 4:</a:t>
            </a:r>
          </a:p>
          <a:p>
            <a:r>
              <a:rPr lang="en-US" sz="800" dirty="0"/>
              <a:t>                </a:t>
            </a:r>
            <a:r>
              <a:rPr lang="en-US" sz="800" dirty="0" err="1"/>
              <a:t>resultado</a:t>
            </a:r>
            <a:r>
              <a:rPr lang="en-US" sz="800" dirty="0"/>
              <a:t> = division(num1, num2)</a:t>
            </a:r>
          </a:p>
          <a:p>
            <a:endParaRPr lang="en-US" sz="800" dirty="0"/>
          </a:p>
          <a:p>
            <a:r>
              <a:rPr lang="en-US" sz="800" dirty="0"/>
              <a:t>            print("</a:t>
            </a:r>
            <a:r>
              <a:rPr lang="en-US" sz="800" dirty="0" err="1"/>
              <a:t>Resultado</a:t>
            </a:r>
            <a:r>
              <a:rPr lang="en-US" sz="800" dirty="0"/>
              <a:t>:", </a:t>
            </a:r>
            <a:r>
              <a:rPr lang="en-US" sz="800" dirty="0" err="1"/>
              <a:t>resultado</a:t>
            </a:r>
            <a:r>
              <a:rPr lang="en-US" sz="800" dirty="0"/>
              <a:t>)</a:t>
            </a:r>
          </a:p>
          <a:p>
            <a:r>
              <a:rPr lang="en-US" sz="800" dirty="0"/>
              <a:t>            break</a:t>
            </a:r>
          </a:p>
          <a:p>
            <a:endParaRPr lang="en-US" sz="800" dirty="0"/>
          </a:p>
          <a:p>
            <a:r>
              <a:rPr lang="en-US" sz="800" dirty="0"/>
              <a:t>        except </a:t>
            </a:r>
            <a:r>
              <a:rPr lang="en-US" sz="800" dirty="0" err="1"/>
              <a:t>ValueError</a:t>
            </a:r>
            <a:r>
              <a:rPr lang="en-US" sz="800" dirty="0"/>
              <a:t>:</a:t>
            </a:r>
          </a:p>
          <a:p>
            <a:r>
              <a:rPr lang="en-US" sz="800" dirty="0"/>
              <a:t>            print("Entrada </a:t>
            </a:r>
            <a:r>
              <a:rPr lang="en-US" sz="800" dirty="0" err="1"/>
              <a:t>inválida</a:t>
            </a:r>
            <a:r>
              <a:rPr lang="en-US" sz="800" dirty="0"/>
              <a:t>. </a:t>
            </a:r>
            <a:r>
              <a:rPr lang="en-US" sz="800" dirty="0" err="1"/>
              <a:t>Ingrese</a:t>
            </a:r>
            <a:r>
              <a:rPr lang="en-US" sz="800" dirty="0"/>
              <a:t> </a:t>
            </a:r>
            <a:r>
              <a:rPr lang="en-US" sz="800" dirty="0" err="1"/>
              <a:t>números</a:t>
            </a:r>
            <a:r>
              <a:rPr lang="en-US" sz="800" dirty="0"/>
              <a:t> </a:t>
            </a:r>
            <a:r>
              <a:rPr lang="en-US" sz="800" dirty="0" err="1"/>
              <a:t>válidos</a:t>
            </a:r>
            <a:r>
              <a:rPr lang="en-US" sz="800" dirty="0"/>
              <a:t>.")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Ejecutar</a:t>
            </a:r>
            <a:r>
              <a:rPr lang="en-US" sz="800" dirty="0"/>
              <a:t> la </a:t>
            </a:r>
            <a:r>
              <a:rPr lang="en-US" sz="800" dirty="0" err="1"/>
              <a:t>calculadora</a:t>
            </a:r>
            <a:endParaRPr lang="en-US" sz="800" dirty="0"/>
          </a:p>
          <a:p>
            <a:r>
              <a:rPr lang="en-US" sz="800" dirty="0" err="1"/>
              <a:t>calculadora</a:t>
            </a:r>
            <a:r>
              <a:rPr lang="en-US" sz="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61704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26292" y="2103437"/>
            <a:ext cx="4545707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Ejemplo de los Casos de Calculadora en Python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4957F1-0FA3-3BB2-B137-8F0E2A323253}"/>
              </a:ext>
            </a:extLst>
          </p:cNvPr>
          <p:cNvSpPr txBox="1"/>
          <p:nvPr/>
        </p:nvSpPr>
        <p:spPr>
          <a:xfrm>
            <a:off x="4557038" y="620688"/>
            <a:ext cx="4320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# </a:t>
            </a:r>
            <a:r>
              <a:rPr lang="en-US" sz="800" dirty="0" err="1"/>
              <a:t>Importa</a:t>
            </a:r>
            <a:r>
              <a:rPr lang="en-US" sz="800" dirty="0"/>
              <a:t> </a:t>
            </a:r>
            <a:r>
              <a:rPr lang="en-US" sz="800" dirty="0" err="1"/>
              <a:t>el</a:t>
            </a:r>
            <a:r>
              <a:rPr lang="en-US" sz="800" dirty="0"/>
              <a:t> </a:t>
            </a:r>
            <a:r>
              <a:rPr lang="en-US" sz="800" dirty="0" err="1"/>
              <a:t>módulo</a:t>
            </a:r>
            <a:r>
              <a:rPr lang="en-US" sz="800" dirty="0"/>
              <a:t> </a:t>
            </a:r>
            <a:r>
              <a:rPr lang="en-US" sz="800" dirty="0" err="1"/>
              <a:t>unittest</a:t>
            </a:r>
            <a:r>
              <a:rPr lang="en-US" sz="800" dirty="0"/>
              <a:t> para </a:t>
            </a:r>
            <a:r>
              <a:rPr lang="en-US" sz="800" dirty="0" err="1"/>
              <a:t>realizar</a:t>
            </a:r>
            <a:r>
              <a:rPr lang="en-US" sz="800" dirty="0"/>
              <a:t> </a:t>
            </a:r>
            <a:r>
              <a:rPr lang="en-US" sz="800" dirty="0" err="1"/>
              <a:t>pruebas</a:t>
            </a:r>
            <a:endParaRPr lang="en-US" sz="800" dirty="0"/>
          </a:p>
          <a:p>
            <a:r>
              <a:rPr lang="en-US" sz="800" dirty="0"/>
              <a:t>import </a:t>
            </a:r>
            <a:r>
              <a:rPr lang="en-US" sz="800" dirty="0" err="1"/>
              <a:t>unittest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en-US" sz="800" dirty="0" err="1"/>
              <a:t>Importa</a:t>
            </a:r>
            <a:r>
              <a:rPr lang="en-US" sz="800" dirty="0"/>
              <a:t> la </a:t>
            </a:r>
            <a:r>
              <a:rPr lang="en-US" sz="800" dirty="0" err="1"/>
              <a:t>función</a:t>
            </a:r>
            <a:r>
              <a:rPr lang="en-US" sz="800" dirty="0"/>
              <a:t> </a:t>
            </a:r>
            <a:r>
              <a:rPr lang="en-US" sz="800" dirty="0" err="1"/>
              <a:t>calculadora</a:t>
            </a:r>
            <a:r>
              <a:rPr lang="en-US" sz="800" dirty="0"/>
              <a:t> </a:t>
            </a:r>
            <a:r>
              <a:rPr lang="en-US" sz="800" dirty="0" err="1"/>
              <a:t>desde</a:t>
            </a:r>
            <a:r>
              <a:rPr lang="en-US" sz="800" dirty="0"/>
              <a:t> </a:t>
            </a:r>
            <a:r>
              <a:rPr lang="en-US" sz="800" dirty="0" err="1"/>
              <a:t>tu</a:t>
            </a:r>
            <a:r>
              <a:rPr lang="en-US" sz="800" dirty="0"/>
              <a:t> </a:t>
            </a:r>
            <a:r>
              <a:rPr lang="en-US" sz="800" dirty="0" err="1"/>
              <a:t>código</a:t>
            </a:r>
            <a:endParaRPr lang="en-US" sz="800" dirty="0"/>
          </a:p>
          <a:p>
            <a:r>
              <a:rPr lang="en-US" sz="800" dirty="0"/>
              <a:t>from </a:t>
            </a:r>
            <a:r>
              <a:rPr lang="en-US" sz="800" dirty="0" err="1"/>
              <a:t>calculadora</a:t>
            </a:r>
            <a:r>
              <a:rPr lang="en-US" sz="800" dirty="0"/>
              <a:t> import </a:t>
            </a:r>
            <a:r>
              <a:rPr lang="en-US" sz="800" dirty="0" err="1"/>
              <a:t>calculadora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class </a:t>
            </a:r>
            <a:r>
              <a:rPr lang="en-US" sz="800" dirty="0" err="1"/>
              <a:t>TestCalculadora</a:t>
            </a:r>
            <a:r>
              <a:rPr lang="en-US" sz="800" dirty="0"/>
              <a:t>(</a:t>
            </a:r>
            <a:r>
              <a:rPr lang="en-US" sz="800" dirty="0" err="1"/>
              <a:t>unittest.TestCase</a:t>
            </a:r>
            <a:r>
              <a:rPr lang="en-US" sz="800" dirty="0"/>
              <a:t>):</a:t>
            </a:r>
          </a:p>
          <a:p>
            <a:endParaRPr lang="en-US" sz="800" dirty="0"/>
          </a:p>
          <a:p>
            <a:r>
              <a:rPr lang="en-US" sz="800" dirty="0"/>
              <a:t>    # Casos de </a:t>
            </a:r>
            <a:r>
              <a:rPr lang="en-US" sz="800" dirty="0" err="1"/>
              <a:t>prueba</a:t>
            </a:r>
            <a:r>
              <a:rPr lang="en-US" sz="800" dirty="0"/>
              <a:t> para la </a:t>
            </a:r>
            <a:r>
              <a:rPr lang="en-US" sz="800" dirty="0" err="1"/>
              <a:t>suma</a:t>
            </a:r>
            <a:endParaRPr lang="en-US" sz="800" dirty="0"/>
          </a:p>
          <a:p>
            <a:r>
              <a:rPr lang="en-US" sz="800" dirty="0"/>
              <a:t>    def </a:t>
            </a:r>
            <a:r>
              <a:rPr lang="en-US" sz="800" dirty="0" err="1"/>
              <a:t>test_suma</a:t>
            </a:r>
            <a:r>
              <a:rPr lang="en-US" sz="800" dirty="0"/>
              <a:t>(self):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(1, 2, 1), 3)  # 1 + 2 = 3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(-1, 5, 1), 4)  # -1 + 5 = 4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(0, 0, 1), 0)  # 0 + 0 = 0</a:t>
            </a:r>
          </a:p>
          <a:p>
            <a:endParaRPr lang="en-US" sz="800" dirty="0"/>
          </a:p>
          <a:p>
            <a:r>
              <a:rPr lang="en-US" sz="800" dirty="0"/>
              <a:t>    # Casos de </a:t>
            </a:r>
            <a:r>
              <a:rPr lang="en-US" sz="800" dirty="0" err="1"/>
              <a:t>prueba</a:t>
            </a:r>
            <a:r>
              <a:rPr lang="en-US" sz="800" dirty="0"/>
              <a:t> para la </a:t>
            </a:r>
            <a:r>
              <a:rPr lang="en-US" sz="800" dirty="0" err="1"/>
              <a:t>resta</a:t>
            </a:r>
            <a:endParaRPr lang="en-US" sz="800" dirty="0"/>
          </a:p>
          <a:p>
            <a:r>
              <a:rPr lang="en-US" sz="800" dirty="0"/>
              <a:t>    def </a:t>
            </a:r>
            <a:r>
              <a:rPr lang="en-US" sz="800" dirty="0" err="1"/>
              <a:t>test_resta</a:t>
            </a:r>
            <a:r>
              <a:rPr lang="en-US" sz="800" dirty="0"/>
              <a:t>(self):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(5, 2, 2), 3)  # 5 - 2 = 3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(10, -3, 2), 13)  # 10 - (-3) = 13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(0, 0, 2), 0)  # 0 - 0 = 0</a:t>
            </a:r>
          </a:p>
          <a:p>
            <a:endParaRPr lang="en-US" sz="800" dirty="0"/>
          </a:p>
          <a:p>
            <a:r>
              <a:rPr lang="en-US" sz="800" dirty="0"/>
              <a:t>    # Casos de </a:t>
            </a:r>
            <a:r>
              <a:rPr lang="en-US" sz="800" dirty="0" err="1"/>
              <a:t>prueba</a:t>
            </a:r>
            <a:r>
              <a:rPr lang="en-US" sz="800" dirty="0"/>
              <a:t> para la </a:t>
            </a:r>
            <a:r>
              <a:rPr lang="en-US" sz="800" dirty="0" err="1"/>
              <a:t>multiplicación</a:t>
            </a:r>
            <a:endParaRPr lang="en-US" sz="800" dirty="0"/>
          </a:p>
          <a:p>
            <a:r>
              <a:rPr lang="en-US" sz="800" dirty="0"/>
              <a:t>    def </a:t>
            </a:r>
            <a:r>
              <a:rPr lang="en-US" sz="800" dirty="0" err="1"/>
              <a:t>test_multiplicacion</a:t>
            </a:r>
            <a:r>
              <a:rPr lang="en-US" sz="800" dirty="0"/>
              <a:t>(self):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(3, 4, 3), 12)  # 3 * 4 = 12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(2, -5, 3), -10)  # 2 * (-5) = -10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(0, 7, 3), 0)  # 0 * 7 = 0</a:t>
            </a:r>
          </a:p>
          <a:p>
            <a:endParaRPr lang="en-US" sz="800" dirty="0"/>
          </a:p>
          <a:p>
            <a:r>
              <a:rPr lang="en-US" sz="800" dirty="0"/>
              <a:t>    # Casos de </a:t>
            </a:r>
            <a:r>
              <a:rPr lang="en-US" sz="800" dirty="0" err="1"/>
              <a:t>prueba</a:t>
            </a:r>
            <a:r>
              <a:rPr lang="en-US" sz="800" dirty="0"/>
              <a:t> para la </a:t>
            </a:r>
            <a:r>
              <a:rPr lang="en-US" sz="800" dirty="0" err="1"/>
              <a:t>división</a:t>
            </a:r>
            <a:endParaRPr lang="en-US" sz="800" dirty="0"/>
          </a:p>
          <a:p>
            <a:r>
              <a:rPr lang="en-US" sz="800" dirty="0"/>
              <a:t>    def </a:t>
            </a:r>
            <a:r>
              <a:rPr lang="en-US" sz="800" dirty="0" err="1"/>
              <a:t>test_division</a:t>
            </a:r>
            <a:r>
              <a:rPr lang="en-US" sz="800" dirty="0"/>
              <a:t>(self):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(10, 2, 4), 5)  # 10 / 2 = 5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(5, 0, 4), "Error: No se </a:t>
            </a:r>
            <a:r>
              <a:rPr lang="en-US" sz="800" dirty="0" err="1"/>
              <a:t>puede</a:t>
            </a:r>
            <a:r>
              <a:rPr lang="en-US" sz="800" dirty="0"/>
              <a:t> </a:t>
            </a:r>
            <a:r>
              <a:rPr lang="en-US" sz="800" dirty="0" err="1"/>
              <a:t>dividir</a:t>
            </a:r>
            <a:r>
              <a:rPr lang="en-US" sz="800" dirty="0"/>
              <a:t> </a:t>
            </a:r>
            <a:r>
              <a:rPr lang="en-US" sz="800" dirty="0" err="1"/>
              <a:t>por</a:t>
            </a:r>
            <a:r>
              <a:rPr lang="en-US" sz="800" dirty="0"/>
              <a:t> cero")  # </a:t>
            </a:r>
            <a:r>
              <a:rPr lang="en-US" sz="800" dirty="0" err="1"/>
              <a:t>Intentar</a:t>
            </a:r>
            <a:r>
              <a:rPr lang="en-US" sz="800" dirty="0"/>
              <a:t> </a:t>
            </a:r>
            <a:r>
              <a:rPr lang="en-US" sz="800" dirty="0" err="1"/>
              <a:t>dividir</a:t>
            </a:r>
            <a:r>
              <a:rPr lang="en-US" sz="800" dirty="0"/>
              <a:t> </a:t>
            </a:r>
            <a:r>
              <a:rPr lang="en-US" sz="800" dirty="0" err="1"/>
              <a:t>por</a:t>
            </a:r>
            <a:r>
              <a:rPr lang="en-US" sz="800" dirty="0"/>
              <a:t> cero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self.assertEqual</a:t>
            </a:r>
            <a:r>
              <a:rPr lang="en-US" sz="800" dirty="0"/>
              <a:t>(</a:t>
            </a:r>
            <a:r>
              <a:rPr lang="en-US" sz="800" dirty="0" err="1"/>
              <a:t>calculadora</a:t>
            </a:r>
            <a:r>
              <a:rPr lang="en-US" sz="800" dirty="0"/>
              <a:t>(0, 7, 4), 0)  # 0 / 7 = 0</a:t>
            </a:r>
          </a:p>
          <a:p>
            <a:endParaRPr lang="en-US" sz="800" dirty="0"/>
          </a:p>
          <a:p>
            <a:r>
              <a:rPr lang="en-US" sz="800" dirty="0"/>
              <a:t>if __name__ == '__main__':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unittest.main</a:t>
            </a:r>
            <a:r>
              <a:rPr lang="en-US" sz="800" dirty="0"/>
              <a:t>()</a:t>
            </a:r>
          </a:p>
          <a:p>
            <a:r>
              <a:rPr lang="en-US" sz="800" dirty="0" err="1"/>
              <a:t>calculadora</a:t>
            </a:r>
            <a:r>
              <a:rPr lang="en-US" sz="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47921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26293" y="2103437"/>
            <a:ext cx="3177556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Ejemplo áreas geométricas </a:t>
            </a:r>
            <a:r>
              <a:rPr lang="es-CO" dirty="0" err="1"/>
              <a:t>bñasicas</a:t>
            </a:r>
            <a:r>
              <a:rPr lang="es-CO" dirty="0"/>
              <a:t> y los casos de prueba en JavaScript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4957F1-0FA3-3BB2-B137-8F0E2A323253}"/>
              </a:ext>
            </a:extLst>
          </p:cNvPr>
          <p:cNvSpPr txBox="1"/>
          <p:nvPr/>
        </p:nvSpPr>
        <p:spPr>
          <a:xfrm>
            <a:off x="3491880" y="319947"/>
            <a:ext cx="540172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// </a:t>
            </a:r>
            <a:r>
              <a:rPr lang="en-US" sz="1400" dirty="0" err="1"/>
              <a:t>Función</a:t>
            </a:r>
            <a:r>
              <a:rPr lang="en-US" sz="1400" dirty="0"/>
              <a:t> para </a:t>
            </a:r>
            <a:r>
              <a:rPr lang="en-US" sz="1400" dirty="0" err="1"/>
              <a:t>calcular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cuadrado</a:t>
            </a:r>
            <a:endParaRPr lang="en-US" sz="1400" dirty="0"/>
          </a:p>
          <a:p>
            <a:r>
              <a:rPr lang="en-US" sz="1400" dirty="0"/>
              <a:t>function </a:t>
            </a:r>
            <a:r>
              <a:rPr lang="en-US" sz="1400" dirty="0" err="1"/>
              <a:t>areaCuadrado</a:t>
            </a:r>
            <a:r>
              <a:rPr lang="en-US" sz="1400" dirty="0"/>
              <a:t>(</a:t>
            </a:r>
            <a:r>
              <a:rPr lang="en-US" sz="1400" dirty="0" err="1"/>
              <a:t>lado</a:t>
            </a:r>
            <a:r>
              <a:rPr lang="en-US" sz="1400" dirty="0"/>
              <a:t>) {</a:t>
            </a:r>
          </a:p>
          <a:p>
            <a:r>
              <a:rPr lang="en-US" sz="1400" dirty="0"/>
              <a:t>    return </a:t>
            </a:r>
            <a:r>
              <a:rPr lang="en-US" sz="1400" dirty="0" err="1"/>
              <a:t>lado</a:t>
            </a:r>
            <a:r>
              <a:rPr lang="en-US" sz="1400" dirty="0"/>
              <a:t> * </a:t>
            </a:r>
            <a:r>
              <a:rPr lang="en-US" sz="1400" dirty="0" err="1"/>
              <a:t>lado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en-US" sz="1400" dirty="0" err="1"/>
              <a:t>Función</a:t>
            </a:r>
            <a:r>
              <a:rPr lang="en-US" sz="1400" dirty="0"/>
              <a:t> para </a:t>
            </a:r>
            <a:r>
              <a:rPr lang="en-US" sz="1400" dirty="0" err="1"/>
              <a:t>calcular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rectángulo</a:t>
            </a:r>
            <a:endParaRPr lang="en-US" sz="1400" dirty="0"/>
          </a:p>
          <a:p>
            <a:r>
              <a:rPr lang="en-US" sz="1400" dirty="0"/>
              <a:t>function </a:t>
            </a:r>
            <a:r>
              <a:rPr lang="en-US" sz="1400" dirty="0" err="1"/>
              <a:t>areaRectangulo</a:t>
            </a:r>
            <a:r>
              <a:rPr lang="en-US" sz="1400" dirty="0"/>
              <a:t>(base, </a:t>
            </a:r>
            <a:r>
              <a:rPr lang="en-US" sz="1400" dirty="0" err="1"/>
              <a:t>altura</a:t>
            </a:r>
            <a:r>
              <a:rPr lang="en-US" sz="1400" dirty="0"/>
              <a:t>) {</a:t>
            </a:r>
          </a:p>
          <a:p>
            <a:r>
              <a:rPr lang="en-US" sz="1400" dirty="0"/>
              <a:t>    return base * </a:t>
            </a:r>
            <a:r>
              <a:rPr lang="en-US" sz="1400" dirty="0" err="1"/>
              <a:t>altura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en-US" sz="1400" dirty="0" err="1"/>
              <a:t>Función</a:t>
            </a:r>
            <a:r>
              <a:rPr lang="en-US" sz="1400" dirty="0"/>
              <a:t> para </a:t>
            </a:r>
            <a:r>
              <a:rPr lang="en-US" sz="1400" dirty="0" err="1"/>
              <a:t>calcular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triángulo</a:t>
            </a:r>
            <a:endParaRPr lang="en-US" sz="1400" dirty="0"/>
          </a:p>
          <a:p>
            <a:r>
              <a:rPr lang="en-US" sz="1400" dirty="0"/>
              <a:t>function </a:t>
            </a:r>
            <a:r>
              <a:rPr lang="en-US" sz="1400" dirty="0" err="1"/>
              <a:t>areaTriangulo</a:t>
            </a:r>
            <a:r>
              <a:rPr lang="en-US" sz="1400" dirty="0"/>
              <a:t>(base, </a:t>
            </a:r>
            <a:r>
              <a:rPr lang="en-US" sz="1400" dirty="0" err="1"/>
              <a:t>altura</a:t>
            </a:r>
            <a:r>
              <a:rPr lang="en-US" sz="1400" dirty="0"/>
              <a:t>) {</a:t>
            </a:r>
          </a:p>
          <a:p>
            <a:r>
              <a:rPr lang="en-US" sz="1400" dirty="0"/>
              <a:t>    return (base * </a:t>
            </a:r>
            <a:r>
              <a:rPr lang="en-US" sz="1400" dirty="0" err="1"/>
              <a:t>altura</a:t>
            </a:r>
            <a:r>
              <a:rPr lang="en-US" sz="1400" dirty="0"/>
              <a:t>) / 2;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en-US" sz="1400" dirty="0" err="1"/>
              <a:t>Función</a:t>
            </a:r>
            <a:r>
              <a:rPr lang="en-US" sz="1400" dirty="0"/>
              <a:t> para </a:t>
            </a:r>
            <a:r>
              <a:rPr lang="en-US" sz="1400" dirty="0" err="1"/>
              <a:t>calcular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círculo</a:t>
            </a:r>
            <a:endParaRPr lang="en-US" sz="1400" dirty="0"/>
          </a:p>
          <a:p>
            <a:r>
              <a:rPr lang="en-US" sz="1400" dirty="0"/>
              <a:t>function </a:t>
            </a:r>
            <a:r>
              <a:rPr lang="en-US" sz="1400" dirty="0" err="1"/>
              <a:t>areaCirculo</a:t>
            </a:r>
            <a:r>
              <a:rPr lang="en-US" sz="1400" dirty="0"/>
              <a:t>(radio) {</a:t>
            </a:r>
          </a:p>
          <a:p>
            <a:r>
              <a:rPr lang="en-US" sz="1400" dirty="0"/>
              <a:t>    return </a:t>
            </a:r>
            <a:r>
              <a:rPr lang="en-US" sz="1400" dirty="0" err="1"/>
              <a:t>Math.PI</a:t>
            </a:r>
            <a:r>
              <a:rPr lang="en-US" sz="1400" dirty="0"/>
              <a:t> * </a:t>
            </a:r>
            <a:r>
              <a:rPr lang="en-US" sz="1400" dirty="0" err="1"/>
              <a:t>Math.pow</a:t>
            </a:r>
            <a:r>
              <a:rPr lang="en-US" sz="1400" dirty="0"/>
              <a:t>(radio, 2);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b="1" dirty="0"/>
              <a:t>// Casos de </a:t>
            </a:r>
            <a:r>
              <a:rPr lang="en-US" sz="1400" b="1" dirty="0" err="1"/>
              <a:t>prueba</a:t>
            </a:r>
            <a:endParaRPr lang="en-US" sz="1400" b="1" dirty="0"/>
          </a:p>
          <a:p>
            <a:r>
              <a:rPr lang="en-US" sz="1400" dirty="0" err="1"/>
              <a:t>console.log</a:t>
            </a:r>
            <a:r>
              <a:rPr lang="en-US" sz="1400" dirty="0"/>
              <a:t>("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cuadrado</a:t>
            </a:r>
            <a:r>
              <a:rPr lang="en-US" sz="1400" dirty="0"/>
              <a:t> (</a:t>
            </a:r>
            <a:r>
              <a:rPr lang="en-US" sz="1400" dirty="0" err="1"/>
              <a:t>lado</a:t>
            </a:r>
            <a:r>
              <a:rPr lang="en-US" sz="1400" dirty="0"/>
              <a:t> = 5):", </a:t>
            </a:r>
            <a:r>
              <a:rPr lang="en-US" sz="1400" dirty="0" err="1"/>
              <a:t>areaCuadrado</a:t>
            </a:r>
            <a:r>
              <a:rPr lang="en-US" sz="1400" dirty="0"/>
              <a:t>(5)); // </a:t>
            </a:r>
            <a:r>
              <a:rPr lang="en-US" sz="1400" dirty="0" err="1"/>
              <a:t>Resultado</a:t>
            </a:r>
            <a:r>
              <a:rPr lang="en-US" sz="1400" dirty="0"/>
              <a:t> </a:t>
            </a:r>
            <a:r>
              <a:rPr lang="en-US" sz="1400" dirty="0" err="1"/>
              <a:t>esperado</a:t>
            </a:r>
            <a:r>
              <a:rPr lang="en-US" sz="1400" dirty="0"/>
              <a:t>: 25</a:t>
            </a:r>
          </a:p>
          <a:p>
            <a:r>
              <a:rPr lang="en-US" sz="1400" dirty="0" err="1"/>
              <a:t>console.log</a:t>
            </a:r>
            <a:r>
              <a:rPr lang="en-US" sz="1400" dirty="0"/>
              <a:t>("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rectángulo</a:t>
            </a:r>
            <a:r>
              <a:rPr lang="en-US" sz="1400" dirty="0"/>
              <a:t> (base = 4, </a:t>
            </a:r>
            <a:r>
              <a:rPr lang="en-US" sz="1400" dirty="0" err="1"/>
              <a:t>altura</a:t>
            </a:r>
            <a:r>
              <a:rPr lang="en-US" sz="1400" dirty="0"/>
              <a:t> = 6):", </a:t>
            </a:r>
            <a:r>
              <a:rPr lang="en-US" sz="1400" dirty="0" err="1"/>
              <a:t>areaRectangulo</a:t>
            </a:r>
            <a:r>
              <a:rPr lang="en-US" sz="1400" dirty="0"/>
              <a:t>(4, 6)); // </a:t>
            </a:r>
            <a:r>
              <a:rPr lang="en-US" sz="1400" dirty="0" err="1"/>
              <a:t>Resultado</a:t>
            </a:r>
            <a:r>
              <a:rPr lang="en-US" sz="1400" dirty="0"/>
              <a:t> </a:t>
            </a:r>
            <a:r>
              <a:rPr lang="en-US" sz="1400" dirty="0" err="1"/>
              <a:t>esperado</a:t>
            </a:r>
            <a:r>
              <a:rPr lang="en-US" sz="1400" dirty="0"/>
              <a:t>: 24</a:t>
            </a:r>
          </a:p>
          <a:p>
            <a:r>
              <a:rPr lang="en-US" sz="1400" dirty="0" err="1"/>
              <a:t>console.log</a:t>
            </a:r>
            <a:r>
              <a:rPr lang="en-US" sz="1400" dirty="0"/>
              <a:t>("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triángulo</a:t>
            </a:r>
            <a:r>
              <a:rPr lang="en-US" sz="1400" dirty="0"/>
              <a:t> (base = 3, </a:t>
            </a:r>
            <a:r>
              <a:rPr lang="en-US" sz="1400" dirty="0" err="1"/>
              <a:t>altura</a:t>
            </a:r>
            <a:r>
              <a:rPr lang="en-US" sz="1400" dirty="0"/>
              <a:t> = 8):", </a:t>
            </a:r>
            <a:r>
              <a:rPr lang="en-US" sz="1400" dirty="0" err="1"/>
              <a:t>areaTriangulo</a:t>
            </a:r>
            <a:r>
              <a:rPr lang="en-US" sz="1400" dirty="0"/>
              <a:t>(3, 8)); // </a:t>
            </a:r>
            <a:r>
              <a:rPr lang="en-US" sz="1400" dirty="0" err="1"/>
              <a:t>Resultado</a:t>
            </a:r>
            <a:r>
              <a:rPr lang="en-US" sz="1400" dirty="0"/>
              <a:t> </a:t>
            </a:r>
            <a:r>
              <a:rPr lang="en-US" sz="1400" dirty="0" err="1"/>
              <a:t>esperado</a:t>
            </a:r>
            <a:r>
              <a:rPr lang="en-US" sz="1400" dirty="0"/>
              <a:t>: 12</a:t>
            </a:r>
          </a:p>
          <a:p>
            <a:r>
              <a:rPr lang="en-US" sz="1400" dirty="0" err="1"/>
              <a:t>console.log</a:t>
            </a:r>
            <a:r>
              <a:rPr lang="en-US" sz="1400" dirty="0"/>
              <a:t>("</a:t>
            </a:r>
            <a:r>
              <a:rPr lang="en-US" sz="1400" dirty="0" err="1"/>
              <a:t>Área</a:t>
            </a:r>
            <a:r>
              <a:rPr lang="en-US" sz="1400" dirty="0"/>
              <a:t> de un </a:t>
            </a:r>
            <a:r>
              <a:rPr lang="en-US" sz="1400" dirty="0" err="1"/>
              <a:t>círculo</a:t>
            </a:r>
            <a:r>
              <a:rPr lang="en-US" sz="1400" dirty="0"/>
              <a:t> (radio = 3):", </a:t>
            </a:r>
            <a:r>
              <a:rPr lang="en-US" sz="1400" dirty="0" err="1"/>
              <a:t>areaCirculo</a:t>
            </a:r>
            <a:r>
              <a:rPr lang="en-US" sz="1400" dirty="0"/>
              <a:t>(3)); // </a:t>
            </a:r>
            <a:r>
              <a:rPr lang="en-US" sz="1400" dirty="0" err="1"/>
              <a:t>Resultado</a:t>
            </a:r>
            <a:r>
              <a:rPr lang="en-US" sz="1400" dirty="0"/>
              <a:t> </a:t>
            </a:r>
            <a:r>
              <a:rPr lang="en-US" sz="1400" dirty="0" err="1"/>
              <a:t>esperado</a:t>
            </a:r>
            <a:r>
              <a:rPr lang="en-US" sz="1400" dirty="0"/>
              <a:t>: ~28.27 (</a:t>
            </a:r>
            <a:r>
              <a:rPr lang="en-US" sz="1400" dirty="0" err="1"/>
              <a:t>aproximado</a:t>
            </a:r>
            <a:r>
              <a:rPr lang="en-US" sz="1400" dirty="0"/>
              <a:t> a 2 </a:t>
            </a:r>
            <a:r>
              <a:rPr lang="en-US" sz="1400" dirty="0" err="1"/>
              <a:t>decimales</a:t>
            </a:r>
            <a:r>
              <a:rPr lang="en-US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583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514259" cy="1325563"/>
          </a:xfrm>
        </p:spPr>
        <p:txBody>
          <a:bodyPr>
            <a:normAutofit/>
          </a:bodyPr>
          <a:lstStyle/>
          <a:p>
            <a:r>
              <a:rPr lang="es-CO" dirty="0"/>
              <a:t>Pruebas Unitarias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99A6AF-92A7-3EC7-AD53-AD95116CAA2B}"/>
              </a:ext>
            </a:extLst>
          </p:cNvPr>
          <p:cNvSpPr txBox="1"/>
          <p:nvPr/>
        </p:nvSpPr>
        <p:spPr>
          <a:xfrm>
            <a:off x="143508" y="1296044"/>
            <a:ext cx="88569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Las pruebas unitarias de </a:t>
            </a:r>
            <a:r>
              <a:rPr lang="es-CO" sz="2000" i="1" dirty="0"/>
              <a:t>software</a:t>
            </a:r>
            <a:r>
              <a:rPr lang="es-CO" sz="2000" dirty="0"/>
              <a:t>, incluyen un conjunto de características y propiedades que permiten su funcionamiento, como. por ejemplo, que </a:t>
            </a:r>
            <a:r>
              <a:rPr lang="es-CO" sz="2000" b="1" dirty="0"/>
              <a:t>se realiza a través de la escritura de fragmentos del código fuente de una aplicación o programa</a:t>
            </a:r>
            <a:r>
              <a:rPr lang="es-CO" sz="2000" dirty="0"/>
              <a:t> para que se prueben las unidades de este código.</a:t>
            </a:r>
          </a:p>
          <a:p>
            <a:endParaRPr lang="es-CO" sz="2000" dirty="0"/>
          </a:p>
          <a:p>
            <a:r>
              <a:rPr lang="es-CO" sz="2000" b="1" dirty="0"/>
              <a:t>Funcionan mediante el mecanismo de aislar una parte determinada del código fuente</a:t>
            </a:r>
            <a:r>
              <a:rPr lang="es-CO" sz="2000" dirty="0"/>
              <a:t>, con el objetivo de asegurar su funcionamiento; es decir, son pruebas pequeñas que validan el comportamiento de un fragmento del código.</a:t>
            </a:r>
          </a:p>
          <a:p>
            <a:endParaRPr lang="es-CO" sz="2000" dirty="0"/>
          </a:p>
          <a:p>
            <a:r>
              <a:rPr lang="es-CO" sz="2000" b="1" dirty="0"/>
              <a:t>Usualmente se llevan a cabo como primera evaluación en la fase del desarrollo </a:t>
            </a:r>
            <a:r>
              <a:rPr lang="es-CO" sz="2000" dirty="0"/>
              <a:t>de las aplicaciones para testar que todo marche en orden en el sistema.</a:t>
            </a:r>
          </a:p>
          <a:p>
            <a:endParaRPr lang="es-CO" sz="2000" dirty="0"/>
          </a:p>
          <a:p>
            <a:r>
              <a:rPr lang="es-CO" sz="2000" dirty="0"/>
              <a:t>Los test unitarios</a:t>
            </a:r>
            <a:r>
              <a:rPr lang="es-CO" sz="2000" b="1" dirty="0"/>
              <a:t> demuestran que no existe ningún tipo de error en el código fuente</a:t>
            </a:r>
            <a:r>
              <a:rPr lang="es-CO" sz="2000" dirty="0"/>
              <a:t>, debido a que estos pueden estar relacionados con otros elementos, como el rendimiento e integración unitaria, que las pruebas unitarias no tienen la capacidad de identificar.</a:t>
            </a:r>
          </a:p>
        </p:txBody>
      </p:sp>
    </p:spTree>
    <p:extLst>
      <p:ext uri="{BB962C8B-B14F-4D97-AF65-F5344CB8AC3E}">
        <p14:creationId xmlns:p14="http://schemas.microsoft.com/office/powerpoint/2010/main" val="3198380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514259" cy="1325563"/>
          </a:xfrm>
        </p:spPr>
        <p:txBody>
          <a:bodyPr>
            <a:normAutofit/>
          </a:bodyPr>
          <a:lstStyle/>
          <a:p>
            <a:r>
              <a:rPr lang="es-CO" dirty="0"/>
              <a:t>Pruebas Unitarias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99A6AF-92A7-3EC7-AD53-AD95116CAA2B}"/>
              </a:ext>
            </a:extLst>
          </p:cNvPr>
          <p:cNvSpPr txBox="1"/>
          <p:nvPr/>
        </p:nvSpPr>
        <p:spPr>
          <a:xfrm>
            <a:off x="143508" y="1296044"/>
            <a:ext cx="88569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Realizar un programa que permita crear un cliente y que lo almacene en un arreglo, y realizar la prueba unitaria, en los lenguajes de programación Python, JavaScript y Java.</a:t>
            </a:r>
          </a:p>
        </p:txBody>
      </p:sp>
    </p:spTree>
    <p:extLst>
      <p:ext uri="{BB962C8B-B14F-4D97-AF65-F5344CB8AC3E}">
        <p14:creationId xmlns:p14="http://schemas.microsoft.com/office/powerpoint/2010/main" val="738480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-387424"/>
            <a:ext cx="9514259" cy="1325563"/>
          </a:xfrm>
        </p:spPr>
        <p:txBody>
          <a:bodyPr>
            <a:normAutofit/>
          </a:bodyPr>
          <a:lstStyle/>
          <a:p>
            <a:r>
              <a:rPr lang="es-CO" dirty="0"/>
              <a:t>Pruebas Unitarias JS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99A6AF-92A7-3EC7-AD53-AD95116CAA2B}"/>
              </a:ext>
            </a:extLst>
          </p:cNvPr>
          <p:cNvSpPr txBox="1"/>
          <p:nvPr/>
        </p:nvSpPr>
        <p:spPr>
          <a:xfrm>
            <a:off x="467544" y="620688"/>
            <a:ext cx="885698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/>
              <a:t>// Definición de la clase Cliente</a:t>
            </a:r>
          </a:p>
          <a:p>
            <a:r>
              <a:rPr lang="es-CO" sz="1000" dirty="0" err="1"/>
              <a:t>class</a:t>
            </a:r>
            <a:r>
              <a:rPr lang="es-CO" sz="1000" dirty="0"/>
              <a:t> Cliente {</a:t>
            </a:r>
          </a:p>
          <a:p>
            <a:r>
              <a:rPr lang="es-CO" sz="1000" dirty="0"/>
              <a:t>    constructor(nombre, apellido, edad) {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this.nombre</a:t>
            </a:r>
            <a:r>
              <a:rPr lang="es-CO" sz="1000" dirty="0"/>
              <a:t> = nombre;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this.apellido</a:t>
            </a:r>
            <a:r>
              <a:rPr lang="es-CO" sz="1000" dirty="0"/>
              <a:t> = apellido;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this.edad</a:t>
            </a:r>
            <a:r>
              <a:rPr lang="es-CO" sz="1000" dirty="0"/>
              <a:t> = edad;</a:t>
            </a:r>
          </a:p>
          <a:p>
            <a:r>
              <a:rPr lang="es-CO" sz="1000" dirty="0"/>
              <a:t>    }</a:t>
            </a:r>
          </a:p>
          <a:p>
            <a:r>
              <a:rPr lang="es-CO" sz="1000" dirty="0"/>
              <a:t>}</a:t>
            </a:r>
          </a:p>
          <a:p>
            <a:endParaRPr lang="es-CO" sz="1000" dirty="0"/>
          </a:p>
          <a:p>
            <a:r>
              <a:rPr lang="es-CO" sz="1000" dirty="0"/>
              <a:t>// Función para crear un cliente y agregarlo al arreglo de clientes</a:t>
            </a:r>
          </a:p>
          <a:p>
            <a:r>
              <a:rPr lang="es-CO" sz="1000" dirty="0" err="1"/>
              <a:t>function</a:t>
            </a:r>
            <a:r>
              <a:rPr lang="es-CO" sz="1000" dirty="0"/>
              <a:t> </a:t>
            </a:r>
            <a:r>
              <a:rPr lang="es-CO" sz="1000" dirty="0" err="1"/>
              <a:t>crearCliente</a:t>
            </a:r>
            <a:r>
              <a:rPr lang="es-CO" sz="1000" dirty="0"/>
              <a:t>(clientes, nombre, apellido, edad) {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const</a:t>
            </a:r>
            <a:r>
              <a:rPr lang="es-CO" sz="1000" dirty="0"/>
              <a:t> cliente = new Cliente(nombre, apellido, edad);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clientes.push</a:t>
            </a:r>
            <a:r>
              <a:rPr lang="es-CO" sz="1000" dirty="0"/>
              <a:t>(cliente);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return</a:t>
            </a:r>
            <a:r>
              <a:rPr lang="es-CO" sz="1000" dirty="0"/>
              <a:t> cliente;</a:t>
            </a:r>
          </a:p>
          <a:p>
            <a:r>
              <a:rPr lang="es-CO" sz="1000" dirty="0"/>
              <a:t>}</a:t>
            </a:r>
          </a:p>
          <a:p>
            <a:endParaRPr lang="es-CO" sz="1000" dirty="0"/>
          </a:p>
          <a:p>
            <a:r>
              <a:rPr lang="es-CO" sz="1000" dirty="0"/>
              <a:t>// Casos de prueba</a:t>
            </a:r>
          </a:p>
          <a:p>
            <a:r>
              <a:rPr lang="es-CO" sz="1000" dirty="0" err="1"/>
              <a:t>const</a:t>
            </a:r>
            <a:r>
              <a:rPr lang="es-CO" sz="1000" dirty="0"/>
              <a:t> </a:t>
            </a:r>
            <a:r>
              <a:rPr lang="es-CO" sz="1000" dirty="0" err="1"/>
              <a:t>assert</a:t>
            </a:r>
            <a:r>
              <a:rPr lang="es-CO" sz="1000" dirty="0"/>
              <a:t> = </a:t>
            </a:r>
            <a:r>
              <a:rPr lang="es-CO" sz="1000" dirty="0" err="1"/>
              <a:t>require</a:t>
            </a:r>
            <a:r>
              <a:rPr lang="es-CO" sz="1000" dirty="0"/>
              <a:t>('</a:t>
            </a:r>
            <a:r>
              <a:rPr lang="es-CO" sz="1000" dirty="0" err="1"/>
              <a:t>assert</a:t>
            </a:r>
            <a:r>
              <a:rPr lang="es-CO" sz="1000" dirty="0"/>
              <a:t>');</a:t>
            </a:r>
          </a:p>
          <a:p>
            <a:endParaRPr lang="es-CO" sz="1000" dirty="0"/>
          </a:p>
          <a:p>
            <a:r>
              <a:rPr lang="es-CO" sz="1000" dirty="0"/>
              <a:t>// Arreglo para almacenar clientes</a:t>
            </a:r>
          </a:p>
          <a:p>
            <a:r>
              <a:rPr lang="es-CO" sz="1000" dirty="0" err="1"/>
              <a:t>const</a:t>
            </a:r>
            <a:r>
              <a:rPr lang="es-CO" sz="1000" dirty="0"/>
              <a:t> clientes = [];</a:t>
            </a:r>
          </a:p>
          <a:p>
            <a:endParaRPr lang="es-CO" sz="1000" b="1" dirty="0"/>
          </a:p>
          <a:p>
            <a:r>
              <a:rPr lang="es-CO" sz="1000" b="1" dirty="0"/>
              <a:t>// Prueba unitaria: Crear un cliente y verificar sus propiedades</a:t>
            </a:r>
          </a:p>
          <a:p>
            <a:r>
              <a:rPr lang="es-CO" sz="1000" dirty="0" err="1"/>
              <a:t>const</a:t>
            </a:r>
            <a:r>
              <a:rPr lang="es-CO" sz="1000" dirty="0"/>
              <a:t> cliente1 = </a:t>
            </a:r>
            <a:r>
              <a:rPr lang="es-CO" sz="1000" dirty="0" err="1"/>
              <a:t>crearCliente</a:t>
            </a:r>
            <a:r>
              <a:rPr lang="es-CO" sz="1000" dirty="0"/>
              <a:t>(clientes, 'Juan', 'Pérez', 30);</a:t>
            </a:r>
          </a:p>
          <a:p>
            <a:r>
              <a:rPr lang="es-CO" sz="1000" dirty="0" err="1"/>
              <a:t>assert.strictEqual</a:t>
            </a:r>
            <a:r>
              <a:rPr lang="es-CO" sz="1000" dirty="0"/>
              <a:t>(cliente1.nombre, 'Juan');</a:t>
            </a:r>
          </a:p>
          <a:p>
            <a:r>
              <a:rPr lang="es-CO" sz="1000" dirty="0" err="1"/>
              <a:t>assert.strictEqual</a:t>
            </a:r>
            <a:r>
              <a:rPr lang="es-CO" sz="1000" dirty="0"/>
              <a:t>(cliente1.apellido, 'Pérez');</a:t>
            </a:r>
          </a:p>
          <a:p>
            <a:r>
              <a:rPr lang="es-CO" sz="1000" dirty="0" err="1"/>
              <a:t>assert.strictEqual</a:t>
            </a:r>
            <a:r>
              <a:rPr lang="es-CO" sz="1000" dirty="0"/>
              <a:t>(cliente1.edad, 30);</a:t>
            </a:r>
          </a:p>
          <a:p>
            <a:endParaRPr lang="es-CO" sz="1000" dirty="0"/>
          </a:p>
          <a:p>
            <a:r>
              <a:rPr lang="es-CO" sz="1000" b="1" dirty="0"/>
              <a:t>// Prueba unitaria: Verificar que el cliente se haya agregado al arreglo</a:t>
            </a:r>
          </a:p>
          <a:p>
            <a:r>
              <a:rPr lang="es-CO" sz="1000" dirty="0" err="1"/>
              <a:t>assert.strictEqual</a:t>
            </a:r>
            <a:r>
              <a:rPr lang="es-CO" sz="1000" dirty="0"/>
              <a:t>(</a:t>
            </a:r>
            <a:r>
              <a:rPr lang="es-CO" sz="1000" dirty="0" err="1"/>
              <a:t>clientes.length</a:t>
            </a:r>
            <a:r>
              <a:rPr lang="es-CO" sz="1000" dirty="0"/>
              <a:t>, 1);</a:t>
            </a:r>
          </a:p>
          <a:p>
            <a:endParaRPr lang="es-CO" sz="1000" dirty="0"/>
          </a:p>
          <a:p>
            <a:r>
              <a:rPr lang="es-CO" sz="1000" b="1" dirty="0"/>
              <a:t>// Agregar más clientes y realizar pruebas adicionales si es necesario</a:t>
            </a:r>
          </a:p>
          <a:p>
            <a:r>
              <a:rPr lang="es-CO" sz="1000" dirty="0" err="1"/>
              <a:t>const</a:t>
            </a:r>
            <a:r>
              <a:rPr lang="es-CO" sz="1000" dirty="0"/>
              <a:t> cliente2 = </a:t>
            </a:r>
            <a:r>
              <a:rPr lang="es-CO" sz="1000" dirty="0" err="1"/>
              <a:t>crearCliente</a:t>
            </a:r>
            <a:r>
              <a:rPr lang="es-CO" sz="1000" dirty="0"/>
              <a:t>(clientes, 'María', 'López', 25);</a:t>
            </a:r>
          </a:p>
          <a:p>
            <a:r>
              <a:rPr lang="es-CO" sz="1000" dirty="0" err="1"/>
              <a:t>const</a:t>
            </a:r>
            <a:r>
              <a:rPr lang="es-CO" sz="1000" dirty="0"/>
              <a:t> cliente3 = </a:t>
            </a:r>
            <a:r>
              <a:rPr lang="es-CO" sz="1000" dirty="0" err="1"/>
              <a:t>crearCliente</a:t>
            </a:r>
            <a:r>
              <a:rPr lang="es-CO" sz="1000" dirty="0"/>
              <a:t>(clientes, 'Pedro', 'Gómez', 40);</a:t>
            </a:r>
          </a:p>
          <a:p>
            <a:endParaRPr lang="es-CO" sz="1000" dirty="0"/>
          </a:p>
          <a:p>
            <a:r>
              <a:rPr lang="es-CO" sz="1000" b="1" dirty="0"/>
              <a:t>// Prueba unitaria: Verificar que haya tres clientes en el arreglo</a:t>
            </a:r>
          </a:p>
          <a:p>
            <a:r>
              <a:rPr lang="es-CO" sz="1000" dirty="0" err="1"/>
              <a:t>assert.strictEqual</a:t>
            </a:r>
            <a:r>
              <a:rPr lang="es-CO" sz="1000" dirty="0"/>
              <a:t>(</a:t>
            </a:r>
            <a:r>
              <a:rPr lang="es-CO" sz="1000" dirty="0" err="1"/>
              <a:t>clientes.length</a:t>
            </a:r>
            <a:r>
              <a:rPr lang="es-CO" sz="1000" dirty="0"/>
              <a:t>, 3);</a:t>
            </a:r>
          </a:p>
          <a:p>
            <a:endParaRPr lang="es-CO" sz="1000" dirty="0"/>
          </a:p>
          <a:p>
            <a:r>
              <a:rPr lang="es-CO" sz="1000" dirty="0" err="1"/>
              <a:t>console.log</a:t>
            </a:r>
            <a:r>
              <a:rPr lang="es-CO" sz="1000" dirty="0"/>
              <a:t>('Todas las pruebas pasaron con éxito.');</a:t>
            </a:r>
          </a:p>
        </p:txBody>
      </p:sp>
    </p:spTree>
    <p:extLst>
      <p:ext uri="{BB962C8B-B14F-4D97-AF65-F5344CB8AC3E}">
        <p14:creationId xmlns:p14="http://schemas.microsoft.com/office/powerpoint/2010/main" val="2599354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-387424"/>
            <a:ext cx="9514259" cy="1325563"/>
          </a:xfrm>
        </p:spPr>
        <p:txBody>
          <a:bodyPr>
            <a:normAutofit/>
          </a:bodyPr>
          <a:lstStyle/>
          <a:p>
            <a:r>
              <a:rPr lang="es-CO" dirty="0"/>
              <a:t>Pruebas Unitarias Python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99A6AF-92A7-3EC7-AD53-AD95116CAA2B}"/>
              </a:ext>
            </a:extLst>
          </p:cNvPr>
          <p:cNvSpPr txBox="1"/>
          <p:nvPr/>
        </p:nvSpPr>
        <p:spPr>
          <a:xfrm>
            <a:off x="143508" y="314082"/>
            <a:ext cx="88569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 err="1"/>
              <a:t>import</a:t>
            </a:r>
            <a:r>
              <a:rPr lang="es-CO" sz="1000" dirty="0"/>
              <a:t> </a:t>
            </a:r>
            <a:r>
              <a:rPr lang="es-CO" sz="1000" dirty="0" err="1"/>
              <a:t>unittest</a:t>
            </a:r>
            <a:endParaRPr lang="es-CO" sz="1000" dirty="0"/>
          </a:p>
          <a:p>
            <a:endParaRPr lang="es-CO" sz="1000" dirty="0"/>
          </a:p>
          <a:p>
            <a:r>
              <a:rPr lang="es-CO" sz="1000" dirty="0"/>
              <a:t># Definición de la clase Cliente</a:t>
            </a:r>
          </a:p>
          <a:p>
            <a:r>
              <a:rPr lang="es-CO" sz="1000" dirty="0" err="1"/>
              <a:t>class</a:t>
            </a:r>
            <a:r>
              <a:rPr lang="es-CO" sz="1000" dirty="0"/>
              <a:t> Cliente: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def</a:t>
            </a:r>
            <a:r>
              <a:rPr lang="es-CO" sz="1000" dirty="0"/>
              <a:t> __</a:t>
            </a:r>
            <a:r>
              <a:rPr lang="es-CO" sz="1000" dirty="0" err="1"/>
              <a:t>init</a:t>
            </a:r>
            <a:r>
              <a:rPr lang="es-CO" sz="1000" dirty="0"/>
              <a:t>__(</a:t>
            </a:r>
            <a:r>
              <a:rPr lang="es-CO" sz="1000" dirty="0" err="1"/>
              <a:t>self</a:t>
            </a:r>
            <a:r>
              <a:rPr lang="es-CO" sz="1000" dirty="0"/>
              <a:t>, nombre, apellido, edad):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self.nombre</a:t>
            </a:r>
            <a:r>
              <a:rPr lang="es-CO" sz="1000" dirty="0"/>
              <a:t> = nombre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self.apellido</a:t>
            </a:r>
            <a:r>
              <a:rPr lang="es-CO" sz="1000" dirty="0"/>
              <a:t> = apellido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self.edad</a:t>
            </a:r>
            <a:r>
              <a:rPr lang="es-CO" sz="1000" dirty="0"/>
              <a:t> = edad</a:t>
            </a:r>
          </a:p>
          <a:p>
            <a:endParaRPr lang="es-CO" sz="1000" dirty="0"/>
          </a:p>
          <a:p>
            <a:r>
              <a:rPr lang="es-CO" sz="1000" dirty="0"/>
              <a:t># Función para crear un cliente y agregarlo a la lista de clientes</a:t>
            </a:r>
          </a:p>
          <a:p>
            <a:r>
              <a:rPr lang="es-CO" sz="1000" dirty="0" err="1"/>
              <a:t>def</a:t>
            </a:r>
            <a:r>
              <a:rPr lang="es-CO" sz="1000" dirty="0"/>
              <a:t> </a:t>
            </a:r>
            <a:r>
              <a:rPr lang="es-CO" sz="1000" dirty="0" err="1"/>
              <a:t>crear_cliente</a:t>
            </a:r>
            <a:r>
              <a:rPr lang="es-CO" sz="1000" dirty="0"/>
              <a:t>(clientes, nombre, apellido, edad):</a:t>
            </a:r>
          </a:p>
          <a:p>
            <a:r>
              <a:rPr lang="es-CO" sz="1000" dirty="0"/>
              <a:t>    cliente = Cliente(nombre, apellido, edad)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clientes.append</a:t>
            </a:r>
            <a:r>
              <a:rPr lang="es-CO" sz="1000" dirty="0"/>
              <a:t>(cliente)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return</a:t>
            </a:r>
            <a:r>
              <a:rPr lang="es-CO" sz="1000" dirty="0"/>
              <a:t> cliente</a:t>
            </a:r>
          </a:p>
          <a:p>
            <a:endParaRPr lang="es-CO" sz="1000" dirty="0"/>
          </a:p>
          <a:p>
            <a:r>
              <a:rPr lang="es-CO" sz="1000" dirty="0"/>
              <a:t># Casos de prueba</a:t>
            </a:r>
          </a:p>
          <a:p>
            <a:r>
              <a:rPr lang="es-CO" sz="1000" dirty="0" err="1"/>
              <a:t>class</a:t>
            </a:r>
            <a:r>
              <a:rPr lang="es-CO" sz="1000" dirty="0"/>
              <a:t> </a:t>
            </a:r>
            <a:r>
              <a:rPr lang="es-CO" sz="1000" dirty="0" err="1"/>
              <a:t>TestClientes</a:t>
            </a:r>
            <a:r>
              <a:rPr lang="es-CO" sz="1000" dirty="0"/>
              <a:t>(</a:t>
            </a:r>
            <a:r>
              <a:rPr lang="es-CO" sz="1000" dirty="0" err="1"/>
              <a:t>unittest.TestCase</a:t>
            </a:r>
            <a:r>
              <a:rPr lang="es-CO" sz="1000" dirty="0"/>
              <a:t>):</a:t>
            </a:r>
          </a:p>
          <a:p>
            <a:endParaRPr lang="es-CO" sz="1000" dirty="0"/>
          </a:p>
          <a:p>
            <a:r>
              <a:rPr lang="es-CO" sz="1000" dirty="0"/>
              <a:t>    # Configuración inicial de las pruebas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def</a:t>
            </a:r>
            <a:r>
              <a:rPr lang="es-CO" sz="1000" dirty="0"/>
              <a:t> </a:t>
            </a:r>
            <a:r>
              <a:rPr lang="es-CO" sz="1000" dirty="0" err="1"/>
              <a:t>setUp</a:t>
            </a:r>
            <a:r>
              <a:rPr lang="es-CO" sz="1000" dirty="0"/>
              <a:t>(</a:t>
            </a:r>
            <a:r>
              <a:rPr lang="es-CO" sz="1000" dirty="0" err="1"/>
              <a:t>self</a:t>
            </a:r>
            <a:r>
              <a:rPr lang="es-CO" sz="1000" dirty="0"/>
              <a:t>):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self.clientes</a:t>
            </a:r>
            <a:r>
              <a:rPr lang="es-CO" sz="1000" dirty="0"/>
              <a:t> = []</a:t>
            </a:r>
          </a:p>
          <a:p>
            <a:endParaRPr lang="es-CO" sz="1000" dirty="0"/>
          </a:p>
          <a:p>
            <a:r>
              <a:rPr lang="es-CO" sz="1000" dirty="0"/>
              <a:t>    # Prueba unitaria: Crear un cliente y verificar sus propiedades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def</a:t>
            </a:r>
            <a:r>
              <a:rPr lang="es-CO" sz="1000" dirty="0"/>
              <a:t> </a:t>
            </a:r>
            <a:r>
              <a:rPr lang="es-CO" sz="1000" dirty="0" err="1"/>
              <a:t>test_crear_cliente</a:t>
            </a:r>
            <a:r>
              <a:rPr lang="es-CO" sz="1000" dirty="0"/>
              <a:t>(</a:t>
            </a:r>
            <a:r>
              <a:rPr lang="es-CO" sz="1000" dirty="0" err="1"/>
              <a:t>self</a:t>
            </a:r>
            <a:r>
              <a:rPr lang="es-CO" sz="1000" dirty="0"/>
              <a:t>):</a:t>
            </a:r>
          </a:p>
          <a:p>
            <a:r>
              <a:rPr lang="es-CO" sz="1000" dirty="0"/>
              <a:t>        cliente1 = </a:t>
            </a:r>
            <a:r>
              <a:rPr lang="es-CO" sz="1000" dirty="0" err="1"/>
              <a:t>crear_cliente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, 'Juan', 'Pérez', 30)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self.assertEqual</a:t>
            </a:r>
            <a:r>
              <a:rPr lang="es-CO" sz="1000" dirty="0"/>
              <a:t>(cliente1.nombre, 'Juan')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self.assertEqual</a:t>
            </a:r>
            <a:r>
              <a:rPr lang="es-CO" sz="1000" dirty="0"/>
              <a:t>(cliente1.apellido, 'Pérez')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self.assertEqual</a:t>
            </a:r>
            <a:r>
              <a:rPr lang="es-CO" sz="1000" dirty="0"/>
              <a:t>(cliente1.edad, 30)</a:t>
            </a:r>
          </a:p>
          <a:p>
            <a:endParaRPr lang="es-CO" sz="1000" dirty="0"/>
          </a:p>
          <a:p>
            <a:r>
              <a:rPr lang="es-CO" sz="1000" dirty="0"/>
              <a:t>    # Prueba unitaria: Verificar que el cliente se haya agregado a la lista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def</a:t>
            </a:r>
            <a:r>
              <a:rPr lang="es-CO" sz="1000" dirty="0"/>
              <a:t> </a:t>
            </a:r>
            <a:r>
              <a:rPr lang="es-CO" sz="1000" dirty="0" err="1"/>
              <a:t>test_cliente_agregado</a:t>
            </a:r>
            <a:r>
              <a:rPr lang="es-CO" sz="1000" dirty="0"/>
              <a:t>(</a:t>
            </a:r>
            <a:r>
              <a:rPr lang="es-CO" sz="1000" dirty="0" err="1"/>
              <a:t>self</a:t>
            </a:r>
            <a:r>
              <a:rPr lang="es-CO" sz="1000" dirty="0"/>
              <a:t>):</a:t>
            </a:r>
          </a:p>
          <a:p>
            <a:r>
              <a:rPr lang="es-CO" sz="1000" dirty="0"/>
              <a:t>        cliente2 = </a:t>
            </a:r>
            <a:r>
              <a:rPr lang="es-CO" sz="1000" dirty="0" err="1"/>
              <a:t>crear_cliente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, 'María', 'López', 25)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self.assertEqual</a:t>
            </a:r>
            <a:r>
              <a:rPr lang="es-CO" sz="1000" dirty="0"/>
              <a:t>(</a:t>
            </a:r>
            <a:r>
              <a:rPr lang="es-CO" sz="1000" dirty="0" err="1"/>
              <a:t>len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), 1)</a:t>
            </a:r>
          </a:p>
          <a:p>
            <a:endParaRPr lang="es-CO" sz="1000" dirty="0"/>
          </a:p>
          <a:p>
            <a:r>
              <a:rPr lang="es-CO" sz="1000" dirty="0"/>
              <a:t>    # Prueba unitaria: Verificar que se puedan agregar varios clientes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def</a:t>
            </a:r>
            <a:r>
              <a:rPr lang="es-CO" sz="1000" dirty="0"/>
              <a:t> </a:t>
            </a:r>
            <a:r>
              <a:rPr lang="es-CO" sz="1000" dirty="0" err="1"/>
              <a:t>test_varios_clientes</a:t>
            </a:r>
            <a:r>
              <a:rPr lang="es-CO" sz="1000" dirty="0"/>
              <a:t>(</a:t>
            </a:r>
            <a:r>
              <a:rPr lang="es-CO" sz="1000" dirty="0" err="1"/>
              <a:t>self</a:t>
            </a:r>
            <a:r>
              <a:rPr lang="es-CO" sz="1000" dirty="0"/>
              <a:t>):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crear_cliente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, 'Pedro', 'Gómez', 40)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crear_cliente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, 'Ana', 'Rodríguez', 28)</a:t>
            </a:r>
          </a:p>
          <a:p>
            <a:r>
              <a:rPr lang="es-CO" sz="1000" dirty="0"/>
              <a:t>        </a:t>
            </a:r>
            <a:r>
              <a:rPr lang="es-CO" sz="1000" dirty="0" err="1"/>
              <a:t>self.assertEqual</a:t>
            </a:r>
            <a:r>
              <a:rPr lang="es-CO" sz="1000" dirty="0"/>
              <a:t>(</a:t>
            </a:r>
            <a:r>
              <a:rPr lang="es-CO" sz="1000" dirty="0" err="1"/>
              <a:t>len</a:t>
            </a:r>
            <a:r>
              <a:rPr lang="es-CO" sz="1000" dirty="0"/>
              <a:t>(</a:t>
            </a:r>
            <a:r>
              <a:rPr lang="es-CO" sz="1000" dirty="0" err="1"/>
              <a:t>self.clientes</a:t>
            </a:r>
            <a:r>
              <a:rPr lang="es-CO" sz="1000" dirty="0"/>
              <a:t>), 2)</a:t>
            </a:r>
          </a:p>
          <a:p>
            <a:endParaRPr lang="es-CO" sz="1000" dirty="0"/>
          </a:p>
          <a:p>
            <a:r>
              <a:rPr lang="es-CO" sz="1000" dirty="0" err="1"/>
              <a:t>if</a:t>
            </a:r>
            <a:r>
              <a:rPr lang="es-CO" sz="1000" dirty="0"/>
              <a:t> __</a:t>
            </a:r>
            <a:r>
              <a:rPr lang="es-CO" sz="1000" dirty="0" err="1"/>
              <a:t>name</a:t>
            </a:r>
            <a:r>
              <a:rPr lang="es-CO" sz="1000" dirty="0"/>
              <a:t>__ == '__main__':</a:t>
            </a:r>
          </a:p>
          <a:p>
            <a:r>
              <a:rPr lang="es-CO" sz="1000" dirty="0"/>
              <a:t>    </a:t>
            </a:r>
            <a:r>
              <a:rPr lang="es-CO" sz="1000" dirty="0" err="1"/>
              <a:t>unittest.main</a:t>
            </a:r>
            <a:r>
              <a:rPr lang="es-CO" sz="1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44669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17403" y="-464775"/>
            <a:ext cx="9514259" cy="1325563"/>
          </a:xfrm>
        </p:spPr>
        <p:txBody>
          <a:bodyPr>
            <a:normAutofit/>
          </a:bodyPr>
          <a:lstStyle/>
          <a:p>
            <a:r>
              <a:rPr lang="es-CO" dirty="0"/>
              <a:t>Pruebas Unitarias Java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99A6AF-92A7-3EC7-AD53-AD95116CAA2B}"/>
              </a:ext>
            </a:extLst>
          </p:cNvPr>
          <p:cNvSpPr txBox="1"/>
          <p:nvPr/>
        </p:nvSpPr>
        <p:spPr>
          <a:xfrm>
            <a:off x="287524" y="502414"/>
            <a:ext cx="4284476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 err="1"/>
              <a:t>import</a:t>
            </a:r>
            <a:r>
              <a:rPr lang="es-CO" sz="1100" dirty="0"/>
              <a:t> </a:t>
            </a:r>
            <a:r>
              <a:rPr lang="es-CO" sz="1100" dirty="0" err="1"/>
              <a:t>org.junit.Before</a:t>
            </a:r>
            <a:r>
              <a:rPr lang="es-CO" sz="1100" dirty="0"/>
              <a:t>;</a:t>
            </a:r>
          </a:p>
          <a:p>
            <a:r>
              <a:rPr lang="es-CO" sz="1100" dirty="0" err="1"/>
              <a:t>import</a:t>
            </a:r>
            <a:r>
              <a:rPr lang="es-CO" sz="1100" dirty="0"/>
              <a:t> </a:t>
            </a:r>
            <a:r>
              <a:rPr lang="es-CO" sz="1100" dirty="0" err="1"/>
              <a:t>org.junit.Test</a:t>
            </a:r>
            <a:r>
              <a:rPr lang="es-CO" sz="1100" dirty="0"/>
              <a:t>;</a:t>
            </a:r>
          </a:p>
          <a:p>
            <a:r>
              <a:rPr lang="es-CO" sz="1100" dirty="0" err="1"/>
              <a:t>import</a:t>
            </a:r>
            <a:r>
              <a:rPr lang="es-CO" sz="1100" dirty="0"/>
              <a:t> </a:t>
            </a:r>
            <a:r>
              <a:rPr lang="es-CO" sz="1100" dirty="0" err="1"/>
              <a:t>static</a:t>
            </a:r>
            <a:r>
              <a:rPr lang="es-CO" sz="1100" dirty="0"/>
              <a:t> </a:t>
            </a:r>
            <a:r>
              <a:rPr lang="es-CO" sz="1100" dirty="0" err="1"/>
              <a:t>org.junit.Assert</a:t>
            </a:r>
            <a:r>
              <a:rPr lang="es-CO" sz="1100" dirty="0"/>
              <a:t>.*;</a:t>
            </a:r>
          </a:p>
          <a:p>
            <a:endParaRPr lang="es-CO" sz="1100" dirty="0"/>
          </a:p>
          <a:p>
            <a:r>
              <a:rPr lang="es-CO" sz="1100" dirty="0"/>
              <a:t>// Definición de la clase Cliente</a:t>
            </a:r>
          </a:p>
          <a:p>
            <a:r>
              <a:rPr lang="es-CO" sz="1100" dirty="0" err="1"/>
              <a:t>class</a:t>
            </a:r>
            <a:r>
              <a:rPr lang="es-CO" sz="1100" dirty="0"/>
              <a:t> Cliente {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String</a:t>
            </a:r>
            <a:r>
              <a:rPr lang="es-CO" sz="1100" dirty="0"/>
              <a:t> nombre;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String</a:t>
            </a:r>
            <a:r>
              <a:rPr lang="es-CO" sz="1100" dirty="0"/>
              <a:t> apellido;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int</a:t>
            </a:r>
            <a:r>
              <a:rPr lang="es-CO" sz="1100" dirty="0"/>
              <a:t> edad;</a:t>
            </a:r>
          </a:p>
          <a:p>
            <a:endParaRPr lang="es-CO" sz="1100" dirty="0"/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Cliente(</a:t>
            </a:r>
            <a:r>
              <a:rPr lang="es-CO" sz="1100" dirty="0" err="1"/>
              <a:t>String</a:t>
            </a:r>
            <a:r>
              <a:rPr lang="es-CO" sz="1100" dirty="0"/>
              <a:t> nombre, </a:t>
            </a:r>
            <a:r>
              <a:rPr lang="es-CO" sz="1100" dirty="0" err="1"/>
              <a:t>String</a:t>
            </a:r>
            <a:r>
              <a:rPr lang="es-CO" sz="1100" dirty="0"/>
              <a:t> apellido, </a:t>
            </a:r>
            <a:r>
              <a:rPr lang="es-CO" sz="1100" dirty="0" err="1"/>
              <a:t>int</a:t>
            </a:r>
            <a:r>
              <a:rPr lang="es-CO" sz="1100" dirty="0"/>
              <a:t> edad) {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this.nombre</a:t>
            </a:r>
            <a:r>
              <a:rPr lang="es-CO" sz="1100" dirty="0"/>
              <a:t> = nombre;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this.apellido</a:t>
            </a:r>
            <a:r>
              <a:rPr lang="es-CO" sz="1100" dirty="0"/>
              <a:t> = apellido;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this.edad</a:t>
            </a:r>
            <a:r>
              <a:rPr lang="es-CO" sz="1100" dirty="0"/>
              <a:t> = edad;</a:t>
            </a:r>
          </a:p>
          <a:p>
            <a:r>
              <a:rPr lang="es-CO" sz="1100" dirty="0"/>
              <a:t>    }</a:t>
            </a:r>
          </a:p>
          <a:p>
            <a:r>
              <a:rPr lang="es-CO" sz="1100" dirty="0"/>
              <a:t>}</a:t>
            </a:r>
          </a:p>
          <a:p>
            <a:endParaRPr lang="es-CO" sz="1100" dirty="0"/>
          </a:p>
          <a:p>
            <a:r>
              <a:rPr lang="es-CO" sz="1100" dirty="0"/>
              <a:t>// Clase para gestionar una lista de clientes</a:t>
            </a:r>
          </a:p>
          <a:p>
            <a:r>
              <a:rPr lang="es-CO" sz="1100" dirty="0" err="1"/>
              <a:t>class</a:t>
            </a:r>
            <a:r>
              <a:rPr lang="es-CO" sz="1100" dirty="0"/>
              <a:t> </a:t>
            </a:r>
            <a:r>
              <a:rPr lang="es-CO" sz="1100" dirty="0" err="1"/>
              <a:t>GestionClientes</a:t>
            </a:r>
            <a:r>
              <a:rPr lang="es-CO" sz="1100" dirty="0"/>
              <a:t> {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private</a:t>
            </a:r>
            <a:r>
              <a:rPr lang="es-CO" sz="1100" dirty="0"/>
              <a:t> Cliente[] clientes;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private</a:t>
            </a:r>
            <a:r>
              <a:rPr lang="es-CO" sz="1100" dirty="0"/>
              <a:t> </a:t>
            </a:r>
            <a:r>
              <a:rPr lang="es-CO" sz="1100" dirty="0" err="1"/>
              <a:t>int</a:t>
            </a:r>
            <a:r>
              <a:rPr lang="es-CO" sz="1100" dirty="0"/>
              <a:t> contador;</a:t>
            </a:r>
          </a:p>
          <a:p>
            <a:endParaRPr lang="es-CO" sz="1100" dirty="0"/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GestionClientes</a:t>
            </a:r>
            <a:r>
              <a:rPr lang="es-CO" sz="1100" dirty="0"/>
              <a:t>(</a:t>
            </a:r>
            <a:r>
              <a:rPr lang="es-CO" sz="1100" dirty="0" err="1"/>
              <a:t>int</a:t>
            </a:r>
            <a:r>
              <a:rPr lang="es-CO" sz="1100" dirty="0"/>
              <a:t> capacidad) {</a:t>
            </a:r>
          </a:p>
          <a:p>
            <a:r>
              <a:rPr lang="es-CO" sz="1100" dirty="0"/>
              <a:t>        clientes = new Cliente[capacidad];</a:t>
            </a:r>
          </a:p>
          <a:p>
            <a:r>
              <a:rPr lang="es-CO" sz="1100" dirty="0"/>
              <a:t>        contador = 0;</a:t>
            </a:r>
          </a:p>
          <a:p>
            <a:r>
              <a:rPr lang="es-CO" sz="1100" dirty="0"/>
              <a:t>    }</a:t>
            </a:r>
          </a:p>
          <a:p>
            <a:endParaRPr lang="es-CO" sz="1100" dirty="0"/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void</a:t>
            </a:r>
            <a:r>
              <a:rPr lang="es-CO" sz="1100" dirty="0"/>
              <a:t> </a:t>
            </a:r>
            <a:r>
              <a:rPr lang="es-CO" sz="1100" dirty="0" err="1"/>
              <a:t>agregarCliente</a:t>
            </a:r>
            <a:r>
              <a:rPr lang="es-CO" sz="1100" dirty="0"/>
              <a:t>(Cliente cliente) {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if</a:t>
            </a:r>
            <a:r>
              <a:rPr lang="es-CO" sz="1100" dirty="0"/>
              <a:t> (contador &lt; </a:t>
            </a:r>
            <a:r>
              <a:rPr lang="es-CO" sz="1100" dirty="0" err="1"/>
              <a:t>clientes.length</a:t>
            </a:r>
            <a:r>
              <a:rPr lang="es-CO" sz="1100" dirty="0"/>
              <a:t>) {</a:t>
            </a:r>
          </a:p>
          <a:p>
            <a:r>
              <a:rPr lang="es-CO" sz="1100" dirty="0"/>
              <a:t>            clientes[contador] = cliente;</a:t>
            </a:r>
          </a:p>
          <a:p>
            <a:r>
              <a:rPr lang="es-CO" sz="1100" dirty="0"/>
              <a:t>            contador++;</a:t>
            </a:r>
          </a:p>
          <a:p>
            <a:r>
              <a:rPr lang="es-CO" sz="1100" dirty="0"/>
              <a:t>        } </a:t>
            </a:r>
            <a:r>
              <a:rPr lang="es-CO" sz="1100" dirty="0" err="1"/>
              <a:t>else</a:t>
            </a:r>
            <a:r>
              <a:rPr lang="es-CO" sz="1100" dirty="0"/>
              <a:t> {</a:t>
            </a:r>
          </a:p>
          <a:p>
            <a:r>
              <a:rPr lang="es-CO" sz="1100" dirty="0"/>
              <a:t>            </a:t>
            </a:r>
            <a:r>
              <a:rPr lang="es-CO" sz="1100" dirty="0" err="1"/>
              <a:t>System.out.println</a:t>
            </a:r>
            <a:r>
              <a:rPr lang="es-CO" sz="1100" dirty="0"/>
              <a:t>("Error: La lista de clientes está llena.");</a:t>
            </a:r>
          </a:p>
          <a:p>
            <a:r>
              <a:rPr lang="es-CO" sz="1100" dirty="0"/>
              <a:t>        }</a:t>
            </a:r>
          </a:p>
          <a:p>
            <a:r>
              <a:rPr lang="es-CO" sz="1100" dirty="0"/>
              <a:t>    }</a:t>
            </a:r>
          </a:p>
          <a:p>
            <a:r>
              <a:rPr lang="es-CO" sz="1100" dirty="0"/>
              <a:t>}</a:t>
            </a:r>
          </a:p>
          <a:p>
            <a:endParaRPr lang="es-CO" sz="11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FC70A-3AE1-CBFE-9640-9F951CC10017}"/>
              </a:ext>
            </a:extLst>
          </p:cNvPr>
          <p:cNvSpPr txBox="1"/>
          <p:nvPr/>
        </p:nvSpPr>
        <p:spPr>
          <a:xfrm>
            <a:off x="4552923" y="515450"/>
            <a:ext cx="475797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class</a:t>
            </a:r>
            <a:r>
              <a:rPr lang="es-CO" sz="1100" dirty="0"/>
              <a:t> </a:t>
            </a:r>
            <a:r>
              <a:rPr lang="es-CO" sz="1100" dirty="0" err="1"/>
              <a:t>TestClientes</a:t>
            </a:r>
            <a:r>
              <a:rPr lang="es-CO" sz="1100" dirty="0"/>
              <a:t> {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GestionClientes</a:t>
            </a:r>
            <a:r>
              <a:rPr lang="es-CO" sz="1100" dirty="0"/>
              <a:t> </a:t>
            </a:r>
            <a:r>
              <a:rPr lang="es-CO" sz="1100" dirty="0" err="1"/>
              <a:t>gestionClientes</a:t>
            </a:r>
            <a:r>
              <a:rPr lang="es-CO" sz="1100" dirty="0"/>
              <a:t>;</a:t>
            </a:r>
          </a:p>
          <a:p>
            <a:endParaRPr lang="es-CO" sz="1100" dirty="0"/>
          </a:p>
          <a:p>
            <a:r>
              <a:rPr lang="es-CO" sz="1100" dirty="0"/>
              <a:t>    @</a:t>
            </a:r>
            <a:r>
              <a:rPr lang="es-CO" sz="1100" dirty="0" err="1"/>
              <a:t>Before</a:t>
            </a:r>
            <a:endParaRPr lang="es-CO" sz="1100" dirty="0"/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void</a:t>
            </a:r>
            <a:r>
              <a:rPr lang="es-CO" sz="1100" dirty="0"/>
              <a:t> </a:t>
            </a:r>
            <a:r>
              <a:rPr lang="es-CO" sz="1100" dirty="0" err="1"/>
              <a:t>setUp</a:t>
            </a:r>
            <a:r>
              <a:rPr lang="es-CO" sz="1100" dirty="0"/>
              <a:t>() {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gestionClientes</a:t>
            </a:r>
            <a:r>
              <a:rPr lang="es-CO" sz="1100" dirty="0"/>
              <a:t> = new </a:t>
            </a:r>
            <a:r>
              <a:rPr lang="es-CO" sz="1100" dirty="0" err="1"/>
              <a:t>GestionClientes</a:t>
            </a:r>
            <a:r>
              <a:rPr lang="es-CO" sz="1100" dirty="0"/>
              <a:t>(3); // Capacidad para 3 clientes</a:t>
            </a:r>
          </a:p>
          <a:p>
            <a:r>
              <a:rPr lang="es-CO" sz="1100" dirty="0"/>
              <a:t>    }</a:t>
            </a:r>
          </a:p>
          <a:p>
            <a:endParaRPr lang="es-CO" sz="1100" dirty="0"/>
          </a:p>
          <a:p>
            <a:r>
              <a:rPr lang="es-CO" sz="1100" dirty="0"/>
              <a:t>    @Test</a:t>
            </a:r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void</a:t>
            </a:r>
            <a:r>
              <a:rPr lang="es-CO" sz="1100" dirty="0"/>
              <a:t> </a:t>
            </a:r>
            <a:r>
              <a:rPr lang="es-CO" sz="1100" dirty="0" err="1"/>
              <a:t>testAgregarCliente</a:t>
            </a:r>
            <a:r>
              <a:rPr lang="es-CO" sz="1100" dirty="0"/>
              <a:t>() {</a:t>
            </a:r>
          </a:p>
          <a:p>
            <a:r>
              <a:rPr lang="es-CO" sz="1100" dirty="0"/>
              <a:t>        Cliente cliente1 = new Cliente("Juan", "Pérez", 30);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gestionClientes.agregarCliente</a:t>
            </a:r>
            <a:r>
              <a:rPr lang="es-CO" sz="1100" dirty="0"/>
              <a:t>(cliente1);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assertEquals</a:t>
            </a:r>
            <a:r>
              <a:rPr lang="es-CO" sz="1100" dirty="0"/>
              <a:t>(1, </a:t>
            </a:r>
            <a:r>
              <a:rPr lang="es-CO" sz="1100" dirty="0" err="1"/>
              <a:t>gestionClientes.contador</a:t>
            </a:r>
            <a:r>
              <a:rPr lang="es-CO" sz="1100" dirty="0"/>
              <a:t>);</a:t>
            </a:r>
          </a:p>
          <a:p>
            <a:endParaRPr lang="es-CO" sz="1100" dirty="0"/>
          </a:p>
          <a:p>
            <a:r>
              <a:rPr lang="es-CO" sz="1100" dirty="0"/>
              <a:t>        Cliente cliente2 = new Cliente("María", "López", 25);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gestionClientes.agregarCliente</a:t>
            </a:r>
            <a:r>
              <a:rPr lang="es-CO" sz="1100" dirty="0"/>
              <a:t>(cliente2);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assertEquals</a:t>
            </a:r>
            <a:r>
              <a:rPr lang="es-CO" sz="1100" dirty="0"/>
              <a:t>(2, </a:t>
            </a:r>
            <a:r>
              <a:rPr lang="es-CO" sz="1100" dirty="0" err="1"/>
              <a:t>gestionClientes.contador</a:t>
            </a:r>
            <a:r>
              <a:rPr lang="es-CO" sz="1100" dirty="0"/>
              <a:t>);</a:t>
            </a:r>
          </a:p>
          <a:p>
            <a:endParaRPr lang="es-CO" sz="1100" dirty="0"/>
          </a:p>
          <a:p>
            <a:r>
              <a:rPr lang="es-CO" sz="1100" dirty="0"/>
              <a:t>        Cliente cliente3 = new Cliente("Pedro", "Gómez", 40);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gestionClientes.agregarCliente</a:t>
            </a:r>
            <a:r>
              <a:rPr lang="es-CO" sz="1100" dirty="0"/>
              <a:t>(cliente3);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assertEquals</a:t>
            </a:r>
            <a:r>
              <a:rPr lang="es-CO" sz="1100" dirty="0"/>
              <a:t>(3, </a:t>
            </a:r>
            <a:r>
              <a:rPr lang="es-CO" sz="1100" dirty="0" err="1"/>
              <a:t>gestionClientes.contador</a:t>
            </a:r>
            <a:r>
              <a:rPr lang="es-CO" sz="1100" dirty="0"/>
              <a:t>);</a:t>
            </a:r>
          </a:p>
          <a:p>
            <a:endParaRPr lang="es-CO" sz="1100" dirty="0"/>
          </a:p>
          <a:p>
            <a:r>
              <a:rPr lang="es-CO" sz="1100" dirty="0"/>
              <a:t>        // Intentar agregar un cuarto cliente debe generar un error</a:t>
            </a:r>
          </a:p>
          <a:p>
            <a:r>
              <a:rPr lang="es-CO" sz="1100" dirty="0"/>
              <a:t>        Cliente cliente4 = new Cliente("Ana", "Rodríguez", 28);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gestionClientes.agregarCliente</a:t>
            </a:r>
            <a:r>
              <a:rPr lang="es-CO" sz="1100" dirty="0"/>
              <a:t>(cliente4);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assertEquals</a:t>
            </a:r>
            <a:r>
              <a:rPr lang="es-CO" sz="1100" dirty="0"/>
              <a:t>(3, </a:t>
            </a:r>
            <a:r>
              <a:rPr lang="es-CO" sz="1100" dirty="0" err="1"/>
              <a:t>gestionClientes.contador</a:t>
            </a:r>
            <a:r>
              <a:rPr lang="es-CO" sz="1100" dirty="0"/>
              <a:t>);</a:t>
            </a:r>
          </a:p>
          <a:p>
            <a:r>
              <a:rPr lang="es-CO" sz="1100" dirty="0"/>
              <a:t>    }</a:t>
            </a:r>
          </a:p>
          <a:p>
            <a:endParaRPr lang="es-CO" sz="1100" dirty="0"/>
          </a:p>
          <a:p>
            <a:r>
              <a:rPr lang="es-CO" sz="1100" dirty="0"/>
              <a:t>    </a:t>
            </a:r>
            <a:r>
              <a:rPr lang="es-CO" sz="1100" dirty="0" err="1"/>
              <a:t>public</a:t>
            </a:r>
            <a:r>
              <a:rPr lang="es-CO" sz="1100" dirty="0"/>
              <a:t> </a:t>
            </a:r>
            <a:r>
              <a:rPr lang="es-CO" sz="1100" dirty="0" err="1"/>
              <a:t>static</a:t>
            </a:r>
            <a:r>
              <a:rPr lang="es-CO" sz="1100" dirty="0"/>
              <a:t> </a:t>
            </a:r>
            <a:r>
              <a:rPr lang="es-CO" sz="1100" dirty="0" err="1"/>
              <a:t>void</a:t>
            </a:r>
            <a:r>
              <a:rPr lang="es-CO" sz="1100" dirty="0"/>
              <a:t> main(</a:t>
            </a:r>
            <a:r>
              <a:rPr lang="es-CO" sz="1100" dirty="0" err="1"/>
              <a:t>String</a:t>
            </a:r>
            <a:r>
              <a:rPr lang="es-CO" sz="1100" dirty="0"/>
              <a:t>[] </a:t>
            </a:r>
            <a:r>
              <a:rPr lang="es-CO" sz="1100" dirty="0" err="1"/>
              <a:t>args</a:t>
            </a:r>
            <a:r>
              <a:rPr lang="es-CO" sz="1100" dirty="0"/>
              <a:t>) {</a:t>
            </a:r>
          </a:p>
          <a:p>
            <a:r>
              <a:rPr lang="es-CO" sz="1100" dirty="0"/>
              <a:t>        </a:t>
            </a:r>
            <a:r>
              <a:rPr lang="es-CO" sz="1100" dirty="0" err="1"/>
              <a:t>org.junit.runner.JUnitCore.main</a:t>
            </a:r>
            <a:r>
              <a:rPr lang="es-CO" sz="1100" dirty="0"/>
              <a:t>("</a:t>
            </a:r>
            <a:r>
              <a:rPr lang="es-CO" sz="1100" dirty="0" err="1"/>
              <a:t>TestClientes</a:t>
            </a:r>
            <a:r>
              <a:rPr lang="es-CO" sz="1100" dirty="0"/>
              <a:t>");</a:t>
            </a:r>
          </a:p>
          <a:p>
            <a:r>
              <a:rPr lang="es-CO" sz="1100" dirty="0"/>
              <a:t>    }</a:t>
            </a:r>
          </a:p>
          <a:p>
            <a:r>
              <a:rPr lang="es-CO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1054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Imagen 1">
            <a:extLst>
              <a:ext uri="{FF2B5EF4-FFF2-40B4-BE49-F238E27FC236}">
                <a16:creationId xmlns:a16="http://schemas.microsoft.com/office/drawing/2014/main" id="{BD7134BB-9EBA-8F4C-93D1-E0627BD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6534</TotalTime>
  <Words>3174</Words>
  <Application>Microsoft Office PowerPoint</Application>
  <PresentationFormat>Presentación en pantalla (4:3)</PresentationFormat>
  <Paragraphs>478</Paragraphs>
  <Slides>28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 Math</vt:lpstr>
      <vt:lpstr>Tema de Office</vt:lpstr>
      <vt:lpstr>Presentación de PowerPoint</vt:lpstr>
      <vt:lpstr>Gráfico de Flujo para Pruebas</vt:lpstr>
      <vt:lpstr>Gráfico de Flujo para Pruebas</vt:lpstr>
      <vt:lpstr>Ejemplo</vt:lpstr>
      <vt:lpstr>Ejemplo</vt:lpstr>
      <vt:lpstr>Ejemplo</vt:lpstr>
      <vt:lpstr>Ejemplo</vt:lpstr>
      <vt:lpstr>Ejemplo</vt:lpstr>
      <vt:lpstr>Características de Pruebas de Caja Blanca</vt:lpstr>
      <vt:lpstr>Pruebas de Caja Blanca</vt:lpstr>
      <vt:lpstr>Elementos de las Pruebas de Caja Blanca</vt:lpstr>
      <vt:lpstr>Elementos de las Pruebas de Caja Blanca</vt:lpstr>
      <vt:lpstr>Métricas Básicas Cobertura de Código Coverage</vt:lpstr>
      <vt:lpstr>Métricas Básicas Cobertura de Código Coverage</vt:lpstr>
      <vt:lpstr>Métricas Complejidad Ciclomática</vt:lpstr>
      <vt:lpstr>Métricas Complejidad Ciclomática</vt:lpstr>
      <vt:lpstr>Métricas Complejidad Cognitiva</vt:lpstr>
      <vt:lpstr>Métricas Complejidad Cognitiva</vt:lpstr>
      <vt:lpstr>Diferencias</vt:lpstr>
      <vt:lpstr>Ejemplo Calculadora en Python</vt:lpstr>
      <vt:lpstr>Ejemplo de los Casos de Calculadora en Python </vt:lpstr>
      <vt:lpstr>Ejemplo áreas geométricas bñasicas y los casos de prueba en JavaScript </vt:lpstr>
      <vt:lpstr>Pruebas Unitarias</vt:lpstr>
      <vt:lpstr>Pruebas Unitarias</vt:lpstr>
      <vt:lpstr>Pruebas Unitarias JS</vt:lpstr>
      <vt:lpstr>Pruebas Unitarias Python</vt:lpstr>
      <vt:lpstr>Pruebas Unitarias Java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 Gonzalez Palacio</dc:creator>
  <cp:lastModifiedBy>Gabriel Mauricio Ramírez Villegas</cp:lastModifiedBy>
  <cp:revision>86</cp:revision>
  <dcterms:created xsi:type="dcterms:W3CDTF">2012-08-10T19:33:56Z</dcterms:created>
  <dcterms:modified xsi:type="dcterms:W3CDTF">2026-02-18T23:31:45Z</dcterms:modified>
</cp:coreProperties>
</file>