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11" r:id="rId2"/>
    <p:sldId id="336" r:id="rId3"/>
    <p:sldId id="360" r:id="rId4"/>
    <p:sldId id="368" r:id="rId5"/>
    <p:sldId id="355" r:id="rId6"/>
    <p:sldId id="361" r:id="rId7"/>
    <p:sldId id="363" r:id="rId8"/>
    <p:sldId id="362" r:id="rId9"/>
    <p:sldId id="364" r:id="rId10"/>
    <p:sldId id="356" r:id="rId11"/>
    <p:sldId id="367" r:id="rId12"/>
    <p:sldId id="365" r:id="rId13"/>
    <p:sldId id="366" r:id="rId14"/>
    <p:sldId id="369" r:id="rId15"/>
    <p:sldId id="373" r:id="rId16"/>
    <p:sldId id="370" r:id="rId17"/>
    <p:sldId id="353" r:id="rId18"/>
    <p:sldId id="352" r:id="rId19"/>
    <p:sldId id="372" r:id="rId20"/>
    <p:sldId id="374" r:id="rId21"/>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799"/>
    <p:restoredTop sz="94628"/>
  </p:normalViewPr>
  <p:slideViewPr>
    <p:cSldViewPr>
      <p:cViewPr varScale="1">
        <p:scale>
          <a:sx n="88" d="100"/>
          <a:sy n="88" d="100"/>
        </p:scale>
        <p:origin x="192" y="8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41549-E6D3-F847-9968-76BB11C042B9}" type="datetimeFigureOut">
              <a:rPr lang="es-CO" smtClean="0"/>
              <a:t>25/10/23</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907074-4FEE-CE4B-A9C0-E69E159A3600}" type="slidenum">
              <a:rPr lang="es-CO" smtClean="0"/>
              <a:t>‹Nº›</a:t>
            </a:fld>
            <a:endParaRPr lang="es-CO"/>
          </a:p>
        </p:txBody>
      </p:sp>
    </p:spTree>
    <p:extLst>
      <p:ext uri="{BB962C8B-B14F-4D97-AF65-F5344CB8AC3E}">
        <p14:creationId xmlns:p14="http://schemas.microsoft.com/office/powerpoint/2010/main" val="3507153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Marcador de imagen de diapositiva 1">
            <a:extLst>
              <a:ext uri="{FF2B5EF4-FFF2-40B4-BE49-F238E27FC236}">
                <a16:creationId xmlns:a16="http://schemas.microsoft.com/office/drawing/2014/main" id="{E7FE7452-2939-8848-803E-0CD605D3168D}"/>
              </a:ext>
            </a:extLst>
          </p:cNvPr>
          <p:cNvSpPr>
            <a:spLocks noGrp="1" noRot="1" noChangeAspect="1" noTextEdit="1"/>
          </p:cNvSpPr>
          <p:nvPr>
            <p:ph type="sldImg"/>
          </p:nvPr>
        </p:nvSpPr>
        <p:spPr>
          <a:ln/>
        </p:spPr>
      </p:sp>
      <p:sp>
        <p:nvSpPr>
          <p:cNvPr id="4099" name="Marcador de notas 2">
            <a:extLst>
              <a:ext uri="{FF2B5EF4-FFF2-40B4-BE49-F238E27FC236}">
                <a16:creationId xmlns:a16="http://schemas.microsoft.com/office/drawing/2014/main" id="{07A05E47-E756-444D-BBE0-F8337A99F774}"/>
              </a:ext>
            </a:extLst>
          </p:cNvPr>
          <p:cNvSpPr>
            <a:spLocks noGrp="1"/>
          </p:cNvSpPr>
          <p:nvPr>
            <p:ph type="body" idx="1"/>
          </p:nvPr>
        </p:nvSpPr>
        <p:spPr/>
        <p:txBody>
          <a:bodyPr/>
          <a:lstStyle/>
          <a:p>
            <a:pPr eaLnBrk="1" hangingPunct="1">
              <a:defRPr/>
            </a:pPr>
            <a:endParaRPr lang="es-ES_tradnl" altLang="es-ES_tradnl"/>
          </a:p>
        </p:txBody>
      </p:sp>
      <p:sp>
        <p:nvSpPr>
          <p:cNvPr id="4100" name="Marcador de número de diapositiva 3">
            <a:extLst>
              <a:ext uri="{FF2B5EF4-FFF2-40B4-BE49-F238E27FC236}">
                <a16:creationId xmlns:a16="http://schemas.microsoft.com/office/drawing/2014/main" id="{E82EAEEC-A1B2-D443-9AAA-ED703D6D1920}"/>
              </a:ext>
            </a:extLst>
          </p:cNvPr>
          <p:cNvSpPr>
            <a:spLocks noGrp="1"/>
          </p:cNvSpPr>
          <p:nvPr>
            <p:ph type="sldNum" sz="quarter" idx="5"/>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defRPr/>
            </a:pPr>
            <a:fld id="{BA9F20AE-ED0A-1C41-871A-B4A6148AAA27}" type="slidenum">
              <a:rPr lang="es-ES_tradnl" altLang="es-ES_tradnl" smtClean="0"/>
              <a:pPr>
                <a:defRPr/>
              </a:pPr>
              <a:t>1</a:t>
            </a:fld>
            <a:endParaRPr lang="es-ES_tradnl" altLang="es-ES_trad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178619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786472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1853784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2464651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326553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1693868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276719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1872043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312541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2957690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C13C5C31-60C6-4A62-A46A-8307D9D192C6}" type="datetimeFigureOut">
              <a:rPr lang="es-CO" smtClean="0"/>
              <a:t>25/10/23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9DB36612-A338-4012-9DC8-30BD864AF648}" type="slidenum">
              <a:rPr lang="es-CO" smtClean="0"/>
              <a:t>‹Nº›</a:t>
            </a:fld>
            <a:endParaRPr lang="es-CO"/>
          </a:p>
        </p:txBody>
      </p:sp>
    </p:spTree>
    <p:extLst>
      <p:ext uri="{BB962C8B-B14F-4D97-AF65-F5344CB8AC3E}">
        <p14:creationId xmlns:p14="http://schemas.microsoft.com/office/powerpoint/2010/main" val="1918756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3C5C31-60C6-4A62-A46A-8307D9D192C6}" type="datetimeFigureOut">
              <a:rPr lang="es-CO" smtClean="0"/>
              <a:t>25/10/23</a:t>
            </a:fld>
            <a:endParaRPr lang="es-CO"/>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B36612-A338-4012-9DC8-30BD864AF648}" type="slidenum">
              <a:rPr lang="es-CO" smtClean="0"/>
              <a:t>‹Nº›</a:t>
            </a:fld>
            <a:endParaRPr lang="es-CO"/>
          </a:p>
        </p:txBody>
      </p:sp>
    </p:spTree>
    <p:extLst>
      <p:ext uri="{BB962C8B-B14F-4D97-AF65-F5344CB8AC3E}">
        <p14:creationId xmlns:p14="http://schemas.microsoft.com/office/powerpoint/2010/main" val="146429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serenity-bdd.info/" TargetMode="External"/><Relationship Id="rId2" Type="http://schemas.openxmlformats.org/officeDocument/2006/relationships/hyperlink" Target="https://cucumber.io/"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cucumber/common/blob/main/README.md"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jdmesalosada/serenitybddwebinspanishtrainingv2"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5" name="Imagen 8">
            <a:extLst>
              <a:ext uri="{FF2B5EF4-FFF2-40B4-BE49-F238E27FC236}">
                <a16:creationId xmlns:a16="http://schemas.microsoft.com/office/drawing/2014/main" id="{36F2C197-F88F-D44D-ABCF-411899C4D1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67252"/>
            <a:ext cx="9144000" cy="511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683568" y="980728"/>
            <a:ext cx="8172908" cy="5047536"/>
          </a:xfrm>
          <a:prstGeom prst="rect">
            <a:avLst/>
          </a:prstGeom>
          <a:noFill/>
        </p:spPr>
        <p:txBody>
          <a:bodyPr wrap="square">
            <a:spAutoFit/>
          </a:bodyPr>
          <a:lstStyle/>
          <a:p>
            <a:pPr algn="l"/>
            <a:r>
              <a:rPr lang="es-CO" sz="2000" b="1" i="0" dirty="0">
                <a:solidFill>
                  <a:srgbClr val="2A2F35"/>
                </a:solidFill>
                <a:effectLst/>
                <a:latin typeface="Lato" panose="020F0502020204030203" pitchFamily="34" charset="0"/>
              </a:rPr>
              <a:t>En </a:t>
            </a:r>
            <a:r>
              <a:rPr lang="es-CO" sz="2000" b="1" i="0" u="none" strike="noStrike" dirty="0">
                <a:solidFill>
                  <a:srgbClr val="2A2F35"/>
                </a:solidFill>
                <a:effectLst/>
                <a:latin typeface="Lato" panose="020F0502020204030203" pitchFamily="34" charset="0"/>
              </a:rPr>
              <a:t>desarrollo de software</a:t>
            </a:r>
            <a:r>
              <a:rPr lang="es-CO" sz="2000" b="1" i="0" dirty="0">
                <a:solidFill>
                  <a:srgbClr val="2A2F35"/>
                </a:solidFill>
                <a:effectLst/>
                <a:latin typeface="Lato" panose="020F0502020204030203" pitchFamily="34" charset="0"/>
              </a:rPr>
              <a:t>, hay una gran cantidad de </a:t>
            </a:r>
            <a:r>
              <a:rPr lang="es-CO" sz="2000" b="1" i="0" u="none" strike="noStrike" dirty="0">
                <a:solidFill>
                  <a:srgbClr val="2A2F35"/>
                </a:solidFill>
                <a:effectLst/>
                <a:latin typeface="Lato" panose="020F0502020204030203" pitchFamily="34" charset="0"/>
              </a:rPr>
              <a:t>buenas prácticas</a:t>
            </a:r>
            <a:r>
              <a:rPr lang="es-CO" sz="2000" b="1" i="0" dirty="0">
                <a:solidFill>
                  <a:srgbClr val="2A2F35"/>
                </a:solidFill>
                <a:effectLst/>
                <a:latin typeface="Lato" panose="020F0502020204030203" pitchFamily="34" charset="0"/>
              </a:rPr>
              <a:t> que pueden ayudar a hacer un código mucho más limpio, optimizado y mantenible:</a:t>
            </a:r>
            <a:endParaRPr lang="es-CO" sz="2000" b="0" i="0" dirty="0">
              <a:solidFill>
                <a:srgbClr val="2A2F35"/>
              </a:solidFill>
              <a:effectLst/>
              <a:latin typeface="Lato" panose="020F0502020204030203" pitchFamily="34" charset="0"/>
            </a:endParaRPr>
          </a:p>
          <a:p>
            <a:pPr algn="l"/>
            <a:endParaRPr lang="es-CO" sz="2000" dirty="0">
              <a:solidFill>
                <a:srgbClr val="2A2F35"/>
              </a:solidFill>
              <a:latin typeface="Lato" panose="020F0502020204030203" pitchFamily="34" charset="0"/>
            </a:endParaRPr>
          </a:p>
          <a:p>
            <a:pPr marL="342900" indent="-342900" algn="l">
              <a:buFont typeface="Arial" panose="020B0604020202020204" pitchFamily="34" charset="0"/>
              <a:buChar char="•"/>
            </a:pPr>
            <a:r>
              <a:rPr lang="es-CO" sz="2000" b="1" i="0" dirty="0">
                <a:solidFill>
                  <a:srgbClr val="2A2F35"/>
                </a:solidFill>
                <a:effectLst/>
                <a:latin typeface="Lato" panose="020F0502020204030203" pitchFamily="34" charset="0"/>
              </a:rPr>
              <a:t>Test </a:t>
            </a:r>
            <a:r>
              <a:rPr lang="es-CO" sz="2000" b="1" i="0" dirty="0" err="1">
                <a:solidFill>
                  <a:srgbClr val="2A2F35"/>
                </a:solidFill>
                <a:effectLst/>
                <a:latin typeface="Lato" panose="020F0502020204030203" pitchFamily="34" charset="0"/>
              </a:rPr>
              <a:t>Driven</a:t>
            </a:r>
            <a:r>
              <a:rPr lang="es-CO" sz="2000" b="1" i="0" dirty="0">
                <a:solidFill>
                  <a:srgbClr val="2A2F35"/>
                </a:solidFill>
                <a:effectLst/>
                <a:latin typeface="Lato" panose="020F0502020204030203" pitchFamily="34" charset="0"/>
              </a:rPr>
              <a:t> </a:t>
            </a:r>
            <a:r>
              <a:rPr lang="es-CO" sz="2000" b="1" i="0" dirty="0" err="1">
                <a:solidFill>
                  <a:srgbClr val="2A2F35"/>
                </a:solidFill>
                <a:effectLst/>
                <a:latin typeface="Lato" panose="020F0502020204030203" pitchFamily="34" charset="0"/>
              </a:rPr>
              <a:t>Development</a:t>
            </a:r>
            <a:r>
              <a:rPr lang="es-CO" sz="2000" b="1" i="0" dirty="0">
                <a:solidFill>
                  <a:srgbClr val="2A2F35"/>
                </a:solidFill>
                <a:effectLst/>
                <a:latin typeface="Lato" panose="020F0502020204030203" pitchFamily="34" charset="0"/>
              </a:rPr>
              <a:t> (TDD) o Desarrollo Dirigido por Pruebas</a:t>
            </a:r>
            <a:r>
              <a:rPr lang="es-CO" sz="2000" b="0" i="0" dirty="0">
                <a:solidFill>
                  <a:srgbClr val="2A2F35"/>
                </a:solidFill>
                <a:effectLst/>
                <a:latin typeface="Lato" panose="020F0502020204030203" pitchFamily="34" charset="0"/>
              </a:rPr>
              <a:t>, es decir, hacer primero las pruebas (y que estas fallen) y posteriormente desarrollar el código que permite que la prueba pase</a:t>
            </a:r>
          </a:p>
          <a:p>
            <a:pPr marL="342900" indent="-342900" algn="l">
              <a:buFont typeface="Arial" panose="020B0604020202020204" pitchFamily="34" charset="0"/>
              <a:buChar char="•"/>
            </a:pPr>
            <a:endParaRPr lang="es-CO" sz="2000" dirty="0">
              <a:solidFill>
                <a:srgbClr val="2A2F35"/>
              </a:solidFill>
              <a:latin typeface="Lato" panose="020F0502020204030203" pitchFamily="34" charset="0"/>
            </a:endParaRPr>
          </a:p>
          <a:p>
            <a:pPr marL="285750" indent="-285750" algn="l">
              <a:buFont typeface="Arial" panose="020B0604020202020204" pitchFamily="34" charset="0"/>
              <a:buChar char="•"/>
            </a:pPr>
            <a:r>
              <a:rPr lang="es-CO" b="1" i="0" dirty="0" err="1">
                <a:solidFill>
                  <a:srgbClr val="2A2F35"/>
                </a:solidFill>
                <a:effectLst/>
                <a:latin typeface="Lato" panose="020F0502020204030203" pitchFamily="34" charset="0"/>
              </a:rPr>
              <a:t>Behavior</a:t>
            </a:r>
            <a:r>
              <a:rPr lang="es-CO" b="1" i="0" dirty="0">
                <a:solidFill>
                  <a:srgbClr val="2A2F35"/>
                </a:solidFill>
                <a:effectLst/>
                <a:latin typeface="Lato" panose="020F0502020204030203" pitchFamily="34" charset="0"/>
              </a:rPr>
              <a:t> </a:t>
            </a:r>
            <a:r>
              <a:rPr lang="es-CO" b="1" i="0" dirty="0" err="1">
                <a:solidFill>
                  <a:srgbClr val="2A2F35"/>
                </a:solidFill>
                <a:effectLst/>
                <a:latin typeface="Lato" panose="020F0502020204030203" pitchFamily="34" charset="0"/>
              </a:rPr>
              <a:t>Driven</a:t>
            </a:r>
            <a:r>
              <a:rPr lang="es-CO" b="1" i="0" dirty="0">
                <a:solidFill>
                  <a:srgbClr val="2A2F35"/>
                </a:solidFill>
                <a:effectLst/>
                <a:latin typeface="Lato" panose="020F0502020204030203" pitchFamily="34" charset="0"/>
              </a:rPr>
              <a:t> </a:t>
            </a:r>
            <a:r>
              <a:rPr lang="es-CO" b="1" i="0" dirty="0" err="1">
                <a:solidFill>
                  <a:srgbClr val="2A2F35"/>
                </a:solidFill>
                <a:effectLst/>
                <a:latin typeface="Lato" panose="020F0502020204030203" pitchFamily="34" charset="0"/>
              </a:rPr>
              <a:t>Development</a:t>
            </a:r>
            <a:r>
              <a:rPr lang="es-CO" b="1" i="0" dirty="0">
                <a:solidFill>
                  <a:srgbClr val="2A2F35"/>
                </a:solidFill>
                <a:effectLst/>
                <a:latin typeface="Lato" panose="020F0502020204030203" pitchFamily="34" charset="0"/>
              </a:rPr>
              <a:t> (BDD) o Desarrollo Dirigido por Comportamiento, </a:t>
            </a:r>
            <a:r>
              <a:rPr lang="es-CO" b="0" i="0" dirty="0">
                <a:solidFill>
                  <a:srgbClr val="2A2F35"/>
                </a:solidFill>
                <a:effectLst/>
                <a:latin typeface="Lato" panose="020F0502020204030203" pitchFamily="34" charset="0"/>
              </a:rPr>
              <a:t>también  se escriben los </a:t>
            </a:r>
            <a:r>
              <a:rPr lang="es-CO" b="0" i="0" dirty="0" err="1">
                <a:solidFill>
                  <a:srgbClr val="2A2F35"/>
                </a:solidFill>
                <a:effectLst/>
                <a:latin typeface="Lato" panose="020F0502020204030203" pitchFamily="34" charset="0"/>
              </a:rPr>
              <a:t>tests</a:t>
            </a:r>
            <a:r>
              <a:rPr lang="es-CO" b="0" i="0" dirty="0">
                <a:solidFill>
                  <a:srgbClr val="2A2F35"/>
                </a:solidFill>
                <a:effectLst/>
                <a:latin typeface="Lato" panose="020F0502020204030203" pitchFamily="34" charset="0"/>
              </a:rPr>
              <a:t> antes que el código que pasa dichas pruebas, pero </a:t>
            </a:r>
            <a:r>
              <a:rPr lang="es-CO" b="1" i="0" dirty="0">
                <a:solidFill>
                  <a:srgbClr val="2A2F35"/>
                </a:solidFill>
                <a:effectLst/>
                <a:latin typeface="Lato" panose="020F0502020204030203" pitchFamily="34" charset="0"/>
              </a:rPr>
              <a:t>la diferencia es que los </a:t>
            </a:r>
            <a:r>
              <a:rPr lang="es-CO" b="1" i="0" dirty="0" err="1">
                <a:solidFill>
                  <a:srgbClr val="2A2F35"/>
                </a:solidFill>
                <a:effectLst/>
                <a:latin typeface="Lato" panose="020F0502020204030203" pitchFamily="34" charset="0"/>
              </a:rPr>
              <a:t>tests</a:t>
            </a:r>
            <a:r>
              <a:rPr lang="es-CO" b="1" i="0" dirty="0">
                <a:solidFill>
                  <a:srgbClr val="2A2F35"/>
                </a:solidFill>
                <a:effectLst/>
                <a:latin typeface="Lato" panose="020F0502020204030203" pitchFamily="34" charset="0"/>
              </a:rPr>
              <a:t> no son como en TDD </a:t>
            </a:r>
            <a:r>
              <a:rPr lang="es-CO" b="1" i="0" dirty="0" err="1">
                <a:solidFill>
                  <a:srgbClr val="2A2F35"/>
                </a:solidFill>
                <a:effectLst/>
                <a:latin typeface="Lato" panose="020F0502020204030203" pitchFamily="34" charset="0"/>
              </a:rPr>
              <a:t>tests</a:t>
            </a:r>
            <a:r>
              <a:rPr lang="es-CO" b="1" i="0" dirty="0">
                <a:solidFill>
                  <a:srgbClr val="2A2F35"/>
                </a:solidFill>
                <a:effectLst/>
                <a:latin typeface="Lato" panose="020F0502020204030203" pitchFamily="34" charset="0"/>
              </a:rPr>
              <a:t> unitarios, sino pruebas que validarán que el código cumple requisitos funcionales de negocio</a:t>
            </a:r>
            <a:r>
              <a:rPr lang="es-CO" b="0" i="0" dirty="0">
                <a:solidFill>
                  <a:srgbClr val="2A2F35"/>
                </a:solidFill>
                <a:effectLst/>
                <a:latin typeface="Lato" panose="020F0502020204030203" pitchFamily="34" charset="0"/>
              </a:rPr>
              <a:t>.</a:t>
            </a:r>
          </a:p>
          <a:p>
            <a:pPr marL="342900" indent="-342900" algn="l">
              <a:buFont typeface="Arial" panose="020B0604020202020204" pitchFamily="34" charset="0"/>
              <a:buChar char="•"/>
            </a:pPr>
            <a:endParaRPr lang="es-CO" dirty="0">
              <a:latin typeface="DevExpert"/>
            </a:endParaRPr>
          </a:p>
          <a:p>
            <a:pPr algn="l" fontAlgn="base"/>
            <a:r>
              <a:rPr lang="es-CO" dirty="0">
                <a:latin typeface="DevExpert"/>
              </a:rPr>
              <a:t>  </a:t>
            </a:r>
            <a:endParaRPr lang="es-CO" b="0" i="0" dirty="0">
              <a:effectLst/>
              <a:latin typeface="DevExpert"/>
            </a:endParaRPr>
          </a:p>
          <a:p>
            <a:pPr algn="l"/>
            <a:endParaRPr lang="es-CO" dirty="0">
              <a:latin typeface="-apple-system"/>
            </a:endParaRPr>
          </a:p>
          <a:p>
            <a:pPr algn="l"/>
            <a:endParaRPr lang="es-CO" dirty="0">
              <a:latin typeface="-apple-system"/>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a:latin typeface="Ubuntu Medium"/>
                <a:ea typeface="Ubuntu Medium"/>
                <a:cs typeface="Ubuntu Medium"/>
                <a:sym typeface="Ubuntu Medium"/>
              </a:rPr>
              <a:t>TDD y BDD</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2811297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755576" y="1412776"/>
            <a:ext cx="8172908" cy="2462213"/>
          </a:xfrm>
          <a:prstGeom prst="rect">
            <a:avLst/>
          </a:prstGeom>
          <a:noFill/>
        </p:spPr>
        <p:txBody>
          <a:bodyPr wrap="square">
            <a:spAutoFit/>
          </a:bodyPr>
          <a:lstStyle/>
          <a:p>
            <a:pPr algn="l"/>
            <a:r>
              <a:rPr lang="es-CO" sz="2000" b="1" i="0" dirty="0">
                <a:solidFill>
                  <a:srgbClr val="2A2F35"/>
                </a:solidFill>
                <a:effectLst/>
                <a:latin typeface="Lato" panose="020F0502020204030203" pitchFamily="34" charset="0"/>
              </a:rPr>
              <a:t>BDD es un enfoque muy potente para implementar proyectos de software, ya que permite cruzar el puente existente entre los perfiles de negocio</a:t>
            </a:r>
            <a:r>
              <a:rPr lang="es-CO" sz="2000" b="0" i="0" dirty="0">
                <a:solidFill>
                  <a:srgbClr val="2A2F35"/>
                </a:solidFill>
                <a:effectLst/>
                <a:latin typeface="Lato" panose="020F0502020204030203" pitchFamily="34" charset="0"/>
              </a:rPr>
              <a:t> </a:t>
            </a:r>
            <a:r>
              <a:rPr lang="es-CO" sz="2000" b="1" i="0" dirty="0">
                <a:solidFill>
                  <a:srgbClr val="2A2F35"/>
                </a:solidFill>
                <a:effectLst/>
                <a:latin typeface="Lato" panose="020F0502020204030203" pitchFamily="34" charset="0"/>
              </a:rPr>
              <a:t>y los perfiles técnicos, </a:t>
            </a:r>
            <a:r>
              <a:rPr lang="es-CO" sz="2000" dirty="0">
                <a:solidFill>
                  <a:srgbClr val="2A2F35"/>
                </a:solidFill>
                <a:latin typeface="Lato" panose="020F0502020204030203" pitchFamily="34" charset="0"/>
              </a:rPr>
              <a:t>estos</a:t>
            </a:r>
            <a:r>
              <a:rPr lang="es-CO" sz="2000" b="0" i="0" dirty="0">
                <a:solidFill>
                  <a:srgbClr val="2A2F35"/>
                </a:solidFill>
                <a:effectLst/>
                <a:latin typeface="Lato" panose="020F0502020204030203" pitchFamily="34" charset="0"/>
              </a:rPr>
              <a:t> perfiles son complementarios y cuanto mejor sea su comunicación, mejores resultados se obtendrá con el proyecto que se está llevando a cabo.</a:t>
            </a:r>
            <a:endParaRPr lang="es-CO" dirty="0">
              <a:latin typeface="DevExpert"/>
            </a:endParaRPr>
          </a:p>
          <a:p>
            <a:pPr algn="l" fontAlgn="base"/>
            <a:r>
              <a:rPr lang="es-CO" dirty="0">
                <a:latin typeface="DevExpert"/>
              </a:rPr>
              <a:t>  </a:t>
            </a:r>
            <a:endParaRPr lang="es-CO" b="0" i="0" dirty="0">
              <a:effectLst/>
              <a:latin typeface="DevExpert"/>
            </a:endParaRPr>
          </a:p>
          <a:p>
            <a:pPr algn="l"/>
            <a:endParaRPr lang="es-CO" dirty="0">
              <a:latin typeface="-apple-system"/>
            </a:endParaRPr>
          </a:p>
          <a:p>
            <a:pPr algn="l"/>
            <a:endParaRPr lang="es-CO" dirty="0">
              <a:latin typeface="-apple-system"/>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a:latin typeface="Ubuntu Medium"/>
                <a:ea typeface="Ubuntu Medium"/>
                <a:cs typeface="Ubuntu Medium"/>
                <a:sym typeface="Ubuntu Medium"/>
              </a:rPr>
              <a:t>BDD</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2975967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96B77D-80B1-51BF-36DA-227F83EE005C}"/>
              </a:ext>
            </a:extLst>
          </p:cNvPr>
          <p:cNvPicPr>
            <a:picLocks noChangeAspect="1"/>
          </p:cNvPicPr>
          <p:nvPr/>
        </p:nvPicPr>
        <p:blipFill rotWithShape="1">
          <a:blip r:embed="rId2">
            <a:extLst>
              <a:ext uri="{28A0092B-C50C-407E-A947-70E740481C1C}">
                <a14:useLocalDpi xmlns:a14="http://schemas.microsoft.com/office/drawing/2010/main" val="0"/>
              </a:ext>
            </a:extLst>
          </a:blip>
          <a:srcRect l="43753" t="25378" r="25056" b="6193"/>
          <a:stretch/>
        </p:blipFill>
        <p:spPr>
          <a:xfrm rot="5400000">
            <a:off x="1385269" y="-1032621"/>
            <a:ext cx="6496226" cy="8907740"/>
          </a:xfrm>
          <a:prstGeom prst="rect">
            <a:avLst/>
          </a:prstGeom>
        </p:spPr>
      </p:pic>
      <p:sp>
        <p:nvSpPr>
          <p:cNvPr id="6" name="Elipse 5">
            <a:extLst>
              <a:ext uri="{FF2B5EF4-FFF2-40B4-BE49-F238E27FC236}">
                <a16:creationId xmlns:a16="http://schemas.microsoft.com/office/drawing/2014/main" id="{519A3120-45D9-A385-9835-D7096F21C62D}"/>
              </a:ext>
            </a:extLst>
          </p:cNvPr>
          <p:cNvSpPr/>
          <p:nvPr/>
        </p:nvSpPr>
        <p:spPr>
          <a:xfrm>
            <a:off x="6372200" y="1484784"/>
            <a:ext cx="2664296" cy="1296144"/>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380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683568" y="980728"/>
            <a:ext cx="8172908" cy="3385542"/>
          </a:xfrm>
          <a:prstGeom prst="rect">
            <a:avLst/>
          </a:prstGeom>
          <a:noFill/>
        </p:spPr>
        <p:txBody>
          <a:bodyPr wrap="square">
            <a:spAutoFit/>
          </a:bodyPr>
          <a:lstStyle/>
          <a:p>
            <a:pPr algn="l"/>
            <a:r>
              <a:rPr lang="es-CO" sz="2000" b="0" i="0" dirty="0" err="1">
                <a:solidFill>
                  <a:srgbClr val="0C0C0C"/>
                </a:solidFill>
                <a:effectLst/>
                <a:latin typeface="Rubik"/>
              </a:rPr>
              <a:t>Gherkin</a:t>
            </a:r>
            <a:r>
              <a:rPr lang="es-CO" sz="2000" b="0" i="0" dirty="0">
                <a:solidFill>
                  <a:srgbClr val="0C0C0C"/>
                </a:solidFill>
                <a:effectLst/>
                <a:latin typeface="Rubik"/>
              </a:rPr>
              <a:t> es un Lenguaje Específico de Dominio (DSL), que son lenguajes diseñados en concreto para resolver un problema muy específico. En este caso, el problema que quiere solucionar </a:t>
            </a:r>
            <a:r>
              <a:rPr lang="es-CO" sz="2000" b="0" i="0" dirty="0" err="1">
                <a:solidFill>
                  <a:srgbClr val="0C0C0C"/>
                </a:solidFill>
                <a:effectLst/>
                <a:latin typeface="Rubik"/>
              </a:rPr>
              <a:t>Gherkin</a:t>
            </a:r>
            <a:r>
              <a:rPr lang="es-CO" sz="2000" b="0" i="0" dirty="0">
                <a:solidFill>
                  <a:srgbClr val="0C0C0C"/>
                </a:solidFill>
                <a:effectLst/>
                <a:latin typeface="Rubik"/>
              </a:rPr>
              <a:t> es un problema de comunicación entre los perfiles de negocio y los perfiles técnicos a la hora de trabajar bajo un enfoque BDD. También se podría trabajar </a:t>
            </a:r>
            <a:r>
              <a:rPr lang="es-CO" sz="2000" b="0" i="0" dirty="0" err="1">
                <a:solidFill>
                  <a:srgbClr val="0C0C0C"/>
                </a:solidFill>
                <a:effectLst/>
                <a:latin typeface="Rubik"/>
              </a:rPr>
              <a:t>Gherkin</a:t>
            </a:r>
            <a:r>
              <a:rPr lang="es-CO" sz="2000" b="0" i="0" dirty="0">
                <a:solidFill>
                  <a:srgbClr val="0C0C0C"/>
                </a:solidFill>
                <a:effectLst/>
                <a:latin typeface="Rubik"/>
              </a:rPr>
              <a:t> con otros enfoques de desarrollo de software, pero lo ideal y lo natural es hacerlo con BDD, al ser mejor práctica y para el enfoque de programación para el que se desarrolló </a:t>
            </a:r>
            <a:r>
              <a:rPr lang="es-CO" sz="2000" b="0" i="0" dirty="0" err="1">
                <a:solidFill>
                  <a:srgbClr val="0C0C0C"/>
                </a:solidFill>
                <a:effectLst/>
                <a:latin typeface="Rubik"/>
              </a:rPr>
              <a:t>Gherkin</a:t>
            </a:r>
            <a:r>
              <a:rPr lang="es-CO" sz="2000" b="0" i="0" dirty="0">
                <a:solidFill>
                  <a:srgbClr val="0C0C0C"/>
                </a:solidFill>
                <a:effectLst/>
                <a:latin typeface="Rubik"/>
              </a:rPr>
              <a:t>. </a:t>
            </a:r>
            <a:endParaRPr lang="es-CO" dirty="0">
              <a:latin typeface="DevExpert"/>
            </a:endParaRPr>
          </a:p>
          <a:p>
            <a:pPr algn="l" fontAlgn="base"/>
            <a:r>
              <a:rPr lang="es-CO" dirty="0">
                <a:latin typeface="DevExpert"/>
              </a:rPr>
              <a:t>  </a:t>
            </a:r>
            <a:endParaRPr lang="es-CO" b="0" i="0" dirty="0">
              <a:effectLst/>
              <a:latin typeface="DevExpert"/>
            </a:endParaRPr>
          </a:p>
          <a:p>
            <a:pPr algn="l"/>
            <a:endParaRPr lang="es-CO" dirty="0">
              <a:latin typeface="-apple-system"/>
            </a:endParaRPr>
          </a:p>
          <a:p>
            <a:pPr algn="l"/>
            <a:endParaRPr lang="es-CO" dirty="0">
              <a:latin typeface="-apple-system"/>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Gherking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221027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683568" y="980728"/>
            <a:ext cx="8172908" cy="4955203"/>
          </a:xfrm>
          <a:prstGeom prst="rect">
            <a:avLst/>
          </a:prstGeom>
          <a:noFill/>
        </p:spPr>
        <p:txBody>
          <a:bodyPr wrap="square">
            <a:spAutoFit/>
          </a:bodyPr>
          <a:lstStyle/>
          <a:p>
            <a:pPr algn="l"/>
            <a:r>
              <a:rPr lang="es-CO" sz="2000" dirty="0">
                <a:solidFill>
                  <a:srgbClr val="0C0C0C"/>
                </a:solidFill>
                <a:latin typeface="Rubik"/>
              </a:rPr>
              <a:t>L</a:t>
            </a:r>
            <a:r>
              <a:rPr lang="es-CO" sz="2000" b="0" i="0" dirty="0">
                <a:solidFill>
                  <a:srgbClr val="0C0C0C"/>
                </a:solidFill>
                <a:effectLst/>
                <a:latin typeface="Rubik"/>
              </a:rPr>
              <a:t>a estructura del </a:t>
            </a:r>
            <a:r>
              <a:rPr lang="es-CO" sz="2000" b="0" i="0" dirty="0" err="1">
                <a:solidFill>
                  <a:srgbClr val="0C0C0C"/>
                </a:solidFill>
                <a:effectLst/>
                <a:latin typeface="Rubik"/>
              </a:rPr>
              <a:t>Gherkin</a:t>
            </a:r>
            <a:r>
              <a:rPr lang="es-CO" sz="2000" b="0" i="0" dirty="0">
                <a:solidFill>
                  <a:srgbClr val="0C0C0C"/>
                </a:solidFill>
                <a:effectLst/>
                <a:latin typeface="Rubik"/>
              </a:rPr>
              <a:t>. </a:t>
            </a:r>
          </a:p>
          <a:p>
            <a:pPr algn="l"/>
            <a:endParaRPr lang="es-CO" sz="2000" b="0" i="0" dirty="0">
              <a:solidFill>
                <a:srgbClr val="0C0C0C"/>
              </a:solidFill>
              <a:effectLst/>
              <a:latin typeface="Rubik"/>
            </a:endParaRPr>
          </a:p>
          <a:p>
            <a:pPr algn="l"/>
            <a:r>
              <a:rPr lang="es-CO" sz="2000" b="0" i="0" dirty="0">
                <a:solidFill>
                  <a:srgbClr val="0C0C0C"/>
                </a:solidFill>
                <a:effectLst/>
                <a:latin typeface="Rubik"/>
              </a:rPr>
              <a:t>● </a:t>
            </a:r>
            <a:r>
              <a:rPr lang="es-CO" sz="2000" b="0" i="0" dirty="0" err="1">
                <a:solidFill>
                  <a:srgbClr val="0C0C0C"/>
                </a:solidFill>
                <a:effectLst/>
                <a:latin typeface="Rubik"/>
              </a:rPr>
              <a:t>Feature</a:t>
            </a:r>
            <a:r>
              <a:rPr lang="es-CO" sz="2000" b="0" i="0" dirty="0">
                <a:solidFill>
                  <a:srgbClr val="0C0C0C"/>
                </a:solidFill>
                <a:effectLst/>
                <a:latin typeface="Rubik"/>
              </a:rPr>
              <a:t>(</a:t>
            </a:r>
            <a:r>
              <a:rPr lang="es-CO" sz="2000" b="0" i="0" dirty="0" err="1">
                <a:solidFill>
                  <a:srgbClr val="0C0C0C"/>
                </a:solidFill>
                <a:effectLst/>
                <a:latin typeface="Rubik"/>
              </a:rPr>
              <a:t>caracteristica</a:t>
            </a:r>
            <a:r>
              <a:rPr lang="es-CO" sz="2000" b="0" i="0" dirty="0">
                <a:solidFill>
                  <a:srgbClr val="0C0C0C"/>
                </a:solidFill>
                <a:effectLst/>
                <a:latin typeface="Rubik"/>
              </a:rPr>
              <a:t>): indica el nombre de la funcionalidad a testear. Debe ser un título claro y explícito. </a:t>
            </a:r>
          </a:p>
          <a:p>
            <a:pPr algn="l"/>
            <a:endParaRPr lang="es-CO" sz="2000" b="0" i="0" dirty="0">
              <a:solidFill>
                <a:srgbClr val="0C0C0C"/>
              </a:solidFill>
              <a:effectLst/>
              <a:latin typeface="Rubik"/>
            </a:endParaRPr>
          </a:p>
          <a:p>
            <a:pPr algn="l"/>
            <a:r>
              <a:rPr lang="es-CO" sz="2000" b="0" i="0" dirty="0">
                <a:solidFill>
                  <a:srgbClr val="0C0C0C"/>
                </a:solidFill>
                <a:effectLst/>
                <a:latin typeface="Rubik"/>
              </a:rPr>
              <a:t>● Escenario: Describe el escenario a testear </a:t>
            </a:r>
          </a:p>
          <a:p>
            <a:pPr algn="l"/>
            <a:endParaRPr lang="es-CO" sz="2000" b="0" i="0" dirty="0">
              <a:solidFill>
                <a:srgbClr val="0C0C0C"/>
              </a:solidFill>
              <a:effectLst/>
              <a:latin typeface="Rubik"/>
            </a:endParaRPr>
          </a:p>
          <a:p>
            <a:pPr algn="l"/>
            <a:r>
              <a:rPr lang="es-CO" sz="2000" b="0" i="0" dirty="0">
                <a:solidFill>
                  <a:srgbClr val="0C0C0C"/>
                </a:solidFill>
                <a:effectLst/>
                <a:latin typeface="Rubik"/>
              </a:rPr>
              <a:t>● GIVEN(DADO): Provee el contexto para el escenario descrito, lo que llamamos en el diseño de casos de prueba tradicional como precondiciones. </a:t>
            </a:r>
          </a:p>
          <a:p>
            <a:pPr algn="l"/>
            <a:endParaRPr lang="es-CO" sz="2000" b="0" i="0" dirty="0">
              <a:solidFill>
                <a:srgbClr val="0C0C0C"/>
              </a:solidFill>
              <a:effectLst/>
              <a:latin typeface="Rubik"/>
            </a:endParaRPr>
          </a:p>
          <a:p>
            <a:pPr algn="l"/>
            <a:r>
              <a:rPr lang="es-CO" sz="2000" b="0" i="0" dirty="0">
                <a:solidFill>
                  <a:srgbClr val="0C0C0C"/>
                </a:solidFill>
                <a:effectLst/>
                <a:latin typeface="Rubik"/>
              </a:rPr>
              <a:t>● WHEN(CUANDO): Especifica el conjunto de pasos a seguir a la hora de realizar el test. </a:t>
            </a:r>
          </a:p>
          <a:p>
            <a:pPr algn="l"/>
            <a:endParaRPr lang="es-CO" sz="2000" b="0" i="0" dirty="0">
              <a:solidFill>
                <a:srgbClr val="0C0C0C"/>
              </a:solidFill>
              <a:effectLst/>
              <a:latin typeface="Rubik"/>
            </a:endParaRPr>
          </a:p>
          <a:p>
            <a:pPr algn="l"/>
            <a:r>
              <a:rPr lang="es-CO" sz="2000" b="0" i="0" dirty="0">
                <a:solidFill>
                  <a:srgbClr val="0C0C0C"/>
                </a:solidFill>
                <a:effectLst/>
                <a:latin typeface="Rubik"/>
              </a:rPr>
              <a:t>● THEN(ENTONCES: Especifica el resultado esperado del test.</a:t>
            </a:r>
            <a:r>
              <a:rPr lang="es-CO" dirty="0">
                <a:latin typeface="DevExpert"/>
              </a:rPr>
              <a:t>  </a:t>
            </a:r>
            <a:endParaRPr lang="es-CO" b="0" i="0" dirty="0">
              <a:effectLst/>
              <a:latin typeface="DevExpert"/>
            </a:endParaRPr>
          </a:p>
          <a:p>
            <a:pPr algn="l"/>
            <a:endParaRPr lang="es-CO" dirty="0">
              <a:latin typeface="-apple-system"/>
            </a:endParaRPr>
          </a:p>
          <a:p>
            <a:pPr algn="l"/>
            <a:endParaRPr lang="es-CO" dirty="0">
              <a:latin typeface="-apple-system"/>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Gherking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569449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Gherking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pic>
        <p:nvPicPr>
          <p:cNvPr id="1026" name="Picture 2" descr="Imagen 1 en Qué es Gherkin">
            <a:extLst>
              <a:ext uri="{FF2B5EF4-FFF2-40B4-BE49-F238E27FC236}">
                <a16:creationId xmlns:a16="http://schemas.microsoft.com/office/drawing/2014/main" id="{64844A32-AC25-185A-6FA7-20C1BCED4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192" y="1196752"/>
            <a:ext cx="8537807" cy="4803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07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683568" y="980728"/>
            <a:ext cx="8172908" cy="6463308"/>
          </a:xfrm>
          <a:prstGeom prst="rect">
            <a:avLst/>
          </a:prstGeom>
          <a:noFill/>
        </p:spPr>
        <p:txBody>
          <a:bodyPr wrap="square">
            <a:spAutoFit/>
          </a:bodyPr>
          <a:lstStyle/>
          <a:p>
            <a:pPr algn="l"/>
            <a:r>
              <a:rPr lang="es-CO" sz="2000" dirty="0">
                <a:solidFill>
                  <a:srgbClr val="0C0C0C"/>
                </a:solidFill>
                <a:latin typeface="Rubik"/>
              </a:rPr>
              <a:t>Ejemplo: Se inicio con una historia de usuario y los criterios de aceptación que se convierten en casos de prueba, en este caso con la ayuda de </a:t>
            </a:r>
            <a:r>
              <a:rPr lang="es-CO" sz="2000" dirty="0" err="1">
                <a:solidFill>
                  <a:srgbClr val="0C0C0C"/>
                </a:solidFill>
                <a:latin typeface="Rubik"/>
              </a:rPr>
              <a:t>Gherking</a:t>
            </a:r>
            <a:r>
              <a:rPr lang="es-CO" sz="2000" dirty="0">
                <a:solidFill>
                  <a:srgbClr val="0C0C0C"/>
                </a:solidFill>
                <a:latin typeface="Rubik"/>
              </a:rPr>
              <a:t> se construyen estos casos.</a:t>
            </a:r>
          </a:p>
          <a:p>
            <a:pPr algn="l"/>
            <a:endParaRPr lang="es-CO" sz="2000" b="0" i="0" dirty="0">
              <a:solidFill>
                <a:srgbClr val="0C0C0C"/>
              </a:solidFill>
              <a:effectLst/>
              <a:latin typeface="Rubik"/>
            </a:endParaRPr>
          </a:p>
          <a:p>
            <a:pPr algn="l"/>
            <a:r>
              <a:rPr lang="es-CO" sz="2000" b="0" i="0" dirty="0">
                <a:solidFill>
                  <a:srgbClr val="0C0C0C"/>
                </a:solidFill>
                <a:effectLst/>
                <a:latin typeface="Rubik"/>
              </a:rPr>
              <a:t>Y</a:t>
            </a:r>
            <a:r>
              <a:rPr lang="es-CO" sz="2000" dirty="0">
                <a:solidFill>
                  <a:srgbClr val="0C0C0C"/>
                </a:solidFill>
                <a:latin typeface="Rubik"/>
              </a:rPr>
              <a:t>o como usuario quiero poder iniciar sesión para poder comprar productos</a:t>
            </a:r>
          </a:p>
          <a:p>
            <a:pPr algn="l"/>
            <a:endParaRPr lang="es-CO" sz="2000" dirty="0">
              <a:solidFill>
                <a:srgbClr val="0C0C0C"/>
              </a:solidFill>
              <a:latin typeface="Rubik"/>
            </a:endParaRPr>
          </a:p>
          <a:p>
            <a:pPr algn="l"/>
            <a:r>
              <a:rPr lang="es-CO" sz="2000" b="1" dirty="0" err="1">
                <a:solidFill>
                  <a:srgbClr val="0C0C0C"/>
                </a:solidFill>
                <a:latin typeface="Rubik"/>
              </a:rPr>
              <a:t>Feature</a:t>
            </a:r>
            <a:r>
              <a:rPr lang="es-CO" sz="2000" b="1" dirty="0">
                <a:solidFill>
                  <a:srgbClr val="0C0C0C"/>
                </a:solidFill>
                <a:latin typeface="Rubik"/>
              </a:rPr>
              <a:t>: </a:t>
            </a:r>
            <a:r>
              <a:rPr lang="es-CO" sz="2000" dirty="0">
                <a:solidFill>
                  <a:srgbClr val="0C0C0C"/>
                </a:solidFill>
                <a:latin typeface="Rubik"/>
              </a:rPr>
              <a:t>inicio de sesión en la tienda online.</a:t>
            </a:r>
          </a:p>
          <a:p>
            <a:pPr algn="l"/>
            <a:endParaRPr lang="es-CO" sz="2000" dirty="0">
              <a:solidFill>
                <a:srgbClr val="0C0C0C"/>
              </a:solidFill>
              <a:latin typeface="Rubik"/>
            </a:endParaRPr>
          </a:p>
          <a:p>
            <a:pPr algn="l"/>
            <a:r>
              <a:rPr lang="es-CO" sz="2000" b="1" dirty="0" err="1">
                <a:solidFill>
                  <a:srgbClr val="0C0C0C"/>
                </a:solidFill>
                <a:latin typeface="Rubik"/>
              </a:rPr>
              <a:t>Scenario</a:t>
            </a:r>
            <a:r>
              <a:rPr lang="es-CO" sz="2000" b="1" dirty="0">
                <a:solidFill>
                  <a:srgbClr val="0C0C0C"/>
                </a:solidFill>
                <a:latin typeface="Rubik"/>
              </a:rPr>
              <a:t>: </a:t>
            </a:r>
            <a:r>
              <a:rPr lang="es-CO" sz="2000" dirty="0">
                <a:solidFill>
                  <a:srgbClr val="0C0C0C"/>
                </a:solidFill>
                <a:latin typeface="Rubik"/>
              </a:rPr>
              <a:t>inicio de sesión mediante usuario y contraseña.</a:t>
            </a:r>
          </a:p>
          <a:p>
            <a:pPr algn="l"/>
            <a:endParaRPr lang="es-CO" sz="2000" dirty="0">
              <a:solidFill>
                <a:srgbClr val="0C0C0C"/>
              </a:solidFill>
              <a:latin typeface="Rubik"/>
            </a:endParaRPr>
          </a:p>
          <a:p>
            <a:pPr algn="l"/>
            <a:r>
              <a:rPr lang="es-CO" sz="2000" b="1" dirty="0" err="1">
                <a:solidFill>
                  <a:srgbClr val="0C0C0C"/>
                </a:solidFill>
                <a:latin typeface="Rubik"/>
              </a:rPr>
              <a:t>Given</a:t>
            </a:r>
            <a:r>
              <a:rPr lang="es-CO" sz="2000" b="1" dirty="0">
                <a:solidFill>
                  <a:srgbClr val="0C0C0C"/>
                </a:solidFill>
                <a:latin typeface="Rubik"/>
              </a:rPr>
              <a:t>: </a:t>
            </a:r>
            <a:r>
              <a:rPr lang="es-CO" sz="2000" dirty="0">
                <a:solidFill>
                  <a:srgbClr val="0C0C0C"/>
                </a:solidFill>
                <a:latin typeface="Rubik"/>
              </a:rPr>
              <a:t>el usuario introduce de forma correcta su usuario y su contraseña, que está registrada previamente. </a:t>
            </a:r>
          </a:p>
          <a:p>
            <a:pPr algn="l"/>
            <a:endParaRPr lang="es-CO" sz="2000" dirty="0">
              <a:solidFill>
                <a:srgbClr val="0C0C0C"/>
              </a:solidFill>
              <a:latin typeface="Rubik"/>
            </a:endParaRPr>
          </a:p>
          <a:p>
            <a:pPr algn="l"/>
            <a:r>
              <a:rPr lang="es-CO" sz="2000" b="1" dirty="0" err="1">
                <a:solidFill>
                  <a:srgbClr val="0C0C0C"/>
                </a:solidFill>
                <a:latin typeface="Rubik"/>
              </a:rPr>
              <a:t>When</a:t>
            </a:r>
            <a:r>
              <a:rPr lang="es-CO" sz="2000" b="1" dirty="0">
                <a:solidFill>
                  <a:srgbClr val="0C0C0C"/>
                </a:solidFill>
                <a:latin typeface="Rubik"/>
              </a:rPr>
              <a:t>: </a:t>
            </a:r>
            <a:r>
              <a:rPr lang="es-CO" sz="2000" dirty="0">
                <a:solidFill>
                  <a:srgbClr val="0C0C0C"/>
                </a:solidFill>
                <a:latin typeface="Rubik"/>
              </a:rPr>
              <a:t>el usuario  da </a:t>
            </a:r>
            <a:r>
              <a:rPr lang="es-CO" sz="2000" dirty="0" err="1">
                <a:solidFill>
                  <a:srgbClr val="0C0C0C"/>
                </a:solidFill>
                <a:latin typeface="Rubik"/>
              </a:rPr>
              <a:t>click</a:t>
            </a:r>
            <a:r>
              <a:rPr lang="es-CO" sz="2000" dirty="0">
                <a:solidFill>
                  <a:srgbClr val="0C0C0C"/>
                </a:solidFill>
                <a:latin typeface="Rubik"/>
              </a:rPr>
              <a:t> sobre el botón de iniciar sesión.</a:t>
            </a:r>
          </a:p>
          <a:p>
            <a:pPr algn="l"/>
            <a:endParaRPr lang="es-CO" sz="2000" dirty="0">
              <a:solidFill>
                <a:srgbClr val="0C0C0C"/>
              </a:solidFill>
              <a:latin typeface="Rubik"/>
            </a:endParaRPr>
          </a:p>
          <a:p>
            <a:pPr algn="l"/>
            <a:r>
              <a:rPr lang="es-CO" sz="2000" b="1" dirty="0" err="1">
                <a:solidFill>
                  <a:srgbClr val="0C0C0C"/>
                </a:solidFill>
                <a:latin typeface="Rubik"/>
              </a:rPr>
              <a:t>Then</a:t>
            </a:r>
            <a:r>
              <a:rPr lang="es-CO" sz="2000" b="1" dirty="0">
                <a:solidFill>
                  <a:srgbClr val="0C0C0C"/>
                </a:solidFill>
                <a:latin typeface="Rubik"/>
              </a:rPr>
              <a:t>: </a:t>
            </a:r>
            <a:r>
              <a:rPr lang="es-CO" sz="2000" dirty="0">
                <a:solidFill>
                  <a:srgbClr val="0C0C0C"/>
                </a:solidFill>
                <a:latin typeface="Rubik"/>
              </a:rPr>
              <a:t>el usuario puede iniciar sesión de forma correcta.</a:t>
            </a:r>
          </a:p>
          <a:p>
            <a:pPr algn="l"/>
            <a:endParaRPr lang="es-CO" sz="2000" dirty="0">
              <a:solidFill>
                <a:srgbClr val="0C0C0C"/>
              </a:solidFill>
              <a:latin typeface="Rubik"/>
            </a:endParaRPr>
          </a:p>
          <a:p>
            <a:pPr algn="l"/>
            <a:endParaRPr lang="es-CO" sz="2000" b="0" i="0" dirty="0">
              <a:solidFill>
                <a:srgbClr val="0C0C0C"/>
              </a:solidFill>
              <a:effectLst/>
              <a:latin typeface="Rubik"/>
            </a:endParaRPr>
          </a:p>
          <a:p>
            <a:pPr algn="l"/>
            <a:endParaRPr lang="es-CO" b="0" i="0" dirty="0">
              <a:effectLst/>
              <a:latin typeface="DevExpert"/>
            </a:endParaRPr>
          </a:p>
          <a:p>
            <a:pPr algn="l"/>
            <a:endParaRPr lang="es-CO" dirty="0">
              <a:latin typeface="-apple-system"/>
            </a:endParaRPr>
          </a:p>
          <a:p>
            <a:pPr algn="l"/>
            <a:endParaRPr lang="es-CO" dirty="0">
              <a:latin typeface="-apple-system"/>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Gherking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1537735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6390176"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Gherking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pic>
        <p:nvPicPr>
          <p:cNvPr id="2052" name="Picture 4" descr="Imagen 2 en Qué es Gherkin">
            <a:extLst>
              <a:ext uri="{FF2B5EF4-FFF2-40B4-BE49-F238E27FC236}">
                <a16:creationId xmlns:a16="http://schemas.microsoft.com/office/drawing/2014/main" id="{23F9D9E3-B7D9-B454-76D1-16E2C37DB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09" y="908720"/>
            <a:ext cx="8665781" cy="4876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228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683568" y="1628800"/>
            <a:ext cx="8172908" cy="1200329"/>
          </a:xfrm>
          <a:prstGeom prst="rect">
            <a:avLst/>
          </a:prstGeom>
          <a:noFill/>
        </p:spPr>
        <p:txBody>
          <a:bodyPr wrap="square">
            <a:spAutoFit/>
          </a:bodyPr>
          <a:lstStyle/>
          <a:p>
            <a:pPr marL="285750" indent="-285750" algn="l" fontAlgn="base">
              <a:buFont typeface="Arial" panose="020B0604020202020204" pitchFamily="34" charset="0"/>
              <a:buChar char="•"/>
            </a:pPr>
            <a:r>
              <a:rPr lang="es-CO" sz="2400" dirty="0">
                <a:latin typeface="DevExpert"/>
              </a:rPr>
              <a:t> </a:t>
            </a:r>
            <a:r>
              <a:rPr lang="es-CO" sz="2400" dirty="0" err="1">
                <a:latin typeface="-apple-system"/>
              </a:rPr>
              <a:t>Cucumber</a:t>
            </a:r>
            <a:r>
              <a:rPr lang="es-CO" sz="2400" dirty="0">
                <a:latin typeface="-apple-system"/>
              </a:rPr>
              <a:t>: </a:t>
            </a:r>
            <a:r>
              <a:rPr lang="es-CO" sz="2400" dirty="0">
                <a:latin typeface="-apple-system"/>
                <a:hlinkClick r:id="rId2"/>
              </a:rPr>
              <a:t>https://cucumber.io/</a:t>
            </a:r>
            <a:r>
              <a:rPr lang="es-CO" sz="2400" dirty="0">
                <a:latin typeface="-apple-system"/>
              </a:rPr>
              <a:t> </a:t>
            </a:r>
          </a:p>
          <a:p>
            <a:pPr algn="l" fontAlgn="base"/>
            <a:endParaRPr lang="es-CO" sz="2400" dirty="0">
              <a:latin typeface="-apple-system"/>
            </a:endParaRPr>
          </a:p>
          <a:p>
            <a:pPr marL="285750" indent="-285750" algn="l" fontAlgn="base">
              <a:buFont typeface="Arial" panose="020B0604020202020204" pitchFamily="34" charset="0"/>
              <a:buChar char="•"/>
            </a:pPr>
            <a:r>
              <a:rPr lang="es-CO" sz="2400" b="0" i="0" dirty="0" err="1">
                <a:effectLst/>
                <a:latin typeface="-apple-system"/>
              </a:rPr>
              <a:t>Serenity</a:t>
            </a:r>
            <a:r>
              <a:rPr lang="es-CO" sz="2400" dirty="0" err="1">
                <a:latin typeface="-apple-system"/>
              </a:rPr>
              <a:t>BDD</a:t>
            </a:r>
            <a:r>
              <a:rPr lang="es-CO" sz="2400" dirty="0">
                <a:latin typeface="-apple-system"/>
              </a:rPr>
              <a:t>: </a:t>
            </a:r>
            <a:r>
              <a:rPr lang="es-CO" sz="2400" dirty="0">
                <a:latin typeface="-apple-system"/>
                <a:hlinkClick r:id="rId3"/>
              </a:rPr>
              <a:t>https://serenity-bdd.info/</a:t>
            </a:r>
            <a:r>
              <a:rPr lang="es-CO" sz="2400" dirty="0">
                <a:latin typeface="-apple-system"/>
              </a:rPr>
              <a:t> </a:t>
            </a:r>
            <a:endParaRPr lang="es-CO" sz="2400" b="0" i="0" dirty="0">
              <a:effectLst/>
              <a:latin typeface="DevExpert"/>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a:latin typeface="Ubuntu Medium"/>
                <a:ea typeface="Ubuntu Medium"/>
                <a:cs typeface="Ubuntu Medium"/>
                <a:sym typeface="Ubuntu Medium"/>
              </a:rPr>
              <a:t>En donde se puede utilizar </a:t>
            </a:r>
            <a:r>
              <a:rPr lang="es-CO" sz="2800" b="1" dirty="0" err="1">
                <a:latin typeface="Ubuntu Medium"/>
                <a:ea typeface="Ubuntu Medium"/>
                <a:cs typeface="Ubuntu Medium"/>
                <a:sym typeface="Ubuntu Medium"/>
              </a:rPr>
              <a:t>Ghenking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1394090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a:latin typeface="Ubuntu Medium"/>
                <a:ea typeface="Ubuntu Medium"/>
                <a:cs typeface="Ubuntu Medium"/>
                <a:sym typeface="Ubuntu Medium"/>
              </a:rPr>
              <a:t>En donde se puede utilizar </a:t>
            </a:r>
            <a:r>
              <a:rPr lang="es-CO" sz="2800" b="1" dirty="0" err="1">
                <a:latin typeface="Ubuntu Medium"/>
                <a:ea typeface="Ubuntu Medium"/>
                <a:cs typeface="Ubuntu Medium"/>
                <a:sym typeface="Ubuntu Medium"/>
              </a:rPr>
              <a:t>Ghenking</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pic>
        <p:nvPicPr>
          <p:cNvPr id="5122" name="Picture 2">
            <a:extLst>
              <a:ext uri="{FF2B5EF4-FFF2-40B4-BE49-F238E27FC236}">
                <a16:creationId xmlns:a16="http://schemas.microsoft.com/office/drawing/2014/main" id="{A983B65C-AF3C-520E-197E-E53EAA82B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257659"/>
            <a:ext cx="6694512" cy="4342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448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611560" y="1052736"/>
            <a:ext cx="8172908" cy="4524315"/>
          </a:xfrm>
          <a:prstGeom prst="rect">
            <a:avLst/>
          </a:prstGeom>
          <a:noFill/>
        </p:spPr>
        <p:txBody>
          <a:bodyPr wrap="square">
            <a:spAutoFit/>
          </a:bodyPr>
          <a:lstStyle/>
          <a:p>
            <a:pPr algn="l" fontAlgn="base"/>
            <a:r>
              <a:rPr lang="es-CO" sz="2400" dirty="0" err="1">
                <a:latin typeface="DevExpert"/>
              </a:rPr>
              <a:t>Cucumber</a:t>
            </a:r>
            <a:r>
              <a:rPr lang="es-CO" sz="2400" dirty="0">
                <a:latin typeface="DevExpert"/>
              </a:rPr>
              <a:t> es un framework que da soporte para aplicar la metodología de desarrollo BDD (</a:t>
            </a:r>
            <a:r>
              <a:rPr lang="es-CO" sz="2400" dirty="0" err="1">
                <a:latin typeface="DevExpert"/>
              </a:rPr>
              <a:t>Behavior</a:t>
            </a:r>
            <a:r>
              <a:rPr lang="es-CO" sz="2400" dirty="0">
                <a:latin typeface="DevExpert"/>
              </a:rPr>
              <a:t> </a:t>
            </a:r>
            <a:r>
              <a:rPr lang="es-CO" sz="2400" dirty="0" err="1">
                <a:latin typeface="DevExpert"/>
              </a:rPr>
              <a:t>Driven</a:t>
            </a:r>
            <a:r>
              <a:rPr lang="es-CO" sz="2400" dirty="0">
                <a:latin typeface="DevExpert"/>
              </a:rPr>
              <a:t> </a:t>
            </a:r>
            <a:r>
              <a:rPr lang="es-CO" sz="2400" dirty="0" err="1">
                <a:latin typeface="DevExpert"/>
              </a:rPr>
              <a:t>Development</a:t>
            </a:r>
            <a:r>
              <a:rPr lang="es-CO" sz="2400" dirty="0">
                <a:latin typeface="DevExpert"/>
              </a:rPr>
              <a:t>). Esta metodología se basa en poner el foco desde el inicio en cómo el usuario interactúa con la aplicación. Es complementaria y una evolución de TDD.  Utiliza el lenguaje </a:t>
            </a:r>
            <a:r>
              <a:rPr lang="es-CO" sz="2400" dirty="0" err="1">
                <a:latin typeface="DevExpert"/>
              </a:rPr>
              <a:t>Gherkin</a:t>
            </a:r>
            <a:r>
              <a:rPr lang="es-CO" sz="2400" dirty="0">
                <a:latin typeface="DevExpert"/>
              </a:rPr>
              <a:t> para especificar las pruebas.</a:t>
            </a:r>
          </a:p>
          <a:p>
            <a:pPr algn="l" fontAlgn="base"/>
            <a:endParaRPr lang="es-CO" sz="2400" dirty="0">
              <a:latin typeface="DevExpert"/>
            </a:endParaRPr>
          </a:p>
          <a:p>
            <a:pPr algn="l" fontAlgn="base"/>
            <a:r>
              <a:rPr lang="es-CO" sz="2400" dirty="0">
                <a:latin typeface="DevExpert"/>
              </a:rPr>
              <a:t>De los lenguajes de programación que soporta </a:t>
            </a:r>
            <a:r>
              <a:rPr lang="es-CO" sz="2400" dirty="0" err="1">
                <a:latin typeface="DevExpert"/>
              </a:rPr>
              <a:t>Cucumber</a:t>
            </a:r>
            <a:r>
              <a:rPr lang="es-CO" sz="2400" dirty="0">
                <a:latin typeface="DevExpert"/>
              </a:rPr>
              <a:t> vamos a utilizar Java, aunque también existe soporte para </a:t>
            </a:r>
            <a:r>
              <a:rPr lang="es-CO" sz="2400" dirty="0" err="1">
                <a:latin typeface="DevExpert"/>
              </a:rPr>
              <a:t>Node</a:t>
            </a:r>
            <a:r>
              <a:rPr lang="es-CO" sz="2400" dirty="0">
                <a:latin typeface="DevExpert"/>
              </a:rPr>
              <a:t>, Ruby, Android, </a:t>
            </a:r>
            <a:r>
              <a:rPr lang="es-CO" sz="2400" dirty="0" err="1">
                <a:latin typeface="DevExpert"/>
              </a:rPr>
              <a:t>Kotlin</a:t>
            </a:r>
            <a:r>
              <a:rPr lang="es-CO" sz="2400" dirty="0">
                <a:latin typeface="DevExpert"/>
              </a:rPr>
              <a:t>, entre otros.</a:t>
            </a:r>
          </a:p>
          <a:p>
            <a:pPr algn="l" fontAlgn="base"/>
            <a:endParaRPr lang="es-CO" sz="2400" b="0" i="0" dirty="0">
              <a:effectLst/>
              <a:latin typeface="DevExpert"/>
            </a:endParaRPr>
          </a:p>
          <a:p>
            <a:pPr algn="l" fontAlgn="base"/>
            <a:r>
              <a:rPr lang="es-CO" sz="2400" b="0" i="0" dirty="0">
                <a:effectLst/>
                <a:latin typeface="DevExpert"/>
                <a:hlinkClick r:id="rId2"/>
              </a:rPr>
              <a:t>https://github.com/cucumber/common/blob/main/README.md</a:t>
            </a:r>
            <a:r>
              <a:rPr lang="es-CO" sz="2400" dirty="0">
                <a:latin typeface="DevExpert"/>
              </a:rPr>
              <a:t> </a:t>
            </a:r>
            <a:endParaRPr lang="es-CO" sz="2400" b="0" i="0" dirty="0">
              <a:effectLst/>
              <a:latin typeface="DevExpert"/>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Cucumber</a:t>
            </a:r>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3367553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513681" y="1196752"/>
            <a:ext cx="8334926" cy="4154984"/>
          </a:xfrm>
          <a:prstGeom prst="rect">
            <a:avLst/>
          </a:prstGeom>
          <a:noFill/>
        </p:spPr>
        <p:txBody>
          <a:bodyPr wrap="square">
            <a:spAutoFit/>
          </a:bodyPr>
          <a:lstStyle/>
          <a:p>
            <a:pPr algn="l" fontAlgn="base"/>
            <a:r>
              <a:rPr lang="es-CO" sz="2400" dirty="0" err="1">
                <a:latin typeface="DevExpert"/>
              </a:rPr>
              <a:t>Cucumber</a:t>
            </a:r>
            <a:r>
              <a:rPr lang="es-CO" sz="2400" dirty="0">
                <a:latin typeface="DevExpert"/>
              </a:rPr>
              <a:t> es una herramienta que permite ejecutar descripciones funcionales en texto plano como pruebas de software automatizadas. El lenguaje usado por </a:t>
            </a:r>
            <a:r>
              <a:rPr lang="es-CO" sz="2400" dirty="0" err="1">
                <a:latin typeface="DevExpert"/>
              </a:rPr>
              <a:t>Cucumber</a:t>
            </a:r>
            <a:r>
              <a:rPr lang="es-CO" sz="2400" dirty="0">
                <a:latin typeface="DevExpert"/>
              </a:rPr>
              <a:t> para estas descripciones funcionales se llama </a:t>
            </a:r>
            <a:r>
              <a:rPr lang="es-CO" sz="2400" dirty="0" err="1">
                <a:latin typeface="DevExpert"/>
              </a:rPr>
              <a:t>Guerkin</a:t>
            </a:r>
            <a:r>
              <a:rPr lang="es-CO" sz="2400" dirty="0">
                <a:latin typeface="DevExpert"/>
              </a:rPr>
              <a:t>.</a:t>
            </a:r>
          </a:p>
          <a:p>
            <a:pPr algn="l" fontAlgn="base"/>
            <a:endParaRPr lang="es-CO" sz="2400" dirty="0">
              <a:latin typeface="DevExpert"/>
            </a:endParaRPr>
          </a:p>
          <a:p>
            <a:pPr algn="l" fontAlgn="base"/>
            <a:r>
              <a:rPr lang="es-CO" sz="2400" dirty="0" err="1">
                <a:latin typeface="DevExpert"/>
              </a:rPr>
              <a:t>Cucumber</a:t>
            </a:r>
            <a:r>
              <a:rPr lang="es-CO" sz="2400" dirty="0">
                <a:latin typeface="DevExpert"/>
              </a:rPr>
              <a:t> se puede pensar como una herramienta de “Software </a:t>
            </a:r>
            <a:r>
              <a:rPr lang="es-CO" sz="2400" dirty="0" err="1">
                <a:latin typeface="DevExpert"/>
              </a:rPr>
              <a:t>Testing</a:t>
            </a:r>
            <a:r>
              <a:rPr lang="es-CO" sz="2400" dirty="0">
                <a:latin typeface="DevExpert"/>
              </a:rPr>
              <a:t>”, sin embargo, su intención real es soportar una metodología de </a:t>
            </a:r>
            <a:r>
              <a:rPr lang="es-CO" sz="2400" dirty="0" err="1">
                <a:latin typeface="DevExpert"/>
              </a:rPr>
              <a:t>Behaviour</a:t>
            </a:r>
            <a:r>
              <a:rPr lang="es-CO" sz="2400" dirty="0">
                <a:latin typeface="DevExpert"/>
              </a:rPr>
              <a:t> </a:t>
            </a:r>
            <a:r>
              <a:rPr lang="es-CO" sz="2400" dirty="0" err="1">
                <a:latin typeface="DevExpert"/>
              </a:rPr>
              <a:t>Driven</a:t>
            </a:r>
            <a:r>
              <a:rPr lang="es-CO" sz="2400" dirty="0">
                <a:latin typeface="DevExpert"/>
              </a:rPr>
              <a:t> </a:t>
            </a:r>
            <a:r>
              <a:rPr lang="es-CO" sz="2400" dirty="0" err="1">
                <a:latin typeface="DevExpert"/>
              </a:rPr>
              <a:t>Development</a:t>
            </a:r>
            <a:r>
              <a:rPr lang="es-CO" sz="2400" dirty="0">
                <a:latin typeface="DevExpert"/>
              </a:rPr>
              <a:t> (BDD), esto significa que las “pruebas”, se escriben antes de hacer el desarrollo y son verificadas. Luego, se escribe el código (el desarrollo de software), con la intención de aprobar las pruebas.</a:t>
            </a:r>
            <a:endParaRPr lang="es-CO" sz="2400" b="0" i="0" dirty="0">
              <a:effectLst/>
              <a:latin typeface="DevExpert"/>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Cucumber</a:t>
            </a:r>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927401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539552" y="908720"/>
            <a:ext cx="8334926" cy="5632311"/>
          </a:xfrm>
          <a:prstGeom prst="rect">
            <a:avLst/>
          </a:prstGeom>
          <a:noFill/>
        </p:spPr>
        <p:txBody>
          <a:bodyPr wrap="square">
            <a:spAutoFit/>
          </a:bodyPr>
          <a:lstStyle/>
          <a:p>
            <a:pPr algn="l" fontAlgn="base"/>
            <a:r>
              <a:rPr lang="es-CO" sz="2400" dirty="0" err="1">
                <a:latin typeface="DevExpert"/>
              </a:rPr>
              <a:t>SerenityBDD</a:t>
            </a:r>
            <a:r>
              <a:rPr lang="es-CO" sz="2400" dirty="0">
                <a:latin typeface="DevExpert"/>
              </a:rPr>
              <a:t> es una herramienta que facilita hacer BDD centralizando los test de una aplicación. El reporte que se genera indica el estado funcional de la aplicación con gran detalle y sirve también como documentación viva.</a:t>
            </a:r>
          </a:p>
          <a:p>
            <a:pPr algn="l" fontAlgn="base"/>
            <a:endParaRPr lang="es-CO" sz="2400" dirty="0">
              <a:latin typeface="DevExpert"/>
            </a:endParaRPr>
          </a:p>
          <a:p>
            <a:pPr algn="l"/>
            <a:r>
              <a:rPr lang="es-CO" sz="2400" b="0" i="0" dirty="0">
                <a:solidFill>
                  <a:srgbClr val="242424"/>
                </a:solidFill>
                <a:effectLst/>
                <a:latin typeface="source-serif-pro"/>
              </a:rPr>
              <a:t>Es una librería de código abierto que ayuda a escribir pruebas de aceptación automatizadas de mayor calidad y más rápido.</a:t>
            </a:r>
          </a:p>
          <a:p>
            <a:pPr algn="l"/>
            <a:r>
              <a:rPr lang="es-CO" sz="2400" b="0" i="0" dirty="0">
                <a:solidFill>
                  <a:srgbClr val="242424"/>
                </a:solidFill>
                <a:effectLst/>
                <a:latin typeface="source-serif-pro"/>
              </a:rPr>
              <a:t>Sus principales características son:</a:t>
            </a:r>
          </a:p>
          <a:p>
            <a:pPr algn="l"/>
            <a:endParaRPr lang="es-CO" sz="2400" b="0" i="0" dirty="0">
              <a:solidFill>
                <a:srgbClr val="242424"/>
              </a:solidFill>
              <a:effectLst/>
              <a:latin typeface="source-serif-pro"/>
            </a:endParaRPr>
          </a:p>
          <a:p>
            <a:pPr algn="l">
              <a:buFont typeface="Arial" panose="020B0604020202020204" pitchFamily="34" charset="0"/>
              <a:buChar char="•"/>
            </a:pPr>
            <a:r>
              <a:rPr lang="es-CO" sz="2400" b="0" i="0" dirty="0">
                <a:solidFill>
                  <a:srgbClr val="242424"/>
                </a:solidFill>
                <a:effectLst/>
                <a:latin typeface="source-serif-pro"/>
              </a:rPr>
              <a:t>Escribir test flexibles y fáciles de mantener</a:t>
            </a:r>
          </a:p>
          <a:p>
            <a:pPr algn="l">
              <a:buFont typeface="Arial" panose="020B0604020202020204" pitchFamily="34" charset="0"/>
              <a:buChar char="•"/>
            </a:pPr>
            <a:r>
              <a:rPr lang="es-CO" sz="2400" b="0" i="0" dirty="0">
                <a:solidFill>
                  <a:srgbClr val="242424"/>
                </a:solidFill>
                <a:effectLst/>
                <a:latin typeface="source-serif-pro"/>
              </a:rPr>
              <a:t>Generar informes ilustrativos sobre las pruebas</a:t>
            </a:r>
          </a:p>
          <a:p>
            <a:pPr algn="l">
              <a:buFont typeface="Arial" panose="020B0604020202020204" pitchFamily="34" charset="0"/>
              <a:buChar char="•"/>
            </a:pPr>
            <a:r>
              <a:rPr lang="es-CO" sz="2400" b="0" i="0" dirty="0">
                <a:solidFill>
                  <a:srgbClr val="242424"/>
                </a:solidFill>
                <a:effectLst/>
                <a:latin typeface="source-serif-pro"/>
              </a:rPr>
              <a:t>Ajustar las pruebas automatizadas a las necesidades del proyecto</a:t>
            </a:r>
          </a:p>
          <a:p>
            <a:pPr algn="l">
              <a:buFont typeface="Arial" panose="020B0604020202020204" pitchFamily="34" charset="0"/>
              <a:buChar char="•"/>
            </a:pPr>
            <a:r>
              <a:rPr lang="es-CO" sz="2400" b="0" i="0" dirty="0">
                <a:solidFill>
                  <a:srgbClr val="242424"/>
                </a:solidFill>
                <a:effectLst/>
                <a:latin typeface="source-serif-pro"/>
              </a:rPr>
              <a:t>Ver cuanto de la aplicación se está probando</a:t>
            </a:r>
          </a:p>
          <a:p>
            <a:pPr algn="l" fontAlgn="base"/>
            <a:endParaRPr lang="es-CO" sz="2400" dirty="0">
              <a:latin typeface="DevExpert"/>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SerenityBDD</a:t>
            </a:r>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487199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SerenityBDD</a:t>
            </a:r>
            <a:endParaRPr lang="es-CO" sz="2200" b="1" dirty="0">
              <a:solidFill>
                <a:schemeClr val="tx1"/>
              </a:solidFill>
              <a:latin typeface="Ubuntu Medium"/>
              <a:ea typeface="Ubuntu Medium"/>
              <a:cs typeface="Ubuntu Medium"/>
              <a:sym typeface="Ubuntu Medium"/>
            </a:endParaRPr>
          </a:p>
        </p:txBody>
      </p:sp>
      <p:pic>
        <p:nvPicPr>
          <p:cNvPr id="5" name="Imagen 4">
            <a:extLst>
              <a:ext uri="{FF2B5EF4-FFF2-40B4-BE49-F238E27FC236}">
                <a16:creationId xmlns:a16="http://schemas.microsoft.com/office/drawing/2014/main" id="{95164C58-CFB2-4F65-7A92-A165E6D9E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2736"/>
            <a:ext cx="9144000" cy="4680520"/>
          </a:xfrm>
          <a:prstGeom prst="rect">
            <a:avLst/>
          </a:prstGeom>
        </p:spPr>
      </p:pic>
    </p:spTree>
    <p:extLst>
      <p:ext uri="{BB962C8B-B14F-4D97-AF65-F5344CB8AC3E}">
        <p14:creationId xmlns:p14="http://schemas.microsoft.com/office/powerpoint/2010/main" val="2423739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SerenityBDD</a:t>
            </a:r>
            <a:endParaRPr lang="es-CO" sz="2200" b="1" dirty="0">
              <a:solidFill>
                <a:schemeClr val="tx1"/>
              </a:solidFill>
              <a:latin typeface="Ubuntu Medium"/>
              <a:ea typeface="Ubuntu Medium"/>
              <a:cs typeface="Ubuntu Medium"/>
              <a:sym typeface="Ubuntu Medium"/>
            </a:endParaRPr>
          </a:p>
        </p:txBody>
      </p:sp>
      <p:pic>
        <p:nvPicPr>
          <p:cNvPr id="6146" name="Picture 2">
            <a:extLst>
              <a:ext uri="{FF2B5EF4-FFF2-40B4-BE49-F238E27FC236}">
                <a16:creationId xmlns:a16="http://schemas.microsoft.com/office/drawing/2014/main" id="{F4CA7D15-8984-C05F-72AE-E1F2C000E4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426940"/>
            <a:ext cx="7401340" cy="3605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163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433117E-9504-70DE-DFCF-5BB0C7F17F4B}"/>
              </a:ext>
            </a:extLst>
          </p:cNvPr>
          <p:cNvSpPr txBox="1"/>
          <p:nvPr/>
        </p:nvSpPr>
        <p:spPr>
          <a:xfrm>
            <a:off x="395536" y="1052736"/>
            <a:ext cx="8136904" cy="5078313"/>
          </a:xfrm>
          <a:prstGeom prst="rect">
            <a:avLst/>
          </a:prstGeom>
          <a:noFill/>
        </p:spPr>
        <p:txBody>
          <a:bodyPr wrap="square">
            <a:spAutoFit/>
          </a:bodyPr>
          <a:lstStyle/>
          <a:p>
            <a:pPr algn="just"/>
            <a:r>
              <a:rPr lang="es-CO" i="0" dirty="0">
                <a:solidFill>
                  <a:srgbClr val="000000"/>
                </a:solidFill>
                <a:effectLst/>
                <a:latin typeface="Poppins" pitchFamily="2" charset="77"/>
              </a:rPr>
              <a:t>En el </a:t>
            </a:r>
            <a:r>
              <a:rPr lang="es-CO" i="0" dirty="0" err="1">
                <a:solidFill>
                  <a:srgbClr val="000000"/>
                </a:solidFill>
                <a:effectLst/>
                <a:latin typeface="Poppins" pitchFamily="2" charset="77"/>
              </a:rPr>
              <a:t>patron</a:t>
            </a:r>
            <a:r>
              <a:rPr lang="es-CO" i="0" dirty="0">
                <a:solidFill>
                  <a:srgbClr val="000000"/>
                </a:solidFill>
                <a:effectLst/>
                <a:latin typeface="Poppins" pitchFamily="2" charset="77"/>
              </a:rPr>
              <a:t> de </a:t>
            </a:r>
            <a:r>
              <a:rPr lang="es-CO" i="0" dirty="0" err="1">
                <a:solidFill>
                  <a:srgbClr val="000000"/>
                </a:solidFill>
                <a:effectLst/>
                <a:latin typeface="Poppins" pitchFamily="2" charset="77"/>
              </a:rPr>
              <a:t>screenplay</a:t>
            </a:r>
            <a:r>
              <a:rPr lang="es-CO" i="0" dirty="0">
                <a:solidFill>
                  <a:srgbClr val="000000"/>
                </a:solidFill>
                <a:effectLst/>
                <a:latin typeface="Poppins" pitchFamily="2" charset="77"/>
              </a:rPr>
              <a:t>, las pruebas describen como un usuario puede interactuar con la aplicación para alcanzar una meta.</a:t>
            </a:r>
          </a:p>
          <a:p>
            <a:pPr algn="just"/>
            <a:endParaRPr lang="es-CO" i="0" dirty="0">
              <a:solidFill>
                <a:srgbClr val="000000"/>
              </a:solidFill>
              <a:effectLst/>
              <a:latin typeface="Poppins" pitchFamily="2" charset="77"/>
            </a:endParaRPr>
          </a:p>
          <a:p>
            <a:pPr algn="just"/>
            <a:r>
              <a:rPr lang="es-CO" i="0" dirty="0">
                <a:solidFill>
                  <a:srgbClr val="000000"/>
                </a:solidFill>
                <a:effectLst/>
                <a:latin typeface="Poppins" pitchFamily="2" charset="77"/>
              </a:rPr>
              <a:t>Un usuario interactuando con el sistema es llamado </a:t>
            </a:r>
            <a:r>
              <a:rPr lang="es-CO" b="1" i="0" dirty="0">
                <a:solidFill>
                  <a:srgbClr val="000000"/>
                </a:solidFill>
                <a:effectLst/>
                <a:latin typeface="Poppins" pitchFamily="2" charset="77"/>
              </a:rPr>
              <a:t>"Actor"</a:t>
            </a:r>
            <a:r>
              <a:rPr lang="es-CO" i="0" dirty="0">
                <a:solidFill>
                  <a:srgbClr val="000000"/>
                </a:solidFill>
                <a:effectLst/>
                <a:latin typeface="Poppins" pitchFamily="2" charset="77"/>
              </a:rPr>
              <a:t>. Los Actores son la parte central del </a:t>
            </a:r>
            <a:r>
              <a:rPr lang="es-CO" i="0" dirty="0" err="1">
                <a:solidFill>
                  <a:srgbClr val="000000"/>
                </a:solidFill>
                <a:effectLst/>
                <a:latin typeface="Poppins" pitchFamily="2" charset="77"/>
              </a:rPr>
              <a:t>patron</a:t>
            </a:r>
            <a:r>
              <a:rPr lang="es-CO" i="0" dirty="0">
                <a:solidFill>
                  <a:srgbClr val="000000"/>
                </a:solidFill>
                <a:effectLst/>
                <a:latin typeface="Poppins" pitchFamily="2" charset="77"/>
              </a:rPr>
              <a:t> </a:t>
            </a:r>
            <a:r>
              <a:rPr lang="es-CO" i="0" dirty="0" err="1">
                <a:solidFill>
                  <a:srgbClr val="000000"/>
                </a:solidFill>
                <a:effectLst/>
                <a:latin typeface="Poppins" pitchFamily="2" charset="77"/>
              </a:rPr>
              <a:t>screenplay</a:t>
            </a:r>
            <a:r>
              <a:rPr lang="es-CO" i="0" dirty="0">
                <a:solidFill>
                  <a:srgbClr val="000000"/>
                </a:solidFill>
                <a:effectLst/>
                <a:latin typeface="Poppins" pitchFamily="2" charset="77"/>
              </a:rPr>
              <a:t>. Como </a:t>
            </a:r>
            <a:r>
              <a:rPr lang="es-CO" i="0" dirty="0" err="1">
                <a:solidFill>
                  <a:srgbClr val="000000"/>
                </a:solidFill>
                <a:effectLst/>
                <a:latin typeface="Poppins" pitchFamily="2" charset="77"/>
              </a:rPr>
              <a:t>Screenplay</a:t>
            </a:r>
            <a:r>
              <a:rPr lang="es-CO" i="0" dirty="0">
                <a:solidFill>
                  <a:srgbClr val="000000"/>
                </a:solidFill>
                <a:effectLst/>
                <a:latin typeface="Poppins" pitchFamily="2" charset="77"/>
              </a:rPr>
              <a:t> (Guion) los actores tienes uno o mas </a:t>
            </a:r>
            <a:r>
              <a:rPr lang="es-CO" b="1" i="0" dirty="0">
                <a:solidFill>
                  <a:srgbClr val="000000"/>
                </a:solidFill>
                <a:effectLst/>
                <a:latin typeface="Poppins" pitchFamily="2" charset="77"/>
              </a:rPr>
              <a:t>"Habilidades"</a:t>
            </a:r>
            <a:r>
              <a:rPr lang="es-CO" i="0" dirty="0">
                <a:solidFill>
                  <a:srgbClr val="000000"/>
                </a:solidFill>
                <a:effectLst/>
                <a:latin typeface="Poppins" pitchFamily="2" charset="77"/>
              </a:rPr>
              <a:t>, como son la habilidad de navegar por la web o realizar una consulta un web </a:t>
            </a:r>
            <a:r>
              <a:rPr lang="es-CO" i="0" dirty="0" err="1">
                <a:solidFill>
                  <a:srgbClr val="000000"/>
                </a:solidFill>
                <a:effectLst/>
                <a:latin typeface="Poppins" pitchFamily="2" charset="77"/>
              </a:rPr>
              <a:t>service</a:t>
            </a:r>
            <a:r>
              <a:rPr lang="es-CO" i="0" dirty="0">
                <a:solidFill>
                  <a:srgbClr val="000000"/>
                </a:solidFill>
                <a:effectLst/>
                <a:latin typeface="Poppins" pitchFamily="2" charset="77"/>
              </a:rPr>
              <a:t>, el "Actor" </a:t>
            </a:r>
            <a:r>
              <a:rPr lang="es-CO" i="0" dirty="0" err="1">
                <a:solidFill>
                  <a:srgbClr val="000000"/>
                </a:solidFill>
                <a:effectLst/>
                <a:latin typeface="Poppins" pitchFamily="2" charset="77"/>
              </a:rPr>
              <a:t>tambien</a:t>
            </a:r>
            <a:r>
              <a:rPr lang="es-CO" i="0" dirty="0">
                <a:solidFill>
                  <a:srgbClr val="000000"/>
                </a:solidFill>
                <a:effectLst/>
                <a:latin typeface="Poppins" pitchFamily="2" charset="77"/>
              </a:rPr>
              <a:t> puede realizar </a:t>
            </a:r>
            <a:r>
              <a:rPr lang="es-CO" b="1" i="0" dirty="0">
                <a:solidFill>
                  <a:srgbClr val="000000"/>
                </a:solidFill>
                <a:effectLst/>
                <a:latin typeface="Poppins" pitchFamily="2" charset="77"/>
              </a:rPr>
              <a:t>"Tareas", </a:t>
            </a:r>
            <a:r>
              <a:rPr lang="es-CO" i="0" dirty="0">
                <a:solidFill>
                  <a:srgbClr val="000000"/>
                </a:solidFill>
                <a:effectLst/>
                <a:latin typeface="Poppins" pitchFamily="2" charset="77"/>
              </a:rPr>
              <a:t>como pueden ser agregar o remover objetos o cosas. </a:t>
            </a:r>
          </a:p>
          <a:p>
            <a:pPr algn="just"/>
            <a:endParaRPr lang="es-CO" dirty="0">
              <a:solidFill>
                <a:srgbClr val="000000"/>
              </a:solidFill>
              <a:latin typeface="Poppins" pitchFamily="2" charset="77"/>
            </a:endParaRPr>
          </a:p>
          <a:p>
            <a:pPr algn="just"/>
            <a:r>
              <a:rPr lang="es-CO" i="0" dirty="0">
                <a:solidFill>
                  <a:srgbClr val="000000"/>
                </a:solidFill>
                <a:effectLst/>
                <a:latin typeface="Poppins" pitchFamily="2" charset="77"/>
              </a:rPr>
              <a:t>Para interactuar con la aplicaciones, como pueden ser introducir valores en los campos o dar </a:t>
            </a:r>
            <a:r>
              <a:rPr lang="es-CO" i="0" dirty="0" err="1">
                <a:solidFill>
                  <a:srgbClr val="000000"/>
                </a:solidFill>
                <a:effectLst/>
                <a:latin typeface="Poppins" pitchFamily="2" charset="77"/>
              </a:rPr>
              <a:t>click</a:t>
            </a:r>
            <a:r>
              <a:rPr lang="es-CO" i="0" dirty="0">
                <a:solidFill>
                  <a:srgbClr val="000000"/>
                </a:solidFill>
                <a:effectLst/>
                <a:latin typeface="Poppins" pitchFamily="2" charset="77"/>
              </a:rPr>
              <a:t> en botones, los actores necesitan estas interacciones, las cuales son denominadas "Acciones". Los "Actores" pueden hacer "Preguntas" acerca del estado del sistema, como por ejemplo leer un valor de un campo en la pantalla o realizando una consulta a </a:t>
            </a:r>
            <a:r>
              <a:rPr lang="es-CO" i="0" dirty="0" err="1">
                <a:solidFill>
                  <a:srgbClr val="000000"/>
                </a:solidFill>
                <a:effectLst/>
                <a:latin typeface="Poppins" pitchFamily="2" charset="77"/>
              </a:rPr>
              <a:t>algun</a:t>
            </a:r>
            <a:r>
              <a:rPr lang="es-CO" i="0" dirty="0">
                <a:solidFill>
                  <a:srgbClr val="000000"/>
                </a:solidFill>
                <a:effectLst/>
                <a:latin typeface="Poppins" pitchFamily="2" charset="77"/>
              </a:rPr>
              <a:t> web </a:t>
            </a:r>
            <a:r>
              <a:rPr lang="es-CO" i="0" dirty="0" err="1">
                <a:solidFill>
                  <a:srgbClr val="000000"/>
                </a:solidFill>
                <a:effectLst/>
                <a:latin typeface="Poppins" pitchFamily="2" charset="77"/>
              </a:rPr>
              <a:t>service</a:t>
            </a:r>
            <a:r>
              <a:rPr lang="es-CO" i="0" dirty="0">
                <a:solidFill>
                  <a:srgbClr val="000000"/>
                </a:solidFill>
                <a:effectLst/>
                <a:latin typeface="Poppins" pitchFamily="2" charset="77"/>
              </a:rPr>
              <a:t>, de tal forma es como se prueba usando el </a:t>
            </a:r>
            <a:r>
              <a:rPr lang="es-CO" i="0" dirty="0" err="1">
                <a:solidFill>
                  <a:srgbClr val="000000"/>
                </a:solidFill>
                <a:effectLst/>
                <a:latin typeface="Poppins" pitchFamily="2" charset="77"/>
              </a:rPr>
              <a:t>patron</a:t>
            </a:r>
            <a:r>
              <a:rPr lang="es-CO" i="0" dirty="0">
                <a:solidFill>
                  <a:srgbClr val="000000"/>
                </a:solidFill>
                <a:effectLst/>
                <a:latin typeface="Poppins" pitchFamily="2" charset="77"/>
              </a:rPr>
              <a:t> de </a:t>
            </a:r>
            <a:r>
              <a:rPr lang="es-CO" i="0" dirty="0" err="1">
                <a:solidFill>
                  <a:srgbClr val="000000"/>
                </a:solidFill>
                <a:effectLst/>
                <a:latin typeface="Poppins" pitchFamily="2" charset="77"/>
              </a:rPr>
              <a:t>screenplay</a:t>
            </a:r>
            <a:r>
              <a:rPr lang="es-CO" i="0" dirty="0">
                <a:solidFill>
                  <a:srgbClr val="000000"/>
                </a:solidFill>
                <a:effectLst/>
                <a:latin typeface="Poppins" pitchFamily="2" charset="77"/>
              </a:rPr>
              <a:t>.</a:t>
            </a:r>
          </a:p>
          <a:p>
            <a:pPr algn="just"/>
            <a:endParaRPr lang="es-CO" i="0" dirty="0">
              <a:solidFill>
                <a:srgbClr val="313131"/>
              </a:solidFill>
              <a:effectLst/>
              <a:latin typeface="Open Sans" panose="020B0606030504020204" pitchFamily="34" charset="0"/>
            </a:endParaRPr>
          </a:p>
        </p:txBody>
      </p:sp>
      <p:sp>
        <p:nvSpPr>
          <p:cNvPr id="2" name="Google Shape;61;p14">
            <a:extLst>
              <a:ext uri="{FF2B5EF4-FFF2-40B4-BE49-F238E27FC236}">
                <a16:creationId xmlns:a16="http://schemas.microsoft.com/office/drawing/2014/main" id="{6F5E080E-2063-432A-01D9-AB9FDB77C041}"/>
              </a:ext>
            </a:extLst>
          </p:cNvPr>
          <p:cNvSpPr txBox="1"/>
          <p:nvPr/>
        </p:nvSpPr>
        <p:spPr>
          <a:xfrm>
            <a:off x="521550" y="19167"/>
            <a:ext cx="8100900"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SerenityBDD</a:t>
            </a:r>
            <a:r>
              <a:rPr lang="es-CO" sz="2800" b="1" dirty="0">
                <a:latin typeface="Ubuntu Medium"/>
                <a:ea typeface="Ubuntu Medium"/>
                <a:cs typeface="Ubuntu Medium"/>
                <a:sym typeface="Ubuntu Medium"/>
              </a:rPr>
              <a:t> y </a:t>
            </a:r>
            <a:r>
              <a:rPr lang="es-CO" sz="2800" b="1" dirty="0" err="1">
                <a:latin typeface="Ubuntu Medium"/>
                <a:ea typeface="Ubuntu Medium"/>
                <a:cs typeface="Ubuntu Medium"/>
                <a:sym typeface="Ubuntu Medium"/>
              </a:rPr>
              <a:t>Screenplay</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spTree>
    <p:extLst>
      <p:ext uri="{BB962C8B-B14F-4D97-AF65-F5344CB8AC3E}">
        <p14:creationId xmlns:p14="http://schemas.microsoft.com/office/powerpoint/2010/main" val="707873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21550" y="19167"/>
            <a:ext cx="8100900" cy="561900"/>
          </a:xfrm>
          <a:prstGeom prst="rect">
            <a:avLst/>
          </a:prstGeom>
          <a:noFill/>
          <a:ln>
            <a:noFill/>
          </a:ln>
        </p:spPr>
        <p:txBody>
          <a:bodyPr spcFirstLastPara="1" wrap="square" lIns="91425" tIns="91425" rIns="91425" bIns="91425" anchor="t" anchorCtr="0">
            <a:noAutofit/>
          </a:bodyPr>
          <a:lstStyle/>
          <a:p>
            <a:pPr lvl="0"/>
            <a:r>
              <a:rPr lang="es-CO" sz="2800" b="1" dirty="0" err="1">
                <a:latin typeface="Ubuntu Medium"/>
                <a:ea typeface="Ubuntu Medium"/>
                <a:cs typeface="Ubuntu Medium"/>
                <a:sym typeface="Ubuntu Medium"/>
              </a:rPr>
              <a:t>Patron</a:t>
            </a:r>
            <a:r>
              <a:rPr lang="es-CO" sz="2800" b="1" dirty="0">
                <a:latin typeface="Ubuntu Medium"/>
                <a:ea typeface="Ubuntu Medium"/>
                <a:cs typeface="Ubuntu Medium"/>
                <a:sym typeface="Ubuntu Medium"/>
              </a:rPr>
              <a:t> </a:t>
            </a:r>
            <a:r>
              <a:rPr lang="es-CO" sz="2800" b="1" dirty="0" err="1">
                <a:latin typeface="Ubuntu Medium"/>
                <a:ea typeface="Ubuntu Medium"/>
                <a:cs typeface="Ubuntu Medium"/>
                <a:sym typeface="Ubuntu Medium"/>
              </a:rPr>
              <a:t>Screenplay</a:t>
            </a:r>
            <a:endParaRPr lang="es-CO" sz="2800" b="1" dirty="0">
              <a:solidFill>
                <a:schemeClr val="tx1"/>
              </a:solidFill>
              <a:latin typeface="Ubuntu Medium"/>
              <a:ea typeface="Ubuntu Medium"/>
              <a:cs typeface="Ubuntu Medium"/>
              <a:sym typeface="Ubuntu Medium"/>
            </a:endParaRPr>
          </a:p>
          <a:p>
            <a:pPr lvl="0"/>
            <a:endParaRPr lang="es-CO" sz="2200" b="1" dirty="0">
              <a:solidFill>
                <a:schemeClr val="tx1"/>
              </a:solidFill>
              <a:latin typeface="Ubuntu Medium"/>
              <a:ea typeface="Ubuntu Medium"/>
              <a:cs typeface="Ubuntu Medium"/>
              <a:sym typeface="Ubuntu Medium"/>
            </a:endParaRPr>
          </a:p>
        </p:txBody>
      </p:sp>
      <p:pic>
        <p:nvPicPr>
          <p:cNvPr id="5122" name="Picture 2" descr="Diagrama de Screenplay">
            <a:extLst>
              <a:ext uri="{FF2B5EF4-FFF2-40B4-BE49-F238E27FC236}">
                <a16:creationId xmlns:a16="http://schemas.microsoft.com/office/drawing/2014/main" id="{E7AA8CE9-6A2A-EFF9-C4A8-A76711025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268760"/>
            <a:ext cx="6120680" cy="4590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359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SerenityBDD</a:t>
            </a:r>
            <a:r>
              <a:rPr lang="es-CO" sz="2800" b="1" dirty="0">
                <a:solidFill>
                  <a:schemeClr val="tx1"/>
                </a:solidFill>
                <a:latin typeface="Ubuntu Medium"/>
                <a:ea typeface="Ubuntu Medium"/>
                <a:cs typeface="Ubuntu Medium"/>
                <a:sym typeface="Ubuntu Medium"/>
              </a:rPr>
              <a:t> y </a:t>
            </a:r>
            <a:r>
              <a:rPr lang="es-CO" sz="2800" b="1" dirty="0" err="1">
                <a:solidFill>
                  <a:schemeClr val="tx1"/>
                </a:solidFill>
                <a:latin typeface="Ubuntu Medium"/>
                <a:ea typeface="Ubuntu Medium"/>
                <a:cs typeface="Ubuntu Medium"/>
                <a:sym typeface="Ubuntu Medium"/>
              </a:rPr>
              <a:t>Cucumber</a:t>
            </a:r>
            <a:endParaRPr lang="es-CO" sz="2200" b="1" dirty="0">
              <a:solidFill>
                <a:schemeClr val="tx1"/>
              </a:solidFill>
              <a:latin typeface="Ubuntu Medium"/>
              <a:ea typeface="Ubuntu Medium"/>
              <a:cs typeface="Ubuntu Medium"/>
              <a:sym typeface="Ubuntu Medium"/>
            </a:endParaRPr>
          </a:p>
        </p:txBody>
      </p:sp>
      <p:sp>
        <p:nvSpPr>
          <p:cNvPr id="5" name="CuadroTexto 4">
            <a:extLst>
              <a:ext uri="{FF2B5EF4-FFF2-40B4-BE49-F238E27FC236}">
                <a16:creationId xmlns:a16="http://schemas.microsoft.com/office/drawing/2014/main" id="{71CD3C9F-32DC-4C39-BE28-73EB7594603F}"/>
              </a:ext>
            </a:extLst>
          </p:cNvPr>
          <p:cNvSpPr txBox="1"/>
          <p:nvPr/>
        </p:nvSpPr>
        <p:spPr>
          <a:xfrm>
            <a:off x="551674" y="1628800"/>
            <a:ext cx="8334926" cy="1200329"/>
          </a:xfrm>
          <a:prstGeom prst="rect">
            <a:avLst/>
          </a:prstGeom>
          <a:noFill/>
        </p:spPr>
        <p:txBody>
          <a:bodyPr wrap="square">
            <a:spAutoFit/>
          </a:bodyPr>
          <a:lstStyle/>
          <a:p>
            <a:pPr algn="l" fontAlgn="base"/>
            <a:r>
              <a:rPr lang="es-CO" sz="2400" dirty="0" err="1">
                <a:latin typeface="DevExpert"/>
              </a:rPr>
              <a:t>Cucumber</a:t>
            </a:r>
            <a:r>
              <a:rPr lang="es-CO" sz="2400" dirty="0">
                <a:latin typeface="DevExpert"/>
              </a:rPr>
              <a:t> está inmerso en </a:t>
            </a:r>
            <a:r>
              <a:rPr lang="es-CO" sz="2400" dirty="0" err="1">
                <a:latin typeface="DevExpert"/>
              </a:rPr>
              <a:t>Serenity</a:t>
            </a:r>
            <a:r>
              <a:rPr lang="es-CO" sz="2400" dirty="0">
                <a:latin typeface="DevExpert"/>
              </a:rPr>
              <a:t>,  se puede  hacer la analogía de que </a:t>
            </a:r>
            <a:r>
              <a:rPr lang="es-CO" sz="2400" dirty="0" err="1">
                <a:latin typeface="DevExpert"/>
              </a:rPr>
              <a:t>Serenity</a:t>
            </a:r>
            <a:r>
              <a:rPr lang="es-CO" sz="2400" dirty="0">
                <a:latin typeface="DevExpert"/>
              </a:rPr>
              <a:t> es el padre de </a:t>
            </a:r>
            <a:r>
              <a:rPr lang="es-CO" sz="2400" dirty="0" err="1">
                <a:latin typeface="DevExpert"/>
              </a:rPr>
              <a:t>Cucumber</a:t>
            </a:r>
            <a:r>
              <a:rPr lang="es-CO" sz="2400" dirty="0">
                <a:latin typeface="DevExpert"/>
              </a:rPr>
              <a:t>. Estos dos se usan cuando se escriben las .</a:t>
            </a:r>
            <a:r>
              <a:rPr lang="es-CO" sz="2400" dirty="0" err="1">
                <a:latin typeface="DevExpert"/>
              </a:rPr>
              <a:t>feature</a:t>
            </a:r>
            <a:r>
              <a:rPr lang="es-CO" sz="2400" dirty="0">
                <a:latin typeface="DevExpert"/>
              </a:rPr>
              <a:t> en el lenguaje </a:t>
            </a:r>
            <a:r>
              <a:rPr lang="es-CO" sz="2400" dirty="0" err="1">
                <a:latin typeface="DevExpert"/>
              </a:rPr>
              <a:t>Gherkin</a:t>
            </a:r>
            <a:r>
              <a:rPr lang="es-CO" sz="2400" dirty="0">
                <a:latin typeface="DevExpert"/>
              </a:rPr>
              <a:t>.</a:t>
            </a:r>
          </a:p>
        </p:txBody>
      </p:sp>
      <p:pic>
        <p:nvPicPr>
          <p:cNvPr id="9218" name="Picture 2">
            <a:extLst>
              <a:ext uri="{FF2B5EF4-FFF2-40B4-BE49-F238E27FC236}">
                <a16:creationId xmlns:a16="http://schemas.microsoft.com/office/drawing/2014/main" id="{29968028-614E-F734-814B-3CFB78566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416" y="3429000"/>
            <a:ext cx="5957168" cy="2655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127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1;p14">
            <a:extLst>
              <a:ext uri="{FF2B5EF4-FFF2-40B4-BE49-F238E27FC236}">
                <a16:creationId xmlns:a16="http://schemas.microsoft.com/office/drawing/2014/main" id="{6F5E080E-2063-432A-01D9-AB9FDB77C041}"/>
              </a:ext>
            </a:extLst>
          </p:cNvPr>
          <p:cNvSpPr txBox="1"/>
          <p:nvPr/>
        </p:nvSpPr>
        <p:spPr>
          <a:xfrm>
            <a:off x="539552" y="188640"/>
            <a:ext cx="7632848" cy="561900"/>
          </a:xfrm>
          <a:prstGeom prst="rect">
            <a:avLst/>
          </a:prstGeom>
          <a:noFill/>
          <a:ln>
            <a:noFill/>
          </a:ln>
        </p:spPr>
        <p:txBody>
          <a:bodyPr spcFirstLastPara="1" wrap="square" lIns="91425" tIns="91425" rIns="91425" bIns="91425" anchor="t" anchorCtr="0">
            <a:noAutofit/>
          </a:bodyPr>
          <a:lstStyle/>
          <a:p>
            <a:pPr lvl="0"/>
            <a:r>
              <a:rPr lang="es-CO" sz="2800" b="1" dirty="0" err="1">
                <a:solidFill>
                  <a:schemeClr val="tx1"/>
                </a:solidFill>
                <a:latin typeface="Ubuntu Medium"/>
                <a:ea typeface="Ubuntu Medium"/>
                <a:cs typeface="Ubuntu Medium"/>
                <a:sym typeface="Ubuntu Medium"/>
              </a:rPr>
              <a:t>SerenityBDD</a:t>
            </a:r>
            <a:endParaRPr lang="es-CO" sz="2200" b="1" dirty="0">
              <a:solidFill>
                <a:schemeClr val="tx1"/>
              </a:solidFill>
              <a:latin typeface="Ubuntu Medium"/>
              <a:ea typeface="Ubuntu Medium"/>
              <a:cs typeface="Ubuntu Medium"/>
              <a:sym typeface="Ubuntu Medium"/>
            </a:endParaRPr>
          </a:p>
        </p:txBody>
      </p:sp>
      <p:sp>
        <p:nvSpPr>
          <p:cNvPr id="5" name="CuadroTexto 4">
            <a:extLst>
              <a:ext uri="{FF2B5EF4-FFF2-40B4-BE49-F238E27FC236}">
                <a16:creationId xmlns:a16="http://schemas.microsoft.com/office/drawing/2014/main" id="{71CD3C9F-32DC-4C39-BE28-73EB7594603F}"/>
              </a:ext>
            </a:extLst>
          </p:cNvPr>
          <p:cNvSpPr txBox="1"/>
          <p:nvPr/>
        </p:nvSpPr>
        <p:spPr>
          <a:xfrm>
            <a:off x="551674" y="1628800"/>
            <a:ext cx="8334926" cy="1938992"/>
          </a:xfrm>
          <a:prstGeom prst="rect">
            <a:avLst/>
          </a:prstGeom>
          <a:noFill/>
        </p:spPr>
        <p:txBody>
          <a:bodyPr wrap="square">
            <a:spAutoFit/>
          </a:bodyPr>
          <a:lstStyle/>
          <a:p>
            <a:pPr fontAlgn="base"/>
            <a:r>
              <a:rPr lang="es-CO" sz="2400" dirty="0">
                <a:latin typeface="DevExpert"/>
              </a:rPr>
              <a:t>Clonar el siguiente proyecto en </a:t>
            </a:r>
            <a:r>
              <a:rPr lang="es-CO" sz="2400" dirty="0" err="1">
                <a:latin typeface="DevExpert"/>
              </a:rPr>
              <a:t>InteliJ</a:t>
            </a:r>
            <a:endParaRPr lang="es-CO" sz="2400" dirty="0">
              <a:latin typeface="DevExpert"/>
            </a:endParaRPr>
          </a:p>
          <a:p>
            <a:pPr algn="l" fontAlgn="base"/>
            <a:endParaRPr lang="es-CO" sz="2400" dirty="0">
              <a:latin typeface="DevExpert"/>
              <a:hlinkClick r:id="rId2"/>
            </a:endParaRPr>
          </a:p>
          <a:p>
            <a:pPr algn="l" fontAlgn="base"/>
            <a:r>
              <a:rPr lang="es-CO" sz="2400" dirty="0">
                <a:latin typeface="DevExpert"/>
                <a:hlinkClick r:id="rId2"/>
              </a:rPr>
              <a:t>https://github.com/jdmesalosada/serenitybddwebinspanishtrainingv2</a:t>
            </a:r>
            <a:r>
              <a:rPr lang="es-CO" sz="2400" dirty="0">
                <a:latin typeface="DevExpert"/>
              </a:rPr>
              <a:t> </a:t>
            </a:r>
          </a:p>
          <a:p>
            <a:pPr algn="l" fontAlgn="base"/>
            <a:endParaRPr lang="es-CO" sz="2400" dirty="0">
              <a:latin typeface="DevExpert"/>
            </a:endParaRPr>
          </a:p>
        </p:txBody>
      </p:sp>
    </p:spTree>
    <p:extLst>
      <p:ext uri="{BB962C8B-B14F-4D97-AF65-F5344CB8AC3E}">
        <p14:creationId xmlns:p14="http://schemas.microsoft.com/office/powerpoint/2010/main" val="108074031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3126</TotalTime>
  <Words>1047</Words>
  <Application>Microsoft Macintosh PowerPoint</Application>
  <PresentationFormat>Presentación en pantalla (4:3)</PresentationFormat>
  <Paragraphs>86</Paragraphs>
  <Slides>20</Slides>
  <Notes>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20</vt:i4>
      </vt:variant>
    </vt:vector>
  </HeadingPairs>
  <TitlesOfParts>
    <vt:vector size="31" baseType="lpstr">
      <vt:lpstr>-apple-system</vt:lpstr>
      <vt:lpstr>Arial</vt:lpstr>
      <vt:lpstr>Calibri</vt:lpstr>
      <vt:lpstr>DevExpert</vt:lpstr>
      <vt:lpstr>Lato</vt:lpstr>
      <vt:lpstr>Open Sans</vt:lpstr>
      <vt:lpstr>Poppins</vt:lpstr>
      <vt:lpstr>Rubik</vt:lpstr>
      <vt:lpstr>source-serif-pro</vt:lpstr>
      <vt:lpstr>Ubuntu Medium</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UdeM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requisitos en metodologías ágiles- primera parte</dc:title>
  <dc:creator>Revisor 2</dc:creator>
  <cp:lastModifiedBy>Mauricio Ramirez</cp:lastModifiedBy>
  <cp:revision>41</cp:revision>
  <dcterms:created xsi:type="dcterms:W3CDTF">2016-10-24T14:29:55Z</dcterms:created>
  <dcterms:modified xsi:type="dcterms:W3CDTF">2023-10-26T14:40:22Z</dcterms:modified>
</cp:coreProperties>
</file>