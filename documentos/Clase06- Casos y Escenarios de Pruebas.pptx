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11" r:id="rId2"/>
    <p:sldId id="373" r:id="rId3"/>
    <p:sldId id="374" r:id="rId4"/>
    <p:sldId id="375" r:id="rId5"/>
    <p:sldId id="376" r:id="rId6"/>
    <p:sldId id="378" r:id="rId7"/>
    <p:sldId id="377" r:id="rId8"/>
    <p:sldId id="259" r:id="rId9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/>
    <p:restoredTop sz="94580"/>
  </p:normalViewPr>
  <p:slideViewPr>
    <p:cSldViewPr>
      <p:cViewPr varScale="1">
        <p:scale>
          <a:sx n="121" d="100"/>
          <a:sy n="121" d="100"/>
        </p:scale>
        <p:origin x="256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C39FE1-158E-45EC-B581-84D0C075B0A5}" type="datetimeFigureOut">
              <a:rPr lang="es-CO" smtClean="0"/>
              <a:pPr/>
              <a:t>21/08/23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BD412-B683-424A-B022-9DBF11AF83D1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5180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ADE16FA2-9656-BF4A-9875-F571C12792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23D1283B-10B7-064E-AAFB-4EC586450B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_tradnl" altLang="es-ES_tradnl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853ADA2E-09BF-6548-B1E6-80BD2EA9B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13BA33E-0F4B-7847-A712-6A2FA6CCD335}" type="slidenum">
              <a:rPr lang="es-ES_tradnl" altLang="es-ES_tradnl" smtClean="0"/>
              <a:pPr/>
              <a:t>1</a:t>
            </a:fld>
            <a:endParaRPr lang="es-ES_tradnl" altLang="es-ES_trad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Marcador de imagen de diapositiva 1">
            <a:extLst>
              <a:ext uri="{FF2B5EF4-FFF2-40B4-BE49-F238E27FC236}">
                <a16:creationId xmlns:a16="http://schemas.microsoft.com/office/drawing/2014/main" id="{82BD881E-150D-4B49-9283-85CE434FA9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Marcador de notas 2">
            <a:extLst>
              <a:ext uri="{FF2B5EF4-FFF2-40B4-BE49-F238E27FC236}">
                <a16:creationId xmlns:a16="http://schemas.microsoft.com/office/drawing/2014/main" id="{88054687-5C54-9D43-8334-4CF54F6E0C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_tradnl" altLang="es-ES_tradnl"/>
          </a:p>
        </p:txBody>
      </p:sp>
      <p:sp>
        <p:nvSpPr>
          <p:cNvPr id="68612" name="Marcador de número de diapositiva 3">
            <a:extLst>
              <a:ext uri="{FF2B5EF4-FFF2-40B4-BE49-F238E27FC236}">
                <a16:creationId xmlns:a16="http://schemas.microsoft.com/office/drawing/2014/main" id="{FB407F55-1150-C847-920B-292070AEA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4C73578-01C6-6D4B-B299-89C8470C66EB}" type="slidenum">
              <a:rPr lang="es-ES_tradnl" altLang="es-ES_tradnl" smtClean="0"/>
              <a:pPr/>
              <a:t>8</a:t>
            </a:fld>
            <a:endParaRPr lang="es-ES_tradnl" altLang="es-ES_trad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21/08/23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441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21/08/23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171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21/08/23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926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21/08/23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134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21/08/23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2797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21/08/23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12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21/08/23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656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21/08/23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129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21/08/23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022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21/08/23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6993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21/08/23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661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41AD4-6AD6-47D3-AF00-9057D02D0A5E}" type="datetimeFigureOut">
              <a:rPr lang="es-CO" smtClean="0"/>
              <a:pPr/>
              <a:t>21/08/23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07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n 8">
            <a:extLst>
              <a:ext uri="{FF2B5EF4-FFF2-40B4-BE49-F238E27FC236}">
                <a16:creationId xmlns:a16="http://schemas.microsoft.com/office/drawing/2014/main" id="{A395BFF2-624B-5B43-9CEE-2F8593F63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6775"/>
            <a:ext cx="9144000" cy="5111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520638" y="500043"/>
            <a:ext cx="7886700" cy="1325563"/>
          </a:xfrm>
        </p:spPr>
        <p:txBody>
          <a:bodyPr/>
          <a:lstStyle/>
          <a:p>
            <a:r>
              <a:rPr lang="es-CO" dirty="0"/>
              <a:t>Caso de Prueba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C6DE09-5DC7-61F4-C3A6-2340967AFAE9}"/>
              </a:ext>
            </a:extLst>
          </p:cNvPr>
          <p:cNvSpPr txBox="1"/>
          <p:nvPr/>
        </p:nvSpPr>
        <p:spPr>
          <a:xfrm>
            <a:off x="863588" y="2276872"/>
            <a:ext cx="74168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>
                <a:effectLst/>
              </a:rPr>
              <a:t>Un 'caso de prueba' es el conjunto de valores de entrada, precondiciones de ejecución, resultados esperados y postcondiciones de ejecución, desarrollado con un objetivo en particular o condición de prueba, tales como probar un determinado camino de ejecución o para verificar el cumplimiento de un requisito determinado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943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520638" y="500043"/>
            <a:ext cx="7886700" cy="1325563"/>
          </a:xfrm>
        </p:spPr>
        <p:txBody>
          <a:bodyPr/>
          <a:lstStyle/>
          <a:p>
            <a:r>
              <a:rPr lang="es-CO" dirty="0"/>
              <a:t>Ejemplo de Caso de Prueba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C6DE09-5DC7-61F4-C3A6-2340967AFAE9}"/>
              </a:ext>
            </a:extLst>
          </p:cNvPr>
          <p:cNvSpPr txBox="1"/>
          <p:nvPr/>
        </p:nvSpPr>
        <p:spPr>
          <a:xfrm>
            <a:off x="107504" y="1700808"/>
            <a:ext cx="547260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>
                <a:effectLst/>
              </a:rPr>
              <a:t>La prueba de la creación de un departamento en un software empresarial, con tres campos, código, nombre y descripción, el código es obligatorio numérico y el nombre es obligatorio.</a:t>
            </a:r>
          </a:p>
          <a:p>
            <a:endParaRPr lang="es-CO" dirty="0"/>
          </a:p>
          <a:p>
            <a:r>
              <a:rPr lang="es-CO" dirty="0"/>
              <a:t>Caso de Prueba 1: Todos los campos están vacíos</a:t>
            </a:r>
          </a:p>
          <a:p>
            <a:r>
              <a:rPr lang="es-CO" dirty="0"/>
              <a:t>Caso de Prueba 2: Todos los campos diligenciados con caracteres especiales</a:t>
            </a:r>
          </a:p>
          <a:p>
            <a:r>
              <a:rPr lang="es-CO" dirty="0"/>
              <a:t>Caso de Prueba 3: Todos los campos diligenciados con números</a:t>
            </a:r>
          </a:p>
          <a:p>
            <a:r>
              <a:rPr lang="es-CO" dirty="0"/>
              <a:t>Caso de Prueba 4: Todos los campos diligenciados con texto</a:t>
            </a:r>
          </a:p>
          <a:p>
            <a:r>
              <a:rPr lang="es-CO" dirty="0"/>
              <a:t>Caso de Prueba 5: Solo diligenciar el código</a:t>
            </a:r>
          </a:p>
          <a:p>
            <a:r>
              <a:rPr lang="es-CO" dirty="0"/>
              <a:t>Caso de Prueba 6: Solo diligenciar el nombre</a:t>
            </a:r>
          </a:p>
          <a:p>
            <a:r>
              <a:rPr lang="es-CO" dirty="0"/>
              <a:t>Caso de Prueba 7: Solo diligenciar la descripción</a:t>
            </a:r>
          </a:p>
          <a:p>
            <a:r>
              <a:rPr lang="es-CO" dirty="0"/>
              <a:t>Caso de Prueba 8: Diligenciar el código y nombre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869173D-1596-307A-1AB2-CA6528C0D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830" y="2564904"/>
            <a:ext cx="3456384" cy="232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296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520638" y="500043"/>
            <a:ext cx="7886700" cy="1325563"/>
          </a:xfrm>
        </p:spPr>
        <p:txBody>
          <a:bodyPr/>
          <a:lstStyle/>
          <a:p>
            <a:r>
              <a:rPr lang="es-CO" dirty="0"/>
              <a:t>Escenario de Prueba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C6DE09-5DC7-61F4-C3A6-2340967AFAE9}"/>
              </a:ext>
            </a:extLst>
          </p:cNvPr>
          <p:cNvSpPr txBox="1"/>
          <p:nvPr/>
        </p:nvSpPr>
        <p:spPr>
          <a:xfrm>
            <a:off x="863588" y="2276872"/>
            <a:ext cx="74168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Un escenario de prueba es </a:t>
            </a:r>
            <a:r>
              <a:rPr lang="es-ES" b="1" dirty="0"/>
              <a:t>cualquier funcionalidad de la aplicación que se puede probar</a:t>
            </a:r>
            <a:r>
              <a:rPr lang="es-ES" dirty="0"/>
              <a:t>. Los equipos de control de calidad y desarrollo son responsables de escribir los casos de prueba. Esto ayuda en las pruebas exhaustivas. Esto ayuda en la metodología ágil de probar la personalidad general.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855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520638" y="500043"/>
            <a:ext cx="7886700" cy="1325563"/>
          </a:xfrm>
        </p:spPr>
        <p:txBody>
          <a:bodyPr/>
          <a:lstStyle/>
          <a:p>
            <a:r>
              <a:rPr lang="es-CO" dirty="0"/>
              <a:t>Ejemplo de Escenario de Prueba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C6DE09-5DC7-61F4-C3A6-2340967AFAE9}"/>
              </a:ext>
            </a:extLst>
          </p:cNvPr>
          <p:cNvSpPr txBox="1"/>
          <p:nvPr/>
        </p:nvSpPr>
        <p:spPr>
          <a:xfrm>
            <a:off x="107504" y="1700808"/>
            <a:ext cx="54726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0" dirty="0">
                <a:effectLst/>
              </a:rPr>
              <a:t>La prueba de la creación de un departamento en un software empresarial, con tres campos, código, nombre y descripción, el código es obligatorio</a:t>
            </a:r>
          </a:p>
          <a:p>
            <a:endParaRPr lang="es-CO" dirty="0"/>
          </a:p>
          <a:p>
            <a:r>
              <a:rPr lang="es-CO" dirty="0"/>
              <a:t>Escenario de Prueba 1: Datos correctos</a:t>
            </a:r>
          </a:p>
          <a:p>
            <a:r>
              <a:rPr lang="es-CO" dirty="0"/>
              <a:t>Escenario de Prueba 2: Datos incorrectos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1ABAE79-CC1B-D8CF-2A82-477B7A71D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398" y="2540496"/>
            <a:ext cx="3915563" cy="2616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418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0" y="33673"/>
            <a:ext cx="9144000" cy="1325563"/>
          </a:xfrm>
        </p:spPr>
        <p:txBody>
          <a:bodyPr>
            <a:normAutofit fontScale="90000"/>
          </a:bodyPr>
          <a:lstStyle/>
          <a:p>
            <a:r>
              <a:rPr lang="es-CO" dirty="0"/>
              <a:t>Diferencias de Caso y Escenario de Prueba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FEBCB9F-61E7-C219-C5B3-E690A1C29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11451"/>
              </p:ext>
            </p:extLst>
          </p:nvPr>
        </p:nvGraphicFramePr>
        <p:xfrm>
          <a:off x="899592" y="1297580"/>
          <a:ext cx="7344816" cy="4262840"/>
        </p:xfrm>
        <a:graphic>
          <a:graphicData uri="http://schemas.openxmlformats.org/drawingml/2006/table">
            <a:tbl>
              <a:tblPr/>
              <a:tblGrid>
                <a:gridCol w="2448272">
                  <a:extLst>
                    <a:ext uri="{9D8B030D-6E8A-4147-A177-3AD203B41FA5}">
                      <a16:colId xmlns:a16="http://schemas.microsoft.com/office/drawing/2014/main" val="3038688092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2892774336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4139080920"/>
                    </a:ext>
                  </a:extLst>
                </a:gridCol>
              </a:tblGrid>
              <a:tr h="133479"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/>
                        <a:t>Casos de prueba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b="1" dirty="0"/>
                        <a:t>Escenarios de prueba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192310"/>
                  </a:ext>
                </a:extLst>
              </a:tr>
              <a:tr h="616856">
                <a:tc>
                  <a:txBody>
                    <a:bodyPr/>
                    <a:lstStyle/>
                    <a:p>
                      <a:r>
                        <a:rPr lang="es-CO" sz="1600" b="1"/>
                        <a:t>Que es =&gt;</a:t>
                      </a:r>
                      <a:r>
                        <a:rPr lang="es-CO" sz="1600"/>
                        <a:t> 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Un concepto que proporciona información detallada sobre qué probar, los pasos a seguir y el resultado esperado de la misma.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Un concepto que proporciona información de una línea sobre qué probar.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670736"/>
                  </a:ext>
                </a:extLst>
              </a:tr>
              <a:tr h="227263">
                <a:tc>
                  <a:txBody>
                    <a:bodyPr/>
                    <a:lstStyle/>
                    <a:p>
                      <a:r>
                        <a:rPr lang="es-CO" sz="1600" b="1"/>
                        <a:t>Se trata de =&gt;</a:t>
                      </a:r>
                      <a:r>
                        <a:rPr lang="es-CO" sz="1600"/>
                        <a:t> 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Se trata más de documentar detalles.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Se trata más de pensar y discutir los detalles.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6718"/>
                  </a:ext>
                </a:extLst>
              </a:tr>
              <a:tr h="909050">
                <a:tc>
                  <a:txBody>
                    <a:bodyPr/>
                    <a:lstStyle/>
                    <a:p>
                      <a:r>
                        <a:rPr lang="es-CO" sz="1600" b="1"/>
                        <a:t>Importancia =&gt;</a:t>
                      </a:r>
                      <a:r>
                        <a:rPr lang="es-CO" sz="1600"/>
                        <a:t> 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/>
                        <a:t>Es importante cuando las pruebas se realizan en el extranjero y el desarrollo en el sitio. Escribir casos de prueba con detalles ayudará tanto al desarrollador como al equipo de control de calidad a sincronizarse.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600" dirty="0"/>
                        <a:t>Es importante cuando el tiempo es menos y la mayoría de los miembros del equipo pueden estar de acuerdo / comprender los detalles del escenario de una sola línea.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4448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888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/>
          <p:cNvSpPr>
            <a:spLocks noGrp="1"/>
          </p:cNvSpPr>
          <p:nvPr>
            <p:ph type="title"/>
          </p:nvPr>
        </p:nvSpPr>
        <p:spPr>
          <a:xfrm>
            <a:off x="0" y="33673"/>
            <a:ext cx="9144000" cy="1325563"/>
          </a:xfrm>
        </p:spPr>
        <p:txBody>
          <a:bodyPr>
            <a:normAutofit fontScale="90000"/>
          </a:bodyPr>
          <a:lstStyle/>
          <a:p>
            <a:r>
              <a:rPr lang="es-CO" dirty="0"/>
              <a:t>Diferencias de Caso y Escenario de Prueba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FEBCB9F-61E7-C219-C5B3-E690A1C29B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941596"/>
              </p:ext>
            </p:extLst>
          </p:nvPr>
        </p:nvGraphicFramePr>
        <p:xfrm>
          <a:off x="611560" y="1196752"/>
          <a:ext cx="7920879" cy="5451560"/>
        </p:xfrm>
        <a:graphic>
          <a:graphicData uri="http://schemas.openxmlformats.org/drawingml/2006/table">
            <a:tbl>
              <a:tblPr/>
              <a:tblGrid>
                <a:gridCol w="2640293">
                  <a:extLst>
                    <a:ext uri="{9D8B030D-6E8A-4147-A177-3AD203B41FA5}">
                      <a16:colId xmlns:a16="http://schemas.microsoft.com/office/drawing/2014/main" val="3038688092"/>
                    </a:ext>
                  </a:extLst>
                </a:gridCol>
                <a:gridCol w="2640293">
                  <a:extLst>
                    <a:ext uri="{9D8B030D-6E8A-4147-A177-3AD203B41FA5}">
                      <a16:colId xmlns:a16="http://schemas.microsoft.com/office/drawing/2014/main" val="2892774336"/>
                    </a:ext>
                  </a:extLst>
                </a:gridCol>
                <a:gridCol w="2640293">
                  <a:extLst>
                    <a:ext uri="{9D8B030D-6E8A-4147-A177-3AD203B41FA5}">
                      <a16:colId xmlns:a16="http://schemas.microsoft.com/office/drawing/2014/main" val="4139080920"/>
                    </a:ext>
                  </a:extLst>
                </a:gridCol>
              </a:tblGrid>
              <a:tr h="133479">
                <a:tc>
                  <a:txBody>
                    <a:bodyPr/>
                    <a:lstStyle/>
                    <a:p>
                      <a:endParaRPr lang="es-CO" sz="1400"/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 dirty="0"/>
                        <a:t>Casos de prueba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b="1" dirty="0"/>
                        <a:t>Escenarios de prueba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192310"/>
                  </a:ext>
                </a:extLst>
              </a:tr>
              <a:tr h="1785634">
                <a:tc>
                  <a:txBody>
                    <a:bodyPr/>
                    <a:lstStyle/>
                    <a:p>
                      <a:r>
                        <a:rPr lang="es-CO" sz="1400" b="1"/>
                        <a:t>Ventaja =&gt;</a:t>
                      </a:r>
                      <a:r>
                        <a:rPr lang="es-CO" sz="1400"/>
                        <a:t> 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/>
                        <a:t>La documentación única de todos los casos de prueba es beneficiosa para rastrear miles de rondas de pruebas de regresión en el futuro. </a:t>
                      </a:r>
                      <a:br>
                        <a:rPr lang="es-CO" sz="1400"/>
                      </a:br>
                      <a:r>
                        <a:rPr lang="es-CO" sz="1400"/>
                        <a:t>La mayoría de las veces, es útil para informar de errores. El evaluador solo necesita dar una referencia de la identificación del caso de prueba y no requiere mencionar todos y cada uno de los detalles. </a:t>
                      </a:r>
                      <a:br>
                        <a:rPr lang="es-CO" sz="1400"/>
                      </a:br>
                      <a:endParaRPr lang="es-CO" sz="1400"/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Una actividad que ahorra tiempo y genera ideas, preferida por la comunidad de pruebas de software de nueva generación. </a:t>
                      </a:r>
                      <a:br>
                        <a:rPr lang="es-CO" sz="1400" dirty="0"/>
                      </a:br>
                      <a:r>
                        <a:rPr lang="es-CO" sz="1400" dirty="0"/>
                        <a:t>La modificación y la adición son simples y no específicas de una persona. </a:t>
                      </a:r>
                      <a:br>
                        <a:rPr lang="es-CO" sz="1400" dirty="0"/>
                      </a:br>
                      <a:r>
                        <a:rPr lang="es-CO" sz="1400" dirty="0"/>
                        <a:t>Para un proyecto enorme, donde un grupo de personas solo conoce módulos específicos, esta actividad les da la oportunidad a todos de mirar otros módulos, hacer una lluvia de ideas y discutir </a:t>
                      </a:r>
                      <a:br>
                        <a:rPr lang="es-CO" sz="1400" dirty="0"/>
                      </a:br>
                      <a:endParaRPr lang="es-CO" sz="1400" dirty="0"/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850652"/>
                  </a:ext>
                </a:extLst>
              </a:tr>
              <a:tr h="616856">
                <a:tc>
                  <a:txBody>
                    <a:bodyPr/>
                    <a:lstStyle/>
                    <a:p>
                      <a:r>
                        <a:rPr lang="es-CO" sz="1400" b="1"/>
                        <a:t>Beneficioso para =&gt;</a:t>
                      </a:r>
                      <a:r>
                        <a:rPr lang="es-CO" sz="1400"/>
                        <a:t> 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/>
                        <a:t>Un documento de caso de prueba de prueba completa es una línea de vida para el nuevo probador.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/>
                        <a:t>Se puede lograr una buena cobertura de prueba dividiendo la aplicación en escenarios de prueba y reduce la repetibilidad y complejidad del producto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938686"/>
                  </a:ext>
                </a:extLst>
              </a:tr>
              <a:tr h="714254">
                <a:tc>
                  <a:txBody>
                    <a:bodyPr/>
                    <a:lstStyle/>
                    <a:p>
                      <a:r>
                        <a:rPr lang="es-CO" sz="1400" b="1" dirty="0"/>
                        <a:t>Desventaja =&gt;</a:t>
                      </a:r>
                      <a:r>
                        <a:rPr lang="es-CO" sz="1400" dirty="0"/>
                        <a:t> 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/>
                        <a:t>Consume tiempo y dinero, ya que requiere más recursos para detallar todo sobre qué probar y cómo probar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CO" sz="1400" dirty="0"/>
                        <a:t>Si lo crea una persona específica, es posible que el revisor o el otro usuario no sincronice la idea exacta detrás de él. Necesita más discusiones y esfuerzos en equipo.</a:t>
                      </a:r>
                    </a:p>
                  </a:txBody>
                  <a:tcPr marL="29389" marR="29389" marT="14695" marB="146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2795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581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Imagen 1">
            <a:extLst>
              <a:ext uri="{FF2B5EF4-FFF2-40B4-BE49-F238E27FC236}">
                <a16:creationId xmlns:a16="http://schemas.microsoft.com/office/drawing/2014/main" id="{BD7134BB-9EBA-8F4C-93D1-E0627BD66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6775"/>
            <a:ext cx="9144000" cy="5111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6256</TotalTime>
  <Words>669</Words>
  <Application>Microsoft Macintosh PowerPoint</Application>
  <PresentationFormat>Presentación en pantalla (4:3)</PresentationFormat>
  <Paragraphs>46</Paragraphs>
  <Slides>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Tema de Office</vt:lpstr>
      <vt:lpstr>Presentación de PowerPoint</vt:lpstr>
      <vt:lpstr>Caso de Prueba</vt:lpstr>
      <vt:lpstr>Ejemplo de Caso de Prueba</vt:lpstr>
      <vt:lpstr>Escenario de Prueba</vt:lpstr>
      <vt:lpstr>Ejemplo de Escenario de Prueba</vt:lpstr>
      <vt:lpstr>Diferencias de Caso y Escenario de Prueba</vt:lpstr>
      <vt:lpstr>Diferencias de Caso y Escenario de Prueba</vt:lpstr>
      <vt:lpstr>Presentación de PowerPoint</vt:lpstr>
    </vt:vector>
  </TitlesOfParts>
  <Company>UdeM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Liliana Gonzalez Palacio</dc:creator>
  <cp:lastModifiedBy>Mauricio Ramirez</cp:lastModifiedBy>
  <cp:revision>80</cp:revision>
  <dcterms:created xsi:type="dcterms:W3CDTF">2012-08-10T19:33:56Z</dcterms:created>
  <dcterms:modified xsi:type="dcterms:W3CDTF">2023-08-22T05:08:25Z</dcterms:modified>
</cp:coreProperties>
</file>