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311" r:id="rId2"/>
    <p:sldId id="373" r:id="rId3"/>
    <p:sldId id="376" r:id="rId4"/>
    <p:sldId id="377" r:id="rId5"/>
    <p:sldId id="378" r:id="rId6"/>
    <p:sldId id="379" r:id="rId7"/>
    <p:sldId id="380" r:id="rId8"/>
    <p:sldId id="381" r:id="rId9"/>
    <p:sldId id="382" r:id="rId10"/>
    <p:sldId id="383" r:id="rId11"/>
    <p:sldId id="384" r:id="rId12"/>
    <p:sldId id="385" r:id="rId13"/>
    <p:sldId id="386" r:id="rId14"/>
    <p:sldId id="387" r:id="rId15"/>
    <p:sldId id="388" r:id="rId16"/>
    <p:sldId id="389" r:id="rId17"/>
    <p:sldId id="390" r:id="rId18"/>
    <p:sldId id="391" r:id="rId19"/>
    <p:sldId id="392" r:id="rId20"/>
    <p:sldId id="394" r:id="rId21"/>
    <p:sldId id="395" r:id="rId22"/>
    <p:sldId id="396" r:id="rId23"/>
    <p:sldId id="397" r:id="rId24"/>
    <p:sldId id="398" r:id="rId25"/>
    <p:sldId id="399" r:id="rId26"/>
    <p:sldId id="401" r:id="rId27"/>
    <p:sldId id="402" r:id="rId28"/>
    <p:sldId id="403" r:id="rId29"/>
    <p:sldId id="404" r:id="rId30"/>
    <p:sldId id="313" r:id="rId31"/>
    <p:sldId id="259" r:id="rId32"/>
  </p:sldIdLst>
  <p:sldSz cx="9144000" cy="6858000" type="screen4x3"/>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843"/>
    <p:restoredTop sz="94628"/>
  </p:normalViewPr>
  <p:slideViewPr>
    <p:cSldViewPr>
      <p:cViewPr varScale="1">
        <p:scale>
          <a:sx n="90" d="100"/>
          <a:sy n="90" d="100"/>
        </p:scale>
        <p:origin x="653" y="27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3C39FE1-158E-45EC-B581-84D0C075B0A5}" type="datetimeFigureOut">
              <a:rPr lang="es-CO" smtClean="0"/>
              <a:pPr/>
              <a:t>10/02/2026</a:t>
            </a:fld>
            <a:endParaRPr lang="es-CO"/>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C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A7BD412-B683-424A-B022-9DBF11AF83D1}" type="slidenum">
              <a:rPr lang="es-CO" smtClean="0"/>
              <a:pPr/>
              <a:t>‹Nº›</a:t>
            </a:fld>
            <a:endParaRPr lang="es-CO"/>
          </a:p>
        </p:txBody>
      </p:sp>
    </p:spTree>
    <p:extLst>
      <p:ext uri="{BB962C8B-B14F-4D97-AF65-F5344CB8AC3E}">
        <p14:creationId xmlns:p14="http://schemas.microsoft.com/office/powerpoint/2010/main" val="3115180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Marcador de imagen de diapositiva 1">
            <a:extLst>
              <a:ext uri="{FF2B5EF4-FFF2-40B4-BE49-F238E27FC236}">
                <a16:creationId xmlns:a16="http://schemas.microsoft.com/office/drawing/2014/main" id="{ADE16FA2-9656-BF4A-9875-F571C12792E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Marcador de notas 2">
            <a:extLst>
              <a:ext uri="{FF2B5EF4-FFF2-40B4-BE49-F238E27FC236}">
                <a16:creationId xmlns:a16="http://schemas.microsoft.com/office/drawing/2014/main" id="{23D1283B-10B7-064E-AAFB-4EC586450B0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ES_tradnl" altLang="es-ES_tradnl"/>
          </a:p>
        </p:txBody>
      </p:sp>
      <p:sp>
        <p:nvSpPr>
          <p:cNvPr id="4100" name="Marcador de número de diapositiva 3">
            <a:extLst>
              <a:ext uri="{FF2B5EF4-FFF2-40B4-BE49-F238E27FC236}">
                <a16:creationId xmlns:a16="http://schemas.microsoft.com/office/drawing/2014/main" id="{853ADA2E-09BF-6548-B1E6-80BD2EA9B86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713BA33E-0F4B-7847-A712-6A2FA6CCD335}" type="slidenum">
              <a:rPr lang="es-ES_tradnl" altLang="es-ES_tradnl" smtClean="0"/>
              <a:pPr/>
              <a:t>1</a:t>
            </a:fld>
            <a:endParaRPr lang="es-ES_tradnl" altLang="es-ES_tradnl"/>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Marcador de imagen de diapositiva 1">
            <a:extLst>
              <a:ext uri="{FF2B5EF4-FFF2-40B4-BE49-F238E27FC236}">
                <a16:creationId xmlns:a16="http://schemas.microsoft.com/office/drawing/2014/main" id="{CE90DCEB-298A-1746-9278-5339E634A64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Marcador de notas 2">
            <a:extLst>
              <a:ext uri="{FF2B5EF4-FFF2-40B4-BE49-F238E27FC236}">
                <a16:creationId xmlns:a16="http://schemas.microsoft.com/office/drawing/2014/main" id="{89002B4B-99B6-A24A-B825-05D91CAC2CB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ES_tradnl" altLang="es-ES_tradnl"/>
          </a:p>
        </p:txBody>
      </p:sp>
      <p:sp>
        <p:nvSpPr>
          <p:cNvPr id="66564" name="Marcador de número de diapositiva 3">
            <a:extLst>
              <a:ext uri="{FF2B5EF4-FFF2-40B4-BE49-F238E27FC236}">
                <a16:creationId xmlns:a16="http://schemas.microsoft.com/office/drawing/2014/main" id="{2D99B1CF-B6BA-9249-B101-2D7AD5896FF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33196263-AE03-6E47-A8AC-E779F8F58C11}" type="slidenum">
              <a:rPr lang="es-ES_tradnl" altLang="es-ES_tradnl" smtClean="0"/>
              <a:pPr/>
              <a:t>30</a:t>
            </a:fld>
            <a:endParaRPr lang="es-ES_tradnl" altLang="es-ES_tradnl"/>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Marcador de imagen de diapositiva 1">
            <a:extLst>
              <a:ext uri="{FF2B5EF4-FFF2-40B4-BE49-F238E27FC236}">
                <a16:creationId xmlns:a16="http://schemas.microsoft.com/office/drawing/2014/main" id="{82BD881E-150D-4B49-9283-85CE434FA96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Marcador de notas 2">
            <a:extLst>
              <a:ext uri="{FF2B5EF4-FFF2-40B4-BE49-F238E27FC236}">
                <a16:creationId xmlns:a16="http://schemas.microsoft.com/office/drawing/2014/main" id="{88054687-5C54-9D43-8334-4CF54F6E0C3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ES_tradnl" altLang="es-ES_tradnl"/>
          </a:p>
        </p:txBody>
      </p:sp>
      <p:sp>
        <p:nvSpPr>
          <p:cNvPr id="68612" name="Marcador de número de diapositiva 3">
            <a:extLst>
              <a:ext uri="{FF2B5EF4-FFF2-40B4-BE49-F238E27FC236}">
                <a16:creationId xmlns:a16="http://schemas.microsoft.com/office/drawing/2014/main" id="{FB407F55-1150-C847-920B-292070AEA18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44C73578-01C6-6D4B-B299-89C8470C66EB}" type="slidenum">
              <a:rPr lang="es-ES_tradnl" altLang="es-ES_tradnl" smtClean="0"/>
              <a:pPr/>
              <a:t>31</a:t>
            </a:fld>
            <a:endParaRPr lang="es-ES_tradnl" altLang="es-ES_tradnl"/>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endParaRPr lang="es-CO"/>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CO"/>
          </a:p>
        </p:txBody>
      </p:sp>
      <p:sp>
        <p:nvSpPr>
          <p:cNvPr id="4" name="3 Marcador de fecha"/>
          <p:cNvSpPr>
            <a:spLocks noGrp="1"/>
          </p:cNvSpPr>
          <p:nvPr>
            <p:ph type="dt" sz="half" idx="10"/>
          </p:nvPr>
        </p:nvSpPr>
        <p:spPr/>
        <p:txBody>
          <a:bodyPr/>
          <a:lstStyle/>
          <a:p>
            <a:fld id="{E4141AD4-6AD6-47D3-AF00-9057D02D0A5E}" type="datetimeFigureOut">
              <a:rPr lang="es-CO" smtClean="0"/>
              <a:pPr/>
              <a:t>10/02/2026</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2DA1995C-B7BA-48F2-B671-DECB025FA5A6}" type="slidenum">
              <a:rPr lang="es-CO" smtClean="0"/>
              <a:pPr/>
              <a:t>‹Nº›</a:t>
            </a:fld>
            <a:endParaRPr lang="es-CO"/>
          </a:p>
        </p:txBody>
      </p:sp>
    </p:spTree>
    <p:extLst>
      <p:ext uri="{BB962C8B-B14F-4D97-AF65-F5344CB8AC3E}">
        <p14:creationId xmlns:p14="http://schemas.microsoft.com/office/powerpoint/2010/main" val="2744415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E4141AD4-6AD6-47D3-AF00-9057D02D0A5E}" type="datetimeFigureOut">
              <a:rPr lang="es-CO" smtClean="0"/>
              <a:pPr/>
              <a:t>10/02/2026</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2DA1995C-B7BA-48F2-B671-DECB025FA5A6}" type="slidenum">
              <a:rPr lang="es-CO" smtClean="0"/>
              <a:pPr/>
              <a:t>‹Nº›</a:t>
            </a:fld>
            <a:endParaRPr lang="es-CO"/>
          </a:p>
        </p:txBody>
      </p:sp>
    </p:spTree>
    <p:extLst>
      <p:ext uri="{BB962C8B-B14F-4D97-AF65-F5344CB8AC3E}">
        <p14:creationId xmlns:p14="http://schemas.microsoft.com/office/powerpoint/2010/main" val="2001710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E4141AD4-6AD6-47D3-AF00-9057D02D0A5E}" type="datetimeFigureOut">
              <a:rPr lang="es-CO" smtClean="0"/>
              <a:pPr/>
              <a:t>10/02/2026</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2DA1995C-B7BA-48F2-B671-DECB025FA5A6}" type="slidenum">
              <a:rPr lang="es-CO" smtClean="0"/>
              <a:pPr/>
              <a:t>‹Nº›</a:t>
            </a:fld>
            <a:endParaRPr lang="es-CO"/>
          </a:p>
        </p:txBody>
      </p:sp>
    </p:spTree>
    <p:extLst>
      <p:ext uri="{BB962C8B-B14F-4D97-AF65-F5344CB8AC3E}">
        <p14:creationId xmlns:p14="http://schemas.microsoft.com/office/powerpoint/2010/main" val="38192623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fecha"/>
          <p:cNvSpPr>
            <a:spLocks noGrp="1"/>
          </p:cNvSpPr>
          <p:nvPr>
            <p:ph type="dt" sz="half" idx="10"/>
          </p:nvPr>
        </p:nvSpPr>
        <p:spPr/>
        <p:txBody>
          <a:bodyPr/>
          <a:lstStyle/>
          <a:p>
            <a:fld id="{E4141AD4-6AD6-47D3-AF00-9057D02D0A5E}" type="datetimeFigureOut">
              <a:rPr lang="es-CO" smtClean="0"/>
              <a:pPr/>
              <a:t>10/02/2026</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2DA1995C-B7BA-48F2-B671-DECB025FA5A6}" type="slidenum">
              <a:rPr lang="es-CO" smtClean="0"/>
              <a:pPr/>
              <a:t>‹Nº›</a:t>
            </a:fld>
            <a:endParaRPr lang="es-CO"/>
          </a:p>
        </p:txBody>
      </p:sp>
    </p:spTree>
    <p:extLst>
      <p:ext uri="{BB962C8B-B14F-4D97-AF65-F5344CB8AC3E}">
        <p14:creationId xmlns:p14="http://schemas.microsoft.com/office/powerpoint/2010/main" val="13313439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CO"/>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6 Marcador de fecha"/>
          <p:cNvSpPr>
            <a:spLocks noGrp="1"/>
          </p:cNvSpPr>
          <p:nvPr>
            <p:ph type="dt" sz="half" idx="10"/>
          </p:nvPr>
        </p:nvSpPr>
        <p:spPr/>
        <p:txBody>
          <a:bodyPr/>
          <a:lstStyle/>
          <a:p>
            <a:fld id="{E4141AD4-6AD6-47D3-AF00-9057D02D0A5E}" type="datetimeFigureOut">
              <a:rPr lang="es-CO" smtClean="0"/>
              <a:pPr/>
              <a:t>10/02/2026</a:t>
            </a:fld>
            <a:endParaRPr lang="es-CO"/>
          </a:p>
        </p:txBody>
      </p:sp>
      <p:sp>
        <p:nvSpPr>
          <p:cNvPr id="8" name="7 Marcador de pie de página"/>
          <p:cNvSpPr>
            <a:spLocks noGrp="1"/>
          </p:cNvSpPr>
          <p:nvPr>
            <p:ph type="ftr" sz="quarter" idx="11"/>
          </p:nvPr>
        </p:nvSpPr>
        <p:spPr/>
        <p:txBody>
          <a:bodyPr/>
          <a:lstStyle/>
          <a:p>
            <a:endParaRPr lang="es-CO"/>
          </a:p>
        </p:txBody>
      </p:sp>
      <p:sp>
        <p:nvSpPr>
          <p:cNvPr id="9" name="8 Marcador de número de diapositiva"/>
          <p:cNvSpPr>
            <a:spLocks noGrp="1"/>
          </p:cNvSpPr>
          <p:nvPr>
            <p:ph type="sldNum" sz="quarter" idx="12"/>
          </p:nvPr>
        </p:nvSpPr>
        <p:spPr/>
        <p:txBody>
          <a:bodyPr/>
          <a:lstStyle/>
          <a:p>
            <a:fld id="{2DA1995C-B7BA-48F2-B671-DECB025FA5A6}" type="slidenum">
              <a:rPr lang="es-CO" smtClean="0"/>
              <a:pPr/>
              <a:t>‹Nº›</a:t>
            </a:fld>
            <a:endParaRPr lang="es-CO"/>
          </a:p>
        </p:txBody>
      </p:sp>
    </p:spTree>
    <p:extLst>
      <p:ext uri="{BB962C8B-B14F-4D97-AF65-F5344CB8AC3E}">
        <p14:creationId xmlns:p14="http://schemas.microsoft.com/office/powerpoint/2010/main" val="4527971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fecha"/>
          <p:cNvSpPr>
            <a:spLocks noGrp="1"/>
          </p:cNvSpPr>
          <p:nvPr>
            <p:ph type="dt" sz="half" idx="10"/>
          </p:nvPr>
        </p:nvSpPr>
        <p:spPr/>
        <p:txBody>
          <a:bodyPr/>
          <a:lstStyle/>
          <a:p>
            <a:fld id="{E4141AD4-6AD6-47D3-AF00-9057D02D0A5E}" type="datetimeFigureOut">
              <a:rPr lang="es-CO" smtClean="0"/>
              <a:pPr/>
              <a:t>10/02/2026</a:t>
            </a:fld>
            <a:endParaRPr lang="es-CO"/>
          </a:p>
        </p:txBody>
      </p:sp>
      <p:sp>
        <p:nvSpPr>
          <p:cNvPr id="4" name="3 Marcador de pie de página"/>
          <p:cNvSpPr>
            <a:spLocks noGrp="1"/>
          </p:cNvSpPr>
          <p:nvPr>
            <p:ph type="ftr" sz="quarter" idx="11"/>
          </p:nvPr>
        </p:nvSpPr>
        <p:spPr/>
        <p:txBody>
          <a:bodyPr/>
          <a:lstStyle/>
          <a:p>
            <a:endParaRPr lang="es-CO"/>
          </a:p>
        </p:txBody>
      </p:sp>
      <p:sp>
        <p:nvSpPr>
          <p:cNvPr id="5" name="4 Marcador de número de diapositiva"/>
          <p:cNvSpPr>
            <a:spLocks noGrp="1"/>
          </p:cNvSpPr>
          <p:nvPr>
            <p:ph type="sldNum" sz="quarter" idx="12"/>
          </p:nvPr>
        </p:nvSpPr>
        <p:spPr/>
        <p:txBody>
          <a:bodyPr/>
          <a:lstStyle/>
          <a:p>
            <a:fld id="{2DA1995C-B7BA-48F2-B671-DECB025FA5A6}" type="slidenum">
              <a:rPr lang="es-CO" smtClean="0"/>
              <a:pPr/>
              <a:t>‹Nº›</a:t>
            </a:fld>
            <a:endParaRPr lang="es-CO"/>
          </a:p>
        </p:txBody>
      </p:sp>
    </p:spTree>
    <p:extLst>
      <p:ext uri="{BB962C8B-B14F-4D97-AF65-F5344CB8AC3E}">
        <p14:creationId xmlns:p14="http://schemas.microsoft.com/office/powerpoint/2010/main" val="125121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E4141AD4-6AD6-47D3-AF00-9057D02D0A5E}" type="datetimeFigureOut">
              <a:rPr lang="es-CO" smtClean="0"/>
              <a:pPr/>
              <a:t>10/02/2026</a:t>
            </a:fld>
            <a:endParaRPr lang="es-CO"/>
          </a:p>
        </p:txBody>
      </p:sp>
      <p:sp>
        <p:nvSpPr>
          <p:cNvPr id="3" name="2 Marcador de pie de página"/>
          <p:cNvSpPr>
            <a:spLocks noGrp="1"/>
          </p:cNvSpPr>
          <p:nvPr>
            <p:ph type="ftr" sz="quarter" idx="11"/>
          </p:nvPr>
        </p:nvSpPr>
        <p:spPr/>
        <p:txBody>
          <a:bodyPr/>
          <a:lstStyle/>
          <a:p>
            <a:endParaRPr lang="es-CO"/>
          </a:p>
        </p:txBody>
      </p:sp>
      <p:sp>
        <p:nvSpPr>
          <p:cNvPr id="4" name="3 Marcador de número de diapositiva"/>
          <p:cNvSpPr>
            <a:spLocks noGrp="1"/>
          </p:cNvSpPr>
          <p:nvPr>
            <p:ph type="sldNum" sz="quarter" idx="12"/>
          </p:nvPr>
        </p:nvSpPr>
        <p:spPr/>
        <p:txBody>
          <a:bodyPr/>
          <a:lstStyle/>
          <a:p>
            <a:fld id="{2DA1995C-B7BA-48F2-B671-DECB025FA5A6}" type="slidenum">
              <a:rPr lang="es-CO" smtClean="0"/>
              <a:pPr/>
              <a:t>‹Nº›</a:t>
            </a:fld>
            <a:endParaRPr lang="es-CO"/>
          </a:p>
        </p:txBody>
      </p:sp>
    </p:spTree>
    <p:extLst>
      <p:ext uri="{BB962C8B-B14F-4D97-AF65-F5344CB8AC3E}">
        <p14:creationId xmlns:p14="http://schemas.microsoft.com/office/powerpoint/2010/main" val="1296561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E4141AD4-6AD6-47D3-AF00-9057D02D0A5E}" type="datetimeFigureOut">
              <a:rPr lang="es-CO" smtClean="0"/>
              <a:pPr/>
              <a:t>10/02/2026</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2DA1995C-B7BA-48F2-B671-DECB025FA5A6}" type="slidenum">
              <a:rPr lang="es-CO" smtClean="0"/>
              <a:pPr/>
              <a:t>‹Nº›</a:t>
            </a:fld>
            <a:endParaRPr lang="es-CO"/>
          </a:p>
        </p:txBody>
      </p:sp>
    </p:spTree>
    <p:extLst>
      <p:ext uri="{BB962C8B-B14F-4D97-AF65-F5344CB8AC3E}">
        <p14:creationId xmlns:p14="http://schemas.microsoft.com/office/powerpoint/2010/main" val="1331292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E4141AD4-6AD6-47D3-AF00-9057D02D0A5E}" type="datetimeFigureOut">
              <a:rPr lang="es-CO" smtClean="0"/>
              <a:pPr/>
              <a:t>10/02/2026</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2DA1995C-B7BA-48F2-B671-DECB025FA5A6}" type="slidenum">
              <a:rPr lang="es-CO" smtClean="0"/>
              <a:pPr/>
              <a:t>‹Nº›</a:t>
            </a:fld>
            <a:endParaRPr lang="es-CO"/>
          </a:p>
        </p:txBody>
      </p:sp>
    </p:spTree>
    <p:extLst>
      <p:ext uri="{BB962C8B-B14F-4D97-AF65-F5344CB8AC3E}">
        <p14:creationId xmlns:p14="http://schemas.microsoft.com/office/powerpoint/2010/main" val="18502231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E4141AD4-6AD6-47D3-AF00-9057D02D0A5E}" type="datetimeFigureOut">
              <a:rPr lang="es-CO" smtClean="0"/>
              <a:pPr/>
              <a:t>10/02/2026</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2DA1995C-B7BA-48F2-B671-DECB025FA5A6}" type="slidenum">
              <a:rPr lang="es-CO" smtClean="0"/>
              <a:pPr/>
              <a:t>‹Nº›</a:t>
            </a:fld>
            <a:endParaRPr lang="es-CO"/>
          </a:p>
        </p:txBody>
      </p:sp>
    </p:spTree>
    <p:extLst>
      <p:ext uri="{BB962C8B-B14F-4D97-AF65-F5344CB8AC3E}">
        <p14:creationId xmlns:p14="http://schemas.microsoft.com/office/powerpoint/2010/main" val="456993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s-CO"/>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E4141AD4-6AD6-47D3-AF00-9057D02D0A5E}" type="datetimeFigureOut">
              <a:rPr lang="es-CO" smtClean="0"/>
              <a:pPr/>
              <a:t>10/02/2026</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2DA1995C-B7BA-48F2-B671-DECB025FA5A6}" type="slidenum">
              <a:rPr lang="es-CO" smtClean="0"/>
              <a:pPr/>
              <a:t>‹Nº›</a:t>
            </a:fld>
            <a:endParaRPr lang="es-CO"/>
          </a:p>
        </p:txBody>
      </p:sp>
    </p:spTree>
    <p:extLst>
      <p:ext uri="{BB962C8B-B14F-4D97-AF65-F5344CB8AC3E}">
        <p14:creationId xmlns:p14="http://schemas.microsoft.com/office/powerpoint/2010/main" val="9066177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141AD4-6AD6-47D3-AF00-9057D02D0A5E}" type="datetimeFigureOut">
              <a:rPr lang="es-CO" smtClean="0"/>
              <a:pPr/>
              <a:t>10/02/2026</a:t>
            </a:fld>
            <a:endParaRPr lang="es-CO"/>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A1995C-B7BA-48F2-B671-DECB025FA5A6}" type="slidenum">
              <a:rPr lang="es-CO" smtClean="0"/>
              <a:pPr/>
              <a:t>‹Nº›</a:t>
            </a:fld>
            <a:endParaRPr lang="es-CO"/>
          </a:p>
        </p:txBody>
      </p:sp>
    </p:spTree>
    <p:extLst>
      <p:ext uri="{BB962C8B-B14F-4D97-AF65-F5344CB8AC3E}">
        <p14:creationId xmlns:p14="http://schemas.microsoft.com/office/powerpoint/2010/main" val="1940775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Imagen 8">
            <a:extLst>
              <a:ext uri="{FF2B5EF4-FFF2-40B4-BE49-F238E27FC236}">
                <a16:creationId xmlns:a16="http://schemas.microsoft.com/office/drawing/2014/main" id="{A395BFF2-624B-5B43-9CEE-2F8593F6396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866775"/>
            <a:ext cx="9144000" cy="5111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628650" y="11336"/>
            <a:ext cx="7886700" cy="1325563"/>
          </a:xfrm>
        </p:spPr>
        <p:txBody>
          <a:bodyPr/>
          <a:lstStyle/>
          <a:p>
            <a:r>
              <a:rPr lang="es-CO" dirty="0"/>
              <a:t>Plan de Pruebas</a:t>
            </a:r>
          </a:p>
        </p:txBody>
      </p:sp>
      <p:sp>
        <p:nvSpPr>
          <p:cNvPr id="5" name="CuadroTexto 4">
            <a:extLst>
              <a:ext uri="{FF2B5EF4-FFF2-40B4-BE49-F238E27FC236}">
                <a16:creationId xmlns:a16="http://schemas.microsoft.com/office/drawing/2014/main" id="{2DC6DE09-5DC7-61F4-C3A6-2340967AFAE9}"/>
              </a:ext>
            </a:extLst>
          </p:cNvPr>
          <p:cNvSpPr txBox="1"/>
          <p:nvPr/>
        </p:nvSpPr>
        <p:spPr>
          <a:xfrm>
            <a:off x="971600" y="1484784"/>
            <a:ext cx="7416824" cy="1754326"/>
          </a:xfrm>
          <a:prstGeom prst="rect">
            <a:avLst/>
          </a:prstGeom>
          <a:noFill/>
        </p:spPr>
        <p:txBody>
          <a:bodyPr wrap="square">
            <a:spAutoFit/>
          </a:bodyPr>
          <a:lstStyle/>
          <a:p>
            <a:r>
              <a:rPr lang="es-CO" b="0" dirty="0">
                <a:effectLst/>
              </a:rPr>
              <a:t>El plan de </a:t>
            </a:r>
            <a:r>
              <a:rPr lang="es-CO" b="1" dirty="0">
                <a:effectLst/>
              </a:rPr>
              <a:t>pruebas de software</a:t>
            </a:r>
            <a:r>
              <a:rPr lang="es-CO" b="0" dirty="0">
                <a:effectLst/>
              </a:rPr>
              <a:t> se elabora para atender los objetivos de calidad en un desarrollo de sistemas o software, encargándose de definir aspectos como por ejemplo los módulos o funcionalidades sujeto de verificación, </a:t>
            </a:r>
            <a:r>
              <a:rPr lang="es-CO" dirty="0"/>
              <a:t>alcance, </a:t>
            </a:r>
            <a:r>
              <a:rPr lang="es-CO" b="0" dirty="0">
                <a:effectLst/>
              </a:rPr>
              <a:t>procesos, estrategias, tipos, escenarios de pruebas, entornos, recursos asignados, criterios de aceptación o rechazo, entregables, resultados, entre otros aspectos. Generalmente es un documento.</a:t>
            </a:r>
            <a:endParaRPr lang="en-US" dirty="0"/>
          </a:p>
        </p:txBody>
      </p:sp>
    </p:spTree>
    <p:extLst>
      <p:ext uri="{BB962C8B-B14F-4D97-AF65-F5344CB8AC3E}">
        <p14:creationId xmlns:p14="http://schemas.microsoft.com/office/powerpoint/2010/main" val="27919435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628650" y="0"/>
            <a:ext cx="7886700" cy="1325563"/>
          </a:xfrm>
        </p:spPr>
        <p:txBody>
          <a:bodyPr>
            <a:normAutofit fontScale="90000"/>
          </a:bodyPr>
          <a:lstStyle/>
          <a:p>
            <a:r>
              <a:rPr lang="es-CO" dirty="0"/>
              <a:t>¿Por qué es importante el Plan de Pruebas?</a:t>
            </a:r>
          </a:p>
        </p:txBody>
      </p:sp>
      <p:sp>
        <p:nvSpPr>
          <p:cNvPr id="5" name="CuadroTexto 4">
            <a:extLst>
              <a:ext uri="{FF2B5EF4-FFF2-40B4-BE49-F238E27FC236}">
                <a16:creationId xmlns:a16="http://schemas.microsoft.com/office/drawing/2014/main" id="{2DC6DE09-5DC7-61F4-C3A6-2340967AFAE9}"/>
              </a:ext>
            </a:extLst>
          </p:cNvPr>
          <p:cNvSpPr txBox="1"/>
          <p:nvPr/>
        </p:nvSpPr>
        <p:spPr>
          <a:xfrm>
            <a:off x="971600" y="1484784"/>
            <a:ext cx="7416824" cy="2585323"/>
          </a:xfrm>
          <a:prstGeom prst="rect">
            <a:avLst/>
          </a:prstGeom>
          <a:noFill/>
        </p:spPr>
        <p:txBody>
          <a:bodyPr wrap="square">
            <a:spAutoFit/>
          </a:bodyPr>
          <a:lstStyle/>
          <a:p>
            <a:r>
              <a:rPr lang="es-CO" b="0" dirty="0">
                <a:effectLst/>
              </a:rPr>
              <a:t>Porque la falta de un buen plan de pruebas y la desconexión entre los requerimientos del negocio, las historias de usuarios y la satisfacción de los clientes, con lo que se prueba, es una de los principales problemas en el momento de entregar software que cumpla con los objetivos de negocio, lo</a:t>
            </a:r>
            <a:r>
              <a:rPr lang="es-CO" dirty="0"/>
              <a:t>s clientes y los usuarios.</a:t>
            </a:r>
          </a:p>
          <a:p>
            <a:endParaRPr lang="es-CO" dirty="0"/>
          </a:p>
          <a:p>
            <a:pPr marL="285750" indent="-285750">
              <a:buFont typeface="Arial" panose="020B0604020202020204" pitchFamily="34" charset="0"/>
              <a:buChar char="•"/>
            </a:pPr>
            <a:r>
              <a:rPr lang="es-CO" dirty="0"/>
              <a:t>Permite mejorar la satisfacción del cliente y usuarios</a:t>
            </a:r>
          </a:p>
          <a:p>
            <a:pPr marL="285750" indent="-285750">
              <a:buFont typeface="Arial" panose="020B0604020202020204" pitchFamily="34" charset="0"/>
              <a:buChar char="•"/>
            </a:pPr>
            <a:r>
              <a:rPr lang="es-CO" dirty="0"/>
              <a:t>Disminuye la posibilidad de aumentar los costos del desarrollo de software</a:t>
            </a:r>
          </a:p>
          <a:p>
            <a:pPr marL="285750" indent="-285750">
              <a:buFont typeface="Arial" panose="020B0604020202020204" pitchFamily="34" charset="0"/>
              <a:buChar char="•"/>
            </a:pPr>
            <a:r>
              <a:rPr lang="es-CO" dirty="0"/>
              <a:t>Mejora la calidad del software</a:t>
            </a:r>
            <a:endParaRPr lang="en-US" dirty="0"/>
          </a:p>
        </p:txBody>
      </p:sp>
    </p:spTree>
    <p:extLst>
      <p:ext uri="{BB962C8B-B14F-4D97-AF65-F5344CB8AC3E}">
        <p14:creationId xmlns:p14="http://schemas.microsoft.com/office/powerpoint/2010/main" val="2798816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628650" y="124114"/>
            <a:ext cx="7886700" cy="1325563"/>
          </a:xfrm>
        </p:spPr>
        <p:txBody>
          <a:bodyPr>
            <a:normAutofit fontScale="90000"/>
          </a:bodyPr>
          <a:lstStyle/>
          <a:p>
            <a:r>
              <a:rPr lang="es-CO" dirty="0"/>
              <a:t>¿Por qué es importante el Plan de Pruebas?</a:t>
            </a:r>
          </a:p>
        </p:txBody>
      </p:sp>
      <p:sp>
        <p:nvSpPr>
          <p:cNvPr id="5" name="CuadroTexto 4">
            <a:extLst>
              <a:ext uri="{FF2B5EF4-FFF2-40B4-BE49-F238E27FC236}">
                <a16:creationId xmlns:a16="http://schemas.microsoft.com/office/drawing/2014/main" id="{2DC6DE09-5DC7-61F4-C3A6-2340967AFAE9}"/>
              </a:ext>
            </a:extLst>
          </p:cNvPr>
          <p:cNvSpPr txBox="1"/>
          <p:nvPr/>
        </p:nvSpPr>
        <p:spPr>
          <a:xfrm>
            <a:off x="971600" y="1700808"/>
            <a:ext cx="7416824" cy="2585323"/>
          </a:xfrm>
          <a:prstGeom prst="rect">
            <a:avLst/>
          </a:prstGeom>
          <a:noFill/>
        </p:spPr>
        <p:txBody>
          <a:bodyPr wrap="square">
            <a:spAutoFit/>
          </a:bodyPr>
          <a:lstStyle/>
          <a:p>
            <a:r>
              <a:rPr lang="es-CO" b="0" dirty="0">
                <a:effectLst/>
              </a:rPr>
              <a:t>Porque la falta de un buen plan de pruebas y la desconexión entre los requerimientos del negocio, las historias de usuarios y la satisfacción de los clientes, con lo que se prueba, es una de los principales problemas en el momento de entregar software que cumpla con los objetivos de negocio, lo</a:t>
            </a:r>
            <a:r>
              <a:rPr lang="es-CO" dirty="0"/>
              <a:t>s clientes y los usuarios.</a:t>
            </a:r>
          </a:p>
          <a:p>
            <a:endParaRPr lang="es-CO" dirty="0"/>
          </a:p>
          <a:p>
            <a:pPr marL="285750" indent="-285750">
              <a:buFont typeface="Arial" panose="020B0604020202020204" pitchFamily="34" charset="0"/>
              <a:buChar char="•"/>
            </a:pPr>
            <a:r>
              <a:rPr lang="es-CO" dirty="0"/>
              <a:t>Permite mejorar la satisfacción del cliente y usuarios</a:t>
            </a:r>
          </a:p>
          <a:p>
            <a:pPr marL="285750" indent="-285750">
              <a:buFont typeface="Arial" panose="020B0604020202020204" pitchFamily="34" charset="0"/>
              <a:buChar char="•"/>
            </a:pPr>
            <a:r>
              <a:rPr lang="es-CO" dirty="0"/>
              <a:t>Disminuye la posibilidad de aumentar los costos del desarrollo de software</a:t>
            </a:r>
          </a:p>
          <a:p>
            <a:pPr marL="285750" indent="-285750">
              <a:buFont typeface="Arial" panose="020B0604020202020204" pitchFamily="34" charset="0"/>
              <a:buChar char="•"/>
            </a:pPr>
            <a:r>
              <a:rPr lang="es-CO" dirty="0"/>
              <a:t>Mejora la calidad del software</a:t>
            </a:r>
            <a:endParaRPr lang="en-US" dirty="0"/>
          </a:p>
        </p:txBody>
      </p:sp>
    </p:spTree>
    <p:extLst>
      <p:ext uri="{BB962C8B-B14F-4D97-AF65-F5344CB8AC3E}">
        <p14:creationId xmlns:p14="http://schemas.microsoft.com/office/powerpoint/2010/main" val="34851778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628650" y="128389"/>
            <a:ext cx="7886700" cy="1325563"/>
          </a:xfrm>
        </p:spPr>
        <p:txBody>
          <a:bodyPr>
            <a:normAutofit fontScale="90000"/>
          </a:bodyPr>
          <a:lstStyle/>
          <a:p>
            <a:r>
              <a:rPr lang="es-CO" dirty="0"/>
              <a:t>¿Cuál es el objetivo del Plan de Pruebas?</a:t>
            </a:r>
          </a:p>
        </p:txBody>
      </p:sp>
      <p:sp>
        <p:nvSpPr>
          <p:cNvPr id="5" name="CuadroTexto 4">
            <a:extLst>
              <a:ext uri="{FF2B5EF4-FFF2-40B4-BE49-F238E27FC236}">
                <a16:creationId xmlns:a16="http://schemas.microsoft.com/office/drawing/2014/main" id="{2DC6DE09-5DC7-61F4-C3A6-2340967AFAE9}"/>
              </a:ext>
            </a:extLst>
          </p:cNvPr>
          <p:cNvSpPr txBox="1"/>
          <p:nvPr/>
        </p:nvSpPr>
        <p:spPr>
          <a:xfrm>
            <a:off x="1043608" y="1844824"/>
            <a:ext cx="7416824" cy="1477328"/>
          </a:xfrm>
          <a:prstGeom prst="rect">
            <a:avLst/>
          </a:prstGeom>
          <a:noFill/>
        </p:spPr>
        <p:txBody>
          <a:bodyPr wrap="square">
            <a:spAutoFit/>
          </a:bodyPr>
          <a:lstStyle/>
          <a:p>
            <a:r>
              <a:rPr lang="es-CO" b="0" dirty="0">
                <a:effectLst/>
              </a:rPr>
              <a:t>El plan de pruebas tiene como objetivo orientar el esfuerzo de pruebas, identificando y detallando las pruebas más importantes, para que el equipo de QA pueda enfocarse en su ejecución y pueda responder de forma adecuada los requerimientos, las necesidades de los clientes y usuarios, y a los cambios que tiene el proyecto.</a:t>
            </a:r>
            <a:endParaRPr lang="en-US" dirty="0"/>
          </a:p>
        </p:txBody>
      </p:sp>
    </p:spTree>
    <p:extLst>
      <p:ext uri="{BB962C8B-B14F-4D97-AF65-F5344CB8AC3E}">
        <p14:creationId xmlns:p14="http://schemas.microsoft.com/office/powerpoint/2010/main" val="2713472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628650" y="0"/>
            <a:ext cx="7886700" cy="1325563"/>
          </a:xfrm>
        </p:spPr>
        <p:txBody>
          <a:bodyPr>
            <a:normAutofit/>
          </a:bodyPr>
          <a:lstStyle/>
          <a:p>
            <a:r>
              <a:rPr lang="es-CO" dirty="0"/>
              <a:t>Estructura del Plan de Pruebas</a:t>
            </a:r>
          </a:p>
        </p:txBody>
      </p:sp>
      <p:sp>
        <p:nvSpPr>
          <p:cNvPr id="5" name="CuadroTexto 4">
            <a:extLst>
              <a:ext uri="{FF2B5EF4-FFF2-40B4-BE49-F238E27FC236}">
                <a16:creationId xmlns:a16="http://schemas.microsoft.com/office/drawing/2014/main" id="{2DC6DE09-5DC7-61F4-C3A6-2340967AFAE9}"/>
              </a:ext>
            </a:extLst>
          </p:cNvPr>
          <p:cNvSpPr txBox="1"/>
          <p:nvPr/>
        </p:nvSpPr>
        <p:spPr>
          <a:xfrm>
            <a:off x="971600" y="1328680"/>
            <a:ext cx="7416824" cy="2308324"/>
          </a:xfrm>
          <a:prstGeom prst="rect">
            <a:avLst/>
          </a:prstGeom>
          <a:noFill/>
        </p:spPr>
        <p:txBody>
          <a:bodyPr wrap="square">
            <a:spAutoFit/>
          </a:bodyPr>
          <a:lstStyle/>
          <a:p>
            <a:r>
              <a:rPr lang="es-CO" dirty="0"/>
              <a:t>La estructura del</a:t>
            </a:r>
            <a:r>
              <a:rPr lang="es-CO" b="0" dirty="0">
                <a:effectLst/>
              </a:rPr>
              <a:t> plan de pruebas depende de lo que se desee probar en el software, la empresa que que desarrolla el software, la empresa de calidad de software, los factores más importantes entre otros, así como las guías sugeridas por las organizaciones, estándares, modelos o metodologías, como por ejemplo el ISTQB </a:t>
            </a:r>
            <a:r>
              <a:rPr lang="es-CO" dirty="0"/>
              <a:t>International Software </a:t>
            </a:r>
            <a:r>
              <a:rPr lang="es-CO" dirty="0" err="1"/>
              <a:t>Testing</a:t>
            </a:r>
            <a:r>
              <a:rPr lang="es-CO" dirty="0"/>
              <a:t> </a:t>
            </a:r>
            <a:r>
              <a:rPr lang="es-CO" dirty="0" err="1"/>
              <a:t>Qualifications</a:t>
            </a:r>
            <a:r>
              <a:rPr lang="es-CO" dirty="0"/>
              <a:t> </a:t>
            </a:r>
            <a:r>
              <a:rPr lang="es-CO" dirty="0" err="1"/>
              <a:t>Board</a:t>
            </a:r>
            <a:r>
              <a:rPr lang="es-CO" dirty="0"/>
              <a:t>.</a:t>
            </a:r>
          </a:p>
          <a:p>
            <a:endParaRPr lang="es-CO" dirty="0"/>
          </a:p>
          <a:p>
            <a:endParaRPr lang="es-CO"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419921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628650" y="-387424"/>
            <a:ext cx="7886700" cy="1325563"/>
          </a:xfrm>
        </p:spPr>
        <p:txBody>
          <a:bodyPr>
            <a:normAutofit/>
          </a:bodyPr>
          <a:lstStyle/>
          <a:p>
            <a:r>
              <a:rPr lang="es-CO" dirty="0"/>
              <a:t>Estructura del Plan de Pruebas</a:t>
            </a:r>
          </a:p>
        </p:txBody>
      </p:sp>
      <p:sp>
        <p:nvSpPr>
          <p:cNvPr id="5" name="CuadroTexto 4">
            <a:extLst>
              <a:ext uri="{FF2B5EF4-FFF2-40B4-BE49-F238E27FC236}">
                <a16:creationId xmlns:a16="http://schemas.microsoft.com/office/drawing/2014/main" id="{2DC6DE09-5DC7-61F4-C3A6-2340967AFAE9}"/>
              </a:ext>
            </a:extLst>
          </p:cNvPr>
          <p:cNvSpPr txBox="1"/>
          <p:nvPr/>
        </p:nvSpPr>
        <p:spPr>
          <a:xfrm>
            <a:off x="467544" y="764704"/>
            <a:ext cx="8820472" cy="6463308"/>
          </a:xfrm>
          <a:prstGeom prst="rect">
            <a:avLst/>
          </a:prstGeom>
          <a:noFill/>
        </p:spPr>
        <p:txBody>
          <a:bodyPr wrap="square">
            <a:spAutoFit/>
          </a:bodyPr>
          <a:lstStyle/>
          <a:p>
            <a:r>
              <a:rPr lang="es-CO" sz="1400" dirty="0">
                <a:latin typeface="Arial" panose="020B0604020202020204" pitchFamily="34" charset="0"/>
                <a:cs typeface="Arial" panose="020B0604020202020204" pitchFamily="34" charset="0"/>
              </a:rPr>
              <a:t>En este curso se plantea el siguiente plan de pruebas a desarrollar:</a:t>
            </a:r>
          </a:p>
          <a:p>
            <a:endParaRPr lang="es-CO" sz="1400" b="1" dirty="0">
              <a:latin typeface="Arial" panose="020B0604020202020204" pitchFamily="34" charset="0"/>
              <a:cs typeface="Arial" panose="020B0604020202020204" pitchFamily="34" charset="0"/>
            </a:endParaRPr>
          </a:p>
          <a:p>
            <a:r>
              <a:rPr lang="es-ES" sz="1400" b="1" dirty="0">
                <a:latin typeface="Arial" panose="020B0604020202020204" pitchFamily="34" charset="0"/>
                <a:cs typeface="Arial" panose="020B0604020202020204" pitchFamily="34" charset="0"/>
              </a:rPr>
              <a:t>PLAN DE PRUEBAS</a:t>
            </a:r>
          </a:p>
          <a:p>
            <a:endParaRPr lang="es-ES" sz="1400" dirty="0">
              <a:latin typeface="Arial" panose="020B0604020202020204" pitchFamily="34" charset="0"/>
              <a:cs typeface="Arial" panose="020B0604020202020204" pitchFamily="34" charset="0"/>
            </a:endParaRPr>
          </a:p>
          <a:p>
            <a:r>
              <a:rPr lang="es-ES" sz="1400" dirty="0">
                <a:latin typeface="Arial" panose="020B0604020202020204" pitchFamily="34" charset="0"/>
                <a:cs typeface="Arial" panose="020B0604020202020204" pitchFamily="34" charset="0"/>
              </a:rPr>
              <a:t>1. Introducción</a:t>
            </a:r>
            <a:br>
              <a:rPr lang="es-ES" sz="1400" dirty="0">
                <a:latin typeface="Arial" panose="020B0604020202020204" pitchFamily="34" charset="0"/>
                <a:cs typeface="Arial" panose="020B0604020202020204" pitchFamily="34" charset="0"/>
              </a:rPr>
            </a:br>
            <a:r>
              <a:rPr lang="es-ES" sz="1400" dirty="0">
                <a:latin typeface="Arial" panose="020B0604020202020204" pitchFamily="34" charset="0"/>
                <a:cs typeface="Arial" panose="020B0604020202020204" pitchFamily="34" charset="0"/>
              </a:rPr>
              <a:t>1.1 Propósito del documento</a:t>
            </a:r>
            <a:br>
              <a:rPr lang="es-ES" sz="1400" dirty="0">
                <a:latin typeface="Arial" panose="020B0604020202020204" pitchFamily="34" charset="0"/>
                <a:cs typeface="Arial" panose="020B0604020202020204" pitchFamily="34" charset="0"/>
              </a:rPr>
            </a:br>
            <a:r>
              <a:rPr lang="es-ES" sz="1400" dirty="0">
                <a:latin typeface="Arial" panose="020B0604020202020204" pitchFamily="34" charset="0"/>
                <a:cs typeface="Arial" panose="020B0604020202020204" pitchFamily="34" charset="0"/>
              </a:rPr>
              <a:t>1.2 Alcance del documento</a:t>
            </a:r>
            <a:br>
              <a:rPr lang="es-ES" sz="1400" dirty="0">
                <a:latin typeface="Arial" panose="020B0604020202020204" pitchFamily="34" charset="0"/>
                <a:cs typeface="Arial" panose="020B0604020202020204" pitchFamily="34" charset="0"/>
              </a:rPr>
            </a:br>
            <a:r>
              <a:rPr lang="es-ES" sz="1400" dirty="0">
                <a:latin typeface="Arial" panose="020B0604020202020204" pitchFamily="34" charset="0"/>
                <a:cs typeface="Arial" panose="020B0604020202020204" pitchFamily="34" charset="0"/>
              </a:rPr>
              <a:t>1.3 Referencias</a:t>
            </a:r>
          </a:p>
          <a:p>
            <a:endParaRPr lang="es-ES" sz="1400" dirty="0">
              <a:latin typeface="Arial" panose="020B0604020202020204" pitchFamily="34" charset="0"/>
              <a:cs typeface="Arial" panose="020B0604020202020204" pitchFamily="34" charset="0"/>
            </a:endParaRPr>
          </a:p>
          <a:p>
            <a:r>
              <a:rPr lang="es-ES" sz="1400" dirty="0">
                <a:latin typeface="Arial" panose="020B0604020202020204" pitchFamily="34" charset="0"/>
                <a:cs typeface="Arial" panose="020B0604020202020204" pitchFamily="34" charset="0"/>
              </a:rPr>
              <a:t>2. Descripción del Producto</a:t>
            </a:r>
            <a:br>
              <a:rPr lang="es-ES" sz="1400" dirty="0">
                <a:latin typeface="Arial" panose="020B0604020202020204" pitchFamily="34" charset="0"/>
                <a:cs typeface="Arial" panose="020B0604020202020204" pitchFamily="34" charset="0"/>
              </a:rPr>
            </a:br>
            <a:r>
              <a:rPr lang="es-ES" sz="1400" dirty="0">
                <a:latin typeface="Arial" panose="020B0604020202020204" pitchFamily="34" charset="0"/>
                <a:cs typeface="Arial" panose="020B0604020202020204" pitchFamily="34" charset="0"/>
              </a:rPr>
              <a:t>2.1 Descripción general del software</a:t>
            </a:r>
            <a:br>
              <a:rPr lang="es-ES" sz="1400" dirty="0">
                <a:latin typeface="Arial" panose="020B0604020202020204" pitchFamily="34" charset="0"/>
                <a:cs typeface="Arial" panose="020B0604020202020204" pitchFamily="34" charset="0"/>
              </a:rPr>
            </a:br>
            <a:r>
              <a:rPr lang="es-ES" sz="1400" dirty="0">
                <a:latin typeface="Arial" panose="020B0604020202020204" pitchFamily="34" charset="0"/>
                <a:cs typeface="Arial" panose="020B0604020202020204" pitchFamily="34" charset="0"/>
              </a:rPr>
              <a:t>2.2 Contexto organizacional</a:t>
            </a:r>
            <a:br>
              <a:rPr lang="es-ES" sz="1400" dirty="0">
                <a:latin typeface="Arial" panose="020B0604020202020204" pitchFamily="34" charset="0"/>
                <a:cs typeface="Arial" panose="020B0604020202020204" pitchFamily="34" charset="0"/>
              </a:rPr>
            </a:br>
            <a:r>
              <a:rPr lang="es-ES" sz="1400" dirty="0">
                <a:latin typeface="Arial" panose="020B0604020202020204" pitchFamily="34" charset="0"/>
                <a:cs typeface="Arial" panose="020B0604020202020204" pitchFamily="34" charset="0"/>
              </a:rPr>
              <a:t>2.3 Arquitectura general</a:t>
            </a:r>
            <a:br>
              <a:rPr lang="es-ES" sz="1400" dirty="0">
                <a:latin typeface="Arial" panose="020B0604020202020204" pitchFamily="34" charset="0"/>
                <a:cs typeface="Arial" panose="020B0604020202020204" pitchFamily="34" charset="0"/>
              </a:rPr>
            </a:br>
            <a:r>
              <a:rPr lang="es-ES" sz="1400" dirty="0">
                <a:latin typeface="Arial" panose="020B0604020202020204" pitchFamily="34" charset="0"/>
                <a:cs typeface="Arial" panose="020B0604020202020204" pitchFamily="34" charset="0"/>
              </a:rPr>
              <a:t>2.4 Procesos, módulos y funcionalidades</a:t>
            </a:r>
          </a:p>
          <a:p>
            <a:endParaRPr lang="es-ES" sz="1400" dirty="0">
              <a:latin typeface="Arial" panose="020B0604020202020204" pitchFamily="34" charset="0"/>
              <a:cs typeface="Arial" panose="020B0604020202020204" pitchFamily="34" charset="0"/>
            </a:endParaRPr>
          </a:p>
          <a:p>
            <a:r>
              <a:rPr lang="es-ES" sz="1400" dirty="0">
                <a:latin typeface="Arial" panose="020B0604020202020204" pitchFamily="34" charset="0"/>
                <a:cs typeface="Arial" panose="020B0604020202020204" pitchFamily="34" charset="0"/>
              </a:rPr>
              <a:t>3. Base de Pruebas (Test Basis)</a:t>
            </a:r>
          </a:p>
          <a:p>
            <a:endParaRPr lang="es-ES" sz="1400" dirty="0">
              <a:latin typeface="Arial" panose="020B0604020202020204" pitchFamily="34" charset="0"/>
              <a:cs typeface="Arial" panose="020B0604020202020204" pitchFamily="34" charset="0"/>
            </a:endParaRPr>
          </a:p>
          <a:p>
            <a:r>
              <a:rPr lang="es-ES" sz="1400" dirty="0">
                <a:latin typeface="Arial" panose="020B0604020202020204" pitchFamily="34" charset="0"/>
                <a:cs typeface="Arial" panose="020B0604020202020204" pitchFamily="34" charset="0"/>
              </a:rPr>
              <a:t>4. Objetivos de las Pruebas</a:t>
            </a:r>
          </a:p>
          <a:p>
            <a:endParaRPr lang="es-ES" sz="1400" dirty="0">
              <a:latin typeface="Arial" panose="020B0604020202020204" pitchFamily="34" charset="0"/>
              <a:cs typeface="Arial" panose="020B0604020202020204" pitchFamily="34" charset="0"/>
            </a:endParaRPr>
          </a:p>
          <a:p>
            <a:r>
              <a:rPr lang="es-ES" sz="1400" dirty="0">
                <a:latin typeface="Arial" panose="020B0604020202020204" pitchFamily="34" charset="0"/>
                <a:cs typeface="Arial" panose="020B0604020202020204" pitchFamily="34" charset="0"/>
              </a:rPr>
              <a:t>5. Alcance</a:t>
            </a:r>
            <a:br>
              <a:rPr lang="es-ES" sz="1400" dirty="0">
                <a:latin typeface="Arial" panose="020B0604020202020204" pitchFamily="34" charset="0"/>
                <a:cs typeface="Arial" panose="020B0604020202020204" pitchFamily="34" charset="0"/>
              </a:rPr>
            </a:br>
            <a:r>
              <a:rPr lang="es-ES" sz="1400" dirty="0">
                <a:latin typeface="Arial" panose="020B0604020202020204" pitchFamily="34" charset="0"/>
                <a:cs typeface="Arial" panose="020B0604020202020204" pitchFamily="34" charset="0"/>
              </a:rPr>
              <a:t>5.1 Funcionalidades incluidas</a:t>
            </a:r>
            <a:br>
              <a:rPr lang="es-ES" sz="1400" dirty="0">
                <a:latin typeface="Arial" panose="020B0604020202020204" pitchFamily="34" charset="0"/>
                <a:cs typeface="Arial" panose="020B0604020202020204" pitchFamily="34" charset="0"/>
              </a:rPr>
            </a:br>
            <a:r>
              <a:rPr lang="es-ES" sz="1400" dirty="0">
                <a:latin typeface="Arial" panose="020B0604020202020204" pitchFamily="34" charset="0"/>
                <a:cs typeface="Arial" panose="020B0604020202020204" pitchFamily="34" charset="0"/>
              </a:rPr>
              <a:t>5.2 Funcionalidades excluidas</a:t>
            </a:r>
            <a:br>
              <a:rPr lang="es-ES" sz="1400" dirty="0">
                <a:latin typeface="Arial" panose="020B0604020202020204" pitchFamily="34" charset="0"/>
                <a:cs typeface="Arial" panose="020B0604020202020204" pitchFamily="34" charset="0"/>
              </a:rPr>
            </a:br>
            <a:r>
              <a:rPr lang="es-ES" sz="1400" dirty="0">
                <a:latin typeface="Arial" panose="020B0604020202020204" pitchFamily="34" charset="0"/>
                <a:cs typeface="Arial" panose="020B0604020202020204" pitchFamily="34" charset="0"/>
              </a:rPr>
              <a:t>5.3 Supuestos</a:t>
            </a:r>
            <a:br>
              <a:rPr lang="es-ES" sz="1400" dirty="0">
                <a:latin typeface="Arial" panose="020B0604020202020204" pitchFamily="34" charset="0"/>
                <a:cs typeface="Arial" panose="020B0604020202020204" pitchFamily="34" charset="0"/>
              </a:rPr>
            </a:br>
            <a:r>
              <a:rPr lang="es-ES" sz="1400" dirty="0">
                <a:latin typeface="Arial" panose="020B0604020202020204" pitchFamily="34" charset="0"/>
                <a:cs typeface="Arial" panose="020B0604020202020204" pitchFamily="34" charset="0"/>
              </a:rPr>
              <a:t>5.4 Restricciones</a:t>
            </a:r>
          </a:p>
          <a:p>
            <a:endParaRPr lang="es-CO" sz="1400" dirty="0">
              <a:latin typeface="Arial" panose="020B0604020202020204" pitchFamily="34" charset="0"/>
              <a:cs typeface="Arial" panose="020B0604020202020204" pitchFamily="34" charset="0"/>
            </a:endParaRPr>
          </a:p>
          <a:p>
            <a:pPr lvl="1"/>
            <a:endParaRPr lang="es-CO" sz="1400" kern="100" dirty="0">
              <a:latin typeface="Arial" panose="020B0604020202020204" pitchFamily="34" charset="0"/>
              <a:ea typeface="Calibri" panose="020F0502020204030204" pitchFamily="34" charset="0"/>
              <a:cs typeface="Arial" panose="020B0604020202020204" pitchFamily="34" charset="0"/>
            </a:endParaRPr>
          </a:p>
          <a:p>
            <a:pPr lvl="1"/>
            <a:r>
              <a:rPr lang="es-CO" sz="1400" b="1" kern="100" dirty="0">
                <a:effectLst/>
                <a:latin typeface="Arial" panose="020B0604020202020204" pitchFamily="34" charset="0"/>
                <a:ea typeface="Calibri" panose="020F0502020204030204" pitchFamily="34" charset="0"/>
                <a:cs typeface="Arial" panose="020B0604020202020204" pitchFamily="34" charset="0"/>
              </a:rPr>
              <a:t>Nota: Hacer uso de las normas APA y escr</a:t>
            </a:r>
            <a:r>
              <a:rPr lang="es-CO" sz="1400" b="1" kern="100" dirty="0">
                <a:latin typeface="Arial" panose="020B0604020202020204" pitchFamily="34" charset="0"/>
                <a:ea typeface="Calibri" panose="020F0502020204030204" pitchFamily="34" charset="0"/>
                <a:cs typeface="Arial" panose="020B0604020202020204" pitchFamily="34" charset="0"/>
              </a:rPr>
              <a:t>ibir en tercera persona o de forma impersonal</a:t>
            </a:r>
            <a:r>
              <a:rPr lang="es-CO" sz="1400" kern="100" dirty="0">
                <a:latin typeface="Arial" panose="020B0604020202020204" pitchFamily="34" charset="0"/>
                <a:ea typeface="Calibri" panose="020F0502020204030204" pitchFamily="34" charset="0"/>
                <a:cs typeface="Arial" panose="020B0604020202020204" pitchFamily="34" charset="0"/>
              </a:rPr>
              <a:t>.</a:t>
            </a:r>
            <a:endParaRPr lang="es-CO" sz="1400" kern="100" dirty="0">
              <a:effectLst/>
              <a:latin typeface="Arial" panose="020B0604020202020204" pitchFamily="34" charset="0"/>
              <a:ea typeface="Calibri" panose="020F0502020204030204" pitchFamily="34" charset="0"/>
              <a:cs typeface="Arial" panose="020B0604020202020204" pitchFamily="34" charset="0"/>
            </a:endParaRPr>
          </a:p>
          <a:p>
            <a:endParaRPr lang="es-CO"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287998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451D5-BAA4-CF61-6D23-00869E1FFA3C}"/>
            </a:ext>
          </a:extLst>
        </p:cNvPr>
        <p:cNvGrpSpPr/>
        <p:nvPr/>
      </p:nvGrpSpPr>
      <p:grpSpPr>
        <a:xfrm>
          <a:off x="0" y="0"/>
          <a:ext cx="0" cy="0"/>
          <a:chOff x="0" y="0"/>
          <a:chExt cx="0" cy="0"/>
        </a:xfrm>
      </p:grpSpPr>
      <p:sp>
        <p:nvSpPr>
          <p:cNvPr id="3" name="1 Título">
            <a:extLst>
              <a:ext uri="{FF2B5EF4-FFF2-40B4-BE49-F238E27FC236}">
                <a16:creationId xmlns:a16="http://schemas.microsoft.com/office/drawing/2014/main" id="{86B1A22A-459F-A620-2C22-7955AC353970}"/>
              </a:ext>
            </a:extLst>
          </p:cNvPr>
          <p:cNvSpPr>
            <a:spLocks noGrp="1"/>
          </p:cNvSpPr>
          <p:nvPr>
            <p:ph type="title"/>
          </p:nvPr>
        </p:nvSpPr>
        <p:spPr>
          <a:xfrm>
            <a:off x="628650" y="-387424"/>
            <a:ext cx="7886700" cy="1325563"/>
          </a:xfrm>
        </p:spPr>
        <p:txBody>
          <a:bodyPr>
            <a:normAutofit/>
          </a:bodyPr>
          <a:lstStyle/>
          <a:p>
            <a:r>
              <a:rPr lang="es-CO" dirty="0"/>
              <a:t>Estructura del Plan de Pruebas</a:t>
            </a:r>
          </a:p>
        </p:txBody>
      </p:sp>
      <p:sp>
        <p:nvSpPr>
          <p:cNvPr id="4" name="CuadroTexto 3">
            <a:extLst>
              <a:ext uri="{FF2B5EF4-FFF2-40B4-BE49-F238E27FC236}">
                <a16:creationId xmlns:a16="http://schemas.microsoft.com/office/drawing/2014/main" id="{EA93C4C9-FADA-70EF-43D8-CFE7E9FAAD65}"/>
              </a:ext>
            </a:extLst>
          </p:cNvPr>
          <p:cNvSpPr txBox="1"/>
          <p:nvPr/>
        </p:nvSpPr>
        <p:spPr>
          <a:xfrm>
            <a:off x="628650" y="671691"/>
            <a:ext cx="8191822" cy="6340197"/>
          </a:xfrm>
          <a:prstGeom prst="rect">
            <a:avLst/>
          </a:prstGeom>
          <a:noFill/>
        </p:spPr>
        <p:txBody>
          <a:bodyPr wrap="square">
            <a:spAutoFit/>
          </a:bodyPr>
          <a:lstStyle/>
          <a:p>
            <a:r>
              <a:rPr lang="es-ES" b="1" dirty="0">
                <a:latin typeface="Arial" panose="020B0604020202020204" pitchFamily="34" charset="0"/>
                <a:cs typeface="Arial" panose="020B0604020202020204" pitchFamily="34" charset="0"/>
              </a:rPr>
              <a:t>PLAN DE PRUEBAS</a:t>
            </a:r>
          </a:p>
          <a:p>
            <a:endParaRPr lang="es-ES" sz="1800" dirty="0"/>
          </a:p>
          <a:p>
            <a:r>
              <a:rPr lang="es-ES" sz="1800" dirty="0"/>
              <a:t>6. Enfoque y Estrategia de Pruebas</a:t>
            </a:r>
          </a:p>
          <a:p>
            <a:r>
              <a:rPr lang="es-ES" sz="1800" dirty="0"/>
              <a:t>7. Niveles de Prueba</a:t>
            </a:r>
          </a:p>
          <a:p>
            <a:r>
              <a:rPr lang="es-ES" sz="1800" dirty="0"/>
              <a:t>8. Tipos de Prueba</a:t>
            </a:r>
          </a:p>
          <a:p>
            <a:r>
              <a:rPr lang="es-ES" sz="1800" dirty="0"/>
              <a:t>9. Técnicas de Diseño de Pruebas</a:t>
            </a:r>
          </a:p>
          <a:p>
            <a:r>
              <a:rPr lang="es-ES" sz="1800" dirty="0"/>
              <a:t>10. Entorno de Pruebas</a:t>
            </a:r>
          </a:p>
          <a:p>
            <a:r>
              <a:rPr lang="es-ES" sz="1800" dirty="0"/>
              <a:t>11. Datos de Prueba</a:t>
            </a:r>
          </a:p>
          <a:p>
            <a:r>
              <a:rPr lang="es-ES" dirty="0"/>
              <a:t>12. Criterios</a:t>
            </a:r>
            <a:br>
              <a:rPr lang="es-ES" dirty="0"/>
            </a:br>
            <a:r>
              <a:rPr lang="es-ES" dirty="0"/>
              <a:t>  12.1 Criterios de entrada</a:t>
            </a:r>
            <a:br>
              <a:rPr lang="es-ES" dirty="0"/>
            </a:br>
            <a:r>
              <a:rPr lang="es-ES" dirty="0"/>
              <a:t>  12.2 Criterios de salida</a:t>
            </a:r>
            <a:br>
              <a:rPr lang="es-ES" dirty="0"/>
            </a:br>
            <a:r>
              <a:rPr lang="es-ES" dirty="0"/>
              <a:t>  12.3 Criterios de aceptación</a:t>
            </a:r>
          </a:p>
          <a:p>
            <a:r>
              <a:rPr lang="es-ES" sz="1800" dirty="0"/>
              <a:t>13. Gestión de Defectos</a:t>
            </a:r>
          </a:p>
          <a:p>
            <a:r>
              <a:rPr lang="es-ES" sz="1800" dirty="0"/>
              <a:t>14. Identificación y Análisis de Riesgos</a:t>
            </a:r>
          </a:p>
          <a:p>
            <a:r>
              <a:rPr lang="es-ES" sz="1800" dirty="0"/>
              <a:t>15. Organización y Responsabilidades</a:t>
            </a:r>
          </a:p>
          <a:p>
            <a:r>
              <a:rPr lang="es-ES" sz="1800" dirty="0"/>
              <a:t>16. Cronograma</a:t>
            </a:r>
          </a:p>
          <a:p>
            <a:r>
              <a:rPr lang="es-ES" sz="1800" dirty="0"/>
              <a:t>17. Métricas y Seguimiento</a:t>
            </a:r>
          </a:p>
          <a:p>
            <a:r>
              <a:rPr lang="es-ES" sz="1800" dirty="0"/>
              <a:t>18. Entregables de Prueba</a:t>
            </a:r>
          </a:p>
          <a:p>
            <a:r>
              <a:rPr lang="es-ES" sz="1800" dirty="0"/>
              <a:t>19. Informe Final de Pruebas</a:t>
            </a:r>
          </a:p>
          <a:p>
            <a:r>
              <a:rPr lang="es-ES" sz="1800" dirty="0"/>
              <a:t>20. Gestión del documento</a:t>
            </a:r>
          </a:p>
          <a:p>
            <a:endParaRPr lang="es-ES" sz="1800" dirty="0"/>
          </a:p>
          <a:p>
            <a:r>
              <a:rPr lang="es-CO" sz="1400" b="1" kern="100" dirty="0">
                <a:latin typeface="Arial" panose="020B0604020202020204" pitchFamily="34" charset="0"/>
                <a:ea typeface="Calibri" panose="020F0502020204030204" pitchFamily="34" charset="0"/>
                <a:cs typeface="Arial" panose="020B0604020202020204" pitchFamily="34" charset="0"/>
              </a:rPr>
              <a:t>Nota: Hacer uso de las normas APA y escribir en tercera persona o de forma impersonal</a:t>
            </a:r>
            <a:endParaRPr lang="es-ES" sz="1400" dirty="0"/>
          </a:p>
        </p:txBody>
      </p:sp>
    </p:spTree>
    <p:extLst>
      <p:ext uri="{BB962C8B-B14F-4D97-AF65-F5344CB8AC3E}">
        <p14:creationId xmlns:p14="http://schemas.microsoft.com/office/powerpoint/2010/main" val="2313135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D53AE-AED8-2256-AFDA-11EB629A1EEC}"/>
            </a:ext>
          </a:extLst>
        </p:cNvPr>
        <p:cNvGrpSpPr/>
        <p:nvPr/>
      </p:nvGrpSpPr>
      <p:grpSpPr>
        <a:xfrm>
          <a:off x="0" y="0"/>
          <a:ext cx="0" cy="0"/>
          <a:chOff x="0" y="0"/>
          <a:chExt cx="0" cy="0"/>
        </a:xfrm>
      </p:grpSpPr>
      <p:sp>
        <p:nvSpPr>
          <p:cNvPr id="3" name="1 Título">
            <a:extLst>
              <a:ext uri="{FF2B5EF4-FFF2-40B4-BE49-F238E27FC236}">
                <a16:creationId xmlns:a16="http://schemas.microsoft.com/office/drawing/2014/main" id="{FFB07FC2-5D03-160C-2D7B-A03431B62B6C}"/>
              </a:ext>
            </a:extLst>
          </p:cNvPr>
          <p:cNvSpPr>
            <a:spLocks noGrp="1"/>
          </p:cNvSpPr>
          <p:nvPr>
            <p:ph type="title"/>
          </p:nvPr>
        </p:nvSpPr>
        <p:spPr>
          <a:xfrm>
            <a:off x="628650" y="-387424"/>
            <a:ext cx="7886700" cy="1325563"/>
          </a:xfrm>
        </p:spPr>
        <p:txBody>
          <a:bodyPr>
            <a:normAutofit/>
          </a:bodyPr>
          <a:lstStyle/>
          <a:p>
            <a:r>
              <a:rPr lang="es-CO" dirty="0"/>
              <a:t>Estructura del Plan de Pruebas</a:t>
            </a:r>
          </a:p>
        </p:txBody>
      </p:sp>
      <p:sp>
        <p:nvSpPr>
          <p:cNvPr id="4" name="CuadroTexto 3">
            <a:extLst>
              <a:ext uri="{FF2B5EF4-FFF2-40B4-BE49-F238E27FC236}">
                <a16:creationId xmlns:a16="http://schemas.microsoft.com/office/drawing/2014/main" id="{33C05D2F-4F54-5295-1CAC-8D8900F4823C}"/>
              </a:ext>
            </a:extLst>
          </p:cNvPr>
          <p:cNvSpPr txBox="1"/>
          <p:nvPr/>
        </p:nvSpPr>
        <p:spPr>
          <a:xfrm>
            <a:off x="628650" y="1268760"/>
            <a:ext cx="8191822" cy="2031325"/>
          </a:xfrm>
          <a:prstGeom prst="rect">
            <a:avLst/>
          </a:prstGeom>
          <a:noFill/>
        </p:spPr>
        <p:txBody>
          <a:bodyPr wrap="square">
            <a:spAutoFit/>
          </a:bodyPr>
          <a:lstStyle/>
          <a:p>
            <a:r>
              <a:rPr lang="es-ES" b="1" dirty="0"/>
              <a:t>PLAN DE PRUEBAS</a:t>
            </a:r>
          </a:p>
          <a:p>
            <a:r>
              <a:rPr lang="es-ES" dirty="0"/>
              <a:t>Proyecto: ____________________________</a:t>
            </a:r>
            <a:br>
              <a:rPr lang="es-ES" dirty="0"/>
            </a:br>
            <a:r>
              <a:rPr lang="es-ES" dirty="0"/>
              <a:t>Versión: ________</a:t>
            </a:r>
            <a:br>
              <a:rPr lang="es-ES" dirty="0"/>
            </a:br>
            <a:r>
              <a:rPr lang="es-ES" dirty="0"/>
              <a:t>Fecha: ________</a:t>
            </a:r>
            <a:br>
              <a:rPr lang="es-ES" dirty="0"/>
            </a:br>
            <a:r>
              <a:rPr lang="es-ES" dirty="0"/>
              <a:t>Equipo de Pruebas: ____________________________</a:t>
            </a:r>
          </a:p>
          <a:p>
            <a:endParaRPr lang="es-ES" dirty="0"/>
          </a:p>
          <a:p>
            <a:r>
              <a:rPr lang="es-ES" dirty="0"/>
              <a:t>Pagina de presentación del trabajo</a:t>
            </a:r>
          </a:p>
        </p:txBody>
      </p:sp>
    </p:spTree>
    <p:extLst>
      <p:ext uri="{BB962C8B-B14F-4D97-AF65-F5344CB8AC3E}">
        <p14:creationId xmlns:p14="http://schemas.microsoft.com/office/powerpoint/2010/main" val="37996756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C6558-5EF8-420A-D54D-3C96BA0BC235}"/>
            </a:ext>
          </a:extLst>
        </p:cNvPr>
        <p:cNvGrpSpPr/>
        <p:nvPr/>
      </p:nvGrpSpPr>
      <p:grpSpPr>
        <a:xfrm>
          <a:off x="0" y="0"/>
          <a:ext cx="0" cy="0"/>
          <a:chOff x="0" y="0"/>
          <a:chExt cx="0" cy="0"/>
        </a:xfrm>
      </p:grpSpPr>
      <p:sp>
        <p:nvSpPr>
          <p:cNvPr id="3" name="1 Título">
            <a:extLst>
              <a:ext uri="{FF2B5EF4-FFF2-40B4-BE49-F238E27FC236}">
                <a16:creationId xmlns:a16="http://schemas.microsoft.com/office/drawing/2014/main" id="{0EC53BED-C584-748D-9636-4EF25CB45433}"/>
              </a:ext>
            </a:extLst>
          </p:cNvPr>
          <p:cNvSpPr>
            <a:spLocks noGrp="1"/>
          </p:cNvSpPr>
          <p:nvPr>
            <p:ph type="title"/>
          </p:nvPr>
        </p:nvSpPr>
        <p:spPr>
          <a:xfrm>
            <a:off x="628650" y="-387424"/>
            <a:ext cx="7886700" cy="1325563"/>
          </a:xfrm>
        </p:spPr>
        <p:txBody>
          <a:bodyPr>
            <a:normAutofit/>
          </a:bodyPr>
          <a:lstStyle/>
          <a:p>
            <a:r>
              <a:rPr lang="es-CO" dirty="0"/>
              <a:t>Estructura del Plan de Pruebas</a:t>
            </a:r>
          </a:p>
        </p:txBody>
      </p:sp>
      <p:sp>
        <p:nvSpPr>
          <p:cNvPr id="4" name="CuadroTexto 3">
            <a:extLst>
              <a:ext uri="{FF2B5EF4-FFF2-40B4-BE49-F238E27FC236}">
                <a16:creationId xmlns:a16="http://schemas.microsoft.com/office/drawing/2014/main" id="{4E443113-3CB5-766B-E571-1E1859CF4719}"/>
              </a:ext>
            </a:extLst>
          </p:cNvPr>
          <p:cNvSpPr txBox="1"/>
          <p:nvPr/>
        </p:nvSpPr>
        <p:spPr>
          <a:xfrm>
            <a:off x="628650" y="938139"/>
            <a:ext cx="8191822" cy="4801314"/>
          </a:xfrm>
          <a:prstGeom prst="rect">
            <a:avLst/>
          </a:prstGeom>
          <a:noFill/>
        </p:spPr>
        <p:txBody>
          <a:bodyPr wrap="square">
            <a:spAutoFit/>
          </a:bodyPr>
          <a:lstStyle/>
          <a:p>
            <a:r>
              <a:rPr lang="es-ES" b="1" dirty="0"/>
              <a:t>1. INTRODUCCIÓN</a:t>
            </a:r>
          </a:p>
          <a:p>
            <a:r>
              <a:rPr lang="es-ES" b="1" dirty="0"/>
              <a:t>1.1 Propósito del documento</a:t>
            </a:r>
          </a:p>
          <a:p>
            <a:r>
              <a:rPr lang="es-ES" dirty="0"/>
              <a:t>El presente documento define la planificación, estrategia, alcance, organización y control de las actividades de pruebas del sistema ____________________. Este plan establece el marco de validación y verificación del software desarrollado en semestres anteriores, alineado con los lineamientos del ISTQB y los estándares internacionales ISO/IEC/IEEE 29119.</a:t>
            </a:r>
          </a:p>
          <a:p>
            <a:endParaRPr lang="es-ES" dirty="0"/>
          </a:p>
          <a:p>
            <a:r>
              <a:rPr lang="es-ES" b="1" dirty="0"/>
              <a:t>1.2 Alcance del documento</a:t>
            </a:r>
          </a:p>
          <a:p>
            <a:r>
              <a:rPr lang="es-ES" dirty="0"/>
              <a:t>Este plan cubre las actividades de pruebas funcionales y no funcionales del sistema, incluyendo diseño, ejecución, seguimiento y cierre de pruebas.</a:t>
            </a:r>
          </a:p>
          <a:p>
            <a:endParaRPr lang="es-ES" dirty="0"/>
          </a:p>
          <a:p>
            <a:r>
              <a:rPr lang="es-ES" b="1" dirty="0"/>
              <a:t>1.3 Referencias (Pueden utilizarlas como referencias)</a:t>
            </a:r>
          </a:p>
          <a:p>
            <a:r>
              <a:rPr lang="es-ES" dirty="0"/>
              <a:t>ISTQB </a:t>
            </a:r>
            <a:r>
              <a:rPr lang="es-ES" dirty="0" err="1"/>
              <a:t>Foundation</a:t>
            </a:r>
            <a:r>
              <a:rPr lang="es-ES" dirty="0"/>
              <a:t> </a:t>
            </a:r>
            <a:r>
              <a:rPr lang="es-ES" dirty="0" err="1"/>
              <a:t>Level</a:t>
            </a:r>
            <a:r>
              <a:rPr lang="es-ES" dirty="0"/>
              <a:t> Syllabus</a:t>
            </a:r>
          </a:p>
          <a:p>
            <a:r>
              <a:rPr lang="es-ES" dirty="0"/>
              <a:t>ISO/IEC/IEEE 29119 – Software </a:t>
            </a:r>
            <a:r>
              <a:rPr lang="es-ES" dirty="0" err="1"/>
              <a:t>Testing</a:t>
            </a:r>
            <a:endParaRPr lang="es-ES" dirty="0"/>
          </a:p>
          <a:p>
            <a:r>
              <a:rPr lang="es-ES" dirty="0"/>
              <a:t>ISO/IEC 25010 – Modelo de Calidad del Producto Software</a:t>
            </a:r>
          </a:p>
          <a:p>
            <a:r>
              <a:rPr lang="es-ES" dirty="0"/>
              <a:t>Documentación de requisitos del proyecto</a:t>
            </a:r>
          </a:p>
        </p:txBody>
      </p:sp>
    </p:spTree>
    <p:extLst>
      <p:ext uri="{BB962C8B-B14F-4D97-AF65-F5344CB8AC3E}">
        <p14:creationId xmlns:p14="http://schemas.microsoft.com/office/powerpoint/2010/main" val="28590925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62DE9-6381-C212-BF5A-70DE9C47BABE}"/>
            </a:ext>
          </a:extLst>
        </p:cNvPr>
        <p:cNvGrpSpPr/>
        <p:nvPr/>
      </p:nvGrpSpPr>
      <p:grpSpPr>
        <a:xfrm>
          <a:off x="0" y="0"/>
          <a:ext cx="0" cy="0"/>
          <a:chOff x="0" y="0"/>
          <a:chExt cx="0" cy="0"/>
        </a:xfrm>
      </p:grpSpPr>
      <p:sp>
        <p:nvSpPr>
          <p:cNvPr id="3" name="1 Título">
            <a:extLst>
              <a:ext uri="{FF2B5EF4-FFF2-40B4-BE49-F238E27FC236}">
                <a16:creationId xmlns:a16="http://schemas.microsoft.com/office/drawing/2014/main" id="{F87FF79D-2AB1-1DF2-8ABA-4363B7C7F97F}"/>
              </a:ext>
            </a:extLst>
          </p:cNvPr>
          <p:cNvSpPr>
            <a:spLocks noGrp="1"/>
          </p:cNvSpPr>
          <p:nvPr>
            <p:ph type="title"/>
          </p:nvPr>
        </p:nvSpPr>
        <p:spPr>
          <a:xfrm>
            <a:off x="628650" y="-387424"/>
            <a:ext cx="7886700" cy="1325563"/>
          </a:xfrm>
        </p:spPr>
        <p:txBody>
          <a:bodyPr>
            <a:normAutofit/>
          </a:bodyPr>
          <a:lstStyle/>
          <a:p>
            <a:r>
              <a:rPr lang="es-CO" dirty="0"/>
              <a:t>Estructura del Plan de Pruebas</a:t>
            </a:r>
          </a:p>
        </p:txBody>
      </p:sp>
      <p:sp>
        <p:nvSpPr>
          <p:cNvPr id="4" name="CuadroTexto 3">
            <a:extLst>
              <a:ext uri="{FF2B5EF4-FFF2-40B4-BE49-F238E27FC236}">
                <a16:creationId xmlns:a16="http://schemas.microsoft.com/office/drawing/2014/main" id="{86E5D4BE-2B3F-EDF5-B3CE-7F551CA93439}"/>
              </a:ext>
            </a:extLst>
          </p:cNvPr>
          <p:cNvSpPr txBox="1"/>
          <p:nvPr/>
        </p:nvSpPr>
        <p:spPr>
          <a:xfrm>
            <a:off x="628650" y="938139"/>
            <a:ext cx="8191822" cy="4801314"/>
          </a:xfrm>
          <a:prstGeom prst="rect">
            <a:avLst/>
          </a:prstGeom>
          <a:noFill/>
        </p:spPr>
        <p:txBody>
          <a:bodyPr wrap="square">
            <a:spAutoFit/>
          </a:bodyPr>
          <a:lstStyle/>
          <a:p>
            <a:r>
              <a:rPr lang="es-ES" b="1" dirty="0"/>
              <a:t>2. DESCRIPCIÓN DEL PRODUCTO</a:t>
            </a:r>
          </a:p>
          <a:p>
            <a:endParaRPr lang="es-ES" b="1" dirty="0"/>
          </a:p>
          <a:p>
            <a:r>
              <a:rPr lang="es-ES" b="1" dirty="0"/>
              <a:t>2.1 Descripción general del software</a:t>
            </a:r>
          </a:p>
          <a:p>
            <a:r>
              <a:rPr lang="es-ES" dirty="0"/>
              <a:t>Descripción breve del sistema, propósito, usuarios objetivo y problemática que resuelve.</a:t>
            </a:r>
          </a:p>
          <a:p>
            <a:endParaRPr lang="es-ES" dirty="0"/>
          </a:p>
          <a:p>
            <a:r>
              <a:rPr lang="es-ES" b="1" dirty="0"/>
              <a:t>2.2 Contexto organizacional</a:t>
            </a:r>
          </a:p>
          <a:p>
            <a:r>
              <a:rPr lang="es-ES" dirty="0"/>
              <a:t>Entorno en el que opera el sistema, tipo de usuarios, dependencias externas, restricciones técnicas.</a:t>
            </a:r>
          </a:p>
          <a:p>
            <a:endParaRPr lang="es-ES" dirty="0"/>
          </a:p>
          <a:p>
            <a:r>
              <a:rPr lang="es-ES" b="1" dirty="0"/>
              <a:t>2.3 Arquitectura general</a:t>
            </a:r>
          </a:p>
          <a:p>
            <a:r>
              <a:rPr lang="es-ES" dirty="0"/>
              <a:t>Descripción de la arquitectura (monolítica, servicio, APIS microservicios, cliente-servidor, etc.), tecnologías utilizadas.</a:t>
            </a:r>
          </a:p>
          <a:p>
            <a:endParaRPr lang="es-ES" dirty="0"/>
          </a:p>
          <a:p>
            <a:r>
              <a:rPr lang="es-ES" b="1" dirty="0"/>
              <a:t>2.4 Procesos, módulos y funcionalidades</a:t>
            </a:r>
          </a:p>
          <a:p>
            <a:r>
              <a:rPr lang="es-ES" dirty="0"/>
              <a:t>Listado estructurado de los 25–30 procesos, subprocesos y funcionalidades principales.</a:t>
            </a:r>
          </a:p>
        </p:txBody>
      </p:sp>
    </p:spTree>
    <p:extLst>
      <p:ext uri="{BB962C8B-B14F-4D97-AF65-F5344CB8AC3E}">
        <p14:creationId xmlns:p14="http://schemas.microsoft.com/office/powerpoint/2010/main" val="63249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666C5-6C82-79FF-B412-800FAEAC3E98}"/>
            </a:ext>
          </a:extLst>
        </p:cNvPr>
        <p:cNvGrpSpPr/>
        <p:nvPr/>
      </p:nvGrpSpPr>
      <p:grpSpPr>
        <a:xfrm>
          <a:off x="0" y="0"/>
          <a:ext cx="0" cy="0"/>
          <a:chOff x="0" y="0"/>
          <a:chExt cx="0" cy="0"/>
        </a:xfrm>
      </p:grpSpPr>
      <p:sp>
        <p:nvSpPr>
          <p:cNvPr id="3" name="1 Título">
            <a:extLst>
              <a:ext uri="{FF2B5EF4-FFF2-40B4-BE49-F238E27FC236}">
                <a16:creationId xmlns:a16="http://schemas.microsoft.com/office/drawing/2014/main" id="{6047CF9D-21BD-B645-C8BF-75A08610667A}"/>
              </a:ext>
            </a:extLst>
          </p:cNvPr>
          <p:cNvSpPr>
            <a:spLocks noGrp="1"/>
          </p:cNvSpPr>
          <p:nvPr>
            <p:ph type="title"/>
          </p:nvPr>
        </p:nvSpPr>
        <p:spPr>
          <a:xfrm>
            <a:off x="628650" y="-387424"/>
            <a:ext cx="7886700" cy="1325563"/>
          </a:xfrm>
        </p:spPr>
        <p:txBody>
          <a:bodyPr>
            <a:normAutofit/>
          </a:bodyPr>
          <a:lstStyle/>
          <a:p>
            <a:r>
              <a:rPr lang="es-CO" dirty="0"/>
              <a:t>Estructura del Plan de Pruebas</a:t>
            </a:r>
          </a:p>
        </p:txBody>
      </p:sp>
      <p:sp>
        <p:nvSpPr>
          <p:cNvPr id="4" name="CuadroTexto 3">
            <a:extLst>
              <a:ext uri="{FF2B5EF4-FFF2-40B4-BE49-F238E27FC236}">
                <a16:creationId xmlns:a16="http://schemas.microsoft.com/office/drawing/2014/main" id="{D0E4DBD7-AC5F-0DDE-D8C6-6BDFAD8F5886}"/>
              </a:ext>
            </a:extLst>
          </p:cNvPr>
          <p:cNvSpPr txBox="1"/>
          <p:nvPr/>
        </p:nvSpPr>
        <p:spPr>
          <a:xfrm>
            <a:off x="628650" y="938139"/>
            <a:ext cx="8191822" cy="3693319"/>
          </a:xfrm>
          <a:prstGeom prst="rect">
            <a:avLst/>
          </a:prstGeom>
          <a:noFill/>
        </p:spPr>
        <p:txBody>
          <a:bodyPr wrap="square">
            <a:spAutoFit/>
          </a:bodyPr>
          <a:lstStyle/>
          <a:p>
            <a:r>
              <a:rPr lang="es-ES" b="1" dirty="0"/>
              <a:t>3. BASE DE PRUEBAS (TEST BASIS)</a:t>
            </a:r>
          </a:p>
          <a:p>
            <a:endParaRPr lang="es-ES" b="1" dirty="0"/>
          </a:p>
          <a:p>
            <a:r>
              <a:rPr lang="es-ES" dirty="0"/>
              <a:t>La base de pruebas incluye todos los artefactos utilizados para diseñar las pruebas:</a:t>
            </a:r>
          </a:p>
          <a:p>
            <a:endParaRPr lang="es-ES" dirty="0"/>
          </a:p>
          <a:p>
            <a:pPr marL="285750" indent="-285750">
              <a:buFont typeface="Arial" panose="020B0604020202020204" pitchFamily="34" charset="0"/>
              <a:buChar char="•"/>
            </a:pPr>
            <a:r>
              <a:rPr lang="es-ES" dirty="0"/>
              <a:t>Requisitos funcionales</a:t>
            </a:r>
          </a:p>
          <a:p>
            <a:pPr marL="285750" indent="-285750">
              <a:buFont typeface="Arial" panose="020B0604020202020204" pitchFamily="34" charset="0"/>
              <a:buChar char="•"/>
            </a:pPr>
            <a:r>
              <a:rPr lang="es-ES" dirty="0"/>
              <a:t>Historias de usuario</a:t>
            </a:r>
          </a:p>
          <a:p>
            <a:pPr marL="285750" indent="-285750">
              <a:buFont typeface="Arial" panose="020B0604020202020204" pitchFamily="34" charset="0"/>
              <a:buChar char="•"/>
            </a:pPr>
            <a:r>
              <a:rPr lang="es-ES" dirty="0"/>
              <a:t>Casos de uso</a:t>
            </a:r>
          </a:p>
          <a:p>
            <a:pPr marL="285750" indent="-285750">
              <a:buFont typeface="Arial" panose="020B0604020202020204" pitchFamily="34" charset="0"/>
              <a:buChar char="•"/>
            </a:pPr>
            <a:r>
              <a:rPr lang="es-ES" dirty="0"/>
              <a:t>Diagramas UML</a:t>
            </a:r>
          </a:p>
          <a:p>
            <a:pPr marL="285750" indent="-285750">
              <a:buFont typeface="Arial" panose="020B0604020202020204" pitchFamily="34" charset="0"/>
              <a:buChar char="•"/>
            </a:pPr>
            <a:r>
              <a:rPr lang="es-ES" dirty="0"/>
              <a:t>Reglas de negocio</a:t>
            </a:r>
          </a:p>
          <a:p>
            <a:pPr marL="285750" indent="-285750">
              <a:buFont typeface="Arial" panose="020B0604020202020204" pitchFamily="34" charset="0"/>
              <a:buChar char="•"/>
            </a:pPr>
            <a:r>
              <a:rPr lang="es-ES" dirty="0"/>
              <a:t>Criterios de aceptación</a:t>
            </a:r>
          </a:p>
          <a:p>
            <a:pPr marL="285750" indent="-285750">
              <a:buFont typeface="Arial" panose="020B0604020202020204" pitchFamily="34" charset="0"/>
              <a:buChar char="•"/>
            </a:pPr>
            <a:r>
              <a:rPr lang="es-ES" dirty="0"/>
              <a:t>Manuales técnicos</a:t>
            </a:r>
          </a:p>
          <a:p>
            <a:endParaRPr lang="es-ES" dirty="0"/>
          </a:p>
          <a:p>
            <a:r>
              <a:rPr lang="es-ES" dirty="0"/>
              <a:t>Se elaborará una matriz de trazabilidad entre requisitos y casos de prueba.</a:t>
            </a:r>
          </a:p>
        </p:txBody>
      </p:sp>
    </p:spTree>
    <p:extLst>
      <p:ext uri="{BB962C8B-B14F-4D97-AF65-F5344CB8AC3E}">
        <p14:creationId xmlns:p14="http://schemas.microsoft.com/office/powerpoint/2010/main" val="3732877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5681E-CFBA-242C-E8A5-C0F606FCC991}"/>
            </a:ext>
          </a:extLst>
        </p:cNvPr>
        <p:cNvGrpSpPr/>
        <p:nvPr/>
      </p:nvGrpSpPr>
      <p:grpSpPr>
        <a:xfrm>
          <a:off x="0" y="0"/>
          <a:ext cx="0" cy="0"/>
          <a:chOff x="0" y="0"/>
          <a:chExt cx="0" cy="0"/>
        </a:xfrm>
      </p:grpSpPr>
      <p:sp>
        <p:nvSpPr>
          <p:cNvPr id="3" name="1 Título">
            <a:extLst>
              <a:ext uri="{FF2B5EF4-FFF2-40B4-BE49-F238E27FC236}">
                <a16:creationId xmlns:a16="http://schemas.microsoft.com/office/drawing/2014/main" id="{1E78A01A-DFDE-42CF-F0AE-5B1D2D7A0B71}"/>
              </a:ext>
            </a:extLst>
          </p:cNvPr>
          <p:cNvSpPr>
            <a:spLocks noGrp="1"/>
          </p:cNvSpPr>
          <p:nvPr>
            <p:ph type="title"/>
          </p:nvPr>
        </p:nvSpPr>
        <p:spPr>
          <a:xfrm>
            <a:off x="628650" y="-387424"/>
            <a:ext cx="7886700" cy="1325563"/>
          </a:xfrm>
        </p:spPr>
        <p:txBody>
          <a:bodyPr>
            <a:normAutofit/>
          </a:bodyPr>
          <a:lstStyle/>
          <a:p>
            <a:r>
              <a:rPr lang="es-CO" dirty="0"/>
              <a:t>Estructura del Plan de Pruebas</a:t>
            </a:r>
          </a:p>
        </p:txBody>
      </p:sp>
      <p:sp>
        <p:nvSpPr>
          <p:cNvPr id="4" name="CuadroTexto 3">
            <a:extLst>
              <a:ext uri="{FF2B5EF4-FFF2-40B4-BE49-F238E27FC236}">
                <a16:creationId xmlns:a16="http://schemas.microsoft.com/office/drawing/2014/main" id="{9B02B0FF-BC11-CDBA-C8B2-EF30ED4D469F}"/>
              </a:ext>
            </a:extLst>
          </p:cNvPr>
          <p:cNvSpPr txBox="1"/>
          <p:nvPr/>
        </p:nvSpPr>
        <p:spPr>
          <a:xfrm>
            <a:off x="628650" y="938139"/>
            <a:ext cx="8191822" cy="2031325"/>
          </a:xfrm>
          <a:prstGeom prst="rect">
            <a:avLst/>
          </a:prstGeom>
          <a:noFill/>
        </p:spPr>
        <p:txBody>
          <a:bodyPr wrap="square">
            <a:spAutoFit/>
          </a:bodyPr>
          <a:lstStyle/>
          <a:p>
            <a:r>
              <a:rPr lang="es-ES" b="1" dirty="0"/>
              <a:t>4. OBJETIVOS DE LAS PRUEBAS</a:t>
            </a:r>
          </a:p>
          <a:p>
            <a:endParaRPr lang="es-ES" b="1" dirty="0"/>
          </a:p>
          <a:p>
            <a:pPr marL="285750" indent="-285750">
              <a:buFont typeface="Arial" panose="020B0604020202020204" pitchFamily="34" charset="0"/>
              <a:buChar char="•"/>
            </a:pPr>
            <a:r>
              <a:rPr lang="es-ES" dirty="0"/>
              <a:t>Verificar que el sistema cumple los requisitos especificados.</a:t>
            </a:r>
          </a:p>
          <a:p>
            <a:pPr marL="285750" indent="-285750">
              <a:buFont typeface="Arial" panose="020B0604020202020204" pitchFamily="34" charset="0"/>
              <a:buChar char="•"/>
            </a:pPr>
            <a:r>
              <a:rPr lang="es-ES" dirty="0"/>
              <a:t>Validar que el software satisface las necesidades del usuario final.</a:t>
            </a:r>
          </a:p>
          <a:p>
            <a:pPr marL="285750" indent="-285750">
              <a:buFont typeface="Arial" panose="020B0604020202020204" pitchFamily="34" charset="0"/>
              <a:buChar char="•"/>
            </a:pPr>
            <a:r>
              <a:rPr lang="es-ES" dirty="0"/>
              <a:t>Detectar defectos antes de la puesta en producción.</a:t>
            </a:r>
          </a:p>
          <a:p>
            <a:pPr marL="285750" indent="-285750">
              <a:buFont typeface="Arial" panose="020B0604020202020204" pitchFamily="34" charset="0"/>
              <a:buChar char="•"/>
            </a:pPr>
            <a:r>
              <a:rPr lang="es-ES" dirty="0"/>
              <a:t>Reducir riesgos técnicos y funcionales.</a:t>
            </a:r>
          </a:p>
          <a:p>
            <a:pPr marL="285750" indent="-285750">
              <a:buFont typeface="Arial" panose="020B0604020202020204" pitchFamily="34" charset="0"/>
              <a:buChar char="•"/>
            </a:pPr>
            <a:r>
              <a:rPr lang="es-ES" dirty="0"/>
              <a:t>Medir la calidad del producto mediante métricas objetivas</a:t>
            </a:r>
          </a:p>
        </p:txBody>
      </p:sp>
    </p:spTree>
    <p:extLst>
      <p:ext uri="{BB962C8B-B14F-4D97-AF65-F5344CB8AC3E}">
        <p14:creationId xmlns:p14="http://schemas.microsoft.com/office/powerpoint/2010/main" val="42175942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BD232-E9C2-6FC7-371B-D56FEF3EB58B}"/>
            </a:ext>
          </a:extLst>
        </p:cNvPr>
        <p:cNvGrpSpPr/>
        <p:nvPr/>
      </p:nvGrpSpPr>
      <p:grpSpPr>
        <a:xfrm>
          <a:off x="0" y="0"/>
          <a:ext cx="0" cy="0"/>
          <a:chOff x="0" y="0"/>
          <a:chExt cx="0" cy="0"/>
        </a:xfrm>
      </p:grpSpPr>
      <p:sp>
        <p:nvSpPr>
          <p:cNvPr id="3" name="1 Título">
            <a:extLst>
              <a:ext uri="{FF2B5EF4-FFF2-40B4-BE49-F238E27FC236}">
                <a16:creationId xmlns:a16="http://schemas.microsoft.com/office/drawing/2014/main" id="{C9B61911-9ED2-664D-BD41-2B2C713D28F2}"/>
              </a:ext>
            </a:extLst>
          </p:cNvPr>
          <p:cNvSpPr>
            <a:spLocks noGrp="1"/>
          </p:cNvSpPr>
          <p:nvPr>
            <p:ph type="title"/>
          </p:nvPr>
        </p:nvSpPr>
        <p:spPr>
          <a:xfrm>
            <a:off x="628650" y="-387424"/>
            <a:ext cx="7886700" cy="1325563"/>
          </a:xfrm>
        </p:spPr>
        <p:txBody>
          <a:bodyPr>
            <a:normAutofit/>
          </a:bodyPr>
          <a:lstStyle/>
          <a:p>
            <a:r>
              <a:rPr lang="es-CO" dirty="0"/>
              <a:t>Estructura del Plan de Pruebas</a:t>
            </a:r>
          </a:p>
        </p:txBody>
      </p:sp>
      <p:sp>
        <p:nvSpPr>
          <p:cNvPr id="4" name="CuadroTexto 3">
            <a:extLst>
              <a:ext uri="{FF2B5EF4-FFF2-40B4-BE49-F238E27FC236}">
                <a16:creationId xmlns:a16="http://schemas.microsoft.com/office/drawing/2014/main" id="{9CBE7E5E-C417-D24C-FD58-268802473A5D}"/>
              </a:ext>
            </a:extLst>
          </p:cNvPr>
          <p:cNvSpPr txBox="1"/>
          <p:nvPr/>
        </p:nvSpPr>
        <p:spPr>
          <a:xfrm>
            <a:off x="628650" y="938139"/>
            <a:ext cx="8191822" cy="3693319"/>
          </a:xfrm>
          <a:prstGeom prst="rect">
            <a:avLst/>
          </a:prstGeom>
          <a:noFill/>
        </p:spPr>
        <p:txBody>
          <a:bodyPr wrap="square">
            <a:spAutoFit/>
          </a:bodyPr>
          <a:lstStyle/>
          <a:p>
            <a:r>
              <a:rPr lang="es-ES" b="1" dirty="0"/>
              <a:t>5. ALCANCE</a:t>
            </a:r>
          </a:p>
          <a:p>
            <a:endParaRPr lang="es-ES" b="1" dirty="0"/>
          </a:p>
          <a:p>
            <a:r>
              <a:rPr lang="es-ES" b="1" dirty="0"/>
              <a:t>5.1 Funcionalidades incluidas</a:t>
            </a:r>
          </a:p>
          <a:p>
            <a:r>
              <a:rPr lang="es-ES" dirty="0"/>
              <a:t>Listado de funcionalidades que serán probadas.</a:t>
            </a:r>
          </a:p>
          <a:p>
            <a:endParaRPr lang="es-ES" dirty="0"/>
          </a:p>
          <a:p>
            <a:r>
              <a:rPr lang="es-ES" b="1" dirty="0"/>
              <a:t>5.2 Funcionalidades excluidas</a:t>
            </a:r>
          </a:p>
          <a:p>
            <a:r>
              <a:rPr lang="es-ES" dirty="0"/>
              <a:t>Listado de funcionalidades fuera del alcance.</a:t>
            </a:r>
          </a:p>
          <a:p>
            <a:endParaRPr lang="es-ES" dirty="0"/>
          </a:p>
          <a:p>
            <a:r>
              <a:rPr lang="es-ES" b="1" dirty="0"/>
              <a:t>5.3 Supuestos</a:t>
            </a:r>
          </a:p>
          <a:p>
            <a:r>
              <a:rPr lang="es-ES" dirty="0"/>
              <a:t>Condiciones asumidas para la ejecución de pruebas.</a:t>
            </a:r>
          </a:p>
          <a:p>
            <a:endParaRPr lang="es-ES" dirty="0"/>
          </a:p>
          <a:p>
            <a:r>
              <a:rPr lang="es-ES" b="1" dirty="0"/>
              <a:t>5.4 Restricciones</a:t>
            </a:r>
          </a:p>
          <a:p>
            <a:r>
              <a:rPr lang="es-ES" dirty="0"/>
              <a:t>Limitaciones técnicas, de tiempo o recursos.</a:t>
            </a:r>
          </a:p>
        </p:txBody>
      </p:sp>
    </p:spTree>
    <p:extLst>
      <p:ext uri="{BB962C8B-B14F-4D97-AF65-F5344CB8AC3E}">
        <p14:creationId xmlns:p14="http://schemas.microsoft.com/office/powerpoint/2010/main" val="42317986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B31F5-C357-BC91-015D-8397CFF7C6E6}"/>
            </a:ext>
          </a:extLst>
        </p:cNvPr>
        <p:cNvGrpSpPr/>
        <p:nvPr/>
      </p:nvGrpSpPr>
      <p:grpSpPr>
        <a:xfrm>
          <a:off x="0" y="0"/>
          <a:ext cx="0" cy="0"/>
          <a:chOff x="0" y="0"/>
          <a:chExt cx="0" cy="0"/>
        </a:xfrm>
      </p:grpSpPr>
      <p:sp>
        <p:nvSpPr>
          <p:cNvPr id="3" name="1 Título">
            <a:extLst>
              <a:ext uri="{FF2B5EF4-FFF2-40B4-BE49-F238E27FC236}">
                <a16:creationId xmlns:a16="http://schemas.microsoft.com/office/drawing/2014/main" id="{0FD9B6F7-2369-A680-8323-78A605E1FB44}"/>
              </a:ext>
            </a:extLst>
          </p:cNvPr>
          <p:cNvSpPr>
            <a:spLocks noGrp="1"/>
          </p:cNvSpPr>
          <p:nvPr>
            <p:ph type="title"/>
          </p:nvPr>
        </p:nvSpPr>
        <p:spPr>
          <a:xfrm>
            <a:off x="628650" y="-387424"/>
            <a:ext cx="7886700" cy="1325563"/>
          </a:xfrm>
        </p:spPr>
        <p:txBody>
          <a:bodyPr>
            <a:normAutofit/>
          </a:bodyPr>
          <a:lstStyle/>
          <a:p>
            <a:r>
              <a:rPr lang="es-CO" dirty="0"/>
              <a:t>Estructura del Plan de Pruebas</a:t>
            </a:r>
          </a:p>
        </p:txBody>
      </p:sp>
      <p:sp>
        <p:nvSpPr>
          <p:cNvPr id="4" name="CuadroTexto 3">
            <a:extLst>
              <a:ext uri="{FF2B5EF4-FFF2-40B4-BE49-F238E27FC236}">
                <a16:creationId xmlns:a16="http://schemas.microsoft.com/office/drawing/2014/main" id="{0C5DC16B-76D3-5EE5-DC7A-6052E241BBF8}"/>
              </a:ext>
            </a:extLst>
          </p:cNvPr>
          <p:cNvSpPr txBox="1"/>
          <p:nvPr/>
        </p:nvSpPr>
        <p:spPr>
          <a:xfrm>
            <a:off x="628650" y="836712"/>
            <a:ext cx="8191822" cy="4247317"/>
          </a:xfrm>
          <a:prstGeom prst="rect">
            <a:avLst/>
          </a:prstGeom>
          <a:noFill/>
        </p:spPr>
        <p:txBody>
          <a:bodyPr wrap="square">
            <a:spAutoFit/>
          </a:bodyPr>
          <a:lstStyle/>
          <a:p>
            <a:r>
              <a:rPr lang="es-ES" b="1" dirty="0"/>
              <a:t>6. ENFOQUE Y ESTRATEGIA DE PRUEBAS</a:t>
            </a:r>
          </a:p>
          <a:p>
            <a:endParaRPr lang="es-ES" b="1" dirty="0"/>
          </a:p>
          <a:p>
            <a:r>
              <a:rPr lang="es-ES" dirty="0"/>
              <a:t>La estrategia adoptada será:</a:t>
            </a:r>
          </a:p>
          <a:p>
            <a:endParaRPr lang="es-ES" dirty="0"/>
          </a:p>
          <a:p>
            <a:pPr marL="285750" indent="-285750">
              <a:buFont typeface="Arial" panose="020B0604020202020204" pitchFamily="34" charset="0"/>
              <a:buChar char="•"/>
            </a:pPr>
            <a:r>
              <a:rPr lang="es-ES" dirty="0"/>
              <a:t>Pruebas de caja negra</a:t>
            </a:r>
          </a:p>
          <a:p>
            <a:pPr marL="285750" indent="-285750">
              <a:buFont typeface="Arial" panose="020B0604020202020204" pitchFamily="34" charset="0"/>
              <a:buChar char="•"/>
            </a:pPr>
            <a:r>
              <a:rPr lang="es-ES" dirty="0"/>
              <a:t>Pruebas de caja blanca</a:t>
            </a:r>
          </a:p>
          <a:p>
            <a:pPr marL="285750" indent="-285750">
              <a:buFont typeface="Arial" panose="020B0604020202020204" pitchFamily="34" charset="0"/>
              <a:buChar char="•"/>
            </a:pPr>
            <a:r>
              <a:rPr lang="es-ES" dirty="0"/>
              <a:t>Pruebas de caja gris</a:t>
            </a:r>
          </a:p>
          <a:p>
            <a:pPr marL="285750" indent="-285750">
              <a:buFont typeface="Arial" panose="020B0604020202020204" pitchFamily="34" charset="0"/>
              <a:buChar char="•"/>
            </a:pPr>
            <a:r>
              <a:rPr lang="es-ES" dirty="0"/>
              <a:t>Pruebas basadas en requisitos.</a:t>
            </a:r>
          </a:p>
          <a:p>
            <a:pPr marL="285750" indent="-285750">
              <a:buFont typeface="Arial" panose="020B0604020202020204" pitchFamily="34" charset="0"/>
              <a:buChar char="•"/>
            </a:pPr>
            <a:r>
              <a:rPr lang="es-ES" dirty="0"/>
              <a:t>Pruebas basadas en riesgo.</a:t>
            </a:r>
          </a:p>
          <a:p>
            <a:pPr marL="285750" indent="-285750">
              <a:buFont typeface="Arial" panose="020B0604020202020204" pitchFamily="34" charset="0"/>
              <a:buChar char="•"/>
            </a:pPr>
            <a:r>
              <a:rPr lang="es-ES" dirty="0"/>
              <a:t>Aplicación de técnicas formales de diseño ISTQB.</a:t>
            </a:r>
          </a:p>
          <a:p>
            <a:pPr marL="285750" indent="-285750">
              <a:buFont typeface="Arial" panose="020B0604020202020204" pitchFamily="34" charset="0"/>
              <a:buChar char="•"/>
            </a:pPr>
            <a:r>
              <a:rPr lang="es-ES" dirty="0"/>
              <a:t>Automatización de pruebas.</a:t>
            </a:r>
          </a:p>
          <a:p>
            <a:pPr marL="285750" indent="-285750">
              <a:buFont typeface="Arial" panose="020B0604020202020204" pitchFamily="34" charset="0"/>
              <a:buChar char="•"/>
            </a:pPr>
            <a:r>
              <a:rPr lang="es-ES" dirty="0"/>
              <a:t>Pruebas manuales complementarias.</a:t>
            </a:r>
          </a:p>
          <a:p>
            <a:endParaRPr lang="es-ES" dirty="0"/>
          </a:p>
          <a:p>
            <a:r>
              <a:rPr lang="es-ES" dirty="0"/>
              <a:t>Se aplicará validación (orientada al usuario) y verificación (orientada al cumplimiento técnico).</a:t>
            </a:r>
          </a:p>
        </p:txBody>
      </p:sp>
    </p:spTree>
    <p:extLst>
      <p:ext uri="{BB962C8B-B14F-4D97-AF65-F5344CB8AC3E}">
        <p14:creationId xmlns:p14="http://schemas.microsoft.com/office/powerpoint/2010/main" val="3059603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0424B-8EA0-0B24-1516-EDBCD7378C79}"/>
            </a:ext>
          </a:extLst>
        </p:cNvPr>
        <p:cNvGrpSpPr/>
        <p:nvPr/>
      </p:nvGrpSpPr>
      <p:grpSpPr>
        <a:xfrm>
          <a:off x="0" y="0"/>
          <a:ext cx="0" cy="0"/>
          <a:chOff x="0" y="0"/>
          <a:chExt cx="0" cy="0"/>
        </a:xfrm>
      </p:grpSpPr>
      <p:sp>
        <p:nvSpPr>
          <p:cNvPr id="3" name="1 Título">
            <a:extLst>
              <a:ext uri="{FF2B5EF4-FFF2-40B4-BE49-F238E27FC236}">
                <a16:creationId xmlns:a16="http://schemas.microsoft.com/office/drawing/2014/main" id="{8A4409C2-6FC9-2E2C-0E2B-BAA2E238E90C}"/>
              </a:ext>
            </a:extLst>
          </p:cNvPr>
          <p:cNvSpPr>
            <a:spLocks noGrp="1"/>
          </p:cNvSpPr>
          <p:nvPr>
            <p:ph type="title"/>
          </p:nvPr>
        </p:nvSpPr>
        <p:spPr>
          <a:xfrm>
            <a:off x="628650" y="-387424"/>
            <a:ext cx="7886700" cy="1325563"/>
          </a:xfrm>
        </p:spPr>
        <p:txBody>
          <a:bodyPr>
            <a:normAutofit/>
          </a:bodyPr>
          <a:lstStyle/>
          <a:p>
            <a:r>
              <a:rPr lang="es-CO" dirty="0"/>
              <a:t>Estructura del Plan de Pruebas</a:t>
            </a:r>
          </a:p>
        </p:txBody>
      </p:sp>
      <p:sp>
        <p:nvSpPr>
          <p:cNvPr id="4" name="CuadroTexto 3">
            <a:extLst>
              <a:ext uri="{FF2B5EF4-FFF2-40B4-BE49-F238E27FC236}">
                <a16:creationId xmlns:a16="http://schemas.microsoft.com/office/drawing/2014/main" id="{2419CE7F-6299-B949-9EF4-9B63F2F55B96}"/>
              </a:ext>
            </a:extLst>
          </p:cNvPr>
          <p:cNvSpPr txBox="1"/>
          <p:nvPr/>
        </p:nvSpPr>
        <p:spPr>
          <a:xfrm>
            <a:off x="628650" y="938139"/>
            <a:ext cx="8191822" cy="3139321"/>
          </a:xfrm>
          <a:prstGeom prst="rect">
            <a:avLst/>
          </a:prstGeom>
          <a:noFill/>
        </p:spPr>
        <p:txBody>
          <a:bodyPr wrap="square">
            <a:spAutoFit/>
          </a:bodyPr>
          <a:lstStyle/>
          <a:p>
            <a:r>
              <a:rPr lang="es-ES" b="1" dirty="0"/>
              <a:t>7. NIVELES DE PRUEBA</a:t>
            </a:r>
          </a:p>
          <a:p>
            <a:endParaRPr lang="es-ES" b="1" dirty="0"/>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Pruebas Unitarias</a:t>
            </a:r>
          </a:p>
          <a:p>
            <a:pPr marL="285750" indent="-285750">
              <a:buFont typeface="Arial" panose="020B0604020202020204" pitchFamily="34" charset="0"/>
              <a:buChar char="•"/>
            </a:pPr>
            <a:r>
              <a:rPr lang="es-ES" dirty="0"/>
              <a:t>Pruebas de Integración</a:t>
            </a:r>
          </a:p>
          <a:p>
            <a:pPr marL="285750" indent="-285750">
              <a:buFont typeface="Arial" panose="020B0604020202020204" pitchFamily="34" charset="0"/>
              <a:buChar char="•"/>
            </a:pPr>
            <a:r>
              <a:rPr lang="es-ES" dirty="0"/>
              <a:t>Top - Down </a:t>
            </a:r>
          </a:p>
          <a:p>
            <a:pPr marL="285750" indent="-285750">
              <a:buFont typeface="Arial" panose="020B0604020202020204" pitchFamily="34" charset="0"/>
              <a:buChar char="•"/>
            </a:pPr>
            <a:r>
              <a:rPr lang="es-ES" dirty="0"/>
              <a:t>Down - Top</a:t>
            </a:r>
          </a:p>
          <a:p>
            <a:pPr marL="285750" indent="-285750">
              <a:buFont typeface="Arial" panose="020B0604020202020204" pitchFamily="34" charset="0"/>
              <a:buChar char="•"/>
            </a:pPr>
            <a:r>
              <a:rPr lang="es-ES" dirty="0"/>
              <a:t>Pruebas de Sistema</a:t>
            </a:r>
          </a:p>
          <a:p>
            <a:pPr marL="285750" indent="-285750">
              <a:buFont typeface="Arial" panose="020B0604020202020204" pitchFamily="34" charset="0"/>
              <a:buChar char="•"/>
            </a:pPr>
            <a:r>
              <a:rPr lang="es-ES" dirty="0"/>
              <a:t>Pruebas de Aceptación</a:t>
            </a:r>
          </a:p>
          <a:p>
            <a:endParaRPr lang="es-ES" dirty="0"/>
          </a:p>
          <a:p>
            <a:r>
              <a:rPr lang="es-ES" dirty="0"/>
              <a:t>Cada nivel tendrá criterios de entrada y salida definidos.</a:t>
            </a:r>
          </a:p>
        </p:txBody>
      </p:sp>
    </p:spTree>
    <p:extLst>
      <p:ext uri="{BB962C8B-B14F-4D97-AF65-F5344CB8AC3E}">
        <p14:creationId xmlns:p14="http://schemas.microsoft.com/office/powerpoint/2010/main" val="17878691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0AEF1-2E43-36B0-24D8-4AF4692EDE8E}"/>
            </a:ext>
          </a:extLst>
        </p:cNvPr>
        <p:cNvGrpSpPr/>
        <p:nvPr/>
      </p:nvGrpSpPr>
      <p:grpSpPr>
        <a:xfrm>
          <a:off x="0" y="0"/>
          <a:ext cx="0" cy="0"/>
          <a:chOff x="0" y="0"/>
          <a:chExt cx="0" cy="0"/>
        </a:xfrm>
      </p:grpSpPr>
      <p:sp>
        <p:nvSpPr>
          <p:cNvPr id="3" name="1 Título">
            <a:extLst>
              <a:ext uri="{FF2B5EF4-FFF2-40B4-BE49-F238E27FC236}">
                <a16:creationId xmlns:a16="http://schemas.microsoft.com/office/drawing/2014/main" id="{812A0871-CEE3-6F41-2154-E7099FE4603F}"/>
              </a:ext>
            </a:extLst>
          </p:cNvPr>
          <p:cNvSpPr>
            <a:spLocks noGrp="1"/>
          </p:cNvSpPr>
          <p:nvPr>
            <p:ph type="title"/>
          </p:nvPr>
        </p:nvSpPr>
        <p:spPr>
          <a:xfrm>
            <a:off x="628650" y="-387424"/>
            <a:ext cx="7886700" cy="1325563"/>
          </a:xfrm>
        </p:spPr>
        <p:txBody>
          <a:bodyPr>
            <a:normAutofit/>
          </a:bodyPr>
          <a:lstStyle/>
          <a:p>
            <a:r>
              <a:rPr lang="es-CO" dirty="0"/>
              <a:t>Estructura del Plan de Pruebas</a:t>
            </a:r>
          </a:p>
        </p:txBody>
      </p:sp>
      <p:sp>
        <p:nvSpPr>
          <p:cNvPr id="4" name="CuadroTexto 3">
            <a:extLst>
              <a:ext uri="{FF2B5EF4-FFF2-40B4-BE49-F238E27FC236}">
                <a16:creationId xmlns:a16="http://schemas.microsoft.com/office/drawing/2014/main" id="{67672E9B-5E86-06DD-49A7-1DE037FBE86D}"/>
              </a:ext>
            </a:extLst>
          </p:cNvPr>
          <p:cNvSpPr txBox="1"/>
          <p:nvPr/>
        </p:nvSpPr>
        <p:spPr>
          <a:xfrm>
            <a:off x="628650" y="938139"/>
            <a:ext cx="8191822" cy="4801314"/>
          </a:xfrm>
          <a:prstGeom prst="rect">
            <a:avLst/>
          </a:prstGeom>
          <a:noFill/>
        </p:spPr>
        <p:txBody>
          <a:bodyPr wrap="square">
            <a:spAutoFit/>
          </a:bodyPr>
          <a:lstStyle/>
          <a:p>
            <a:r>
              <a:rPr lang="es-ES" b="1" dirty="0"/>
              <a:t>8. TIPOS DE PRUEBA</a:t>
            </a:r>
          </a:p>
          <a:p>
            <a:endParaRPr lang="es-ES" b="1" dirty="0"/>
          </a:p>
          <a:p>
            <a:r>
              <a:rPr lang="es-ES" b="1" dirty="0"/>
              <a:t>8.1 Pruebas funcionales</a:t>
            </a:r>
          </a:p>
          <a:p>
            <a:r>
              <a:rPr lang="es-ES" dirty="0"/>
              <a:t>Verificación de funcionalidades conforme a requisitos.</a:t>
            </a:r>
          </a:p>
          <a:p>
            <a:endParaRPr lang="es-ES" dirty="0"/>
          </a:p>
          <a:p>
            <a:r>
              <a:rPr lang="es-ES" b="1" dirty="0"/>
              <a:t>8.2 Pruebas no funcionales</a:t>
            </a:r>
          </a:p>
          <a:p>
            <a:pPr marL="285750" indent="-285750">
              <a:buFont typeface="Arial" panose="020B0604020202020204" pitchFamily="34" charset="0"/>
              <a:buChar char="•"/>
            </a:pPr>
            <a:r>
              <a:rPr lang="es-ES" dirty="0"/>
              <a:t>Rendimiento</a:t>
            </a:r>
          </a:p>
          <a:p>
            <a:pPr marL="285750" indent="-285750">
              <a:buFont typeface="Arial" panose="020B0604020202020204" pitchFamily="34" charset="0"/>
              <a:buChar char="•"/>
            </a:pPr>
            <a:r>
              <a:rPr lang="es-ES" dirty="0"/>
              <a:t>Seguridad</a:t>
            </a:r>
          </a:p>
          <a:p>
            <a:pPr marL="285750" indent="-285750">
              <a:buFont typeface="Arial" panose="020B0604020202020204" pitchFamily="34" charset="0"/>
              <a:buChar char="•"/>
            </a:pPr>
            <a:r>
              <a:rPr lang="es-ES" dirty="0"/>
              <a:t>Usabilidad</a:t>
            </a:r>
          </a:p>
          <a:p>
            <a:pPr marL="285750" indent="-285750">
              <a:buFont typeface="Arial" panose="020B0604020202020204" pitchFamily="34" charset="0"/>
              <a:buChar char="•"/>
            </a:pPr>
            <a:r>
              <a:rPr lang="es-ES" dirty="0"/>
              <a:t>Compatibilidad</a:t>
            </a:r>
          </a:p>
          <a:p>
            <a:pPr marL="285750" indent="-285750">
              <a:buFont typeface="Arial" panose="020B0604020202020204" pitchFamily="34" charset="0"/>
              <a:buChar char="•"/>
            </a:pPr>
            <a:r>
              <a:rPr lang="es-ES" dirty="0"/>
              <a:t>Accesibilidad</a:t>
            </a:r>
          </a:p>
          <a:p>
            <a:pPr marL="285750" indent="-285750">
              <a:buFont typeface="Arial" panose="020B0604020202020204" pitchFamily="34" charset="0"/>
              <a:buChar char="•"/>
            </a:pPr>
            <a:endParaRPr lang="es-ES" dirty="0"/>
          </a:p>
          <a:p>
            <a:r>
              <a:rPr lang="es-ES" b="1" dirty="0"/>
              <a:t>8.3 Pruebas estáticas</a:t>
            </a:r>
          </a:p>
          <a:p>
            <a:r>
              <a:rPr lang="es-ES" dirty="0"/>
              <a:t>Revisión de código y documentación.</a:t>
            </a:r>
          </a:p>
          <a:p>
            <a:endParaRPr lang="es-ES" dirty="0"/>
          </a:p>
          <a:p>
            <a:r>
              <a:rPr lang="es-ES" b="1" dirty="0"/>
              <a:t>8.4 Pruebas de regresión</a:t>
            </a:r>
          </a:p>
          <a:p>
            <a:r>
              <a:rPr lang="es-ES" dirty="0"/>
              <a:t>Validación de que cambios no introducen defectos nuevos.</a:t>
            </a:r>
          </a:p>
        </p:txBody>
      </p:sp>
    </p:spTree>
    <p:extLst>
      <p:ext uri="{BB962C8B-B14F-4D97-AF65-F5344CB8AC3E}">
        <p14:creationId xmlns:p14="http://schemas.microsoft.com/office/powerpoint/2010/main" val="16173614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04635-8A8E-5B06-94F4-C8DC04307830}"/>
            </a:ext>
          </a:extLst>
        </p:cNvPr>
        <p:cNvGrpSpPr/>
        <p:nvPr/>
      </p:nvGrpSpPr>
      <p:grpSpPr>
        <a:xfrm>
          <a:off x="0" y="0"/>
          <a:ext cx="0" cy="0"/>
          <a:chOff x="0" y="0"/>
          <a:chExt cx="0" cy="0"/>
        </a:xfrm>
      </p:grpSpPr>
      <p:sp>
        <p:nvSpPr>
          <p:cNvPr id="3" name="1 Título">
            <a:extLst>
              <a:ext uri="{FF2B5EF4-FFF2-40B4-BE49-F238E27FC236}">
                <a16:creationId xmlns:a16="http://schemas.microsoft.com/office/drawing/2014/main" id="{29CE825F-F551-293A-805F-9A6E2EF1EE69}"/>
              </a:ext>
            </a:extLst>
          </p:cNvPr>
          <p:cNvSpPr>
            <a:spLocks noGrp="1"/>
          </p:cNvSpPr>
          <p:nvPr>
            <p:ph type="title"/>
          </p:nvPr>
        </p:nvSpPr>
        <p:spPr>
          <a:xfrm>
            <a:off x="628650" y="-387424"/>
            <a:ext cx="7886700" cy="1325563"/>
          </a:xfrm>
        </p:spPr>
        <p:txBody>
          <a:bodyPr>
            <a:normAutofit/>
          </a:bodyPr>
          <a:lstStyle/>
          <a:p>
            <a:r>
              <a:rPr lang="es-CO" dirty="0"/>
              <a:t>Estructura del Plan de Pruebas</a:t>
            </a:r>
          </a:p>
        </p:txBody>
      </p:sp>
      <p:sp>
        <p:nvSpPr>
          <p:cNvPr id="4" name="CuadroTexto 3">
            <a:extLst>
              <a:ext uri="{FF2B5EF4-FFF2-40B4-BE49-F238E27FC236}">
                <a16:creationId xmlns:a16="http://schemas.microsoft.com/office/drawing/2014/main" id="{D989DEBC-FA9A-A42D-8B5E-5FD24946E387}"/>
              </a:ext>
            </a:extLst>
          </p:cNvPr>
          <p:cNvSpPr txBox="1"/>
          <p:nvPr/>
        </p:nvSpPr>
        <p:spPr>
          <a:xfrm>
            <a:off x="628650" y="938139"/>
            <a:ext cx="8191822" cy="4801314"/>
          </a:xfrm>
          <a:prstGeom prst="rect">
            <a:avLst/>
          </a:prstGeom>
          <a:noFill/>
        </p:spPr>
        <p:txBody>
          <a:bodyPr wrap="square">
            <a:spAutoFit/>
          </a:bodyPr>
          <a:lstStyle/>
          <a:p>
            <a:r>
              <a:rPr lang="es-ES" b="1" dirty="0"/>
              <a:t>9. TÉCNICAS DE DISEÑO DE PRUEBAS</a:t>
            </a:r>
          </a:p>
          <a:p>
            <a:endParaRPr lang="es-ES" b="1" dirty="0"/>
          </a:p>
          <a:p>
            <a:r>
              <a:rPr lang="es-ES" dirty="0"/>
              <a:t>Se aplicarán las siguientes técnicas:</a:t>
            </a:r>
          </a:p>
          <a:p>
            <a:endParaRPr lang="es-ES" dirty="0"/>
          </a:p>
          <a:p>
            <a:pPr marL="285750" indent="-285750">
              <a:buFont typeface="Arial" panose="020B0604020202020204" pitchFamily="34" charset="0"/>
              <a:buChar char="•"/>
            </a:pPr>
            <a:r>
              <a:rPr lang="es-ES" dirty="0"/>
              <a:t>Escenarios de pruebas</a:t>
            </a:r>
          </a:p>
          <a:p>
            <a:pPr marL="285750" indent="-285750">
              <a:buFont typeface="Arial" panose="020B0604020202020204" pitchFamily="34" charset="0"/>
              <a:buChar char="•"/>
            </a:pPr>
            <a:r>
              <a:rPr lang="es-ES" dirty="0"/>
              <a:t>Casos de pruebas</a:t>
            </a:r>
          </a:p>
          <a:p>
            <a:pPr marL="285750" indent="-285750">
              <a:buFont typeface="Arial" panose="020B0604020202020204" pitchFamily="34" charset="0"/>
              <a:buChar char="•"/>
            </a:pPr>
            <a:r>
              <a:rPr lang="es-ES" dirty="0"/>
              <a:t>Partición de equivalencia</a:t>
            </a:r>
          </a:p>
          <a:p>
            <a:pPr marL="285750" indent="-285750">
              <a:buFont typeface="Arial" panose="020B0604020202020204" pitchFamily="34" charset="0"/>
              <a:buChar char="•"/>
            </a:pPr>
            <a:r>
              <a:rPr lang="es-ES" dirty="0"/>
              <a:t>Análisis de valores límite</a:t>
            </a:r>
          </a:p>
          <a:p>
            <a:pPr marL="285750" indent="-285750">
              <a:buFont typeface="Arial" panose="020B0604020202020204" pitchFamily="34" charset="0"/>
              <a:buChar char="•"/>
            </a:pPr>
            <a:r>
              <a:rPr lang="es-ES" dirty="0"/>
              <a:t>Tabla de decisión</a:t>
            </a:r>
          </a:p>
          <a:p>
            <a:pPr marL="285750" indent="-285750">
              <a:buFont typeface="Arial" panose="020B0604020202020204" pitchFamily="34" charset="0"/>
              <a:buChar char="•"/>
            </a:pPr>
            <a:r>
              <a:rPr lang="es-ES" dirty="0"/>
              <a:t>Transición de estados</a:t>
            </a:r>
          </a:p>
          <a:p>
            <a:pPr marL="285750" indent="-285750">
              <a:buFont typeface="Arial" panose="020B0604020202020204" pitchFamily="34" charset="0"/>
              <a:buChar char="•"/>
            </a:pPr>
            <a:r>
              <a:rPr lang="es-ES" dirty="0"/>
              <a:t>Casos de uso</a:t>
            </a:r>
          </a:p>
          <a:p>
            <a:pPr marL="285750" indent="-285750">
              <a:buFont typeface="Arial" panose="020B0604020202020204" pitchFamily="34" charset="0"/>
              <a:buChar char="•"/>
            </a:pPr>
            <a:r>
              <a:rPr lang="es-ES" dirty="0"/>
              <a:t>Escenarios de prueba</a:t>
            </a:r>
          </a:p>
          <a:p>
            <a:pPr marL="285750" indent="-285750">
              <a:buFont typeface="Arial" panose="020B0604020202020204" pitchFamily="34" charset="0"/>
              <a:buChar char="•"/>
            </a:pPr>
            <a:r>
              <a:rPr lang="es-ES" dirty="0"/>
              <a:t>Casos de prueba</a:t>
            </a:r>
          </a:p>
          <a:p>
            <a:pPr marL="285750" indent="-285750">
              <a:buFont typeface="Arial" panose="020B0604020202020204" pitchFamily="34" charset="0"/>
              <a:buChar char="•"/>
            </a:pPr>
            <a:r>
              <a:rPr lang="es-ES" dirty="0"/>
              <a:t>Pruebas exploratorias</a:t>
            </a:r>
          </a:p>
          <a:p>
            <a:endParaRPr lang="es-ES" dirty="0"/>
          </a:p>
          <a:p>
            <a:r>
              <a:rPr lang="es-ES" dirty="0"/>
              <a:t>Cada técnica deberá justificarse y documentarse.</a:t>
            </a:r>
          </a:p>
          <a:p>
            <a:endParaRPr lang="es-ES" dirty="0"/>
          </a:p>
        </p:txBody>
      </p:sp>
    </p:spTree>
    <p:extLst>
      <p:ext uri="{BB962C8B-B14F-4D97-AF65-F5344CB8AC3E}">
        <p14:creationId xmlns:p14="http://schemas.microsoft.com/office/powerpoint/2010/main" val="24338191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50530-9142-CA72-BAFF-A2EEFDF41985}"/>
            </a:ext>
          </a:extLst>
        </p:cNvPr>
        <p:cNvGrpSpPr/>
        <p:nvPr/>
      </p:nvGrpSpPr>
      <p:grpSpPr>
        <a:xfrm>
          <a:off x="0" y="0"/>
          <a:ext cx="0" cy="0"/>
          <a:chOff x="0" y="0"/>
          <a:chExt cx="0" cy="0"/>
        </a:xfrm>
      </p:grpSpPr>
      <p:sp>
        <p:nvSpPr>
          <p:cNvPr id="3" name="1 Título">
            <a:extLst>
              <a:ext uri="{FF2B5EF4-FFF2-40B4-BE49-F238E27FC236}">
                <a16:creationId xmlns:a16="http://schemas.microsoft.com/office/drawing/2014/main" id="{0860EAFF-028A-A81E-1BE0-E95BFB848362}"/>
              </a:ext>
            </a:extLst>
          </p:cNvPr>
          <p:cNvSpPr>
            <a:spLocks noGrp="1"/>
          </p:cNvSpPr>
          <p:nvPr>
            <p:ph type="title"/>
          </p:nvPr>
        </p:nvSpPr>
        <p:spPr>
          <a:xfrm>
            <a:off x="628650" y="-387424"/>
            <a:ext cx="7886700" cy="1325563"/>
          </a:xfrm>
        </p:spPr>
        <p:txBody>
          <a:bodyPr>
            <a:normAutofit/>
          </a:bodyPr>
          <a:lstStyle/>
          <a:p>
            <a:r>
              <a:rPr lang="es-CO" dirty="0"/>
              <a:t>Estructura del Plan de Pruebas</a:t>
            </a:r>
          </a:p>
        </p:txBody>
      </p:sp>
      <p:sp>
        <p:nvSpPr>
          <p:cNvPr id="4" name="CuadroTexto 3">
            <a:extLst>
              <a:ext uri="{FF2B5EF4-FFF2-40B4-BE49-F238E27FC236}">
                <a16:creationId xmlns:a16="http://schemas.microsoft.com/office/drawing/2014/main" id="{0BC175F1-4BA4-0180-54FA-DB4DE5049C98}"/>
              </a:ext>
            </a:extLst>
          </p:cNvPr>
          <p:cNvSpPr txBox="1"/>
          <p:nvPr/>
        </p:nvSpPr>
        <p:spPr>
          <a:xfrm>
            <a:off x="628650" y="938139"/>
            <a:ext cx="8191822" cy="2585323"/>
          </a:xfrm>
          <a:prstGeom prst="rect">
            <a:avLst/>
          </a:prstGeom>
          <a:noFill/>
        </p:spPr>
        <p:txBody>
          <a:bodyPr wrap="square">
            <a:spAutoFit/>
          </a:bodyPr>
          <a:lstStyle/>
          <a:p>
            <a:r>
              <a:rPr lang="es-ES" b="1" dirty="0"/>
              <a:t>10. ENTORNO DE PRUEBAS</a:t>
            </a:r>
          </a:p>
          <a:p>
            <a:endParaRPr lang="es-ES" b="1" dirty="0"/>
          </a:p>
          <a:p>
            <a:pPr marL="285750" indent="-285750">
              <a:buFont typeface="Arial" panose="020B0604020202020204" pitchFamily="34" charset="0"/>
              <a:buChar char="•"/>
            </a:pPr>
            <a:r>
              <a:rPr lang="es-ES" dirty="0"/>
              <a:t>Hardware utilizado</a:t>
            </a:r>
          </a:p>
          <a:p>
            <a:pPr marL="285750" indent="-285750">
              <a:buFont typeface="Arial" panose="020B0604020202020204" pitchFamily="34" charset="0"/>
              <a:buChar char="•"/>
            </a:pPr>
            <a:r>
              <a:rPr lang="es-ES" dirty="0"/>
              <a:t>Sistema operativo</a:t>
            </a:r>
          </a:p>
          <a:p>
            <a:pPr marL="285750" indent="-285750">
              <a:buFont typeface="Arial" panose="020B0604020202020204" pitchFamily="34" charset="0"/>
              <a:buChar char="•"/>
            </a:pPr>
            <a:r>
              <a:rPr lang="es-ES" dirty="0"/>
              <a:t>Navegadores</a:t>
            </a:r>
          </a:p>
          <a:p>
            <a:pPr marL="285750" indent="-285750">
              <a:buFont typeface="Arial" panose="020B0604020202020204" pitchFamily="34" charset="0"/>
              <a:buChar char="•"/>
            </a:pPr>
            <a:r>
              <a:rPr lang="es-ES" dirty="0"/>
              <a:t>Base de datos</a:t>
            </a:r>
          </a:p>
          <a:p>
            <a:pPr marL="285750" indent="-285750">
              <a:buFont typeface="Arial" panose="020B0604020202020204" pitchFamily="34" charset="0"/>
              <a:buChar char="•"/>
            </a:pPr>
            <a:r>
              <a:rPr lang="es-ES" dirty="0"/>
              <a:t>Versiones de software</a:t>
            </a:r>
          </a:p>
          <a:p>
            <a:pPr marL="285750" indent="-285750">
              <a:buFont typeface="Arial" panose="020B0604020202020204" pitchFamily="34" charset="0"/>
              <a:buChar char="•"/>
            </a:pPr>
            <a:r>
              <a:rPr lang="es-ES" dirty="0"/>
              <a:t>Herramientas de prueba</a:t>
            </a:r>
          </a:p>
          <a:p>
            <a:endParaRPr lang="es-ES" dirty="0"/>
          </a:p>
        </p:txBody>
      </p:sp>
    </p:spTree>
    <p:extLst>
      <p:ext uri="{BB962C8B-B14F-4D97-AF65-F5344CB8AC3E}">
        <p14:creationId xmlns:p14="http://schemas.microsoft.com/office/powerpoint/2010/main" val="2877481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635D3-FAD1-8481-1209-823F5A58772E}"/>
            </a:ext>
          </a:extLst>
        </p:cNvPr>
        <p:cNvGrpSpPr/>
        <p:nvPr/>
      </p:nvGrpSpPr>
      <p:grpSpPr>
        <a:xfrm>
          <a:off x="0" y="0"/>
          <a:ext cx="0" cy="0"/>
          <a:chOff x="0" y="0"/>
          <a:chExt cx="0" cy="0"/>
        </a:xfrm>
      </p:grpSpPr>
      <p:sp>
        <p:nvSpPr>
          <p:cNvPr id="3" name="1 Título">
            <a:extLst>
              <a:ext uri="{FF2B5EF4-FFF2-40B4-BE49-F238E27FC236}">
                <a16:creationId xmlns:a16="http://schemas.microsoft.com/office/drawing/2014/main" id="{51E8604E-4855-0C56-48A0-ABC8163D1F68}"/>
              </a:ext>
            </a:extLst>
          </p:cNvPr>
          <p:cNvSpPr>
            <a:spLocks noGrp="1"/>
          </p:cNvSpPr>
          <p:nvPr>
            <p:ph type="title"/>
          </p:nvPr>
        </p:nvSpPr>
        <p:spPr>
          <a:xfrm>
            <a:off x="628650" y="-387424"/>
            <a:ext cx="7886700" cy="1325563"/>
          </a:xfrm>
        </p:spPr>
        <p:txBody>
          <a:bodyPr>
            <a:normAutofit/>
          </a:bodyPr>
          <a:lstStyle/>
          <a:p>
            <a:r>
              <a:rPr lang="es-CO" dirty="0"/>
              <a:t>Estructura del Plan de Pruebas</a:t>
            </a:r>
          </a:p>
        </p:txBody>
      </p:sp>
      <p:sp>
        <p:nvSpPr>
          <p:cNvPr id="4" name="CuadroTexto 3">
            <a:extLst>
              <a:ext uri="{FF2B5EF4-FFF2-40B4-BE49-F238E27FC236}">
                <a16:creationId xmlns:a16="http://schemas.microsoft.com/office/drawing/2014/main" id="{7E0C1404-994B-F183-CF4F-1D751B454345}"/>
              </a:ext>
            </a:extLst>
          </p:cNvPr>
          <p:cNvSpPr txBox="1"/>
          <p:nvPr/>
        </p:nvSpPr>
        <p:spPr>
          <a:xfrm>
            <a:off x="628650" y="938139"/>
            <a:ext cx="8191822" cy="2862322"/>
          </a:xfrm>
          <a:prstGeom prst="rect">
            <a:avLst/>
          </a:prstGeom>
          <a:noFill/>
        </p:spPr>
        <p:txBody>
          <a:bodyPr wrap="square">
            <a:spAutoFit/>
          </a:bodyPr>
          <a:lstStyle/>
          <a:p>
            <a:r>
              <a:rPr lang="es-ES" b="1" dirty="0"/>
              <a:t>11. DATOS DE PRUEBA</a:t>
            </a:r>
          </a:p>
          <a:p>
            <a:endParaRPr lang="es-ES" b="1" dirty="0"/>
          </a:p>
          <a:p>
            <a:r>
              <a:rPr lang="es-ES" dirty="0"/>
              <a:t>Se definirán:</a:t>
            </a:r>
          </a:p>
          <a:p>
            <a:endParaRPr lang="es-ES" dirty="0"/>
          </a:p>
          <a:p>
            <a:pPr marL="285750" indent="-285750">
              <a:buFont typeface="Arial" panose="020B0604020202020204" pitchFamily="34" charset="0"/>
              <a:buChar char="•"/>
            </a:pPr>
            <a:r>
              <a:rPr lang="es-ES" dirty="0"/>
              <a:t>Datos válidos</a:t>
            </a:r>
          </a:p>
          <a:p>
            <a:pPr marL="285750" indent="-285750">
              <a:buFont typeface="Arial" panose="020B0604020202020204" pitchFamily="34" charset="0"/>
              <a:buChar char="•"/>
            </a:pPr>
            <a:r>
              <a:rPr lang="es-ES" dirty="0"/>
              <a:t>Datos inválidos</a:t>
            </a:r>
          </a:p>
          <a:p>
            <a:pPr marL="285750" indent="-285750">
              <a:buFont typeface="Arial" panose="020B0604020202020204" pitchFamily="34" charset="0"/>
              <a:buChar char="•"/>
            </a:pPr>
            <a:r>
              <a:rPr lang="es-ES" dirty="0"/>
              <a:t>Datos límite</a:t>
            </a:r>
          </a:p>
          <a:p>
            <a:pPr marL="285750" indent="-285750">
              <a:buFont typeface="Arial" panose="020B0604020202020204" pitchFamily="34" charset="0"/>
              <a:buChar char="•"/>
            </a:pPr>
            <a:r>
              <a:rPr lang="es-ES" dirty="0"/>
              <a:t>Datos masivos</a:t>
            </a:r>
          </a:p>
          <a:p>
            <a:pPr marL="285750" indent="-285750">
              <a:buFont typeface="Arial" panose="020B0604020202020204" pitchFamily="34" charset="0"/>
              <a:buChar char="•"/>
            </a:pPr>
            <a:r>
              <a:rPr lang="es-ES" dirty="0"/>
              <a:t>Escenarios críticos</a:t>
            </a:r>
          </a:p>
          <a:p>
            <a:endParaRPr lang="es-ES" dirty="0"/>
          </a:p>
        </p:txBody>
      </p:sp>
    </p:spTree>
    <p:extLst>
      <p:ext uri="{BB962C8B-B14F-4D97-AF65-F5344CB8AC3E}">
        <p14:creationId xmlns:p14="http://schemas.microsoft.com/office/powerpoint/2010/main" val="920440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1FEE2-C8B9-2F30-FEA7-80D220BAB81E}"/>
            </a:ext>
          </a:extLst>
        </p:cNvPr>
        <p:cNvGrpSpPr/>
        <p:nvPr/>
      </p:nvGrpSpPr>
      <p:grpSpPr>
        <a:xfrm>
          <a:off x="0" y="0"/>
          <a:ext cx="0" cy="0"/>
          <a:chOff x="0" y="0"/>
          <a:chExt cx="0" cy="0"/>
        </a:xfrm>
      </p:grpSpPr>
      <p:sp>
        <p:nvSpPr>
          <p:cNvPr id="3" name="1 Título">
            <a:extLst>
              <a:ext uri="{FF2B5EF4-FFF2-40B4-BE49-F238E27FC236}">
                <a16:creationId xmlns:a16="http://schemas.microsoft.com/office/drawing/2014/main" id="{13E46F57-541C-2265-A521-3BC854343097}"/>
              </a:ext>
            </a:extLst>
          </p:cNvPr>
          <p:cNvSpPr>
            <a:spLocks noGrp="1"/>
          </p:cNvSpPr>
          <p:nvPr>
            <p:ph type="title"/>
          </p:nvPr>
        </p:nvSpPr>
        <p:spPr>
          <a:xfrm>
            <a:off x="628650" y="-387424"/>
            <a:ext cx="7886700" cy="1325563"/>
          </a:xfrm>
        </p:spPr>
        <p:txBody>
          <a:bodyPr>
            <a:normAutofit/>
          </a:bodyPr>
          <a:lstStyle/>
          <a:p>
            <a:r>
              <a:rPr lang="es-CO" dirty="0"/>
              <a:t>Estructura del Plan de Pruebas</a:t>
            </a:r>
          </a:p>
        </p:txBody>
      </p:sp>
      <p:sp>
        <p:nvSpPr>
          <p:cNvPr id="4" name="CuadroTexto 3">
            <a:extLst>
              <a:ext uri="{FF2B5EF4-FFF2-40B4-BE49-F238E27FC236}">
                <a16:creationId xmlns:a16="http://schemas.microsoft.com/office/drawing/2014/main" id="{CFD6B87C-475A-8F29-8F44-6DBB7F5212F2}"/>
              </a:ext>
            </a:extLst>
          </p:cNvPr>
          <p:cNvSpPr txBox="1"/>
          <p:nvPr/>
        </p:nvSpPr>
        <p:spPr>
          <a:xfrm>
            <a:off x="628650" y="938139"/>
            <a:ext cx="8191822" cy="4247317"/>
          </a:xfrm>
          <a:prstGeom prst="rect">
            <a:avLst/>
          </a:prstGeom>
          <a:noFill/>
        </p:spPr>
        <p:txBody>
          <a:bodyPr wrap="square">
            <a:spAutoFit/>
          </a:bodyPr>
          <a:lstStyle/>
          <a:p>
            <a:r>
              <a:rPr lang="es-ES" b="1" dirty="0"/>
              <a:t>12. CRITERIOS</a:t>
            </a:r>
          </a:p>
          <a:p>
            <a:endParaRPr lang="es-ES" b="1" dirty="0"/>
          </a:p>
          <a:p>
            <a:r>
              <a:rPr lang="es-ES" b="1" dirty="0"/>
              <a:t>12.1 Criterios de entrada</a:t>
            </a:r>
          </a:p>
          <a:p>
            <a:r>
              <a:rPr lang="es-ES" dirty="0"/>
              <a:t>Requisitos aprobados</a:t>
            </a:r>
          </a:p>
          <a:p>
            <a:r>
              <a:rPr lang="es-ES" dirty="0"/>
              <a:t>Ambiente configurado</a:t>
            </a:r>
          </a:p>
          <a:p>
            <a:r>
              <a:rPr lang="es-ES" dirty="0"/>
              <a:t>Casos de prueba diseñados</a:t>
            </a:r>
          </a:p>
          <a:p>
            <a:endParaRPr lang="es-ES" dirty="0"/>
          </a:p>
          <a:p>
            <a:r>
              <a:rPr lang="es-ES" b="1" dirty="0"/>
              <a:t>12.2 Criterios de salida</a:t>
            </a:r>
          </a:p>
          <a:p>
            <a:pPr marL="285750" indent="-285750">
              <a:buFont typeface="Arial" panose="020B0604020202020204" pitchFamily="34" charset="0"/>
              <a:buChar char="•"/>
            </a:pPr>
            <a:r>
              <a:rPr lang="es-ES" dirty="0"/>
              <a:t>95% de casos ejecutados</a:t>
            </a:r>
          </a:p>
          <a:p>
            <a:pPr marL="285750" indent="-285750">
              <a:buFont typeface="Arial" panose="020B0604020202020204" pitchFamily="34" charset="0"/>
              <a:buChar char="•"/>
            </a:pPr>
            <a:r>
              <a:rPr lang="es-ES" dirty="0"/>
              <a:t>0 defectos críticos abiertos</a:t>
            </a:r>
          </a:p>
          <a:p>
            <a:pPr marL="285750" indent="-285750">
              <a:buFont typeface="Arial" panose="020B0604020202020204" pitchFamily="34" charset="0"/>
              <a:buChar char="•"/>
            </a:pPr>
            <a:r>
              <a:rPr lang="es-ES" dirty="0"/>
              <a:t>Informe final aprobado</a:t>
            </a:r>
          </a:p>
          <a:p>
            <a:endParaRPr lang="es-ES" dirty="0"/>
          </a:p>
          <a:p>
            <a:r>
              <a:rPr lang="es-ES" b="1" dirty="0"/>
              <a:t>12.3 Criterios de aceptación</a:t>
            </a:r>
          </a:p>
          <a:p>
            <a:r>
              <a:rPr lang="es-ES" dirty="0"/>
              <a:t>Conformidad con criterios funcionales y no funcionales.</a:t>
            </a:r>
          </a:p>
          <a:p>
            <a:endParaRPr lang="es-ES" dirty="0"/>
          </a:p>
        </p:txBody>
      </p:sp>
    </p:spTree>
    <p:extLst>
      <p:ext uri="{BB962C8B-B14F-4D97-AF65-F5344CB8AC3E}">
        <p14:creationId xmlns:p14="http://schemas.microsoft.com/office/powerpoint/2010/main" val="21497329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F8CBB-0979-8064-D953-9E217F35A887}"/>
            </a:ext>
          </a:extLst>
        </p:cNvPr>
        <p:cNvGrpSpPr/>
        <p:nvPr/>
      </p:nvGrpSpPr>
      <p:grpSpPr>
        <a:xfrm>
          <a:off x="0" y="0"/>
          <a:ext cx="0" cy="0"/>
          <a:chOff x="0" y="0"/>
          <a:chExt cx="0" cy="0"/>
        </a:xfrm>
      </p:grpSpPr>
      <p:sp>
        <p:nvSpPr>
          <p:cNvPr id="3" name="1 Título">
            <a:extLst>
              <a:ext uri="{FF2B5EF4-FFF2-40B4-BE49-F238E27FC236}">
                <a16:creationId xmlns:a16="http://schemas.microsoft.com/office/drawing/2014/main" id="{EC78ED54-E614-DADD-61E8-493AD026E9FC}"/>
              </a:ext>
            </a:extLst>
          </p:cNvPr>
          <p:cNvSpPr>
            <a:spLocks noGrp="1"/>
          </p:cNvSpPr>
          <p:nvPr>
            <p:ph type="title"/>
          </p:nvPr>
        </p:nvSpPr>
        <p:spPr>
          <a:xfrm>
            <a:off x="628650" y="-387424"/>
            <a:ext cx="7886700" cy="1325563"/>
          </a:xfrm>
        </p:spPr>
        <p:txBody>
          <a:bodyPr>
            <a:normAutofit/>
          </a:bodyPr>
          <a:lstStyle/>
          <a:p>
            <a:r>
              <a:rPr lang="es-CO" dirty="0"/>
              <a:t>Estructura del Plan de Pruebas</a:t>
            </a:r>
          </a:p>
        </p:txBody>
      </p:sp>
      <p:sp>
        <p:nvSpPr>
          <p:cNvPr id="4" name="CuadroTexto 3">
            <a:extLst>
              <a:ext uri="{FF2B5EF4-FFF2-40B4-BE49-F238E27FC236}">
                <a16:creationId xmlns:a16="http://schemas.microsoft.com/office/drawing/2014/main" id="{278E940D-16D1-611F-89C0-4AAF9B7D30A6}"/>
              </a:ext>
            </a:extLst>
          </p:cNvPr>
          <p:cNvSpPr txBox="1"/>
          <p:nvPr/>
        </p:nvSpPr>
        <p:spPr>
          <a:xfrm>
            <a:off x="628650" y="938139"/>
            <a:ext cx="8191822" cy="3693319"/>
          </a:xfrm>
          <a:prstGeom prst="rect">
            <a:avLst/>
          </a:prstGeom>
          <a:noFill/>
        </p:spPr>
        <p:txBody>
          <a:bodyPr wrap="square">
            <a:spAutoFit/>
          </a:bodyPr>
          <a:lstStyle/>
          <a:p>
            <a:r>
              <a:rPr lang="es-ES" b="1" dirty="0"/>
              <a:t>13. GESTIÓN DE DEFECTOS</a:t>
            </a:r>
          </a:p>
          <a:p>
            <a:endParaRPr lang="es-ES" b="1" dirty="0"/>
          </a:p>
          <a:p>
            <a:r>
              <a:rPr lang="es-ES" b="1" dirty="0"/>
              <a:t>13.1 Flujo de defectos</a:t>
            </a:r>
          </a:p>
          <a:p>
            <a:r>
              <a:rPr lang="es-ES" dirty="0"/>
              <a:t>Nuevo → Asignado → En proceso → Corregido → Revalidado → Cerrado</a:t>
            </a:r>
          </a:p>
          <a:p>
            <a:endParaRPr lang="es-ES" dirty="0"/>
          </a:p>
          <a:p>
            <a:r>
              <a:rPr lang="es-ES" b="1" dirty="0"/>
              <a:t>13.2 Clasificación</a:t>
            </a:r>
          </a:p>
          <a:p>
            <a:r>
              <a:rPr lang="es-ES" dirty="0"/>
              <a:t>Severidad: Crítica, Alta, Media, Baja</a:t>
            </a:r>
          </a:p>
          <a:p>
            <a:r>
              <a:rPr lang="es-ES" dirty="0"/>
              <a:t>Prioridad: Alta, Media, Baja</a:t>
            </a:r>
          </a:p>
          <a:p>
            <a:endParaRPr lang="es-ES" dirty="0"/>
          </a:p>
          <a:p>
            <a:r>
              <a:rPr lang="es-ES" b="1" dirty="0"/>
              <a:t>13.3 Herramienta</a:t>
            </a:r>
          </a:p>
          <a:p>
            <a:r>
              <a:rPr lang="es-ES" dirty="0"/>
              <a:t>GitHub Issues / Jira / herramienta definida.</a:t>
            </a:r>
          </a:p>
          <a:p>
            <a:r>
              <a:rPr lang="es-ES" dirty="0"/>
              <a:t>.</a:t>
            </a:r>
          </a:p>
          <a:p>
            <a:endParaRPr lang="es-ES" dirty="0"/>
          </a:p>
        </p:txBody>
      </p:sp>
    </p:spTree>
    <p:extLst>
      <p:ext uri="{BB962C8B-B14F-4D97-AF65-F5344CB8AC3E}">
        <p14:creationId xmlns:p14="http://schemas.microsoft.com/office/powerpoint/2010/main" val="30658212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80FA5-31FC-5A21-83ED-0F8942C04DD9}"/>
            </a:ext>
          </a:extLst>
        </p:cNvPr>
        <p:cNvGrpSpPr/>
        <p:nvPr/>
      </p:nvGrpSpPr>
      <p:grpSpPr>
        <a:xfrm>
          <a:off x="0" y="0"/>
          <a:ext cx="0" cy="0"/>
          <a:chOff x="0" y="0"/>
          <a:chExt cx="0" cy="0"/>
        </a:xfrm>
      </p:grpSpPr>
      <p:sp>
        <p:nvSpPr>
          <p:cNvPr id="3" name="1 Título">
            <a:extLst>
              <a:ext uri="{FF2B5EF4-FFF2-40B4-BE49-F238E27FC236}">
                <a16:creationId xmlns:a16="http://schemas.microsoft.com/office/drawing/2014/main" id="{FF486906-ABA2-61AB-63C5-386BDBDA48BC}"/>
              </a:ext>
            </a:extLst>
          </p:cNvPr>
          <p:cNvSpPr>
            <a:spLocks noGrp="1"/>
          </p:cNvSpPr>
          <p:nvPr>
            <p:ph type="title"/>
          </p:nvPr>
        </p:nvSpPr>
        <p:spPr>
          <a:xfrm>
            <a:off x="628650" y="-387424"/>
            <a:ext cx="7886700" cy="1325563"/>
          </a:xfrm>
        </p:spPr>
        <p:txBody>
          <a:bodyPr>
            <a:normAutofit/>
          </a:bodyPr>
          <a:lstStyle/>
          <a:p>
            <a:r>
              <a:rPr lang="es-CO" dirty="0"/>
              <a:t>Estructura del Plan de Pruebas</a:t>
            </a:r>
          </a:p>
        </p:txBody>
      </p:sp>
      <p:sp>
        <p:nvSpPr>
          <p:cNvPr id="4" name="CuadroTexto 3">
            <a:extLst>
              <a:ext uri="{FF2B5EF4-FFF2-40B4-BE49-F238E27FC236}">
                <a16:creationId xmlns:a16="http://schemas.microsoft.com/office/drawing/2014/main" id="{DCA921CC-F099-97BF-657B-09BD58B9285C}"/>
              </a:ext>
            </a:extLst>
          </p:cNvPr>
          <p:cNvSpPr txBox="1"/>
          <p:nvPr/>
        </p:nvSpPr>
        <p:spPr>
          <a:xfrm>
            <a:off x="628650" y="938139"/>
            <a:ext cx="8191822" cy="2862322"/>
          </a:xfrm>
          <a:prstGeom prst="rect">
            <a:avLst/>
          </a:prstGeom>
          <a:noFill/>
        </p:spPr>
        <p:txBody>
          <a:bodyPr wrap="square">
            <a:spAutoFit/>
          </a:bodyPr>
          <a:lstStyle/>
          <a:p>
            <a:r>
              <a:rPr lang="es-ES" b="1" dirty="0"/>
              <a:t>14. IDENTIFICACIÓN Y ANÁLISIS DE RIESGOS</a:t>
            </a:r>
          </a:p>
          <a:p>
            <a:endParaRPr lang="es-ES" b="1" dirty="0"/>
          </a:p>
          <a:p>
            <a:r>
              <a:rPr lang="es-ES" dirty="0"/>
              <a:t>Se realizará análisis cualitativo considerando:</a:t>
            </a:r>
          </a:p>
          <a:p>
            <a:endParaRPr lang="es-ES" dirty="0"/>
          </a:p>
          <a:p>
            <a:pPr marL="285750" indent="-285750">
              <a:buFont typeface="Arial" panose="020B0604020202020204" pitchFamily="34" charset="0"/>
              <a:buChar char="•"/>
            </a:pPr>
            <a:r>
              <a:rPr lang="es-ES" dirty="0"/>
              <a:t>Probabilidad</a:t>
            </a:r>
          </a:p>
          <a:p>
            <a:pPr marL="285750" indent="-285750">
              <a:buFont typeface="Arial" panose="020B0604020202020204" pitchFamily="34" charset="0"/>
              <a:buChar char="•"/>
            </a:pPr>
            <a:r>
              <a:rPr lang="es-ES" dirty="0"/>
              <a:t>Impacto</a:t>
            </a:r>
          </a:p>
          <a:p>
            <a:pPr marL="285750" indent="-285750">
              <a:buFont typeface="Arial" panose="020B0604020202020204" pitchFamily="34" charset="0"/>
              <a:buChar char="•"/>
            </a:pPr>
            <a:r>
              <a:rPr lang="es-ES" dirty="0"/>
              <a:t>Nivel de riesgo</a:t>
            </a:r>
          </a:p>
          <a:p>
            <a:pPr marL="285750" indent="-285750">
              <a:buFont typeface="Arial" panose="020B0604020202020204" pitchFamily="34" charset="0"/>
              <a:buChar char="•"/>
            </a:pPr>
            <a:r>
              <a:rPr lang="es-ES" dirty="0"/>
              <a:t>Se documentarán acciones de mitigación y contingencia.</a:t>
            </a:r>
          </a:p>
          <a:p>
            <a:endParaRPr lang="es-ES" dirty="0"/>
          </a:p>
          <a:p>
            <a:endParaRPr lang="es-ES" dirty="0"/>
          </a:p>
        </p:txBody>
      </p:sp>
    </p:spTree>
    <p:extLst>
      <p:ext uri="{BB962C8B-B14F-4D97-AF65-F5344CB8AC3E}">
        <p14:creationId xmlns:p14="http://schemas.microsoft.com/office/powerpoint/2010/main" val="27886817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42215-185B-B188-1395-A62CD53BC1A1}"/>
            </a:ext>
          </a:extLst>
        </p:cNvPr>
        <p:cNvGrpSpPr/>
        <p:nvPr/>
      </p:nvGrpSpPr>
      <p:grpSpPr>
        <a:xfrm>
          <a:off x="0" y="0"/>
          <a:ext cx="0" cy="0"/>
          <a:chOff x="0" y="0"/>
          <a:chExt cx="0" cy="0"/>
        </a:xfrm>
      </p:grpSpPr>
      <p:sp>
        <p:nvSpPr>
          <p:cNvPr id="3" name="1 Título">
            <a:extLst>
              <a:ext uri="{FF2B5EF4-FFF2-40B4-BE49-F238E27FC236}">
                <a16:creationId xmlns:a16="http://schemas.microsoft.com/office/drawing/2014/main" id="{435BD199-4EC6-4CF9-B6E3-7C3F4C41501C}"/>
              </a:ext>
            </a:extLst>
          </p:cNvPr>
          <p:cNvSpPr>
            <a:spLocks noGrp="1"/>
          </p:cNvSpPr>
          <p:nvPr>
            <p:ph type="title"/>
          </p:nvPr>
        </p:nvSpPr>
        <p:spPr>
          <a:xfrm>
            <a:off x="628650" y="-387424"/>
            <a:ext cx="7886700" cy="1325563"/>
          </a:xfrm>
        </p:spPr>
        <p:txBody>
          <a:bodyPr>
            <a:normAutofit/>
          </a:bodyPr>
          <a:lstStyle/>
          <a:p>
            <a:r>
              <a:rPr lang="es-CO" dirty="0"/>
              <a:t>Estructura del Plan de Pruebas</a:t>
            </a:r>
          </a:p>
        </p:txBody>
      </p:sp>
      <p:sp>
        <p:nvSpPr>
          <p:cNvPr id="4" name="CuadroTexto 3">
            <a:extLst>
              <a:ext uri="{FF2B5EF4-FFF2-40B4-BE49-F238E27FC236}">
                <a16:creationId xmlns:a16="http://schemas.microsoft.com/office/drawing/2014/main" id="{70466800-6E8A-5018-E6C2-1036CF0BA502}"/>
              </a:ext>
            </a:extLst>
          </p:cNvPr>
          <p:cNvSpPr txBox="1"/>
          <p:nvPr/>
        </p:nvSpPr>
        <p:spPr>
          <a:xfrm>
            <a:off x="628650" y="938139"/>
            <a:ext cx="8191822" cy="3416320"/>
          </a:xfrm>
          <a:prstGeom prst="rect">
            <a:avLst/>
          </a:prstGeom>
          <a:noFill/>
        </p:spPr>
        <p:txBody>
          <a:bodyPr wrap="square">
            <a:spAutoFit/>
          </a:bodyPr>
          <a:lstStyle/>
          <a:p>
            <a:r>
              <a:rPr lang="es-ES" b="1" dirty="0"/>
              <a:t>15. ORGANIZACIÓN Y RESPONSABILIDADES</a:t>
            </a:r>
          </a:p>
          <a:p>
            <a:endParaRPr lang="es-ES" b="1" dirty="0"/>
          </a:p>
          <a:p>
            <a:r>
              <a:rPr lang="es-ES" dirty="0"/>
              <a:t>Roles definidos:</a:t>
            </a:r>
          </a:p>
          <a:p>
            <a:endParaRPr lang="es-ES" dirty="0"/>
          </a:p>
          <a:p>
            <a:pPr marL="285750" indent="-285750">
              <a:buFont typeface="Arial" panose="020B0604020202020204" pitchFamily="34" charset="0"/>
              <a:buChar char="•"/>
            </a:pPr>
            <a:r>
              <a:rPr lang="es-ES" dirty="0"/>
              <a:t>Líder de Pruebas</a:t>
            </a:r>
          </a:p>
          <a:p>
            <a:pPr marL="285750" indent="-285750">
              <a:buFont typeface="Arial" panose="020B0604020202020204" pitchFamily="34" charset="0"/>
              <a:buChar char="•"/>
            </a:pPr>
            <a:r>
              <a:rPr lang="es-ES" dirty="0"/>
              <a:t>Analista de Pruebas</a:t>
            </a:r>
          </a:p>
          <a:p>
            <a:pPr marL="285750" indent="-285750">
              <a:buFont typeface="Arial" panose="020B0604020202020204" pitchFamily="34" charset="0"/>
              <a:buChar char="•"/>
            </a:pPr>
            <a:r>
              <a:rPr lang="es-ES" dirty="0" err="1"/>
              <a:t>Tester</a:t>
            </a:r>
            <a:endParaRPr lang="es-ES" dirty="0"/>
          </a:p>
          <a:p>
            <a:pPr marL="285750" indent="-285750">
              <a:buFont typeface="Arial" panose="020B0604020202020204" pitchFamily="34" charset="0"/>
              <a:buChar char="•"/>
            </a:pPr>
            <a:r>
              <a:rPr lang="es-ES" dirty="0"/>
              <a:t>Desarrollador</a:t>
            </a:r>
          </a:p>
          <a:p>
            <a:pPr marL="285750" indent="-285750">
              <a:buFont typeface="Arial" panose="020B0604020202020204" pitchFamily="34" charset="0"/>
              <a:buChar char="•"/>
            </a:pPr>
            <a:r>
              <a:rPr lang="es-ES" dirty="0"/>
              <a:t>Usuario evaluador</a:t>
            </a:r>
          </a:p>
          <a:p>
            <a:pPr marL="285750" indent="-285750">
              <a:buFont typeface="Arial" panose="020B0604020202020204" pitchFamily="34" charset="0"/>
              <a:buChar char="•"/>
            </a:pPr>
            <a:r>
              <a:rPr lang="es-ES" dirty="0"/>
              <a:t>Se definirá nivel de independencia del equipo de pruebas.</a:t>
            </a:r>
          </a:p>
          <a:p>
            <a:endParaRPr lang="es-ES" dirty="0"/>
          </a:p>
          <a:p>
            <a:endParaRPr lang="es-ES" dirty="0"/>
          </a:p>
        </p:txBody>
      </p:sp>
    </p:spTree>
    <p:extLst>
      <p:ext uri="{BB962C8B-B14F-4D97-AF65-F5344CB8AC3E}">
        <p14:creationId xmlns:p14="http://schemas.microsoft.com/office/powerpoint/2010/main" val="38182406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2F437-C930-B202-7B83-FD71230E4ECA}"/>
            </a:ext>
          </a:extLst>
        </p:cNvPr>
        <p:cNvGrpSpPr/>
        <p:nvPr/>
      </p:nvGrpSpPr>
      <p:grpSpPr>
        <a:xfrm>
          <a:off x="0" y="0"/>
          <a:ext cx="0" cy="0"/>
          <a:chOff x="0" y="0"/>
          <a:chExt cx="0" cy="0"/>
        </a:xfrm>
      </p:grpSpPr>
      <p:sp>
        <p:nvSpPr>
          <p:cNvPr id="3" name="1 Título">
            <a:extLst>
              <a:ext uri="{FF2B5EF4-FFF2-40B4-BE49-F238E27FC236}">
                <a16:creationId xmlns:a16="http://schemas.microsoft.com/office/drawing/2014/main" id="{AB67B063-B985-5D4D-3B1C-1A4942F3303A}"/>
              </a:ext>
            </a:extLst>
          </p:cNvPr>
          <p:cNvSpPr>
            <a:spLocks noGrp="1"/>
          </p:cNvSpPr>
          <p:nvPr>
            <p:ph type="title"/>
          </p:nvPr>
        </p:nvSpPr>
        <p:spPr>
          <a:xfrm>
            <a:off x="628650" y="-387424"/>
            <a:ext cx="7886700" cy="1325563"/>
          </a:xfrm>
        </p:spPr>
        <p:txBody>
          <a:bodyPr>
            <a:normAutofit/>
          </a:bodyPr>
          <a:lstStyle/>
          <a:p>
            <a:r>
              <a:rPr lang="es-CO" dirty="0"/>
              <a:t>Estructura del Plan de Pruebas</a:t>
            </a:r>
          </a:p>
        </p:txBody>
      </p:sp>
      <p:sp>
        <p:nvSpPr>
          <p:cNvPr id="4" name="CuadroTexto 3">
            <a:extLst>
              <a:ext uri="{FF2B5EF4-FFF2-40B4-BE49-F238E27FC236}">
                <a16:creationId xmlns:a16="http://schemas.microsoft.com/office/drawing/2014/main" id="{DCD1375F-7B2F-E918-C44A-24CF265BAB8B}"/>
              </a:ext>
            </a:extLst>
          </p:cNvPr>
          <p:cNvSpPr txBox="1"/>
          <p:nvPr/>
        </p:nvSpPr>
        <p:spPr>
          <a:xfrm>
            <a:off x="628650" y="938139"/>
            <a:ext cx="8191822" cy="3139321"/>
          </a:xfrm>
          <a:prstGeom prst="rect">
            <a:avLst/>
          </a:prstGeom>
          <a:noFill/>
        </p:spPr>
        <p:txBody>
          <a:bodyPr wrap="square">
            <a:spAutoFit/>
          </a:bodyPr>
          <a:lstStyle/>
          <a:p>
            <a:r>
              <a:rPr lang="es-ES" b="1" dirty="0"/>
              <a:t>16. CRONOGRAMA</a:t>
            </a:r>
          </a:p>
          <a:p>
            <a:endParaRPr lang="es-ES" b="1" dirty="0"/>
          </a:p>
          <a:p>
            <a:r>
              <a:rPr lang="es-ES" dirty="0"/>
              <a:t>Se establecerán:</a:t>
            </a:r>
          </a:p>
          <a:p>
            <a:endParaRPr lang="es-ES" dirty="0"/>
          </a:p>
          <a:p>
            <a:pPr marL="285750" indent="-285750">
              <a:buFont typeface="Arial" panose="020B0604020202020204" pitchFamily="34" charset="0"/>
              <a:buChar char="•"/>
            </a:pPr>
            <a:r>
              <a:rPr lang="es-ES" dirty="0"/>
              <a:t>Fase de planificación</a:t>
            </a:r>
          </a:p>
          <a:p>
            <a:pPr marL="285750" indent="-285750">
              <a:buFont typeface="Arial" panose="020B0604020202020204" pitchFamily="34" charset="0"/>
              <a:buChar char="•"/>
            </a:pPr>
            <a:r>
              <a:rPr lang="es-ES" dirty="0"/>
              <a:t>Fase de diseño</a:t>
            </a:r>
          </a:p>
          <a:p>
            <a:pPr marL="285750" indent="-285750">
              <a:buFont typeface="Arial" panose="020B0604020202020204" pitchFamily="34" charset="0"/>
              <a:buChar char="•"/>
            </a:pPr>
            <a:r>
              <a:rPr lang="es-ES" dirty="0"/>
              <a:t>Fase de ejecución</a:t>
            </a:r>
          </a:p>
          <a:p>
            <a:pPr marL="285750" indent="-285750">
              <a:buFont typeface="Arial" panose="020B0604020202020204" pitchFamily="34" charset="0"/>
              <a:buChar char="•"/>
            </a:pPr>
            <a:r>
              <a:rPr lang="es-ES" dirty="0"/>
              <a:t>Fase de cierre</a:t>
            </a:r>
          </a:p>
          <a:p>
            <a:pPr marL="285750" indent="-285750">
              <a:buFont typeface="Arial" panose="020B0604020202020204" pitchFamily="34" charset="0"/>
              <a:buChar char="•"/>
            </a:pPr>
            <a:r>
              <a:rPr lang="es-ES" dirty="0"/>
              <a:t>Con fechas y responsables asignados.</a:t>
            </a:r>
          </a:p>
          <a:p>
            <a:endParaRPr lang="es-ES" dirty="0"/>
          </a:p>
          <a:p>
            <a:endParaRPr lang="es-ES" dirty="0"/>
          </a:p>
        </p:txBody>
      </p:sp>
    </p:spTree>
    <p:extLst>
      <p:ext uri="{BB962C8B-B14F-4D97-AF65-F5344CB8AC3E}">
        <p14:creationId xmlns:p14="http://schemas.microsoft.com/office/powerpoint/2010/main" val="13386906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1FAA2-95A4-9318-4D70-649F4AA41F58}"/>
            </a:ext>
          </a:extLst>
        </p:cNvPr>
        <p:cNvGrpSpPr/>
        <p:nvPr/>
      </p:nvGrpSpPr>
      <p:grpSpPr>
        <a:xfrm>
          <a:off x="0" y="0"/>
          <a:ext cx="0" cy="0"/>
          <a:chOff x="0" y="0"/>
          <a:chExt cx="0" cy="0"/>
        </a:xfrm>
      </p:grpSpPr>
      <p:sp>
        <p:nvSpPr>
          <p:cNvPr id="3" name="1 Título">
            <a:extLst>
              <a:ext uri="{FF2B5EF4-FFF2-40B4-BE49-F238E27FC236}">
                <a16:creationId xmlns:a16="http://schemas.microsoft.com/office/drawing/2014/main" id="{A40E9A0E-A13C-F2DD-FA26-C3A67A1CF8EA}"/>
              </a:ext>
            </a:extLst>
          </p:cNvPr>
          <p:cNvSpPr>
            <a:spLocks noGrp="1"/>
          </p:cNvSpPr>
          <p:nvPr>
            <p:ph type="title"/>
          </p:nvPr>
        </p:nvSpPr>
        <p:spPr>
          <a:xfrm>
            <a:off x="628650" y="-387424"/>
            <a:ext cx="7886700" cy="1325563"/>
          </a:xfrm>
        </p:spPr>
        <p:txBody>
          <a:bodyPr>
            <a:normAutofit/>
          </a:bodyPr>
          <a:lstStyle/>
          <a:p>
            <a:r>
              <a:rPr lang="es-CO" dirty="0"/>
              <a:t>Estructura del Plan de Pruebas</a:t>
            </a:r>
          </a:p>
        </p:txBody>
      </p:sp>
      <p:sp>
        <p:nvSpPr>
          <p:cNvPr id="4" name="CuadroTexto 3">
            <a:extLst>
              <a:ext uri="{FF2B5EF4-FFF2-40B4-BE49-F238E27FC236}">
                <a16:creationId xmlns:a16="http://schemas.microsoft.com/office/drawing/2014/main" id="{21C1990A-5D28-64FA-ADC2-ED71D6C8D80D}"/>
              </a:ext>
            </a:extLst>
          </p:cNvPr>
          <p:cNvSpPr txBox="1"/>
          <p:nvPr/>
        </p:nvSpPr>
        <p:spPr>
          <a:xfrm>
            <a:off x="628650" y="938139"/>
            <a:ext cx="8191822" cy="3970318"/>
          </a:xfrm>
          <a:prstGeom prst="rect">
            <a:avLst/>
          </a:prstGeom>
          <a:noFill/>
        </p:spPr>
        <p:txBody>
          <a:bodyPr wrap="square">
            <a:spAutoFit/>
          </a:bodyPr>
          <a:lstStyle/>
          <a:p>
            <a:r>
              <a:rPr lang="es-ES" b="1" dirty="0"/>
              <a:t>17. MÉTRICAS Y SEGUIMIENTO</a:t>
            </a:r>
          </a:p>
          <a:p>
            <a:endParaRPr lang="es-ES" b="1" dirty="0"/>
          </a:p>
          <a:p>
            <a:r>
              <a:rPr lang="es-ES" dirty="0"/>
              <a:t>Se medirán:</a:t>
            </a:r>
          </a:p>
          <a:p>
            <a:endParaRPr lang="es-ES" dirty="0"/>
          </a:p>
          <a:p>
            <a:pPr marL="285750" indent="-285750">
              <a:buFont typeface="Arial" panose="020B0604020202020204" pitchFamily="34" charset="0"/>
              <a:buChar char="•"/>
            </a:pPr>
            <a:r>
              <a:rPr lang="es-ES" dirty="0"/>
              <a:t>Cobertura de requisitos (%)</a:t>
            </a:r>
          </a:p>
          <a:p>
            <a:pPr marL="285750" indent="-285750">
              <a:buFont typeface="Arial" panose="020B0604020202020204" pitchFamily="34" charset="0"/>
              <a:buChar char="•"/>
            </a:pPr>
            <a:r>
              <a:rPr lang="es-ES" dirty="0"/>
              <a:t>Cobertura de ejecución (%)</a:t>
            </a:r>
          </a:p>
          <a:p>
            <a:pPr marL="285750" indent="-285750">
              <a:buFont typeface="Arial" panose="020B0604020202020204" pitchFamily="34" charset="0"/>
              <a:buChar char="•"/>
            </a:pPr>
            <a:r>
              <a:rPr lang="es-ES" dirty="0"/>
              <a:t>Densidad de defectos</a:t>
            </a:r>
          </a:p>
          <a:p>
            <a:pPr marL="285750" indent="-285750">
              <a:buFont typeface="Arial" panose="020B0604020202020204" pitchFamily="34" charset="0"/>
              <a:buChar char="•"/>
            </a:pPr>
            <a:r>
              <a:rPr lang="es-ES" dirty="0"/>
              <a:t>Tasa de defectos por severidad</a:t>
            </a:r>
          </a:p>
          <a:p>
            <a:pPr marL="285750" indent="-285750">
              <a:buFont typeface="Arial" panose="020B0604020202020204" pitchFamily="34" charset="0"/>
              <a:buChar char="•"/>
            </a:pPr>
            <a:r>
              <a:rPr lang="es-ES" dirty="0"/>
              <a:t>Tiempo promedio de resolución</a:t>
            </a:r>
          </a:p>
          <a:p>
            <a:pPr marL="285750" indent="-285750">
              <a:buFont typeface="Arial" panose="020B0604020202020204" pitchFamily="34" charset="0"/>
              <a:buChar char="•"/>
            </a:pPr>
            <a:endParaRPr lang="es-ES" dirty="0"/>
          </a:p>
          <a:p>
            <a:r>
              <a:rPr lang="es-ES" dirty="0"/>
              <a:t>Se generarán reportes periódicos.</a:t>
            </a:r>
          </a:p>
          <a:p>
            <a:endParaRPr lang="es-ES" dirty="0"/>
          </a:p>
          <a:p>
            <a:endParaRPr lang="es-ES" dirty="0"/>
          </a:p>
          <a:p>
            <a:endParaRPr lang="es-ES" dirty="0"/>
          </a:p>
        </p:txBody>
      </p:sp>
    </p:spTree>
    <p:extLst>
      <p:ext uri="{BB962C8B-B14F-4D97-AF65-F5344CB8AC3E}">
        <p14:creationId xmlns:p14="http://schemas.microsoft.com/office/powerpoint/2010/main" val="18197921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C77E0-5CB9-986B-CE8D-78C283492E77}"/>
            </a:ext>
          </a:extLst>
        </p:cNvPr>
        <p:cNvGrpSpPr/>
        <p:nvPr/>
      </p:nvGrpSpPr>
      <p:grpSpPr>
        <a:xfrm>
          <a:off x="0" y="0"/>
          <a:ext cx="0" cy="0"/>
          <a:chOff x="0" y="0"/>
          <a:chExt cx="0" cy="0"/>
        </a:xfrm>
      </p:grpSpPr>
      <p:sp>
        <p:nvSpPr>
          <p:cNvPr id="3" name="1 Título">
            <a:extLst>
              <a:ext uri="{FF2B5EF4-FFF2-40B4-BE49-F238E27FC236}">
                <a16:creationId xmlns:a16="http://schemas.microsoft.com/office/drawing/2014/main" id="{ECC7D536-E35F-B18A-84BA-D66A397F3856}"/>
              </a:ext>
            </a:extLst>
          </p:cNvPr>
          <p:cNvSpPr>
            <a:spLocks noGrp="1"/>
          </p:cNvSpPr>
          <p:nvPr>
            <p:ph type="title"/>
          </p:nvPr>
        </p:nvSpPr>
        <p:spPr>
          <a:xfrm>
            <a:off x="628650" y="-387424"/>
            <a:ext cx="7886700" cy="1325563"/>
          </a:xfrm>
        </p:spPr>
        <p:txBody>
          <a:bodyPr>
            <a:normAutofit/>
          </a:bodyPr>
          <a:lstStyle/>
          <a:p>
            <a:r>
              <a:rPr lang="es-CO" dirty="0"/>
              <a:t>Estructura del Plan de Pruebas</a:t>
            </a:r>
          </a:p>
        </p:txBody>
      </p:sp>
      <p:sp>
        <p:nvSpPr>
          <p:cNvPr id="4" name="CuadroTexto 3">
            <a:extLst>
              <a:ext uri="{FF2B5EF4-FFF2-40B4-BE49-F238E27FC236}">
                <a16:creationId xmlns:a16="http://schemas.microsoft.com/office/drawing/2014/main" id="{B635BF47-C998-3164-13D3-E3A4AB44955F}"/>
              </a:ext>
            </a:extLst>
          </p:cNvPr>
          <p:cNvSpPr txBox="1"/>
          <p:nvPr/>
        </p:nvSpPr>
        <p:spPr>
          <a:xfrm>
            <a:off x="628650" y="938139"/>
            <a:ext cx="8191822" cy="3139321"/>
          </a:xfrm>
          <a:prstGeom prst="rect">
            <a:avLst/>
          </a:prstGeom>
          <a:noFill/>
        </p:spPr>
        <p:txBody>
          <a:bodyPr wrap="square">
            <a:spAutoFit/>
          </a:bodyPr>
          <a:lstStyle/>
          <a:p>
            <a:r>
              <a:rPr lang="es-ES" b="1" dirty="0"/>
              <a:t>18. ENTREGABLES DE PRUEBA</a:t>
            </a:r>
          </a:p>
          <a:p>
            <a:endParaRPr lang="es-ES" b="1" dirty="0"/>
          </a:p>
          <a:p>
            <a:pPr marL="285750" indent="-285750">
              <a:buFont typeface="Arial" panose="020B0604020202020204" pitchFamily="34" charset="0"/>
              <a:buChar char="•"/>
            </a:pPr>
            <a:r>
              <a:rPr lang="es-ES" dirty="0"/>
              <a:t>Plan de Pruebas</a:t>
            </a:r>
          </a:p>
          <a:p>
            <a:pPr marL="285750" indent="-285750">
              <a:buFont typeface="Arial" panose="020B0604020202020204" pitchFamily="34" charset="0"/>
              <a:buChar char="•"/>
            </a:pPr>
            <a:r>
              <a:rPr lang="es-ES" dirty="0"/>
              <a:t>Casos de Prueba</a:t>
            </a:r>
          </a:p>
          <a:p>
            <a:pPr marL="285750" indent="-285750">
              <a:buFont typeface="Arial" panose="020B0604020202020204" pitchFamily="34" charset="0"/>
              <a:buChar char="•"/>
            </a:pPr>
            <a:r>
              <a:rPr lang="es-ES" dirty="0"/>
              <a:t>Matriz de Trazabilidad</a:t>
            </a:r>
          </a:p>
          <a:p>
            <a:pPr marL="285750" indent="-285750">
              <a:buFont typeface="Arial" panose="020B0604020202020204" pitchFamily="34" charset="0"/>
              <a:buChar char="•"/>
            </a:pPr>
            <a:r>
              <a:rPr lang="es-ES" dirty="0"/>
              <a:t>Evidencias</a:t>
            </a:r>
          </a:p>
          <a:p>
            <a:pPr marL="285750" indent="-285750">
              <a:buFont typeface="Arial" panose="020B0604020202020204" pitchFamily="34" charset="0"/>
              <a:buChar char="•"/>
            </a:pPr>
            <a:r>
              <a:rPr lang="es-ES" dirty="0"/>
              <a:t>Registro de defectos</a:t>
            </a:r>
          </a:p>
          <a:p>
            <a:pPr marL="285750" indent="-285750">
              <a:buFont typeface="Arial" panose="020B0604020202020204" pitchFamily="34" charset="0"/>
              <a:buChar char="•"/>
            </a:pPr>
            <a:r>
              <a:rPr lang="es-ES" dirty="0"/>
              <a:t>Informe Final de Pruebas</a:t>
            </a:r>
          </a:p>
          <a:p>
            <a:endParaRPr lang="es-ES" dirty="0"/>
          </a:p>
          <a:p>
            <a:endParaRPr lang="es-ES" dirty="0"/>
          </a:p>
          <a:p>
            <a:endParaRPr lang="es-ES" dirty="0"/>
          </a:p>
        </p:txBody>
      </p:sp>
    </p:spTree>
    <p:extLst>
      <p:ext uri="{BB962C8B-B14F-4D97-AF65-F5344CB8AC3E}">
        <p14:creationId xmlns:p14="http://schemas.microsoft.com/office/powerpoint/2010/main" val="4612755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17282-1781-D16F-92F3-505A247CB50E}"/>
            </a:ext>
          </a:extLst>
        </p:cNvPr>
        <p:cNvGrpSpPr/>
        <p:nvPr/>
      </p:nvGrpSpPr>
      <p:grpSpPr>
        <a:xfrm>
          <a:off x="0" y="0"/>
          <a:ext cx="0" cy="0"/>
          <a:chOff x="0" y="0"/>
          <a:chExt cx="0" cy="0"/>
        </a:xfrm>
      </p:grpSpPr>
      <p:sp>
        <p:nvSpPr>
          <p:cNvPr id="3" name="1 Título">
            <a:extLst>
              <a:ext uri="{FF2B5EF4-FFF2-40B4-BE49-F238E27FC236}">
                <a16:creationId xmlns:a16="http://schemas.microsoft.com/office/drawing/2014/main" id="{100E4EF5-90CF-7144-5DB7-F9D7345D5066}"/>
              </a:ext>
            </a:extLst>
          </p:cNvPr>
          <p:cNvSpPr>
            <a:spLocks noGrp="1"/>
          </p:cNvSpPr>
          <p:nvPr>
            <p:ph type="title"/>
          </p:nvPr>
        </p:nvSpPr>
        <p:spPr>
          <a:xfrm>
            <a:off x="628650" y="-387424"/>
            <a:ext cx="7886700" cy="1325563"/>
          </a:xfrm>
        </p:spPr>
        <p:txBody>
          <a:bodyPr>
            <a:normAutofit/>
          </a:bodyPr>
          <a:lstStyle/>
          <a:p>
            <a:r>
              <a:rPr lang="es-CO" dirty="0"/>
              <a:t>Estructura del Plan de Pruebas</a:t>
            </a:r>
          </a:p>
        </p:txBody>
      </p:sp>
      <p:sp>
        <p:nvSpPr>
          <p:cNvPr id="4" name="CuadroTexto 3">
            <a:extLst>
              <a:ext uri="{FF2B5EF4-FFF2-40B4-BE49-F238E27FC236}">
                <a16:creationId xmlns:a16="http://schemas.microsoft.com/office/drawing/2014/main" id="{9E0D816C-FB6F-EBDD-45F8-A42B9558E7C5}"/>
              </a:ext>
            </a:extLst>
          </p:cNvPr>
          <p:cNvSpPr txBox="1"/>
          <p:nvPr/>
        </p:nvSpPr>
        <p:spPr>
          <a:xfrm>
            <a:off x="628650" y="938139"/>
            <a:ext cx="8191822" cy="3693319"/>
          </a:xfrm>
          <a:prstGeom prst="rect">
            <a:avLst/>
          </a:prstGeom>
          <a:noFill/>
        </p:spPr>
        <p:txBody>
          <a:bodyPr wrap="square">
            <a:spAutoFit/>
          </a:bodyPr>
          <a:lstStyle/>
          <a:p>
            <a:r>
              <a:rPr lang="es-ES" b="1" dirty="0"/>
              <a:t>19. INFORME FINAL DE PRUEBAS</a:t>
            </a:r>
          </a:p>
          <a:p>
            <a:endParaRPr lang="es-ES" b="1" dirty="0"/>
          </a:p>
          <a:p>
            <a:r>
              <a:rPr lang="es-ES" dirty="0"/>
              <a:t>El informe incluirá:</a:t>
            </a:r>
          </a:p>
          <a:p>
            <a:endParaRPr lang="es-ES" dirty="0"/>
          </a:p>
          <a:p>
            <a:pPr marL="285750" indent="-285750">
              <a:buFont typeface="Arial" panose="020B0604020202020204" pitchFamily="34" charset="0"/>
              <a:buChar char="•"/>
            </a:pPr>
            <a:r>
              <a:rPr lang="es-ES" dirty="0"/>
              <a:t>Resumen ejecutivo</a:t>
            </a:r>
          </a:p>
          <a:p>
            <a:pPr marL="285750" indent="-285750">
              <a:buFont typeface="Arial" panose="020B0604020202020204" pitchFamily="34" charset="0"/>
              <a:buChar char="•"/>
            </a:pPr>
            <a:r>
              <a:rPr lang="es-ES" dirty="0"/>
              <a:t>Cobertura alcanzada</a:t>
            </a:r>
          </a:p>
          <a:p>
            <a:pPr marL="285750" indent="-285750">
              <a:buFont typeface="Arial" panose="020B0604020202020204" pitchFamily="34" charset="0"/>
              <a:buChar char="•"/>
            </a:pPr>
            <a:r>
              <a:rPr lang="es-ES" dirty="0"/>
              <a:t>Defectos encontrados</a:t>
            </a:r>
          </a:p>
          <a:p>
            <a:pPr marL="285750" indent="-285750">
              <a:buFont typeface="Arial" panose="020B0604020202020204" pitchFamily="34" charset="0"/>
              <a:buChar char="•"/>
            </a:pPr>
            <a:r>
              <a:rPr lang="es-ES" dirty="0"/>
              <a:t>Análisis de calidad</a:t>
            </a:r>
          </a:p>
          <a:p>
            <a:pPr marL="285750" indent="-285750">
              <a:buFont typeface="Arial" panose="020B0604020202020204" pitchFamily="34" charset="0"/>
              <a:buChar char="•"/>
            </a:pPr>
            <a:r>
              <a:rPr lang="es-ES" dirty="0"/>
              <a:t>Conclusiones</a:t>
            </a:r>
          </a:p>
          <a:p>
            <a:pPr marL="285750" indent="-285750">
              <a:buFont typeface="Arial" panose="020B0604020202020204" pitchFamily="34" charset="0"/>
              <a:buChar char="•"/>
            </a:pPr>
            <a:r>
              <a:rPr lang="es-ES" dirty="0"/>
              <a:t>Recomendaciones</a:t>
            </a:r>
          </a:p>
          <a:p>
            <a:endParaRPr lang="es-ES" dirty="0"/>
          </a:p>
          <a:p>
            <a:endParaRPr lang="es-ES" dirty="0"/>
          </a:p>
          <a:p>
            <a:endParaRPr lang="es-ES" dirty="0"/>
          </a:p>
        </p:txBody>
      </p:sp>
    </p:spTree>
    <p:extLst>
      <p:ext uri="{BB962C8B-B14F-4D97-AF65-F5344CB8AC3E}">
        <p14:creationId xmlns:p14="http://schemas.microsoft.com/office/powerpoint/2010/main" val="7337317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9E905-F368-F8C3-1AFD-40A988168AE2}"/>
            </a:ext>
          </a:extLst>
        </p:cNvPr>
        <p:cNvGrpSpPr/>
        <p:nvPr/>
      </p:nvGrpSpPr>
      <p:grpSpPr>
        <a:xfrm>
          <a:off x="0" y="0"/>
          <a:ext cx="0" cy="0"/>
          <a:chOff x="0" y="0"/>
          <a:chExt cx="0" cy="0"/>
        </a:xfrm>
      </p:grpSpPr>
      <p:sp>
        <p:nvSpPr>
          <p:cNvPr id="3" name="1 Título">
            <a:extLst>
              <a:ext uri="{FF2B5EF4-FFF2-40B4-BE49-F238E27FC236}">
                <a16:creationId xmlns:a16="http://schemas.microsoft.com/office/drawing/2014/main" id="{13045311-4530-317E-C6BF-C915204501DA}"/>
              </a:ext>
            </a:extLst>
          </p:cNvPr>
          <p:cNvSpPr>
            <a:spLocks noGrp="1"/>
          </p:cNvSpPr>
          <p:nvPr>
            <p:ph type="title"/>
          </p:nvPr>
        </p:nvSpPr>
        <p:spPr>
          <a:xfrm>
            <a:off x="628650" y="-387424"/>
            <a:ext cx="7886700" cy="1325563"/>
          </a:xfrm>
        </p:spPr>
        <p:txBody>
          <a:bodyPr>
            <a:normAutofit/>
          </a:bodyPr>
          <a:lstStyle/>
          <a:p>
            <a:r>
              <a:rPr lang="es-CO" dirty="0"/>
              <a:t>Estructura del Plan de Pruebas</a:t>
            </a:r>
          </a:p>
        </p:txBody>
      </p:sp>
      <p:sp>
        <p:nvSpPr>
          <p:cNvPr id="4" name="CuadroTexto 3">
            <a:extLst>
              <a:ext uri="{FF2B5EF4-FFF2-40B4-BE49-F238E27FC236}">
                <a16:creationId xmlns:a16="http://schemas.microsoft.com/office/drawing/2014/main" id="{FC56DF0E-0D65-0C81-BF81-97B0D7C5A3D3}"/>
              </a:ext>
            </a:extLst>
          </p:cNvPr>
          <p:cNvSpPr txBox="1"/>
          <p:nvPr/>
        </p:nvSpPr>
        <p:spPr>
          <a:xfrm>
            <a:off x="628650" y="938139"/>
            <a:ext cx="8191822" cy="2585323"/>
          </a:xfrm>
          <a:prstGeom prst="rect">
            <a:avLst/>
          </a:prstGeom>
          <a:noFill/>
        </p:spPr>
        <p:txBody>
          <a:bodyPr wrap="square">
            <a:spAutoFit/>
          </a:bodyPr>
          <a:lstStyle/>
          <a:p>
            <a:r>
              <a:rPr lang="es-ES" b="1" dirty="0"/>
              <a:t>20. GESTIÓN DEL DOCUMENTO</a:t>
            </a:r>
          </a:p>
          <a:p>
            <a:endParaRPr lang="es-ES" b="1" dirty="0"/>
          </a:p>
          <a:p>
            <a:pPr marL="285750" indent="-285750">
              <a:buFont typeface="Arial" panose="020B0604020202020204" pitchFamily="34" charset="0"/>
              <a:buChar char="•"/>
            </a:pPr>
            <a:r>
              <a:rPr lang="es-ES" dirty="0"/>
              <a:t>Historial de versiones</a:t>
            </a:r>
          </a:p>
          <a:p>
            <a:pPr marL="285750" indent="-285750">
              <a:buFont typeface="Arial" panose="020B0604020202020204" pitchFamily="34" charset="0"/>
              <a:buChar char="•"/>
            </a:pPr>
            <a:r>
              <a:rPr lang="es-ES" dirty="0"/>
              <a:t>Control de cambios</a:t>
            </a:r>
          </a:p>
          <a:p>
            <a:endParaRPr lang="es-ES" dirty="0"/>
          </a:p>
          <a:p>
            <a:r>
              <a:rPr lang="es-ES" dirty="0"/>
              <a:t>Nombre – Rol – Firma – Fecha</a:t>
            </a:r>
          </a:p>
          <a:p>
            <a:endParaRPr lang="es-ES" dirty="0"/>
          </a:p>
          <a:p>
            <a:endParaRPr lang="es-ES" dirty="0"/>
          </a:p>
          <a:p>
            <a:endParaRPr lang="es-ES" dirty="0"/>
          </a:p>
        </p:txBody>
      </p:sp>
      <p:graphicFrame>
        <p:nvGraphicFramePr>
          <p:cNvPr id="2" name="Tabla 1">
            <a:extLst>
              <a:ext uri="{FF2B5EF4-FFF2-40B4-BE49-F238E27FC236}">
                <a16:creationId xmlns:a16="http://schemas.microsoft.com/office/drawing/2014/main" id="{EB01C794-2E22-35CE-6349-A4C5C51B0E8C}"/>
              </a:ext>
            </a:extLst>
          </p:cNvPr>
          <p:cNvGraphicFramePr>
            <a:graphicFrameLocks noGrp="1"/>
          </p:cNvGraphicFramePr>
          <p:nvPr>
            <p:extLst>
              <p:ext uri="{D42A27DB-BD31-4B8C-83A1-F6EECF244321}">
                <p14:modId xmlns:p14="http://schemas.microsoft.com/office/powerpoint/2010/main" val="2895052673"/>
              </p:ext>
            </p:extLst>
          </p:nvPr>
        </p:nvGraphicFramePr>
        <p:xfrm>
          <a:off x="1524000" y="3055278"/>
          <a:ext cx="6096000" cy="111252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700937099"/>
                    </a:ext>
                  </a:extLst>
                </a:gridCol>
                <a:gridCol w="1524000">
                  <a:extLst>
                    <a:ext uri="{9D8B030D-6E8A-4147-A177-3AD203B41FA5}">
                      <a16:colId xmlns:a16="http://schemas.microsoft.com/office/drawing/2014/main" val="3425467196"/>
                    </a:ext>
                  </a:extLst>
                </a:gridCol>
                <a:gridCol w="1524000">
                  <a:extLst>
                    <a:ext uri="{9D8B030D-6E8A-4147-A177-3AD203B41FA5}">
                      <a16:colId xmlns:a16="http://schemas.microsoft.com/office/drawing/2014/main" val="2277372529"/>
                    </a:ext>
                  </a:extLst>
                </a:gridCol>
                <a:gridCol w="1524000">
                  <a:extLst>
                    <a:ext uri="{9D8B030D-6E8A-4147-A177-3AD203B41FA5}">
                      <a16:colId xmlns:a16="http://schemas.microsoft.com/office/drawing/2014/main" val="2343599718"/>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0" i="0" u="none" strike="noStrike" kern="1200" cap="none" spc="0" normalizeH="0" baseline="0" noProof="0" dirty="0">
                          <a:ln>
                            <a:noFill/>
                          </a:ln>
                          <a:solidFill>
                            <a:prstClr val="black"/>
                          </a:solidFill>
                          <a:effectLst/>
                          <a:uLnTx/>
                          <a:uFillTx/>
                          <a:latin typeface="Calibri"/>
                          <a:ea typeface="+mn-ea"/>
                          <a:cs typeface="+mn-cs"/>
                        </a:rPr>
                        <a:t>Nombre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0" i="0" u="none" strike="noStrike" kern="1200" cap="none" spc="0" normalizeH="0" baseline="0" noProof="0" dirty="0">
                          <a:ln>
                            <a:noFill/>
                          </a:ln>
                          <a:solidFill>
                            <a:prstClr val="black"/>
                          </a:solidFill>
                          <a:effectLst/>
                          <a:uLnTx/>
                          <a:uFillTx/>
                          <a:latin typeface="Calibri"/>
                          <a:ea typeface="+mn-ea"/>
                          <a:cs typeface="+mn-cs"/>
                        </a:rPr>
                        <a:t>Rol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0" i="0" u="none" strike="noStrike" kern="1200" cap="none" spc="0" normalizeH="0" baseline="0" noProof="0" dirty="0">
                          <a:ln>
                            <a:noFill/>
                          </a:ln>
                          <a:solidFill>
                            <a:prstClr val="black"/>
                          </a:solidFill>
                          <a:effectLst/>
                          <a:uLnTx/>
                          <a:uFillTx/>
                          <a:latin typeface="Calibri"/>
                          <a:ea typeface="+mn-ea"/>
                          <a:cs typeface="+mn-cs"/>
                        </a:rPr>
                        <a:t>Firma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0" i="0" u="none" strike="noStrike" kern="1200" cap="none" spc="0" normalizeH="0" baseline="0" noProof="0" dirty="0">
                          <a:ln>
                            <a:noFill/>
                          </a:ln>
                          <a:solidFill>
                            <a:prstClr val="black"/>
                          </a:solidFill>
                          <a:effectLst/>
                          <a:uLnTx/>
                          <a:uFillTx/>
                          <a:latin typeface="Calibri"/>
                          <a:ea typeface="+mn-ea"/>
                          <a:cs typeface="+mn-cs"/>
                        </a:rPr>
                        <a:t>Fecha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5658425"/>
                  </a:ext>
                </a:extLst>
              </a:tr>
              <a:tr h="370840">
                <a:tc>
                  <a:txBody>
                    <a:bodyPr/>
                    <a:lstStyle/>
                    <a:p>
                      <a:endParaRPr lang="es-C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9835058"/>
                  </a:ext>
                </a:extLst>
              </a:tr>
              <a:tr h="370840">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048057"/>
                  </a:ext>
                </a:extLst>
              </a:tr>
            </a:tbl>
          </a:graphicData>
        </a:graphic>
      </p:graphicFrame>
    </p:spTree>
    <p:extLst>
      <p:ext uri="{BB962C8B-B14F-4D97-AF65-F5344CB8AC3E}">
        <p14:creationId xmlns:p14="http://schemas.microsoft.com/office/powerpoint/2010/main" val="41119641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Imagen 3">
            <a:extLst>
              <a:ext uri="{FF2B5EF4-FFF2-40B4-BE49-F238E27FC236}">
                <a16:creationId xmlns:a16="http://schemas.microsoft.com/office/drawing/2014/main" id="{C0ECBFF5-E346-A54A-8920-BD98DC71879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891779"/>
            <a:ext cx="9144000" cy="5093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39" name="CuadroTexto 1">
            <a:extLst>
              <a:ext uri="{FF2B5EF4-FFF2-40B4-BE49-F238E27FC236}">
                <a16:creationId xmlns:a16="http://schemas.microsoft.com/office/drawing/2014/main" id="{C3AD37CF-45E7-CE4B-AA86-A16D4DB4F040}"/>
              </a:ext>
            </a:extLst>
          </p:cNvPr>
          <p:cNvSpPr txBox="1">
            <a:spLocks noChangeArrowheads="1"/>
          </p:cNvSpPr>
          <p:nvPr/>
        </p:nvSpPr>
        <p:spPr bwMode="auto">
          <a:xfrm>
            <a:off x="2687241" y="2865835"/>
            <a:ext cx="335540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s-MX" altLang="es-CO" sz="5400">
                <a:solidFill>
                  <a:srgbClr val="C00000"/>
                </a:solidFill>
                <a:latin typeface="Berlin Sans FB Demi" panose="020E0602020502020306" pitchFamily="34" charset="77"/>
              </a:rPr>
              <a:t>Preguntas</a:t>
            </a:r>
            <a:endParaRPr lang="es-CO" altLang="es-CO" sz="1350">
              <a:solidFill>
                <a:srgbClr val="C00000"/>
              </a:solidFill>
              <a:latin typeface="Berlin Sans FB Demi" panose="020E0602020502020306" pitchFamily="34" charset="77"/>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Imagen 1">
            <a:extLst>
              <a:ext uri="{FF2B5EF4-FFF2-40B4-BE49-F238E27FC236}">
                <a16:creationId xmlns:a16="http://schemas.microsoft.com/office/drawing/2014/main" id="{BD7134BB-9EBA-8F4C-93D1-E0627BD6651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866775"/>
            <a:ext cx="9144000" cy="5111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7543</TotalTime>
  <Words>1631</Words>
  <Application>Microsoft Office PowerPoint</Application>
  <PresentationFormat>Presentación en pantalla (4:3)</PresentationFormat>
  <Paragraphs>314</Paragraphs>
  <Slides>31</Slides>
  <Notes>3</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31</vt:i4>
      </vt:variant>
    </vt:vector>
  </HeadingPairs>
  <TitlesOfParts>
    <vt:vector size="35" baseType="lpstr">
      <vt:lpstr>Arial</vt:lpstr>
      <vt:lpstr>Berlin Sans FB Demi</vt:lpstr>
      <vt:lpstr>Calibri</vt:lpstr>
      <vt:lpstr>Tema de Office</vt:lpstr>
      <vt:lpstr>Presentación de PowerPoint</vt:lpstr>
      <vt:lpstr>Plan de Pruebas</vt:lpstr>
      <vt:lpstr>¿Por qué es importante el Plan de Pruebas?</vt:lpstr>
      <vt:lpstr>¿Por qué es importante el Plan de Pruebas?</vt:lpstr>
      <vt:lpstr>¿Cuál es el objetivo del Plan de Pruebas?</vt:lpstr>
      <vt:lpstr>Estructura del Plan de Pruebas</vt:lpstr>
      <vt:lpstr>Estructura del Plan de Pruebas</vt:lpstr>
      <vt:lpstr>Estructura del Plan de Pruebas</vt:lpstr>
      <vt:lpstr>Estructura del Plan de Pruebas</vt:lpstr>
      <vt:lpstr>Estructura del Plan de Pruebas</vt:lpstr>
      <vt:lpstr>Estructura del Plan de Pruebas</vt:lpstr>
      <vt:lpstr>Estructura del Plan de Pruebas</vt:lpstr>
      <vt:lpstr>Estructura del Plan de Pruebas</vt:lpstr>
      <vt:lpstr>Estructura del Plan de Pruebas</vt:lpstr>
      <vt:lpstr>Estructura del Plan de Pruebas</vt:lpstr>
      <vt:lpstr>Estructura del Plan de Pruebas</vt:lpstr>
      <vt:lpstr>Estructura del Plan de Pruebas</vt:lpstr>
      <vt:lpstr>Estructura del Plan de Pruebas</vt:lpstr>
      <vt:lpstr>Estructura del Plan de Pruebas</vt:lpstr>
      <vt:lpstr>Estructura del Plan de Pruebas</vt:lpstr>
      <vt:lpstr>Estructura del Plan de Pruebas</vt:lpstr>
      <vt:lpstr>Estructura del Plan de Pruebas</vt:lpstr>
      <vt:lpstr>Estructura del Plan de Pruebas</vt:lpstr>
      <vt:lpstr>Estructura del Plan de Pruebas</vt:lpstr>
      <vt:lpstr>Estructura del Plan de Pruebas</vt:lpstr>
      <vt:lpstr>Estructura del Plan de Pruebas</vt:lpstr>
      <vt:lpstr>Estructura del Plan de Pruebas</vt:lpstr>
      <vt:lpstr>Estructura del Plan de Pruebas</vt:lpstr>
      <vt:lpstr>Estructura del Plan de Pruebas</vt:lpstr>
      <vt:lpstr>Presentación de PowerPoint</vt:lpstr>
      <vt:lpstr>Presentación de PowerPoint</vt:lpstr>
    </vt:vector>
  </TitlesOfParts>
  <Company>UdeM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Liliana Gonzalez Palacio</dc:creator>
  <cp:lastModifiedBy>Gabriel Mauricio Ramírez Villegas</cp:lastModifiedBy>
  <cp:revision>81</cp:revision>
  <dcterms:created xsi:type="dcterms:W3CDTF">2012-08-10T19:33:56Z</dcterms:created>
  <dcterms:modified xsi:type="dcterms:W3CDTF">2026-02-11T20:20:42Z</dcterms:modified>
</cp:coreProperties>
</file>